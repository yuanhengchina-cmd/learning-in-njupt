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71" r:id="rId4"/>
    <p:sldId id="269" r:id="rId5"/>
    <p:sldId id="270" r:id="rId6"/>
    <p:sldId id="272" r:id="rId7"/>
    <p:sldId id="273" r:id="rId8"/>
    <p:sldId id="274" r:id="rId9"/>
    <p:sldId id="275" r:id="rId10"/>
    <p:sldId id="257" r:id="rId11"/>
    <p:sldId id="258" r:id="rId12"/>
    <p:sldId id="259" r:id="rId13"/>
    <p:sldId id="260" r:id="rId14"/>
    <p:sldId id="262" r:id="rId15"/>
    <p:sldId id="263" r:id="rId16"/>
    <p:sldId id="264" r:id="rId17"/>
    <p:sldId id="267" r:id="rId18"/>
    <p:sldId id="265" r:id="rId19"/>
    <p:sldId id="266" r:id="rId20"/>
    <p:sldId id="268" r:id="rId2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14" userDrawn="1">
          <p15:clr>
            <a:srgbClr val="A4A3A4"/>
          </p15:clr>
        </p15:guide>
        <p15:guide id="2" pos="383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PS_1607247793" initials="authorId_1149854278" lastIdx="0"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214"/>
        <p:guide pos="383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5" Type="http://schemas.openxmlformats.org/officeDocument/2006/relationships/commentAuthors" Target="commentAuthors.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68.xml"/><Relationship Id="rId3" Type="http://schemas.openxmlformats.org/officeDocument/2006/relationships/image" Target="../media/image1.jpeg"/><Relationship Id="rId2" Type="http://schemas.openxmlformats.org/officeDocument/2006/relationships/tags" Target="../tags/tag67.xml"/><Relationship Id="rId1" Type="http://schemas.openxmlformats.org/officeDocument/2006/relationships/tags" Target="../tags/tag66.xml"/></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71.xml"/><Relationship Id="rId3" Type="http://schemas.openxmlformats.org/officeDocument/2006/relationships/image" Target="../media/image2.jpeg"/><Relationship Id="rId2" Type="http://schemas.openxmlformats.org/officeDocument/2006/relationships/tags" Target="../tags/tag70.xml"/><Relationship Id="rId1" Type="http://schemas.openxmlformats.org/officeDocument/2006/relationships/tags" Target="../tags/tag69.xml"/></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74.xml"/><Relationship Id="rId3" Type="http://schemas.openxmlformats.org/officeDocument/2006/relationships/image" Target="../media/image3.jpeg"/><Relationship Id="rId2" Type="http://schemas.openxmlformats.org/officeDocument/2006/relationships/tags" Target="../tags/tag73.xml"/><Relationship Id="rId1" Type="http://schemas.openxmlformats.org/officeDocument/2006/relationships/tags" Target="../tags/tag72.xml"/></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77.xml"/><Relationship Id="rId3" Type="http://schemas.openxmlformats.org/officeDocument/2006/relationships/image" Target="../media/image4.png"/><Relationship Id="rId2" Type="http://schemas.openxmlformats.org/officeDocument/2006/relationships/tags" Target="../tags/tag76.xml"/><Relationship Id="rId1" Type="http://schemas.openxmlformats.org/officeDocument/2006/relationships/tags" Target="../tags/tag75.xml"/></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80.xml"/><Relationship Id="rId3" Type="http://schemas.openxmlformats.org/officeDocument/2006/relationships/image" Target="../media/image5.jpeg"/><Relationship Id="rId2" Type="http://schemas.openxmlformats.org/officeDocument/2006/relationships/tags" Target="../tags/tag79.xml"/><Relationship Id="rId1" Type="http://schemas.openxmlformats.org/officeDocument/2006/relationships/tags" Target="../tags/tag78.xml"/></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83.xml"/><Relationship Id="rId3" Type="http://schemas.openxmlformats.org/officeDocument/2006/relationships/image" Target="../media/image6.jpeg"/><Relationship Id="rId2" Type="http://schemas.openxmlformats.org/officeDocument/2006/relationships/tags" Target="../tags/tag82.xml"/><Relationship Id="rId1" Type="http://schemas.openxmlformats.org/officeDocument/2006/relationships/tags" Target="../tags/tag81.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86.xml"/><Relationship Id="rId3" Type="http://schemas.openxmlformats.org/officeDocument/2006/relationships/image" Target="../media/image7.jpeg"/><Relationship Id="rId2" Type="http://schemas.openxmlformats.org/officeDocument/2006/relationships/tags" Target="../tags/tag85.xml"/><Relationship Id="rId1" Type="http://schemas.openxmlformats.org/officeDocument/2006/relationships/tags" Target="../tags/tag84.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9.xml"/><Relationship Id="rId2" Type="http://schemas.openxmlformats.org/officeDocument/2006/relationships/tags" Target="../tags/tag88.xml"/><Relationship Id="rId1" Type="http://schemas.openxmlformats.org/officeDocument/2006/relationships/tags" Target="../tags/tag87.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2.xml"/><Relationship Id="rId2" Type="http://schemas.openxmlformats.org/officeDocument/2006/relationships/tags" Target="../tags/tag91.xml"/><Relationship Id="rId1" Type="http://schemas.openxmlformats.org/officeDocument/2006/relationships/tags" Target="../tags/tag90.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5.xml"/><Relationship Id="rId2" Type="http://schemas.openxmlformats.org/officeDocument/2006/relationships/tags" Target="../tags/tag94.xml"/><Relationship Id="rId1" Type="http://schemas.openxmlformats.org/officeDocument/2006/relationships/tags" Target="../tags/tag93.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8.xml"/><Relationship Id="rId2" Type="http://schemas.openxmlformats.org/officeDocument/2006/relationships/tags" Target="../tags/tag97.xml"/><Relationship Id="rId1" Type="http://schemas.openxmlformats.org/officeDocument/2006/relationships/tags" Target="../tags/tag96.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01.xml"/><Relationship Id="rId2" Type="http://schemas.openxmlformats.org/officeDocument/2006/relationships/tags" Target="../tags/tag100.xml"/><Relationship Id="rId1" Type="http://schemas.openxmlformats.org/officeDocument/2006/relationships/tags" Target="../tags/tag99.xm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04.xml"/><Relationship Id="rId2" Type="http://schemas.openxmlformats.org/officeDocument/2006/relationships/tags" Target="../tags/tag103.xml"/><Relationship Id="rId1" Type="http://schemas.openxmlformats.org/officeDocument/2006/relationships/tags" Target="../tags/tag102.xml"/></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07.xml"/><Relationship Id="rId2" Type="http://schemas.openxmlformats.org/officeDocument/2006/relationships/tags" Target="../tags/tag106.xml"/><Relationship Id="rId1" Type="http://schemas.openxmlformats.org/officeDocument/2006/relationships/tags" Target="../tags/tag105.xml"/></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10.xml"/><Relationship Id="rId2" Type="http://schemas.openxmlformats.org/officeDocument/2006/relationships/tags" Target="../tags/tag109.xml"/><Relationship Id="rId1" Type="http://schemas.openxmlformats.org/officeDocument/2006/relationships/tags" Target="../tags/tag108.xml"/></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13.xml"/><Relationship Id="rId2" Type="http://schemas.openxmlformats.org/officeDocument/2006/relationships/tags" Target="../tags/tag112.xml"/><Relationship Id="rId1" Type="http://schemas.openxmlformats.org/officeDocument/2006/relationships/tags" Target="../tags/tag111.xml"/></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16.xml"/><Relationship Id="rId2" Type="http://schemas.openxmlformats.org/officeDocument/2006/relationships/tags" Target="../tags/tag115.xml"/><Relationship Id="rId1" Type="http://schemas.openxmlformats.org/officeDocument/2006/relationships/tags" Target="../tags/tag114.xml"/></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19.xml"/><Relationship Id="rId2" Type="http://schemas.openxmlformats.org/officeDocument/2006/relationships/tags" Target="../tags/tag118.xml"/><Relationship Id="rId1" Type="http://schemas.openxmlformats.org/officeDocument/2006/relationships/tags" Target="../tags/tag1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p>
            <a:r>
              <a:rPr lang="zh-CN" altLang="zh-CN"/>
              <a:t>美赛</a:t>
            </a:r>
            <a:endParaRPr lang="zh-CN" altLang="zh-CN"/>
          </a:p>
        </p:txBody>
      </p:sp>
      <p:sp>
        <p:nvSpPr>
          <p:cNvPr id="3" name="副标题 2"/>
          <p:cNvSpPr>
            <a:spLocks noGrp="1"/>
          </p:cNvSpPr>
          <p:nvPr>
            <p:ph type="subTitle" idx="1"/>
            <p:custDataLst>
              <p:tags r:id="rId2"/>
            </p:custDataLst>
          </p:nvPr>
        </p:nvSpPr>
        <p:spPr/>
        <p:txBody>
          <a:bodyPr/>
          <a:p>
            <a:r>
              <a:rPr lang="en-US" altLang="zh-CN">
                <a:latin typeface="宋体" panose="02010600030101010101" pitchFamily="2" charset="-122"/>
                <a:ea typeface="宋体" panose="02010600030101010101" pitchFamily="2" charset="-122"/>
                <a:cs typeface="宋体" panose="02010600030101010101" pitchFamily="2" charset="-122"/>
              </a:rPr>
              <a:t>2026.1.30-2026.2.3</a:t>
            </a:r>
            <a:endParaRPr lang="en-US" altLang="zh-CN">
              <a:latin typeface="宋体" panose="02010600030101010101" pitchFamily="2" charset="-122"/>
              <a:ea typeface="宋体" panose="02010600030101010101" pitchFamily="2" charset="-122"/>
              <a:cs typeface="宋体" panose="02010600030101010101" pitchFamily="2" charset="-122"/>
            </a:endParaRPr>
          </a:p>
          <a:p>
            <a:r>
              <a:rPr lang="zh-CN" altLang="en-US">
                <a:latin typeface="宋体" panose="02010600030101010101" pitchFamily="2" charset="-122"/>
                <a:ea typeface="宋体" panose="02010600030101010101" pitchFamily="2" charset="-122"/>
                <a:cs typeface="宋体" panose="02010600030101010101" pitchFamily="2" charset="-122"/>
              </a:rPr>
              <a:t>创作者：袁衡</a:t>
            </a:r>
            <a:endParaRPr lang="zh-CN" altLang="en-US">
              <a:latin typeface="宋体" panose="02010600030101010101" pitchFamily="2" charset="-122"/>
              <a:ea typeface="宋体" panose="02010600030101010101" pitchFamily="2" charset="-122"/>
              <a:cs typeface="宋体" panose="02010600030101010101" pitchFamily="2" charset="-122"/>
            </a:endParaRPr>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endParaRPr lang="zh-CN" altLang="en-US"/>
          </a:p>
        </p:txBody>
      </p:sp>
      <p:sp>
        <p:nvSpPr>
          <p:cNvPr id="3" name="内容占位符 2"/>
          <p:cNvSpPr>
            <a:spLocks noGrp="1"/>
          </p:cNvSpPr>
          <p:nvPr>
            <p:ph idx="1"/>
            <p:custDataLst>
              <p:tags r:id="rId2"/>
            </p:custDataLst>
          </p:nvPr>
        </p:nvSpPr>
        <p:spPr/>
        <p:txBody>
          <a:bodyPr/>
          <a:p>
            <a:endParaRPr lang="zh-CN" altLang="en-US"/>
          </a:p>
        </p:txBody>
      </p:sp>
      <p:pic>
        <p:nvPicPr>
          <p:cNvPr id="4" name="图片 3"/>
          <p:cNvPicPr/>
          <p:nvPr/>
        </p:nvPicPr>
        <p:blipFill>
          <a:blip r:embed="rId3"/>
          <a:stretch>
            <a:fillRect/>
          </a:stretch>
        </p:blipFill>
        <p:spPr>
          <a:xfrm>
            <a:off x="-635" y="0"/>
            <a:ext cx="12192635" cy="6858000"/>
          </a:xfrm>
          <a:prstGeom prst="rect">
            <a:avLst/>
          </a:prstGeom>
        </p:spPr>
      </p:pic>
    </p:spTree>
    <p:custDataLst>
      <p:tags r:id="rId4"/>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endParaRPr lang="zh-CN" altLang="en-US"/>
          </a:p>
        </p:txBody>
      </p:sp>
      <p:sp>
        <p:nvSpPr>
          <p:cNvPr id="3" name="内容占位符 2"/>
          <p:cNvSpPr>
            <a:spLocks noGrp="1"/>
          </p:cNvSpPr>
          <p:nvPr>
            <p:ph idx="1"/>
            <p:custDataLst>
              <p:tags r:id="rId2"/>
            </p:custDataLst>
          </p:nvPr>
        </p:nvSpPr>
        <p:spPr/>
        <p:txBody>
          <a:bodyPr/>
          <a:p>
            <a:endParaRPr lang="zh-CN" altLang="en-US"/>
          </a:p>
        </p:txBody>
      </p:sp>
      <p:pic>
        <p:nvPicPr>
          <p:cNvPr id="4" name="图片 3"/>
          <p:cNvPicPr/>
          <p:nvPr/>
        </p:nvPicPr>
        <p:blipFill>
          <a:blip r:embed="rId3"/>
          <a:stretch>
            <a:fillRect/>
          </a:stretch>
        </p:blipFill>
        <p:spPr>
          <a:xfrm>
            <a:off x="635" y="0"/>
            <a:ext cx="12191365" cy="6858000"/>
          </a:xfrm>
          <a:prstGeom prst="rect">
            <a:avLst/>
          </a:prstGeom>
        </p:spPr>
      </p:pic>
    </p:spTree>
    <p:custDataLst>
      <p:tags r:id="rId4"/>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endParaRPr lang="zh-CN" altLang="en-US"/>
          </a:p>
        </p:txBody>
      </p:sp>
      <p:sp>
        <p:nvSpPr>
          <p:cNvPr id="3" name="内容占位符 2"/>
          <p:cNvSpPr>
            <a:spLocks noGrp="1"/>
          </p:cNvSpPr>
          <p:nvPr>
            <p:ph idx="1"/>
            <p:custDataLst>
              <p:tags r:id="rId2"/>
            </p:custDataLst>
          </p:nvPr>
        </p:nvSpPr>
        <p:spPr/>
        <p:txBody>
          <a:bodyPr/>
          <a:p>
            <a:endParaRPr lang="zh-CN" altLang="en-US"/>
          </a:p>
        </p:txBody>
      </p:sp>
      <p:pic>
        <p:nvPicPr>
          <p:cNvPr id="4" name="图片 3"/>
          <p:cNvPicPr/>
          <p:nvPr/>
        </p:nvPicPr>
        <p:blipFill>
          <a:blip r:embed="rId3"/>
          <a:stretch>
            <a:fillRect/>
          </a:stretch>
        </p:blipFill>
        <p:spPr>
          <a:xfrm>
            <a:off x="635" y="0"/>
            <a:ext cx="12192000" cy="6858000"/>
          </a:xfrm>
          <a:prstGeom prst="rect">
            <a:avLst/>
          </a:prstGeom>
        </p:spPr>
      </p:pic>
    </p:spTree>
    <p:custDataLst>
      <p:tags r:id="rId4"/>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endParaRPr lang="zh-CN" altLang="en-US"/>
          </a:p>
        </p:txBody>
      </p:sp>
      <p:pic>
        <p:nvPicPr>
          <p:cNvPr id="4" name="内容占位符 3"/>
          <p:cNvPicPr>
            <a:picLocks noChangeAspect="1"/>
          </p:cNvPicPr>
          <p:nvPr>
            <p:ph idx="1"/>
            <p:custDataLst>
              <p:tags r:id="rId2"/>
            </p:custDataLst>
          </p:nvPr>
        </p:nvPicPr>
        <p:blipFill>
          <a:blip r:embed="rId3"/>
          <a:stretch>
            <a:fillRect/>
          </a:stretch>
        </p:blipFill>
        <p:spPr>
          <a:xfrm>
            <a:off x="0" y="635"/>
            <a:ext cx="12192635" cy="6865620"/>
          </a:xfrm>
          <a:prstGeom prst="rect">
            <a:avLst/>
          </a:prstGeom>
        </p:spPr>
      </p:pic>
      <p:sp>
        <p:nvSpPr>
          <p:cNvPr id="5" name="文本框 4"/>
          <p:cNvSpPr txBox="1"/>
          <p:nvPr/>
        </p:nvSpPr>
        <p:spPr>
          <a:xfrm>
            <a:off x="6553835" y="411480"/>
            <a:ext cx="4635500" cy="706755"/>
          </a:xfrm>
          <a:prstGeom prst="rect">
            <a:avLst/>
          </a:prstGeom>
          <a:noFill/>
        </p:spPr>
        <p:txBody>
          <a:bodyPr wrap="square" rtlCol="0">
            <a:spAutoFit/>
          </a:bodyPr>
          <a:p>
            <a:r>
              <a:rPr lang="zh-CN" altLang="en-US" sz="4000">
                <a:solidFill>
                  <a:srgbClr val="FF0000"/>
                </a:solidFill>
              </a:rPr>
              <a:t>特殊条件需注意</a:t>
            </a:r>
            <a:endParaRPr lang="zh-CN" altLang="en-US" sz="4000">
              <a:solidFill>
                <a:srgbClr val="FF0000"/>
              </a:solidFill>
            </a:endParaRPr>
          </a:p>
        </p:txBody>
      </p:sp>
    </p:spTree>
    <p:custDataLst>
      <p:tags r:id="rId4"/>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endParaRPr lang="zh-CN" altLang="en-US"/>
          </a:p>
        </p:txBody>
      </p:sp>
      <p:sp>
        <p:nvSpPr>
          <p:cNvPr id="3" name="内容占位符 2"/>
          <p:cNvSpPr>
            <a:spLocks noGrp="1"/>
          </p:cNvSpPr>
          <p:nvPr>
            <p:ph idx="1"/>
            <p:custDataLst>
              <p:tags r:id="rId2"/>
            </p:custDataLst>
          </p:nvPr>
        </p:nvSpPr>
        <p:spPr/>
        <p:txBody>
          <a:bodyPr/>
          <a:p>
            <a:pPr marL="0" indent="0">
              <a:buNone/>
            </a:pPr>
            <a:endParaRPr lang="zh-CN" altLang="en-US"/>
          </a:p>
        </p:txBody>
      </p:sp>
      <p:pic>
        <p:nvPicPr>
          <p:cNvPr id="4" name="图片 3"/>
          <p:cNvPicPr/>
          <p:nvPr/>
        </p:nvPicPr>
        <p:blipFill>
          <a:blip r:embed="rId3"/>
          <a:stretch>
            <a:fillRect/>
          </a:stretch>
        </p:blipFill>
        <p:spPr>
          <a:xfrm>
            <a:off x="635" y="0"/>
            <a:ext cx="12191365" cy="6858000"/>
          </a:xfrm>
          <a:prstGeom prst="rect">
            <a:avLst/>
          </a:prstGeom>
        </p:spPr>
      </p:pic>
      <p:sp>
        <p:nvSpPr>
          <p:cNvPr id="5" name="文本框 4"/>
          <p:cNvSpPr txBox="1"/>
          <p:nvPr/>
        </p:nvSpPr>
        <p:spPr>
          <a:xfrm>
            <a:off x="6530340" y="104775"/>
            <a:ext cx="4278630" cy="645160"/>
          </a:xfrm>
          <a:prstGeom prst="rect">
            <a:avLst/>
          </a:prstGeom>
          <a:noFill/>
        </p:spPr>
        <p:txBody>
          <a:bodyPr wrap="square" rtlCol="0">
            <a:spAutoFit/>
          </a:bodyPr>
          <a:p>
            <a:r>
              <a:rPr lang="zh-CN" altLang="en-US" sz="3600">
                <a:solidFill>
                  <a:srgbClr val="FF0000"/>
                </a:solidFill>
              </a:rPr>
              <a:t>合理化假设</a:t>
            </a:r>
            <a:endParaRPr lang="zh-CN" altLang="en-US" sz="3600">
              <a:solidFill>
                <a:srgbClr val="FF0000"/>
              </a:solidFill>
            </a:endParaRPr>
          </a:p>
        </p:txBody>
      </p:sp>
    </p:spTree>
    <p:custDataLst>
      <p:tags r:id="rId4"/>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endParaRPr lang="zh-CN" altLang="en-US"/>
          </a:p>
        </p:txBody>
      </p:sp>
      <p:sp>
        <p:nvSpPr>
          <p:cNvPr id="3" name="内容占位符 2"/>
          <p:cNvSpPr>
            <a:spLocks noGrp="1"/>
          </p:cNvSpPr>
          <p:nvPr>
            <p:ph idx="1"/>
            <p:custDataLst>
              <p:tags r:id="rId2"/>
            </p:custDataLst>
          </p:nvPr>
        </p:nvSpPr>
        <p:spPr/>
        <p:txBody>
          <a:bodyPr/>
          <a:p>
            <a:endParaRPr lang="zh-CN" altLang="en-US"/>
          </a:p>
        </p:txBody>
      </p:sp>
      <p:pic>
        <p:nvPicPr>
          <p:cNvPr id="4" name="图片 3"/>
          <p:cNvPicPr/>
          <p:nvPr/>
        </p:nvPicPr>
        <p:blipFill>
          <a:blip r:embed="rId3"/>
          <a:stretch>
            <a:fillRect/>
          </a:stretch>
        </p:blipFill>
        <p:spPr>
          <a:xfrm>
            <a:off x="635" y="0"/>
            <a:ext cx="12192000" cy="6858000"/>
          </a:xfrm>
          <a:prstGeom prst="rect">
            <a:avLst/>
          </a:prstGeom>
        </p:spPr>
      </p:pic>
      <p:sp>
        <p:nvSpPr>
          <p:cNvPr id="5" name="文本框 4"/>
          <p:cNvSpPr txBox="1"/>
          <p:nvPr/>
        </p:nvSpPr>
        <p:spPr>
          <a:xfrm>
            <a:off x="8261985" y="461645"/>
            <a:ext cx="2811145" cy="1198880"/>
          </a:xfrm>
          <a:prstGeom prst="rect">
            <a:avLst/>
          </a:prstGeom>
          <a:noFill/>
        </p:spPr>
        <p:txBody>
          <a:bodyPr wrap="square" rtlCol="0">
            <a:spAutoFit/>
          </a:bodyPr>
          <a:p>
            <a:r>
              <a:rPr lang="zh-CN" altLang="en-US" sz="3600">
                <a:solidFill>
                  <a:srgbClr val="FF0000"/>
                </a:solidFill>
              </a:rPr>
              <a:t>数据预处理的解释说明</a:t>
            </a:r>
            <a:endParaRPr lang="zh-CN" altLang="en-US" sz="3600">
              <a:solidFill>
                <a:srgbClr val="FF0000"/>
              </a:solidFill>
            </a:endParaRPr>
          </a:p>
        </p:txBody>
      </p:sp>
    </p:spTree>
    <p:custDataLst>
      <p:tags r:id="rId4"/>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endParaRPr lang="zh-CN" altLang="en-US"/>
          </a:p>
        </p:txBody>
      </p:sp>
      <p:sp>
        <p:nvSpPr>
          <p:cNvPr id="3" name="内容占位符 2"/>
          <p:cNvSpPr>
            <a:spLocks noGrp="1"/>
          </p:cNvSpPr>
          <p:nvPr>
            <p:ph idx="1"/>
            <p:custDataLst>
              <p:tags r:id="rId2"/>
            </p:custDataLst>
          </p:nvPr>
        </p:nvSpPr>
        <p:spPr/>
        <p:txBody>
          <a:bodyPr/>
          <a:p>
            <a:endParaRPr lang="zh-CN" altLang="en-US"/>
          </a:p>
        </p:txBody>
      </p:sp>
      <p:pic>
        <p:nvPicPr>
          <p:cNvPr id="4" name="图片 3"/>
          <p:cNvPicPr/>
          <p:nvPr/>
        </p:nvPicPr>
        <p:blipFill>
          <a:blip r:embed="rId3"/>
          <a:stretch>
            <a:fillRect/>
          </a:stretch>
        </p:blipFill>
        <p:spPr>
          <a:xfrm>
            <a:off x="-635" y="0"/>
            <a:ext cx="12193270" cy="6858000"/>
          </a:xfrm>
          <a:prstGeom prst="rect">
            <a:avLst/>
          </a:prstGeom>
        </p:spPr>
      </p:pic>
    </p:spTree>
    <p:custDataLst>
      <p:tags r:id="rId4"/>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normAutofit fontScale="90000"/>
          </a:bodyPr>
          <a:p>
            <a:r>
              <a:rPr lang="en-US" altLang="zh-CN"/>
              <a:t>1.</a:t>
            </a:r>
            <a:r>
              <a:rPr lang="zh-CN" altLang="en-US"/>
              <a:t>题目、背景、问题</a:t>
            </a:r>
            <a:r>
              <a:rPr lang="en-US" altLang="zh-CN"/>
              <a:t> </a:t>
            </a:r>
            <a:r>
              <a:rPr lang="en-US" altLang="en-US"/>
              <a:t>→</a:t>
            </a:r>
            <a:r>
              <a:rPr lang="en-US" altLang="zh-CN"/>
              <a:t> </a:t>
            </a:r>
            <a:r>
              <a:rPr lang="zh-CN" altLang="en-US"/>
              <a:t>关键信息</a:t>
            </a:r>
            <a:r>
              <a:rPr lang="en-US" altLang="zh-CN"/>
              <a:t> / </a:t>
            </a:r>
            <a:r>
              <a:rPr lang="zh-CN" altLang="en-US"/>
              <a:t>可用信息</a:t>
            </a:r>
            <a:r>
              <a:rPr lang="en-US" altLang="zh-CN"/>
              <a:t> / </a:t>
            </a:r>
            <a:r>
              <a:rPr lang="zh-CN" altLang="en-US"/>
              <a:t>创新点</a:t>
            </a:r>
            <a:endParaRPr lang="zh-CN" altLang="en-US"/>
          </a:p>
        </p:txBody>
      </p:sp>
      <p:sp>
        <p:nvSpPr>
          <p:cNvPr id="3" name="内容占位符 2"/>
          <p:cNvSpPr>
            <a:spLocks noGrp="1"/>
          </p:cNvSpPr>
          <p:nvPr>
            <p:ph idx="1"/>
            <p:custDataLst>
              <p:tags r:id="rId2"/>
            </p:custDataLst>
          </p:nvPr>
        </p:nvSpPr>
        <p:spPr>
          <a:xfrm>
            <a:off x="608330" y="1292225"/>
            <a:ext cx="10968990" cy="5202555"/>
          </a:xfrm>
        </p:spPr>
        <p:txBody>
          <a:bodyPr>
            <a:noAutofit/>
          </a:bodyPr>
          <a:p>
            <a:pPr marL="0" indent="0">
              <a:buNone/>
            </a:pPr>
            <a:r>
              <a:rPr lang="zh-CN" altLang="en-US" sz="1200" b="1">
                <a:latin typeface="宋体" panose="02010600030101010101" pitchFamily="2" charset="-122"/>
                <a:ea typeface="宋体" panose="02010600030101010101" pitchFamily="2" charset="-122"/>
                <a:cs typeface="宋体" panose="02010600030101010101" pitchFamily="2" charset="-122"/>
              </a:rPr>
              <a:t>你是一名具有</a:t>
            </a:r>
            <a:r>
              <a:rPr lang="en-US" altLang="zh-CN" sz="1200" b="1">
                <a:latin typeface="宋体" panose="02010600030101010101" pitchFamily="2" charset="-122"/>
                <a:ea typeface="宋体" panose="02010600030101010101" pitchFamily="2" charset="-122"/>
                <a:cs typeface="宋体" panose="02010600030101010101" pitchFamily="2" charset="-122"/>
              </a:rPr>
              <a:t> MCM C </a:t>
            </a:r>
            <a:r>
              <a:rPr lang="zh-CN" altLang="en-US" sz="1200" b="1">
                <a:latin typeface="宋体" panose="02010600030101010101" pitchFamily="2" charset="-122"/>
                <a:ea typeface="宋体" panose="02010600030101010101" pitchFamily="2" charset="-122"/>
                <a:cs typeface="宋体" panose="02010600030101010101" pitchFamily="2" charset="-122"/>
              </a:rPr>
              <a:t>题评审经验的应用数学与系统建模专家，擅长快速从复杂背景中提炼建模价值。所传入的文件是</a:t>
            </a:r>
            <a:r>
              <a:rPr lang="en-US" altLang="zh-CN" sz="1200" b="1">
                <a:latin typeface="宋体" panose="02010600030101010101" pitchFamily="2" charset="-122"/>
                <a:ea typeface="宋体" panose="02010600030101010101" pitchFamily="2" charset="-122"/>
                <a:cs typeface="宋体" panose="02010600030101010101" pitchFamily="2" charset="-122"/>
              </a:rPr>
              <a:t>2026 </a:t>
            </a:r>
            <a:r>
              <a:rPr lang="zh-CN" altLang="en-US" sz="1200" b="1">
                <a:latin typeface="宋体" panose="02010600030101010101" pitchFamily="2" charset="-122"/>
                <a:ea typeface="宋体" panose="02010600030101010101" pitchFamily="2" charset="-122"/>
                <a:cs typeface="宋体" panose="02010600030101010101" pitchFamily="2" charset="-122"/>
              </a:rPr>
              <a:t>年</a:t>
            </a:r>
            <a:r>
              <a:rPr lang="en-US" altLang="zh-CN" sz="1200" b="1">
                <a:latin typeface="宋体" panose="02010600030101010101" pitchFamily="2" charset="-122"/>
                <a:ea typeface="宋体" panose="02010600030101010101" pitchFamily="2" charset="-122"/>
                <a:cs typeface="宋体" panose="02010600030101010101" pitchFamily="2" charset="-122"/>
              </a:rPr>
              <a:t> MCM C </a:t>
            </a:r>
            <a:r>
              <a:rPr lang="zh-CN" altLang="en-US" sz="1200" b="1">
                <a:latin typeface="宋体" panose="02010600030101010101" pitchFamily="2" charset="-122"/>
                <a:ea typeface="宋体" panose="02010600030101010101" pitchFamily="2" charset="-122"/>
                <a:cs typeface="宋体" panose="02010600030101010101" pitchFamily="2" charset="-122"/>
              </a:rPr>
              <a:t>题的完整题目与背景：</a:t>
            </a:r>
            <a:endParaRPr lang="zh-CN" altLang="en-US" sz="1200" b="1">
              <a:latin typeface="宋体" panose="02010600030101010101" pitchFamily="2" charset="-122"/>
              <a:ea typeface="宋体" panose="02010600030101010101" pitchFamily="2" charset="-122"/>
              <a:cs typeface="宋体" panose="02010600030101010101" pitchFamily="2" charset="-122"/>
            </a:endParaRPr>
          </a:p>
          <a:p>
            <a:pPr marL="0" indent="0">
              <a:buNone/>
            </a:pPr>
            <a:r>
              <a:rPr lang="zh-CN" altLang="en-US" sz="1200" b="1">
                <a:latin typeface="宋体" panose="02010600030101010101" pitchFamily="2" charset="-122"/>
                <a:ea typeface="宋体" panose="02010600030101010101" pitchFamily="2" charset="-122"/>
                <a:cs typeface="宋体" panose="02010600030101010101" pitchFamily="2" charset="-122"/>
              </a:rPr>
              <a:t>【任务】</a:t>
            </a:r>
            <a:endParaRPr lang="en-US" altLang="zh-CN" sz="1200" b="1">
              <a:latin typeface="宋体" panose="02010600030101010101" pitchFamily="2" charset="-122"/>
              <a:ea typeface="宋体" panose="02010600030101010101" pitchFamily="2" charset="-122"/>
              <a:cs typeface="宋体" panose="02010600030101010101" pitchFamily="2" charset="-122"/>
            </a:endParaRPr>
          </a:p>
          <a:p>
            <a:pPr marL="0" indent="0">
              <a:buNone/>
            </a:pPr>
            <a:r>
              <a:rPr lang="zh-CN" altLang="en-US" sz="1200" b="1">
                <a:latin typeface="宋体" panose="02010600030101010101" pitchFamily="2" charset="-122"/>
                <a:ea typeface="宋体" panose="02010600030101010101" pitchFamily="2" charset="-122"/>
                <a:cs typeface="宋体" panose="02010600030101010101" pitchFamily="2" charset="-122"/>
              </a:rPr>
              <a:t>请将题目背景、问题描述、约束条件系统性拆解为：</a:t>
            </a:r>
            <a:endParaRPr lang="zh-CN" altLang="en-US" sz="1200" b="1">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en-US" sz="1200" b="1">
                <a:latin typeface="宋体" panose="02010600030101010101" pitchFamily="2" charset="-122"/>
                <a:ea typeface="宋体" panose="02010600030101010101" pitchFamily="2" charset="-122"/>
                <a:cs typeface="宋体" panose="02010600030101010101" pitchFamily="2" charset="-122"/>
              </a:rPr>
              <a:t>   </a:t>
            </a:r>
            <a:r>
              <a:rPr lang="en-US" altLang="zh-CN" sz="1200" b="1">
                <a:latin typeface="宋体" panose="02010600030101010101" pitchFamily="2" charset="-122"/>
                <a:ea typeface="宋体" panose="02010600030101010101" pitchFamily="2" charset="-122"/>
                <a:cs typeface="宋体" panose="02010600030101010101" pitchFamily="2" charset="-122"/>
              </a:rPr>
              <a:t>- </a:t>
            </a:r>
            <a:r>
              <a:rPr lang="zh-CN" altLang="en-US" sz="1200" b="1">
                <a:latin typeface="宋体" panose="02010600030101010101" pitchFamily="2" charset="-122"/>
                <a:ea typeface="宋体" panose="02010600030101010101" pitchFamily="2" charset="-122"/>
                <a:cs typeface="宋体" panose="02010600030101010101" pitchFamily="2" charset="-122"/>
              </a:rPr>
              <a:t>核心建模目标</a:t>
            </a:r>
            <a:endParaRPr lang="zh-CN" altLang="en-US" sz="1200" b="1">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en-US" sz="1200" b="1">
                <a:latin typeface="宋体" panose="02010600030101010101" pitchFamily="2" charset="-122"/>
                <a:ea typeface="宋体" panose="02010600030101010101" pitchFamily="2" charset="-122"/>
                <a:cs typeface="宋体" panose="02010600030101010101" pitchFamily="2" charset="-122"/>
              </a:rPr>
              <a:t>   </a:t>
            </a:r>
            <a:r>
              <a:rPr lang="en-US" altLang="zh-CN" sz="1200" b="1">
                <a:latin typeface="宋体" panose="02010600030101010101" pitchFamily="2" charset="-122"/>
                <a:ea typeface="宋体" panose="02010600030101010101" pitchFamily="2" charset="-122"/>
                <a:cs typeface="宋体" panose="02010600030101010101" pitchFamily="2" charset="-122"/>
              </a:rPr>
              <a:t>- </a:t>
            </a:r>
            <a:r>
              <a:rPr lang="zh-CN" altLang="en-US" sz="1200" b="1">
                <a:latin typeface="宋体" panose="02010600030101010101" pitchFamily="2" charset="-122"/>
                <a:ea typeface="宋体" panose="02010600030101010101" pitchFamily="2" charset="-122"/>
                <a:cs typeface="宋体" panose="02010600030101010101" pitchFamily="2" charset="-122"/>
              </a:rPr>
              <a:t>明确给定的信息</a:t>
            </a:r>
            <a:endParaRPr lang="zh-CN" altLang="en-US" sz="1200" b="1">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en-US" sz="1200" b="1">
                <a:latin typeface="宋体" panose="02010600030101010101" pitchFamily="2" charset="-122"/>
                <a:ea typeface="宋体" panose="02010600030101010101" pitchFamily="2" charset="-122"/>
                <a:cs typeface="宋体" panose="02010600030101010101" pitchFamily="2" charset="-122"/>
              </a:rPr>
              <a:t>   </a:t>
            </a:r>
            <a:r>
              <a:rPr lang="en-US" altLang="zh-CN" sz="1200" b="1">
                <a:latin typeface="宋体" panose="02010600030101010101" pitchFamily="2" charset="-122"/>
                <a:ea typeface="宋体" panose="02010600030101010101" pitchFamily="2" charset="-122"/>
                <a:cs typeface="宋体" panose="02010600030101010101" pitchFamily="2" charset="-122"/>
              </a:rPr>
              <a:t>- </a:t>
            </a:r>
            <a:r>
              <a:rPr lang="zh-CN" altLang="en-US" sz="1200" b="1">
                <a:latin typeface="宋体" panose="02010600030101010101" pitchFamily="2" charset="-122"/>
                <a:ea typeface="宋体" panose="02010600030101010101" pitchFamily="2" charset="-122"/>
                <a:cs typeface="宋体" panose="02010600030101010101" pitchFamily="2" charset="-122"/>
              </a:rPr>
              <a:t>隐含但可合理利用的信息</a:t>
            </a:r>
            <a:endParaRPr lang="zh-CN" altLang="en-US" sz="1200" b="1">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en-US" sz="1200" b="1">
                <a:latin typeface="宋体" panose="02010600030101010101" pitchFamily="2" charset="-122"/>
                <a:ea typeface="宋体" panose="02010600030101010101" pitchFamily="2" charset="-122"/>
                <a:cs typeface="宋体" panose="02010600030101010101" pitchFamily="2" charset="-122"/>
              </a:rPr>
              <a:t>   </a:t>
            </a:r>
            <a:r>
              <a:rPr lang="en-US" altLang="zh-CN" sz="1200" b="1">
                <a:latin typeface="宋体" panose="02010600030101010101" pitchFamily="2" charset="-122"/>
                <a:ea typeface="宋体" panose="02010600030101010101" pitchFamily="2" charset="-122"/>
                <a:cs typeface="宋体" panose="02010600030101010101" pitchFamily="2" charset="-122"/>
              </a:rPr>
              <a:t>- </a:t>
            </a:r>
            <a:r>
              <a:rPr lang="zh-CN" altLang="en-US" sz="1200" b="1">
                <a:latin typeface="宋体" panose="02010600030101010101" pitchFamily="2" charset="-122"/>
                <a:ea typeface="宋体" panose="02010600030101010101" pitchFamily="2" charset="-122"/>
                <a:cs typeface="宋体" panose="02010600030101010101" pitchFamily="2" charset="-122"/>
              </a:rPr>
              <a:t>潜在约束与现实限制</a:t>
            </a:r>
            <a:endParaRPr lang="zh-CN" altLang="en-US" sz="1200" b="1">
              <a:latin typeface="宋体" panose="02010600030101010101" pitchFamily="2" charset="-122"/>
              <a:ea typeface="宋体" panose="02010600030101010101" pitchFamily="2" charset="-122"/>
              <a:cs typeface="宋体" panose="02010600030101010101" pitchFamily="2" charset="-122"/>
            </a:endParaRPr>
          </a:p>
          <a:p>
            <a:pPr marL="0" indent="0">
              <a:buNone/>
            </a:pPr>
            <a:r>
              <a:rPr lang="zh-CN" altLang="en-US" sz="1200" b="1">
                <a:latin typeface="宋体" panose="02010600030101010101" pitchFamily="2" charset="-122"/>
                <a:ea typeface="宋体" panose="02010600030101010101" pitchFamily="2" charset="-122"/>
                <a:cs typeface="宋体" panose="02010600030101010101" pitchFamily="2" charset="-122"/>
              </a:rPr>
              <a:t>针对每一个子问题，请分别给出：</a:t>
            </a:r>
            <a:endParaRPr lang="zh-CN" altLang="en-US" sz="1200" b="1">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en-US" sz="1200" b="1">
                <a:latin typeface="宋体" panose="02010600030101010101" pitchFamily="2" charset="-122"/>
                <a:ea typeface="宋体" panose="02010600030101010101" pitchFamily="2" charset="-122"/>
                <a:cs typeface="宋体" panose="02010600030101010101" pitchFamily="2" charset="-122"/>
              </a:rPr>
              <a:t>   </a:t>
            </a:r>
            <a:r>
              <a:rPr lang="en-US" altLang="zh-CN" sz="1200" b="1">
                <a:latin typeface="宋体" panose="02010600030101010101" pitchFamily="2" charset="-122"/>
                <a:ea typeface="宋体" panose="02010600030101010101" pitchFamily="2" charset="-122"/>
                <a:cs typeface="宋体" panose="02010600030101010101" pitchFamily="2" charset="-122"/>
              </a:rPr>
              <a:t>- </a:t>
            </a:r>
            <a:r>
              <a:rPr lang="zh-CN" altLang="en-US" sz="1200" b="1">
                <a:latin typeface="宋体" panose="02010600030101010101" pitchFamily="2" charset="-122"/>
                <a:ea typeface="宋体" panose="02010600030101010101" pitchFamily="2" charset="-122"/>
                <a:cs typeface="宋体" panose="02010600030101010101" pitchFamily="2" charset="-122"/>
              </a:rPr>
              <a:t>传统</a:t>
            </a:r>
            <a:r>
              <a:rPr lang="en-US" altLang="zh-CN" sz="1200" b="1">
                <a:latin typeface="宋体" panose="02010600030101010101" pitchFamily="2" charset="-122"/>
                <a:ea typeface="宋体" panose="02010600030101010101" pitchFamily="2" charset="-122"/>
                <a:cs typeface="宋体" panose="02010600030101010101" pitchFamily="2" charset="-122"/>
              </a:rPr>
              <a:t>/</a:t>
            </a:r>
            <a:r>
              <a:rPr lang="zh-CN" altLang="en-US" sz="1200" b="1">
                <a:latin typeface="宋体" panose="02010600030101010101" pitchFamily="2" charset="-122"/>
                <a:ea typeface="宋体" panose="02010600030101010101" pitchFamily="2" charset="-122"/>
                <a:cs typeface="宋体" panose="02010600030101010101" pitchFamily="2" charset="-122"/>
              </a:rPr>
              <a:t>常规建模思路（评委预期的</a:t>
            </a:r>
            <a:r>
              <a:rPr lang="en-US" altLang="zh-CN" sz="1200" b="1">
                <a:latin typeface="宋体" panose="02010600030101010101" pitchFamily="2" charset="-122"/>
                <a:ea typeface="宋体" panose="02010600030101010101" pitchFamily="2" charset="-122"/>
                <a:cs typeface="宋体" panose="02010600030101010101" pitchFamily="2" charset="-122"/>
              </a:rPr>
              <a:t> baseline</a:t>
            </a:r>
            <a:r>
              <a:rPr lang="zh-CN" altLang="en-US" sz="1200" b="1">
                <a:latin typeface="宋体" panose="02010600030101010101" pitchFamily="2" charset="-122"/>
                <a:ea typeface="宋体" panose="02010600030101010101" pitchFamily="2" charset="-122"/>
                <a:cs typeface="宋体" panose="02010600030101010101" pitchFamily="2" charset="-122"/>
              </a:rPr>
              <a:t>）</a:t>
            </a:r>
            <a:endParaRPr lang="zh-CN" altLang="en-US" sz="1200" b="1">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en-US" sz="1200" b="1">
                <a:latin typeface="宋体" panose="02010600030101010101" pitchFamily="2" charset="-122"/>
                <a:ea typeface="宋体" panose="02010600030101010101" pitchFamily="2" charset="-122"/>
                <a:cs typeface="宋体" panose="02010600030101010101" pitchFamily="2" charset="-122"/>
              </a:rPr>
              <a:t>   </a:t>
            </a:r>
            <a:r>
              <a:rPr lang="en-US" altLang="zh-CN" sz="1200" b="1">
                <a:latin typeface="宋体" panose="02010600030101010101" pitchFamily="2" charset="-122"/>
                <a:ea typeface="宋体" panose="02010600030101010101" pitchFamily="2" charset="-122"/>
                <a:cs typeface="宋体" panose="02010600030101010101" pitchFamily="2" charset="-122"/>
              </a:rPr>
              <a:t>- </a:t>
            </a:r>
            <a:r>
              <a:rPr lang="zh-CN" altLang="en-US" sz="1200" b="1">
                <a:latin typeface="宋体" panose="02010600030101010101" pitchFamily="2" charset="-122"/>
                <a:ea typeface="宋体" panose="02010600030101010101" pitchFamily="2" charset="-122"/>
                <a:cs typeface="宋体" panose="02010600030101010101" pitchFamily="2" charset="-122"/>
              </a:rPr>
              <a:t>可提升奖项等级的潜在创新方向（模型、数据、假设、分析角度）</a:t>
            </a:r>
            <a:endParaRPr lang="zh-CN" altLang="en-US" sz="1200" b="1">
              <a:latin typeface="宋体" panose="02010600030101010101" pitchFamily="2" charset="-122"/>
              <a:ea typeface="宋体" panose="02010600030101010101" pitchFamily="2" charset="-122"/>
              <a:cs typeface="宋体" panose="02010600030101010101" pitchFamily="2" charset="-122"/>
            </a:endParaRPr>
          </a:p>
          <a:p>
            <a:pPr marL="0" indent="0">
              <a:buNone/>
            </a:pPr>
            <a:r>
              <a:rPr lang="zh-CN" altLang="en-US" sz="1200" b="1">
                <a:latin typeface="宋体" panose="02010600030101010101" pitchFamily="2" charset="-122"/>
                <a:ea typeface="宋体" panose="02010600030101010101" pitchFamily="2" charset="-122"/>
                <a:cs typeface="宋体" panose="02010600030101010101" pitchFamily="2" charset="-122"/>
              </a:rPr>
              <a:t>请站在</a:t>
            </a:r>
            <a:r>
              <a:rPr lang="en-US" altLang="zh-CN" sz="1200" b="1">
                <a:latin typeface="宋体" panose="02010600030101010101" pitchFamily="2" charset="-122"/>
                <a:ea typeface="宋体" panose="02010600030101010101" pitchFamily="2" charset="-122"/>
                <a:cs typeface="宋体" panose="02010600030101010101" pitchFamily="2" charset="-122"/>
              </a:rPr>
              <a:t> M/F </a:t>
            </a:r>
            <a:r>
              <a:rPr lang="zh-CN" altLang="en-US" sz="1200" b="1">
                <a:latin typeface="宋体" panose="02010600030101010101" pitchFamily="2" charset="-122"/>
                <a:ea typeface="宋体" panose="02010600030101010101" pitchFamily="2" charset="-122"/>
                <a:cs typeface="宋体" panose="02010600030101010101" pitchFamily="2" charset="-122"/>
              </a:rPr>
              <a:t>奖评委角度，指出：</a:t>
            </a:r>
            <a:endParaRPr lang="zh-CN" altLang="en-US" sz="1200" b="1">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en-US" sz="1200" b="1">
                <a:latin typeface="宋体" panose="02010600030101010101" pitchFamily="2" charset="-122"/>
                <a:ea typeface="宋体" panose="02010600030101010101" pitchFamily="2" charset="-122"/>
                <a:cs typeface="宋体" panose="02010600030101010101" pitchFamily="2" charset="-122"/>
              </a:rPr>
              <a:t>   </a:t>
            </a:r>
            <a:r>
              <a:rPr lang="en-US" altLang="zh-CN" sz="1200" b="1">
                <a:latin typeface="宋体" panose="02010600030101010101" pitchFamily="2" charset="-122"/>
                <a:ea typeface="宋体" panose="02010600030101010101" pitchFamily="2" charset="-122"/>
                <a:cs typeface="宋体" panose="02010600030101010101" pitchFamily="2" charset="-122"/>
              </a:rPr>
              <a:t>- </a:t>
            </a:r>
            <a:r>
              <a:rPr lang="zh-CN" altLang="en-US" sz="1200" b="1">
                <a:latin typeface="宋体" panose="02010600030101010101" pitchFamily="2" charset="-122"/>
                <a:ea typeface="宋体" panose="02010600030101010101" pitchFamily="2" charset="-122"/>
                <a:cs typeface="宋体" panose="02010600030101010101" pitchFamily="2" charset="-122"/>
              </a:rPr>
              <a:t>哪些地方最容易</a:t>
            </a:r>
            <a:r>
              <a:rPr lang="en-US" altLang="zh-CN" sz="1200" b="1">
                <a:latin typeface="宋体" panose="02010600030101010101" pitchFamily="2" charset="-122"/>
                <a:ea typeface="宋体" panose="02010600030101010101" pitchFamily="2" charset="-122"/>
                <a:cs typeface="宋体" panose="02010600030101010101" pitchFamily="2" charset="-122"/>
              </a:rPr>
              <a:t>“</a:t>
            </a:r>
            <a:r>
              <a:rPr lang="zh-CN" altLang="en-US" sz="1200" b="1">
                <a:latin typeface="宋体" panose="02010600030101010101" pitchFamily="2" charset="-122"/>
                <a:ea typeface="宋体" panose="02010600030101010101" pitchFamily="2" charset="-122"/>
                <a:cs typeface="宋体" panose="02010600030101010101" pitchFamily="2" charset="-122"/>
              </a:rPr>
              <a:t>同质化</a:t>
            </a:r>
            <a:r>
              <a:rPr lang="en-US" altLang="zh-CN" sz="1200" b="1">
                <a:latin typeface="宋体" panose="02010600030101010101" pitchFamily="2" charset="-122"/>
                <a:ea typeface="宋体" panose="02010600030101010101" pitchFamily="2" charset="-122"/>
                <a:cs typeface="宋体" panose="02010600030101010101" pitchFamily="2" charset="-122"/>
              </a:rPr>
              <a:t>”</a:t>
            </a:r>
            <a:endParaRPr lang="en-US" altLang="zh-CN" sz="1200" b="1">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en-US" sz="1200" b="1">
                <a:latin typeface="宋体" panose="02010600030101010101" pitchFamily="2" charset="-122"/>
                <a:ea typeface="宋体" panose="02010600030101010101" pitchFamily="2" charset="-122"/>
                <a:cs typeface="宋体" panose="02010600030101010101" pitchFamily="2" charset="-122"/>
              </a:rPr>
              <a:t>   </a:t>
            </a:r>
            <a:r>
              <a:rPr lang="en-US" altLang="zh-CN" sz="1200" b="1">
                <a:latin typeface="宋体" panose="02010600030101010101" pitchFamily="2" charset="-122"/>
                <a:ea typeface="宋体" panose="02010600030101010101" pitchFamily="2" charset="-122"/>
                <a:cs typeface="宋体" panose="02010600030101010101" pitchFamily="2" charset="-122"/>
              </a:rPr>
              <a:t>- </a:t>
            </a:r>
            <a:r>
              <a:rPr lang="zh-CN" altLang="en-US" sz="1200" b="1">
                <a:latin typeface="宋体" panose="02010600030101010101" pitchFamily="2" charset="-122"/>
                <a:ea typeface="宋体" panose="02010600030101010101" pitchFamily="2" charset="-122"/>
                <a:cs typeface="宋体" panose="02010600030101010101" pitchFamily="2" charset="-122"/>
              </a:rPr>
              <a:t>哪些地方最适合做差异化突破</a:t>
            </a:r>
            <a:endParaRPr lang="zh-CN" altLang="en-US" sz="1200" b="1">
              <a:latin typeface="宋体" panose="02010600030101010101" pitchFamily="2" charset="-122"/>
              <a:ea typeface="宋体" panose="02010600030101010101" pitchFamily="2" charset="-122"/>
              <a:cs typeface="宋体" panose="02010600030101010101" pitchFamily="2" charset="-122"/>
            </a:endParaRPr>
          </a:p>
          <a:p>
            <a:pPr marL="0" indent="0">
              <a:buNone/>
            </a:pPr>
            <a:r>
              <a:rPr lang="zh-CN" altLang="en-US" sz="1200" b="1">
                <a:latin typeface="宋体" panose="02010600030101010101" pitchFamily="2" charset="-122"/>
                <a:ea typeface="宋体" panose="02010600030101010101" pitchFamily="2" charset="-122"/>
                <a:cs typeface="宋体" panose="02010600030101010101" pitchFamily="2" charset="-122"/>
              </a:rPr>
              <a:t>输出请结构化，使用分点和表格形式。</a:t>
            </a:r>
            <a:endParaRPr lang="zh-CN" altLang="en-US" sz="1200" b="1">
              <a:latin typeface="宋体" panose="02010600030101010101" pitchFamily="2" charset="-122"/>
              <a:ea typeface="宋体" panose="02010600030101010101" pitchFamily="2" charset="-122"/>
              <a:cs typeface="宋体" panose="02010600030101010101" pitchFamily="2" charset="-122"/>
            </a:endParaRPr>
          </a:p>
        </p:txBody>
      </p:sp>
    </p:spTree>
    <p:custDataLst>
      <p:tags r:id="rId3"/>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608330" y="608330"/>
            <a:ext cx="11348085" cy="705485"/>
          </a:xfrm>
        </p:spPr>
        <p:txBody>
          <a:bodyPr>
            <a:normAutofit fontScale="90000"/>
          </a:bodyPr>
          <a:p>
            <a:r>
              <a:rPr lang="en-US" altLang="zh-CN"/>
              <a:t>2.</a:t>
            </a:r>
            <a:r>
              <a:rPr lang="zh-CN" altLang="en-US"/>
              <a:t>将问题转为</a:t>
            </a:r>
            <a:r>
              <a:rPr lang="en-US" altLang="zh-CN"/>
              <a:t>“</a:t>
            </a:r>
            <a:r>
              <a:rPr lang="zh-CN" altLang="en-US"/>
              <a:t>论文检索语言</a:t>
            </a:r>
            <a:r>
              <a:rPr lang="en-US" altLang="zh-CN"/>
              <a:t>”</a:t>
            </a:r>
            <a:r>
              <a:rPr lang="zh-CN" altLang="en-US"/>
              <a:t>，并初步帮你们想文献方向</a:t>
            </a:r>
            <a:endParaRPr lang="zh-CN" altLang="en-US"/>
          </a:p>
        </p:txBody>
      </p:sp>
      <p:sp>
        <p:nvSpPr>
          <p:cNvPr id="3" name="内容占位符 2"/>
          <p:cNvSpPr>
            <a:spLocks noGrp="1"/>
          </p:cNvSpPr>
          <p:nvPr>
            <p:ph idx="1"/>
            <p:custDataLst>
              <p:tags r:id="rId2"/>
            </p:custDataLst>
          </p:nvPr>
        </p:nvSpPr>
        <p:spPr>
          <a:xfrm>
            <a:off x="608330" y="1307465"/>
            <a:ext cx="10968990" cy="5502910"/>
          </a:xfrm>
        </p:spPr>
        <p:txBody>
          <a:bodyPr>
            <a:normAutofit fontScale="25000"/>
          </a:bodyPr>
          <a:p>
            <a:pPr marL="0" indent="0">
              <a:buNone/>
            </a:pPr>
            <a:r>
              <a:rPr lang="zh-CN" altLang="en-US" sz="4800" b="1">
                <a:latin typeface="宋体" panose="02010600030101010101" pitchFamily="2" charset="-122"/>
                <a:ea typeface="宋体" panose="02010600030101010101" pitchFamily="2" charset="-122"/>
                <a:cs typeface="宋体" panose="02010600030101010101" pitchFamily="2" charset="-122"/>
              </a:rPr>
              <a:t>你是一名熟悉</a:t>
            </a:r>
            <a:r>
              <a:rPr lang="en-US" altLang="zh-CN" sz="4800" b="1">
                <a:latin typeface="宋体" panose="02010600030101010101" pitchFamily="2" charset="-122"/>
                <a:ea typeface="宋体" panose="02010600030101010101" pitchFamily="2" charset="-122"/>
                <a:cs typeface="宋体" panose="02010600030101010101" pitchFamily="2" charset="-122"/>
              </a:rPr>
              <a:t> Web of Science</a:t>
            </a:r>
            <a:r>
              <a:rPr lang="zh-CN" altLang="en-US" sz="4800" b="1">
                <a:latin typeface="宋体" panose="02010600030101010101" pitchFamily="2" charset="-122"/>
                <a:ea typeface="宋体" panose="02010600030101010101" pitchFamily="2" charset="-122"/>
                <a:cs typeface="宋体" panose="02010600030101010101" pitchFamily="2" charset="-122"/>
              </a:rPr>
              <a:t>、</a:t>
            </a:r>
            <a:r>
              <a:rPr lang="en-US" altLang="zh-CN" sz="4800" b="1">
                <a:latin typeface="宋体" panose="02010600030101010101" pitchFamily="2" charset="-122"/>
                <a:ea typeface="宋体" panose="02010600030101010101" pitchFamily="2" charset="-122"/>
                <a:cs typeface="宋体" panose="02010600030101010101" pitchFamily="2" charset="-122"/>
              </a:rPr>
              <a:t>Scopus</a:t>
            </a:r>
            <a:r>
              <a:rPr lang="zh-CN" altLang="en-US" sz="4800" b="1">
                <a:latin typeface="宋体" panose="02010600030101010101" pitchFamily="2" charset="-122"/>
                <a:ea typeface="宋体" panose="02010600030101010101" pitchFamily="2" charset="-122"/>
                <a:cs typeface="宋体" panose="02010600030101010101" pitchFamily="2" charset="-122"/>
              </a:rPr>
              <a:t>、</a:t>
            </a:r>
            <a:r>
              <a:rPr lang="en-US" altLang="zh-CN" sz="4800" b="1">
                <a:latin typeface="宋体" panose="02010600030101010101" pitchFamily="2" charset="-122"/>
                <a:ea typeface="宋体" panose="02010600030101010101" pitchFamily="2" charset="-122"/>
                <a:cs typeface="宋体" panose="02010600030101010101" pitchFamily="2" charset="-122"/>
              </a:rPr>
              <a:t>IEEE Xplore</a:t>
            </a:r>
            <a:r>
              <a:rPr lang="zh-CN" altLang="en-US" sz="4800" b="1">
                <a:latin typeface="宋体" panose="02010600030101010101" pitchFamily="2" charset="-122"/>
                <a:ea typeface="宋体" panose="02010600030101010101" pitchFamily="2" charset="-122"/>
                <a:cs typeface="宋体" panose="02010600030101010101" pitchFamily="2" charset="-122"/>
              </a:rPr>
              <a:t>、</a:t>
            </a:r>
            <a:r>
              <a:rPr lang="en-US" altLang="zh-CN" sz="4800" b="1">
                <a:latin typeface="宋体" panose="02010600030101010101" pitchFamily="2" charset="-122"/>
                <a:ea typeface="宋体" panose="02010600030101010101" pitchFamily="2" charset="-122"/>
                <a:cs typeface="宋体" panose="02010600030101010101" pitchFamily="2" charset="-122"/>
              </a:rPr>
              <a:t>ScienceDirect </a:t>
            </a:r>
            <a:r>
              <a:rPr lang="zh-CN" altLang="en-US" sz="4800" b="1">
                <a:latin typeface="宋体" panose="02010600030101010101" pitchFamily="2" charset="-122"/>
                <a:ea typeface="宋体" panose="02010600030101010101" pitchFamily="2" charset="-122"/>
                <a:cs typeface="宋体" panose="02010600030101010101" pitchFamily="2" charset="-122"/>
              </a:rPr>
              <a:t>的应用数学研究员。基于以上的建模问题与背景：</a:t>
            </a:r>
            <a:endParaRPr lang="en-US" altLang="zh-CN" sz="4800" b="1">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4800" b="1">
                <a:latin typeface="宋体" panose="02010600030101010101" pitchFamily="2" charset="-122"/>
                <a:ea typeface="宋体" panose="02010600030101010101" pitchFamily="2" charset="-122"/>
                <a:cs typeface="宋体" panose="02010600030101010101" pitchFamily="2" charset="-122"/>
              </a:rPr>
              <a:t>1. </a:t>
            </a:r>
            <a:r>
              <a:rPr lang="zh-CN" altLang="en-US" sz="4800" b="1">
                <a:latin typeface="宋体" panose="02010600030101010101" pitchFamily="2" charset="-122"/>
                <a:ea typeface="宋体" panose="02010600030101010101" pitchFamily="2" charset="-122"/>
                <a:cs typeface="宋体" panose="02010600030101010101" pitchFamily="2" charset="-122"/>
              </a:rPr>
              <a:t>请将每一个子问题转化为「学术论文检索语言」，包括：</a:t>
            </a:r>
            <a:endParaRPr lang="zh-CN" altLang="en-US" sz="4800" b="1">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4800" b="1">
                <a:latin typeface="宋体" panose="02010600030101010101" pitchFamily="2" charset="-122"/>
                <a:ea typeface="宋体" panose="02010600030101010101" pitchFamily="2" charset="-122"/>
                <a:cs typeface="宋体" panose="02010600030101010101" pitchFamily="2" charset="-122"/>
              </a:rPr>
              <a:t>   - </a:t>
            </a:r>
            <a:r>
              <a:rPr lang="zh-CN" altLang="en-US" sz="4800" b="1">
                <a:latin typeface="宋体" panose="02010600030101010101" pitchFamily="2" charset="-122"/>
                <a:ea typeface="宋体" panose="02010600030101010101" pitchFamily="2" charset="-122"/>
                <a:cs typeface="宋体" panose="02010600030101010101" pitchFamily="2" charset="-122"/>
              </a:rPr>
              <a:t>核心关键词（英文）</a:t>
            </a:r>
            <a:endParaRPr lang="zh-CN" altLang="en-US" sz="4800" b="1">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4800" b="1">
                <a:latin typeface="宋体" panose="02010600030101010101" pitchFamily="2" charset="-122"/>
                <a:ea typeface="宋体" panose="02010600030101010101" pitchFamily="2" charset="-122"/>
                <a:cs typeface="宋体" panose="02010600030101010101" pitchFamily="2" charset="-122"/>
              </a:rPr>
              <a:t>   - </a:t>
            </a:r>
            <a:r>
              <a:rPr lang="zh-CN" altLang="en-US" sz="4800" b="1">
                <a:latin typeface="宋体" panose="02010600030101010101" pitchFamily="2" charset="-122"/>
                <a:ea typeface="宋体" panose="02010600030101010101" pitchFamily="2" charset="-122"/>
                <a:cs typeface="宋体" panose="02010600030101010101" pitchFamily="2" charset="-122"/>
              </a:rPr>
              <a:t>常见方法关键词</a:t>
            </a:r>
            <a:endParaRPr lang="zh-CN" altLang="en-US" sz="4800" b="1">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4800" b="1">
                <a:latin typeface="宋体" panose="02010600030101010101" pitchFamily="2" charset="-122"/>
                <a:ea typeface="宋体" panose="02010600030101010101" pitchFamily="2" charset="-122"/>
                <a:cs typeface="宋体" panose="02010600030101010101" pitchFamily="2" charset="-122"/>
              </a:rPr>
              <a:t>   - </a:t>
            </a:r>
            <a:r>
              <a:rPr lang="zh-CN" altLang="en-US" sz="4800" b="1">
                <a:latin typeface="宋体" panose="02010600030101010101" pitchFamily="2" charset="-122"/>
                <a:ea typeface="宋体" panose="02010600030101010101" pitchFamily="2" charset="-122"/>
                <a:cs typeface="宋体" panose="02010600030101010101" pitchFamily="2" charset="-122"/>
              </a:rPr>
              <a:t>可替代的交叉领域关键词</a:t>
            </a:r>
            <a:endParaRPr lang="en-US" altLang="zh-CN" sz="4800" b="1">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4800" b="1">
                <a:latin typeface="宋体" panose="02010600030101010101" pitchFamily="2" charset="-122"/>
                <a:ea typeface="宋体" panose="02010600030101010101" pitchFamily="2" charset="-122"/>
                <a:cs typeface="宋体" panose="02010600030101010101" pitchFamily="2" charset="-122"/>
              </a:rPr>
              <a:t>2. </a:t>
            </a:r>
            <a:r>
              <a:rPr lang="zh-CN" altLang="en-US" sz="4800" b="1">
                <a:latin typeface="宋体" panose="02010600030101010101" pitchFamily="2" charset="-122"/>
                <a:ea typeface="宋体" panose="02010600030101010101" pitchFamily="2" charset="-122"/>
                <a:cs typeface="宋体" panose="02010600030101010101" pitchFamily="2" charset="-122"/>
              </a:rPr>
              <a:t>请分别给出适合检索的数据库并预先进行各个子问题相关论文查找并提供相应论文名称和链接：</a:t>
            </a:r>
            <a:endParaRPr lang="zh-CN" altLang="en-US" sz="4800" b="1">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4800" b="1">
                <a:latin typeface="宋体" panose="02010600030101010101" pitchFamily="2" charset="-122"/>
                <a:ea typeface="宋体" panose="02010600030101010101" pitchFamily="2" charset="-122"/>
                <a:cs typeface="宋体" panose="02010600030101010101" pitchFamily="2" charset="-122"/>
              </a:rPr>
              <a:t>   - Web of Science</a:t>
            </a:r>
            <a:endParaRPr lang="en-US" altLang="zh-CN" sz="4800" b="1">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4800" b="1">
                <a:latin typeface="宋体" panose="02010600030101010101" pitchFamily="2" charset="-122"/>
                <a:ea typeface="宋体" panose="02010600030101010101" pitchFamily="2" charset="-122"/>
                <a:cs typeface="宋体" panose="02010600030101010101" pitchFamily="2" charset="-122"/>
              </a:rPr>
              <a:t>   - Scopus</a:t>
            </a:r>
            <a:endParaRPr lang="en-US" altLang="zh-CN" sz="4800" b="1">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4800" b="1">
                <a:latin typeface="宋体" panose="02010600030101010101" pitchFamily="2" charset="-122"/>
                <a:ea typeface="宋体" panose="02010600030101010101" pitchFamily="2" charset="-122"/>
                <a:cs typeface="宋体" panose="02010600030101010101" pitchFamily="2" charset="-122"/>
              </a:rPr>
              <a:t>   - IEEE Xplore</a:t>
            </a:r>
            <a:endParaRPr lang="en-US" altLang="zh-CN" sz="4800" b="1">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4800" b="1">
                <a:latin typeface="宋体" panose="02010600030101010101" pitchFamily="2" charset="-122"/>
                <a:ea typeface="宋体" panose="02010600030101010101" pitchFamily="2" charset="-122"/>
                <a:cs typeface="宋体" panose="02010600030101010101" pitchFamily="2" charset="-122"/>
              </a:rPr>
              <a:t>   - ScienceDirect / Elsevier</a:t>
            </a:r>
            <a:endParaRPr lang="en-US" altLang="zh-CN" sz="4800" b="1">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4800" b="1">
                <a:latin typeface="宋体" panose="02010600030101010101" pitchFamily="2" charset="-122"/>
                <a:ea typeface="宋体" panose="02010600030101010101" pitchFamily="2" charset="-122"/>
                <a:cs typeface="宋体" panose="02010600030101010101" pitchFamily="2" charset="-122"/>
              </a:rPr>
              <a:t>3. </a:t>
            </a:r>
            <a:r>
              <a:rPr lang="zh-CN" altLang="en-US" sz="4800" b="1">
                <a:latin typeface="宋体" panose="02010600030101010101" pitchFamily="2" charset="-122"/>
                <a:ea typeface="宋体" panose="02010600030101010101" pitchFamily="2" charset="-122"/>
                <a:cs typeface="宋体" panose="02010600030101010101" pitchFamily="2" charset="-122"/>
              </a:rPr>
              <a:t>对每类关键词，请说明：</a:t>
            </a:r>
            <a:endParaRPr lang="zh-CN" altLang="en-US" sz="4800" b="1">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4800" b="1">
                <a:latin typeface="宋体" panose="02010600030101010101" pitchFamily="2" charset="-122"/>
                <a:ea typeface="宋体" panose="02010600030101010101" pitchFamily="2" charset="-122"/>
                <a:cs typeface="宋体" panose="02010600030101010101" pitchFamily="2" charset="-122"/>
              </a:rPr>
              <a:t>   - </a:t>
            </a:r>
            <a:r>
              <a:rPr lang="zh-CN" altLang="en-US" sz="4800" b="1">
                <a:latin typeface="宋体" panose="02010600030101010101" pitchFamily="2" charset="-122"/>
                <a:ea typeface="宋体" panose="02010600030101010101" pitchFamily="2" charset="-122"/>
                <a:cs typeface="宋体" panose="02010600030101010101" pitchFamily="2" charset="-122"/>
              </a:rPr>
              <a:t>常见模型框架</a:t>
            </a:r>
            <a:endParaRPr lang="zh-CN" altLang="en-US" sz="4800" b="1">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4800" b="1">
                <a:latin typeface="宋体" panose="02010600030101010101" pitchFamily="2" charset="-122"/>
                <a:ea typeface="宋体" panose="02010600030101010101" pitchFamily="2" charset="-122"/>
                <a:cs typeface="宋体" panose="02010600030101010101" pitchFamily="2" charset="-122"/>
              </a:rPr>
              <a:t>   - </a:t>
            </a:r>
            <a:r>
              <a:rPr lang="zh-CN" altLang="en-US" sz="4800" b="1">
                <a:latin typeface="宋体" panose="02010600030101010101" pitchFamily="2" charset="-122"/>
                <a:ea typeface="宋体" panose="02010600030101010101" pitchFamily="2" charset="-122"/>
                <a:cs typeface="宋体" panose="02010600030101010101" pitchFamily="2" charset="-122"/>
              </a:rPr>
              <a:t>这些方法通常解决什么类型的问题</a:t>
            </a:r>
            <a:endParaRPr lang="en-US" altLang="zh-CN" sz="4800" b="1">
              <a:latin typeface="宋体" panose="02010600030101010101" pitchFamily="2" charset="-122"/>
              <a:ea typeface="宋体" panose="02010600030101010101" pitchFamily="2" charset="-122"/>
              <a:cs typeface="宋体" panose="02010600030101010101" pitchFamily="2" charset="-122"/>
            </a:endParaRPr>
          </a:p>
          <a:p>
            <a:pPr marL="0" indent="0">
              <a:buNone/>
            </a:pPr>
            <a:r>
              <a:rPr lang="zh-CN" altLang="en-US" sz="4800" b="1">
                <a:latin typeface="宋体" panose="02010600030101010101" pitchFamily="2" charset="-122"/>
                <a:ea typeface="宋体" panose="02010600030101010101" pitchFamily="2" charset="-122"/>
                <a:cs typeface="宋体" panose="02010600030101010101" pitchFamily="2" charset="-122"/>
              </a:rPr>
              <a:t>输出格式：</a:t>
            </a:r>
            <a:endParaRPr lang="zh-CN" altLang="en-US" sz="4800" b="1">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4800" b="1">
                <a:latin typeface="宋体" panose="02010600030101010101" pitchFamily="2" charset="-122"/>
                <a:ea typeface="宋体" panose="02010600030101010101" pitchFamily="2" charset="-122"/>
                <a:cs typeface="宋体" panose="02010600030101010101" pitchFamily="2" charset="-122"/>
              </a:rPr>
              <a:t>- </a:t>
            </a:r>
            <a:r>
              <a:rPr lang="zh-CN" altLang="en-US" sz="4800" b="1">
                <a:latin typeface="宋体" panose="02010600030101010101" pitchFamily="2" charset="-122"/>
                <a:ea typeface="宋体" panose="02010600030101010101" pitchFamily="2" charset="-122"/>
                <a:cs typeface="宋体" panose="02010600030101010101" pitchFamily="2" charset="-122"/>
              </a:rPr>
              <a:t>子问题</a:t>
            </a:r>
            <a:r>
              <a:rPr lang="en-US" altLang="zh-CN" sz="4800" b="1">
                <a:latin typeface="宋体" panose="02010600030101010101" pitchFamily="2" charset="-122"/>
                <a:ea typeface="宋体" panose="02010600030101010101" pitchFamily="2" charset="-122"/>
                <a:cs typeface="宋体" panose="02010600030101010101" pitchFamily="2" charset="-122"/>
              </a:rPr>
              <a:t> </a:t>
            </a:r>
            <a:r>
              <a:rPr lang="en-US" altLang="en-US" sz="4800" b="1">
                <a:latin typeface="宋体" panose="02010600030101010101" pitchFamily="2" charset="-122"/>
                <a:ea typeface="宋体" panose="02010600030101010101" pitchFamily="2" charset="-122"/>
                <a:cs typeface="宋体" panose="02010600030101010101" pitchFamily="2" charset="-122"/>
              </a:rPr>
              <a:t>→</a:t>
            </a:r>
            <a:r>
              <a:rPr lang="en-US" altLang="zh-CN" sz="4800" b="1">
                <a:latin typeface="宋体" panose="02010600030101010101" pitchFamily="2" charset="-122"/>
                <a:ea typeface="宋体" panose="02010600030101010101" pitchFamily="2" charset="-122"/>
                <a:cs typeface="宋体" panose="02010600030101010101" pitchFamily="2" charset="-122"/>
              </a:rPr>
              <a:t> </a:t>
            </a:r>
            <a:r>
              <a:rPr lang="zh-CN" altLang="en-US" sz="4800" b="1">
                <a:latin typeface="宋体" panose="02010600030101010101" pitchFamily="2" charset="-122"/>
                <a:ea typeface="宋体" panose="02010600030101010101" pitchFamily="2" charset="-122"/>
                <a:cs typeface="宋体" panose="02010600030101010101" pitchFamily="2" charset="-122"/>
              </a:rPr>
              <a:t>检索关键词</a:t>
            </a:r>
            <a:r>
              <a:rPr lang="en-US" altLang="zh-CN" sz="4800" b="1">
                <a:latin typeface="宋体" panose="02010600030101010101" pitchFamily="2" charset="-122"/>
                <a:ea typeface="宋体" panose="02010600030101010101" pitchFamily="2" charset="-122"/>
                <a:cs typeface="宋体" panose="02010600030101010101" pitchFamily="2" charset="-122"/>
              </a:rPr>
              <a:t> </a:t>
            </a:r>
            <a:r>
              <a:rPr lang="en-US" altLang="en-US" sz="4800" b="1">
                <a:latin typeface="宋体" panose="02010600030101010101" pitchFamily="2" charset="-122"/>
                <a:ea typeface="宋体" panose="02010600030101010101" pitchFamily="2" charset="-122"/>
                <a:cs typeface="宋体" panose="02010600030101010101" pitchFamily="2" charset="-122"/>
              </a:rPr>
              <a:t>→</a:t>
            </a:r>
            <a:r>
              <a:rPr lang="en-US" altLang="zh-CN" sz="4800" b="1">
                <a:latin typeface="宋体" panose="02010600030101010101" pitchFamily="2" charset="-122"/>
                <a:ea typeface="宋体" panose="02010600030101010101" pitchFamily="2" charset="-122"/>
                <a:cs typeface="宋体" panose="02010600030101010101" pitchFamily="2" charset="-122"/>
              </a:rPr>
              <a:t> </a:t>
            </a:r>
            <a:r>
              <a:rPr lang="zh-CN" altLang="en-US" sz="4800" b="1">
                <a:latin typeface="宋体" panose="02010600030101010101" pitchFamily="2" charset="-122"/>
                <a:ea typeface="宋体" panose="02010600030101010101" pitchFamily="2" charset="-122"/>
                <a:cs typeface="宋体" panose="02010600030101010101" pitchFamily="2" charset="-122"/>
              </a:rPr>
              <a:t>推荐数据库</a:t>
            </a:r>
            <a:r>
              <a:rPr lang="en-US" altLang="zh-CN" sz="4800" b="1">
                <a:latin typeface="宋体" panose="02010600030101010101" pitchFamily="2" charset="-122"/>
                <a:ea typeface="宋体" panose="02010600030101010101" pitchFamily="2" charset="-122"/>
                <a:cs typeface="宋体" panose="02010600030101010101" pitchFamily="2" charset="-122"/>
              </a:rPr>
              <a:t> </a:t>
            </a:r>
            <a:r>
              <a:rPr lang="en-US" altLang="en-US" sz="4800" b="1">
                <a:latin typeface="宋体" panose="02010600030101010101" pitchFamily="2" charset="-122"/>
                <a:ea typeface="宋体" panose="02010600030101010101" pitchFamily="2" charset="-122"/>
                <a:cs typeface="宋体" panose="02010600030101010101" pitchFamily="2" charset="-122"/>
              </a:rPr>
              <a:t>→</a:t>
            </a:r>
            <a:r>
              <a:rPr lang="en-US" altLang="zh-CN" sz="4800" b="1">
                <a:latin typeface="宋体" panose="02010600030101010101" pitchFamily="2" charset="-122"/>
                <a:ea typeface="宋体" panose="02010600030101010101" pitchFamily="2" charset="-122"/>
                <a:cs typeface="宋体" panose="02010600030101010101" pitchFamily="2" charset="-122"/>
              </a:rPr>
              <a:t> </a:t>
            </a:r>
            <a:r>
              <a:rPr lang="zh-CN" altLang="en-US" sz="4800" b="1">
                <a:latin typeface="宋体" panose="02010600030101010101" pitchFamily="2" charset="-122"/>
                <a:ea typeface="宋体" panose="02010600030101010101" pitchFamily="2" charset="-122"/>
                <a:cs typeface="宋体" panose="02010600030101010101" pitchFamily="2" charset="-122"/>
              </a:rPr>
              <a:t>方法类型</a:t>
            </a:r>
            <a:endParaRPr lang="zh-CN" altLang="en-US" sz="4800" b="1">
              <a:latin typeface="宋体" panose="02010600030101010101" pitchFamily="2" charset="-122"/>
              <a:ea typeface="宋体" panose="02010600030101010101" pitchFamily="2" charset="-122"/>
              <a:cs typeface="宋体" panose="02010600030101010101" pitchFamily="2" charset="-122"/>
            </a:endParaRPr>
          </a:p>
          <a:p>
            <a:pPr marL="0" indent="0">
              <a:buNone/>
            </a:pPr>
            <a:endParaRPr lang="zh-CN" altLang="en-US" sz="4800" b="1">
              <a:latin typeface="宋体" panose="02010600030101010101" pitchFamily="2" charset="-122"/>
              <a:ea typeface="宋体" panose="02010600030101010101" pitchFamily="2" charset="-122"/>
              <a:cs typeface="宋体" panose="02010600030101010101" pitchFamily="2" charset="-122"/>
            </a:endParaRPr>
          </a:p>
          <a:p>
            <a:pPr marL="0" indent="0">
              <a:buNone/>
            </a:pPr>
            <a:endParaRPr lang="zh-CN" altLang="en-US" sz="4800" b="1">
              <a:latin typeface="宋体" panose="02010600030101010101" pitchFamily="2" charset="-122"/>
              <a:ea typeface="宋体" panose="02010600030101010101" pitchFamily="2" charset="-122"/>
              <a:cs typeface="宋体" panose="02010600030101010101" pitchFamily="2" charset="-122"/>
            </a:endParaRPr>
          </a:p>
        </p:txBody>
      </p:sp>
    </p:spTree>
    <p:custDataLst>
      <p:tags r:id="rId3"/>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每个问题：初步思路</a:t>
            </a:r>
            <a:r>
              <a:rPr lang="en-US" altLang="zh-CN"/>
              <a:t> </a:t>
            </a:r>
            <a:r>
              <a:rPr lang="en-US" altLang="en-US"/>
              <a:t>→</a:t>
            </a:r>
            <a:r>
              <a:rPr lang="en-US" altLang="zh-CN"/>
              <a:t> </a:t>
            </a:r>
            <a:r>
              <a:rPr lang="zh-CN" altLang="en-US"/>
              <a:t>文献后升级建模方案</a:t>
            </a:r>
            <a:endParaRPr lang="zh-CN" altLang="en-US"/>
          </a:p>
        </p:txBody>
      </p:sp>
      <p:sp>
        <p:nvSpPr>
          <p:cNvPr id="3" name="内容占位符 2"/>
          <p:cNvSpPr>
            <a:spLocks noGrp="1"/>
          </p:cNvSpPr>
          <p:nvPr>
            <p:ph idx="1"/>
            <p:custDataLst>
              <p:tags r:id="rId2"/>
            </p:custDataLst>
          </p:nvPr>
        </p:nvSpPr>
        <p:spPr/>
        <p:txBody>
          <a:bodyPr>
            <a:normAutofit lnSpcReduction="10000"/>
          </a:bodyPr>
          <a:p>
            <a:pPr marL="0" indent="0">
              <a:buNone/>
            </a:pPr>
            <a:r>
              <a:rPr lang="zh-CN" altLang="en-US">
                <a:latin typeface="宋体" panose="02010600030101010101" pitchFamily="2" charset="-122"/>
                <a:ea typeface="宋体" panose="02010600030101010101" pitchFamily="2" charset="-122"/>
                <a:cs typeface="宋体" panose="02010600030101010101" pitchFamily="2" charset="-122"/>
              </a:rPr>
              <a:t>你是一名擅长</a:t>
            </a:r>
            <a:r>
              <a:rPr lang="en-US" altLang="zh-CN">
                <a:latin typeface="宋体" panose="02010600030101010101" pitchFamily="2" charset="-122"/>
                <a:ea typeface="宋体" panose="02010600030101010101" pitchFamily="2" charset="-122"/>
                <a:cs typeface="宋体" panose="02010600030101010101" pitchFamily="2" charset="-122"/>
              </a:rPr>
              <a:t>“</a:t>
            </a:r>
            <a:r>
              <a:rPr lang="zh-CN" altLang="en-US">
                <a:latin typeface="宋体" panose="02010600030101010101" pitchFamily="2" charset="-122"/>
                <a:ea typeface="宋体" panose="02010600030101010101" pitchFamily="2" charset="-122"/>
                <a:cs typeface="宋体" panose="02010600030101010101" pitchFamily="2" charset="-122"/>
              </a:rPr>
              <a:t>从论文方法到竞赛模型落地</a:t>
            </a:r>
            <a:r>
              <a:rPr lang="en-US" altLang="zh-CN">
                <a:latin typeface="宋体" panose="02010600030101010101" pitchFamily="2" charset="-122"/>
                <a:ea typeface="宋体" panose="02010600030101010101" pitchFamily="2" charset="-122"/>
                <a:cs typeface="宋体" panose="02010600030101010101" pitchFamily="2" charset="-122"/>
              </a:rPr>
              <a:t>”</a:t>
            </a:r>
            <a:r>
              <a:rPr lang="zh-CN" altLang="en-US">
                <a:latin typeface="宋体" panose="02010600030101010101" pitchFamily="2" charset="-122"/>
                <a:ea typeface="宋体" panose="02010600030101010101" pitchFamily="2" charset="-122"/>
                <a:cs typeface="宋体" panose="02010600030101010101" pitchFamily="2" charset="-122"/>
              </a:rPr>
              <a:t>的建模顾问。</a:t>
            </a:r>
            <a:endParaRPr lang="zh-CN" altLang="en-US">
              <a:latin typeface="宋体" panose="02010600030101010101" pitchFamily="2" charset="-122"/>
              <a:ea typeface="宋体" panose="02010600030101010101" pitchFamily="2" charset="-122"/>
              <a:cs typeface="宋体" panose="02010600030101010101" pitchFamily="2" charset="-122"/>
            </a:endParaRPr>
          </a:p>
          <a:p>
            <a:pPr marL="0" indent="0">
              <a:buNone/>
            </a:pPr>
            <a:r>
              <a:rPr lang="zh-CN" altLang="en-US">
                <a:latin typeface="宋体" panose="02010600030101010101" pitchFamily="2" charset="-122"/>
                <a:ea typeface="宋体" panose="02010600030101010101" pitchFamily="2" charset="-122"/>
                <a:cs typeface="宋体" panose="02010600030101010101" pitchFamily="2" charset="-122"/>
              </a:rPr>
              <a:t>针对以上提取的各个子问题</a:t>
            </a:r>
            <a:r>
              <a:rPr lang="en-US" altLang="zh-CN">
                <a:latin typeface="宋体" panose="02010600030101010101" pitchFamily="2" charset="-122"/>
                <a:ea typeface="宋体" panose="02010600030101010101" pitchFamily="2" charset="-122"/>
                <a:cs typeface="宋体" panose="02010600030101010101" pitchFamily="2" charset="-122"/>
              </a:rPr>
              <a:t> </a:t>
            </a:r>
            <a:r>
              <a:rPr lang="zh-CN" altLang="en-US">
                <a:latin typeface="宋体" panose="02010600030101010101" pitchFamily="2" charset="-122"/>
                <a:ea typeface="宋体" panose="02010600030101010101" pitchFamily="2" charset="-122"/>
                <a:cs typeface="宋体" panose="02010600030101010101" pitchFamily="2" charset="-122"/>
              </a:rPr>
              <a:t>：</a:t>
            </a:r>
            <a:endParaRPr lang="en-US" altLang="zh-CN">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a:latin typeface="宋体" panose="02010600030101010101" pitchFamily="2" charset="-122"/>
                <a:ea typeface="宋体" panose="02010600030101010101" pitchFamily="2" charset="-122"/>
                <a:cs typeface="宋体" panose="02010600030101010101" pitchFamily="2" charset="-122"/>
              </a:rPr>
              <a:t>1. </a:t>
            </a:r>
            <a:r>
              <a:rPr lang="zh-CN" altLang="en-US">
                <a:latin typeface="宋体" panose="02010600030101010101" pitchFamily="2" charset="-122"/>
                <a:ea typeface="宋体" panose="02010600030101010101" pitchFamily="2" charset="-122"/>
                <a:cs typeface="宋体" panose="02010600030101010101" pitchFamily="2" charset="-122"/>
              </a:rPr>
              <a:t>请给出一个不依赖具体论文的初步建模思路，包括：</a:t>
            </a:r>
            <a:endParaRPr lang="zh-CN" altLang="en-US">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a:latin typeface="宋体" panose="02010600030101010101" pitchFamily="2" charset="-122"/>
                <a:ea typeface="宋体" panose="02010600030101010101" pitchFamily="2" charset="-122"/>
                <a:cs typeface="宋体" panose="02010600030101010101" pitchFamily="2" charset="-122"/>
              </a:rPr>
              <a:t>   - </a:t>
            </a:r>
            <a:r>
              <a:rPr lang="zh-CN" altLang="en-US">
                <a:latin typeface="宋体" panose="02010600030101010101" pitchFamily="2" charset="-122"/>
                <a:ea typeface="宋体" panose="02010600030101010101" pitchFamily="2" charset="-122"/>
                <a:cs typeface="宋体" panose="02010600030101010101" pitchFamily="2" charset="-122"/>
              </a:rPr>
              <a:t>模型类型选择理由</a:t>
            </a:r>
            <a:endParaRPr lang="zh-CN" altLang="en-US">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a:latin typeface="宋体" panose="02010600030101010101" pitchFamily="2" charset="-122"/>
                <a:ea typeface="宋体" panose="02010600030101010101" pitchFamily="2" charset="-122"/>
                <a:cs typeface="宋体" panose="02010600030101010101" pitchFamily="2" charset="-122"/>
              </a:rPr>
              <a:t>   - </a:t>
            </a:r>
            <a:r>
              <a:rPr lang="zh-CN" altLang="en-US">
                <a:latin typeface="宋体" panose="02010600030101010101" pitchFamily="2" charset="-122"/>
                <a:ea typeface="宋体" panose="02010600030101010101" pitchFamily="2" charset="-122"/>
                <a:cs typeface="宋体" panose="02010600030101010101" pitchFamily="2" charset="-122"/>
              </a:rPr>
              <a:t>决策变量、状态变量</a:t>
            </a:r>
            <a:endParaRPr lang="zh-CN" altLang="en-US">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a:latin typeface="宋体" panose="02010600030101010101" pitchFamily="2" charset="-122"/>
                <a:ea typeface="宋体" panose="02010600030101010101" pitchFamily="2" charset="-122"/>
                <a:cs typeface="宋体" panose="02010600030101010101" pitchFamily="2" charset="-122"/>
              </a:rPr>
              <a:t>   - </a:t>
            </a:r>
            <a:r>
              <a:rPr lang="zh-CN" altLang="en-US">
                <a:latin typeface="宋体" panose="02010600030101010101" pitchFamily="2" charset="-122"/>
                <a:ea typeface="宋体" panose="02010600030101010101" pitchFamily="2" charset="-122"/>
                <a:cs typeface="宋体" panose="02010600030101010101" pitchFamily="2" charset="-122"/>
              </a:rPr>
              <a:t>目标函数与约束</a:t>
            </a:r>
            <a:endParaRPr lang="zh-CN" altLang="en-US">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a:latin typeface="宋体" panose="02010600030101010101" pitchFamily="2" charset="-122"/>
                <a:ea typeface="宋体" panose="02010600030101010101" pitchFamily="2" charset="-122"/>
                <a:cs typeface="宋体" panose="02010600030101010101" pitchFamily="2" charset="-122"/>
              </a:rPr>
              <a:t>   - </a:t>
            </a:r>
            <a:r>
              <a:rPr lang="zh-CN" altLang="en-US">
                <a:latin typeface="宋体" panose="02010600030101010101" pitchFamily="2" charset="-122"/>
                <a:ea typeface="宋体" panose="02010600030101010101" pitchFamily="2" charset="-122"/>
                <a:cs typeface="宋体" panose="02010600030101010101" pitchFamily="2" charset="-122"/>
              </a:rPr>
              <a:t>初始假设（尽量现实、可解释）</a:t>
            </a:r>
            <a:endParaRPr lang="en-US" altLang="zh-CN">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a:latin typeface="宋体" panose="02010600030101010101" pitchFamily="2" charset="-122"/>
                <a:ea typeface="宋体" panose="02010600030101010101" pitchFamily="2" charset="-122"/>
                <a:cs typeface="宋体" panose="02010600030101010101" pitchFamily="2" charset="-122"/>
              </a:rPr>
              <a:t>2. </a:t>
            </a:r>
            <a:r>
              <a:rPr lang="zh-CN" altLang="en-US">
                <a:latin typeface="宋体" panose="02010600030101010101" pitchFamily="2" charset="-122"/>
                <a:ea typeface="宋体" panose="02010600030101010101" pitchFamily="2" charset="-122"/>
                <a:cs typeface="宋体" panose="02010600030101010101" pitchFamily="2" charset="-122"/>
              </a:rPr>
              <a:t>请指出该思路的潜在不足，以及后续可以通过文献补强的方向。</a:t>
            </a:r>
            <a:endParaRPr lang="zh-CN" altLang="en-US">
              <a:latin typeface="宋体" panose="02010600030101010101" pitchFamily="2" charset="-122"/>
              <a:ea typeface="宋体" panose="02010600030101010101" pitchFamily="2" charset="-122"/>
              <a:cs typeface="宋体" panose="02010600030101010101" pitchFamily="2" charset="-122"/>
            </a:endParaRPr>
          </a:p>
          <a:p>
            <a:pPr marL="0" indent="0">
              <a:buNone/>
            </a:pPr>
            <a:endParaRPr lang="zh-CN" altLang="en-US">
              <a:latin typeface="宋体" panose="02010600030101010101" pitchFamily="2" charset="-122"/>
              <a:ea typeface="宋体" panose="02010600030101010101" pitchFamily="2" charset="-122"/>
              <a:cs typeface="宋体" panose="02010600030101010101" pitchFamily="2" charset="-122"/>
            </a:endParaRPr>
          </a:p>
        </p:txBody>
      </p:sp>
    </p:spTree>
    <p:custDataLst>
      <p:tags r:id="rId3"/>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sym typeface="+mn-ea"/>
              </a:rPr>
              <a:t>每个问题：初步思路</a:t>
            </a:r>
            <a:r>
              <a:rPr lang="en-US" altLang="zh-CN">
                <a:sym typeface="+mn-ea"/>
              </a:rPr>
              <a:t> </a:t>
            </a:r>
            <a:r>
              <a:rPr lang="en-US" altLang="en-US">
                <a:sym typeface="+mn-ea"/>
              </a:rPr>
              <a:t>→</a:t>
            </a:r>
            <a:r>
              <a:rPr lang="en-US" altLang="zh-CN">
                <a:sym typeface="+mn-ea"/>
              </a:rPr>
              <a:t> </a:t>
            </a:r>
            <a:r>
              <a:rPr lang="zh-CN" altLang="en-US">
                <a:sym typeface="+mn-ea"/>
              </a:rPr>
              <a:t>文献后升级建模方案</a:t>
            </a:r>
            <a:endParaRPr lang="zh-CN" altLang="en-US"/>
          </a:p>
        </p:txBody>
      </p:sp>
      <p:sp>
        <p:nvSpPr>
          <p:cNvPr id="3" name="内容占位符 2"/>
          <p:cNvSpPr>
            <a:spLocks noGrp="1"/>
          </p:cNvSpPr>
          <p:nvPr>
            <p:ph idx="1"/>
            <p:custDataLst>
              <p:tags r:id="rId2"/>
            </p:custDataLst>
          </p:nvPr>
        </p:nvSpPr>
        <p:spPr/>
        <p:txBody>
          <a:bodyPr/>
          <a:p>
            <a:pPr marL="0" indent="0">
              <a:buNone/>
            </a:pPr>
            <a:r>
              <a:rPr lang="zh-CN" altLang="en-US">
                <a:latin typeface="宋体" panose="02010600030101010101" pitchFamily="2" charset="-122"/>
                <a:ea typeface="宋体" panose="02010600030101010101" pitchFamily="2" charset="-122"/>
                <a:cs typeface="宋体" panose="02010600030101010101" pitchFamily="2" charset="-122"/>
              </a:rPr>
              <a:t>我已查到以下论文方法（我将概述）：</a:t>
            </a:r>
            <a:endParaRPr lang="en-US" altLang="zh-CN">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a:latin typeface="宋体" panose="02010600030101010101" pitchFamily="2" charset="-122"/>
                <a:ea typeface="宋体" panose="02010600030101010101" pitchFamily="2" charset="-122"/>
                <a:cs typeface="宋体" panose="02010600030101010101" pitchFamily="2" charset="-122"/>
              </a:rPr>
              <a:t>1. </a:t>
            </a:r>
            <a:r>
              <a:rPr lang="zh-CN" altLang="en-US">
                <a:latin typeface="宋体" panose="02010600030101010101" pitchFamily="2" charset="-122"/>
                <a:ea typeface="宋体" panose="02010600030101010101" pitchFamily="2" charset="-122"/>
                <a:cs typeface="宋体" panose="02010600030101010101" pitchFamily="2" charset="-122"/>
              </a:rPr>
              <a:t>请分析该方法与题目、数据的适配性</a:t>
            </a:r>
            <a:endParaRPr lang="zh-CN" altLang="en-US">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a:latin typeface="宋体" panose="02010600030101010101" pitchFamily="2" charset="-122"/>
                <a:ea typeface="宋体" panose="02010600030101010101" pitchFamily="2" charset="-122"/>
                <a:cs typeface="宋体" panose="02010600030101010101" pitchFamily="2" charset="-122"/>
              </a:rPr>
              <a:t>2. </a:t>
            </a:r>
            <a:r>
              <a:rPr lang="zh-CN" altLang="en-US">
                <a:latin typeface="宋体" panose="02010600030101010101" pitchFamily="2" charset="-122"/>
                <a:ea typeface="宋体" panose="02010600030101010101" pitchFamily="2" charset="-122"/>
                <a:cs typeface="宋体" panose="02010600030101010101" pitchFamily="2" charset="-122"/>
              </a:rPr>
              <a:t>在不违背竞赛合理性的前提下，帮我：</a:t>
            </a:r>
            <a:endParaRPr lang="zh-CN" altLang="en-US">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a:latin typeface="宋体" panose="02010600030101010101" pitchFamily="2" charset="-122"/>
                <a:ea typeface="宋体" panose="02010600030101010101" pitchFamily="2" charset="-122"/>
                <a:cs typeface="宋体" panose="02010600030101010101" pitchFamily="2" charset="-122"/>
              </a:rPr>
              <a:t>   - </a:t>
            </a:r>
            <a:r>
              <a:rPr lang="zh-CN" altLang="en-US">
                <a:latin typeface="宋体" panose="02010600030101010101" pitchFamily="2" charset="-122"/>
                <a:ea typeface="宋体" panose="02010600030101010101" pitchFamily="2" charset="-122"/>
                <a:cs typeface="宋体" panose="02010600030101010101" pitchFamily="2" charset="-122"/>
              </a:rPr>
              <a:t>调整变量定义</a:t>
            </a:r>
            <a:endParaRPr lang="zh-CN" altLang="en-US">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a:latin typeface="宋体" panose="02010600030101010101" pitchFamily="2" charset="-122"/>
                <a:ea typeface="宋体" panose="02010600030101010101" pitchFamily="2" charset="-122"/>
                <a:cs typeface="宋体" panose="02010600030101010101" pitchFamily="2" charset="-122"/>
              </a:rPr>
              <a:t>   - </a:t>
            </a:r>
            <a:r>
              <a:rPr lang="zh-CN" altLang="en-US">
                <a:latin typeface="宋体" panose="02010600030101010101" pitchFamily="2" charset="-122"/>
                <a:ea typeface="宋体" panose="02010600030101010101" pitchFamily="2" charset="-122"/>
                <a:cs typeface="宋体" panose="02010600030101010101" pitchFamily="2" charset="-122"/>
              </a:rPr>
              <a:t>修改假设条件</a:t>
            </a:r>
            <a:endParaRPr lang="zh-CN" altLang="en-US">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a:latin typeface="宋体" panose="02010600030101010101" pitchFamily="2" charset="-122"/>
                <a:ea typeface="宋体" panose="02010600030101010101" pitchFamily="2" charset="-122"/>
                <a:cs typeface="宋体" panose="02010600030101010101" pitchFamily="2" charset="-122"/>
              </a:rPr>
              <a:t>   - </a:t>
            </a:r>
            <a:r>
              <a:rPr lang="zh-CN" altLang="en-US">
                <a:latin typeface="宋体" panose="02010600030101010101" pitchFamily="2" charset="-122"/>
                <a:ea typeface="宋体" panose="02010600030101010101" pitchFamily="2" charset="-122"/>
                <a:cs typeface="宋体" panose="02010600030101010101" pitchFamily="2" charset="-122"/>
              </a:rPr>
              <a:t>简化或增强模型结构</a:t>
            </a:r>
            <a:endParaRPr lang="zh-CN" altLang="en-US">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a:latin typeface="宋体" panose="02010600030101010101" pitchFamily="2" charset="-122"/>
                <a:ea typeface="宋体" panose="02010600030101010101" pitchFamily="2" charset="-122"/>
                <a:cs typeface="宋体" panose="02010600030101010101" pitchFamily="2" charset="-122"/>
              </a:rPr>
              <a:t>3. </a:t>
            </a:r>
            <a:r>
              <a:rPr lang="zh-CN" altLang="en-US">
                <a:latin typeface="宋体" panose="02010600030101010101" pitchFamily="2" charset="-122"/>
                <a:ea typeface="宋体" panose="02010600030101010101" pitchFamily="2" charset="-122"/>
                <a:cs typeface="宋体" panose="02010600030101010101" pitchFamily="2" charset="-122"/>
              </a:rPr>
              <a:t>给出</a:t>
            </a:r>
            <a:r>
              <a:rPr lang="en-US" altLang="zh-CN">
                <a:latin typeface="宋体" panose="02010600030101010101" pitchFamily="2" charset="-122"/>
                <a:ea typeface="宋体" panose="02010600030101010101" pitchFamily="2" charset="-122"/>
                <a:cs typeface="宋体" panose="02010600030101010101" pitchFamily="2" charset="-122"/>
              </a:rPr>
              <a:t>“</a:t>
            </a:r>
            <a:r>
              <a:rPr lang="zh-CN" altLang="en-US">
                <a:latin typeface="宋体" panose="02010600030101010101" pitchFamily="2" charset="-122"/>
                <a:ea typeface="宋体" panose="02010600030101010101" pitchFamily="2" charset="-122"/>
                <a:cs typeface="宋体" panose="02010600030101010101" pitchFamily="2" charset="-122"/>
              </a:rPr>
              <a:t>竞赛可实现版本</a:t>
            </a:r>
            <a:r>
              <a:rPr lang="en-US" altLang="zh-CN">
                <a:latin typeface="宋体" panose="02010600030101010101" pitchFamily="2" charset="-122"/>
                <a:ea typeface="宋体" panose="02010600030101010101" pitchFamily="2" charset="-122"/>
                <a:cs typeface="宋体" panose="02010600030101010101" pitchFamily="2" charset="-122"/>
              </a:rPr>
              <a:t>”</a:t>
            </a:r>
            <a:r>
              <a:rPr lang="zh-CN" altLang="en-US">
                <a:latin typeface="宋体" panose="02010600030101010101" pitchFamily="2" charset="-122"/>
                <a:ea typeface="宋体" panose="02010600030101010101" pitchFamily="2" charset="-122"/>
                <a:cs typeface="宋体" panose="02010600030101010101" pitchFamily="2" charset="-122"/>
              </a:rPr>
              <a:t>的最终模型框架</a:t>
            </a:r>
            <a:endParaRPr lang="zh-CN" altLang="en-US">
              <a:latin typeface="宋体" panose="02010600030101010101" pitchFamily="2" charset="-122"/>
              <a:ea typeface="宋体" panose="02010600030101010101" pitchFamily="2" charset="-122"/>
              <a:cs typeface="宋体" panose="02010600030101010101" pitchFamily="2" charset="-122"/>
            </a:endParaRPr>
          </a:p>
          <a:p>
            <a:pPr marL="0" indent="0">
              <a:buNone/>
            </a:pPr>
            <a:endParaRPr lang="zh-CN" altLang="en-US">
              <a:latin typeface="宋体" panose="02010600030101010101" pitchFamily="2" charset="-122"/>
              <a:ea typeface="宋体" panose="02010600030101010101" pitchFamily="2" charset="-122"/>
              <a:cs typeface="宋体" panose="02010600030101010101" pitchFamily="2" charset="-122"/>
            </a:endParaRPr>
          </a:p>
        </p:txBody>
      </p:sp>
    </p:spTree>
    <p:custDataLst>
      <p:tags r:id="rId3"/>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sym typeface="+mn-ea"/>
              </a:rPr>
              <a:t>结合初步建模思路的调整的再次交互</a:t>
            </a:r>
            <a:endParaRPr lang="en-US" altLang="zh-CN"/>
          </a:p>
        </p:txBody>
      </p:sp>
      <p:sp>
        <p:nvSpPr>
          <p:cNvPr id="3" name="内容占位符 2"/>
          <p:cNvSpPr>
            <a:spLocks noGrp="1"/>
          </p:cNvSpPr>
          <p:nvPr>
            <p:ph idx="1"/>
            <p:custDataLst>
              <p:tags r:id="rId2"/>
            </p:custDataLst>
          </p:nvPr>
        </p:nvSpPr>
        <p:spPr/>
        <p:txBody>
          <a:bodyPr/>
          <a:p>
            <a:pPr marL="0" indent="0">
              <a:buNone/>
            </a:pPr>
            <a:r>
              <a:rPr lang="zh-CN" altLang="en-US"/>
              <a:t>补充找到的论文方法，去除我反映的缺失或者不存在或者严重不匹配的方法、</a:t>
            </a:r>
            <a:endParaRPr lang="zh-CN" altLang="en-US"/>
          </a:p>
          <a:p>
            <a:pPr marL="0" indent="0">
              <a:buNone/>
            </a:pPr>
            <a:r>
              <a:rPr lang="en-US" altLang="zh-CN"/>
              <a:t>1. </a:t>
            </a:r>
            <a:r>
              <a:rPr lang="zh-CN" altLang="en-US"/>
              <a:t>请重新分析我提供的所有方法与题目、数据的适配性</a:t>
            </a:r>
            <a:endParaRPr lang="en-US" altLang="zh-CN"/>
          </a:p>
          <a:p>
            <a:pPr marL="0" indent="0">
              <a:buNone/>
            </a:pPr>
            <a:r>
              <a:rPr lang="en-US" altLang="zh-CN"/>
              <a:t>2.</a:t>
            </a:r>
            <a:r>
              <a:rPr lang="zh-CN" altLang="en-US"/>
              <a:t>在不违背竞赛合理性的前提下，帮我：</a:t>
            </a:r>
            <a:endParaRPr lang="zh-CN" altLang="en-US"/>
          </a:p>
          <a:p>
            <a:pPr marL="0" indent="0">
              <a:buNone/>
            </a:pPr>
            <a:r>
              <a:rPr lang="en-US" altLang="en-US"/>
              <a:t>   </a:t>
            </a:r>
            <a:r>
              <a:rPr lang="en-US" altLang="zh-CN"/>
              <a:t>- </a:t>
            </a:r>
            <a:r>
              <a:rPr lang="zh-CN" altLang="en-US"/>
              <a:t>调整变量定义</a:t>
            </a:r>
            <a:endParaRPr lang="zh-CN" altLang="en-US"/>
          </a:p>
          <a:p>
            <a:pPr marL="0" indent="0">
              <a:buNone/>
            </a:pPr>
            <a:r>
              <a:rPr lang="en-US" altLang="en-US"/>
              <a:t>   </a:t>
            </a:r>
            <a:r>
              <a:rPr lang="en-US" altLang="zh-CN"/>
              <a:t>- </a:t>
            </a:r>
            <a:r>
              <a:rPr lang="zh-CN" altLang="en-US"/>
              <a:t>修改假设条件</a:t>
            </a:r>
            <a:endParaRPr lang="zh-CN" altLang="en-US"/>
          </a:p>
          <a:p>
            <a:pPr marL="0" indent="0">
              <a:buNone/>
            </a:pPr>
            <a:r>
              <a:rPr lang="en-US" altLang="en-US"/>
              <a:t>   </a:t>
            </a:r>
            <a:r>
              <a:rPr lang="en-US" altLang="zh-CN"/>
              <a:t>- </a:t>
            </a:r>
            <a:r>
              <a:rPr lang="zh-CN" altLang="en-US"/>
              <a:t>简化或增强模型结构</a:t>
            </a:r>
            <a:endParaRPr lang="zh-CN" altLang="en-US"/>
          </a:p>
          <a:p>
            <a:pPr marL="0" indent="0">
              <a:buNone/>
            </a:pPr>
            <a:r>
              <a:rPr lang="en-US" altLang="zh-CN"/>
              <a:t>3.</a:t>
            </a:r>
            <a:r>
              <a:rPr lang="zh-CN" altLang="en-US"/>
              <a:t>给出</a:t>
            </a:r>
            <a:r>
              <a:rPr lang="en-US" altLang="zh-CN"/>
              <a:t>“</a:t>
            </a:r>
            <a:r>
              <a:rPr lang="zh-CN" altLang="en-US"/>
              <a:t>竞赛可实现版本</a:t>
            </a:r>
            <a:r>
              <a:rPr lang="en-US" altLang="zh-CN"/>
              <a:t>”</a:t>
            </a:r>
            <a:r>
              <a:rPr lang="zh-CN" altLang="en-US"/>
              <a:t>的最终完整的模型框架（给我具体使用的模型，参考的论文，包含公式、参数、使用的数据创新性改造、以及匹配的假设条件</a:t>
            </a:r>
            <a:endParaRPr lang="zh-CN" altLang="en-US"/>
          </a:p>
        </p:txBody>
      </p:sp>
    </p:spTree>
    <p:custDataLst>
      <p:tags r:id="rId3"/>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4.</a:t>
            </a:r>
            <a:r>
              <a:rPr lang="zh-CN" altLang="en-US"/>
              <a:t>方法与论文的适应性</a:t>
            </a:r>
            <a:r>
              <a:rPr lang="en-US" altLang="zh-CN"/>
              <a:t> + </a:t>
            </a:r>
            <a:r>
              <a:rPr lang="zh-CN" altLang="en-US"/>
              <a:t>创新性改进</a:t>
            </a:r>
            <a:endParaRPr lang="zh-CN" altLang="en-US"/>
          </a:p>
        </p:txBody>
      </p:sp>
      <p:sp>
        <p:nvSpPr>
          <p:cNvPr id="3" name="内容占位符 2"/>
          <p:cNvSpPr>
            <a:spLocks noGrp="1"/>
          </p:cNvSpPr>
          <p:nvPr>
            <p:ph idx="1"/>
            <p:custDataLst>
              <p:tags r:id="rId2"/>
            </p:custDataLst>
          </p:nvPr>
        </p:nvSpPr>
        <p:spPr>
          <a:xfrm>
            <a:off x="608330" y="1185545"/>
            <a:ext cx="10968990" cy="5201920"/>
          </a:xfrm>
        </p:spPr>
        <p:txBody>
          <a:bodyPr>
            <a:noAutofit/>
          </a:bodyPr>
          <a:p>
            <a:pPr marL="0" indent="0">
              <a:buNone/>
            </a:pPr>
            <a:r>
              <a:rPr lang="zh-CN" altLang="en-US" sz="1400"/>
              <a:t>你是一名专注于模型创新与假设设计的建模竞赛导师</a:t>
            </a:r>
            <a:endParaRPr lang="zh-CN" altLang="en-US" sz="1400"/>
          </a:p>
          <a:p>
            <a:pPr marL="0" indent="0">
              <a:buNone/>
            </a:pPr>
            <a:r>
              <a:rPr lang="zh-CN" altLang="en-US" sz="1400"/>
              <a:t>基于当前模型与参考论文方法：</a:t>
            </a:r>
            <a:endParaRPr lang="en-US" altLang="zh-CN" sz="1400"/>
          </a:p>
          <a:p>
            <a:pPr marL="0" indent="0">
              <a:buNone/>
            </a:pPr>
            <a:r>
              <a:rPr lang="en-US" altLang="zh-CN" sz="1400"/>
              <a:t>1. </a:t>
            </a:r>
            <a:r>
              <a:rPr lang="zh-CN" altLang="en-US" sz="1400"/>
              <a:t>请从以下角度评估现有模型：</a:t>
            </a:r>
            <a:endParaRPr lang="zh-CN" altLang="en-US" sz="1400"/>
          </a:p>
          <a:p>
            <a:pPr marL="0" indent="0">
              <a:buNone/>
            </a:pPr>
            <a:r>
              <a:rPr lang="en-US" altLang="zh-CN" sz="1400"/>
              <a:t>   - </a:t>
            </a:r>
            <a:r>
              <a:rPr lang="zh-CN" altLang="en-US" sz="1400"/>
              <a:t>与题目目标的贴合度</a:t>
            </a:r>
            <a:endParaRPr lang="zh-CN" altLang="en-US" sz="1400"/>
          </a:p>
          <a:p>
            <a:pPr marL="0" indent="0">
              <a:buNone/>
            </a:pPr>
            <a:r>
              <a:rPr lang="en-US" altLang="zh-CN" sz="1400"/>
              <a:t>   - </a:t>
            </a:r>
            <a:r>
              <a:rPr lang="zh-CN" altLang="en-US" sz="1400"/>
              <a:t>对数据特征的利用程度</a:t>
            </a:r>
            <a:endParaRPr lang="zh-CN" altLang="en-US" sz="1400"/>
          </a:p>
          <a:p>
            <a:pPr marL="0" indent="0">
              <a:buNone/>
            </a:pPr>
            <a:r>
              <a:rPr lang="en-US" altLang="zh-CN" sz="1400"/>
              <a:t>   - </a:t>
            </a:r>
            <a:r>
              <a:rPr lang="zh-CN" altLang="en-US" sz="1400"/>
              <a:t>假设是否过强或过弱</a:t>
            </a:r>
            <a:endParaRPr lang="en-US" altLang="zh-CN" sz="1400"/>
          </a:p>
          <a:p>
            <a:pPr marL="0" indent="0">
              <a:buNone/>
            </a:pPr>
            <a:r>
              <a:rPr lang="en-US" altLang="zh-CN" sz="1400"/>
              <a:t>2. </a:t>
            </a:r>
            <a:r>
              <a:rPr lang="zh-CN" altLang="en-US" sz="1400"/>
              <a:t>提出至少</a:t>
            </a:r>
            <a:r>
              <a:rPr lang="en-US" altLang="zh-CN" sz="1400"/>
              <a:t> 3 </a:t>
            </a:r>
            <a:r>
              <a:rPr lang="zh-CN" altLang="en-US" sz="1400"/>
              <a:t>种可行的创新改进方向：</a:t>
            </a:r>
            <a:endParaRPr lang="zh-CN" altLang="en-US" sz="1400"/>
          </a:p>
          <a:p>
            <a:pPr marL="0" indent="0">
              <a:buNone/>
            </a:pPr>
            <a:r>
              <a:rPr lang="en-US" altLang="zh-CN" sz="1400"/>
              <a:t>   - </a:t>
            </a:r>
            <a:r>
              <a:rPr lang="zh-CN" altLang="en-US" sz="1400"/>
              <a:t>模型结构创新</a:t>
            </a:r>
            <a:endParaRPr lang="zh-CN" altLang="en-US" sz="1400"/>
          </a:p>
          <a:p>
            <a:pPr marL="0" indent="0">
              <a:buNone/>
            </a:pPr>
            <a:r>
              <a:rPr lang="en-US" altLang="zh-CN" sz="1400"/>
              <a:t>   - </a:t>
            </a:r>
            <a:r>
              <a:rPr lang="zh-CN" altLang="en-US" sz="1400"/>
              <a:t>参数或变量设计创新</a:t>
            </a:r>
            <a:endParaRPr lang="zh-CN" altLang="en-US" sz="1400"/>
          </a:p>
          <a:p>
            <a:pPr marL="0" indent="0">
              <a:buNone/>
            </a:pPr>
            <a:r>
              <a:rPr lang="en-US" altLang="zh-CN" sz="1400"/>
              <a:t>   - </a:t>
            </a:r>
            <a:r>
              <a:rPr lang="zh-CN" altLang="en-US" sz="1400"/>
              <a:t>多模型融合或对比</a:t>
            </a:r>
            <a:endParaRPr lang="en-US" altLang="zh-CN" sz="1400"/>
          </a:p>
          <a:p>
            <a:pPr marL="0" indent="0">
              <a:buNone/>
            </a:pPr>
            <a:r>
              <a:rPr lang="en-US" altLang="zh-CN" sz="1400"/>
              <a:t>3. </a:t>
            </a:r>
            <a:r>
              <a:rPr lang="zh-CN" altLang="en-US" sz="1400"/>
              <a:t>对每一种创新，请说明：</a:t>
            </a:r>
            <a:endParaRPr lang="zh-CN" altLang="en-US" sz="1400"/>
          </a:p>
          <a:p>
            <a:pPr marL="0" indent="0">
              <a:buNone/>
            </a:pPr>
            <a:r>
              <a:rPr lang="en-US" altLang="zh-CN" sz="1400"/>
              <a:t>   - </a:t>
            </a:r>
            <a:r>
              <a:rPr lang="zh-CN" altLang="en-US" sz="1400"/>
              <a:t>创新动机</a:t>
            </a:r>
            <a:endParaRPr lang="zh-CN" altLang="en-US" sz="1400"/>
          </a:p>
          <a:p>
            <a:pPr marL="0" indent="0">
              <a:buNone/>
            </a:pPr>
            <a:r>
              <a:rPr lang="en-US" altLang="zh-CN" sz="1400"/>
              <a:t>   - </a:t>
            </a:r>
            <a:r>
              <a:rPr lang="zh-CN" altLang="en-US" sz="1400"/>
              <a:t>评委是否容易理解</a:t>
            </a:r>
            <a:endParaRPr lang="zh-CN" altLang="en-US" sz="1400"/>
          </a:p>
          <a:p>
            <a:pPr marL="0" indent="0">
              <a:buNone/>
            </a:pPr>
            <a:r>
              <a:rPr lang="en-US" altLang="zh-CN" sz="1400"/>
              <a:t>   - </a:t>
            </a:r>
            <a:r>
              <a:rPr lang="zh-CN" altLang="en-US" sz="1400"/>
              <a:t>是否增加不必要风险</a:t>
            </a:r>
            <a:endParaRPr lang="zh-CN" altLang="en-US" sz="1400"/>
          </a:p>
          <a:p>
            <a:pPr marL="0" indent="0">
              <a:buNone/>
            </a:pPr>
            <a:endParaRPr lang="zh-CN" altLang="en-US" sz="1400"/>
          </a:p>
        </p:txBody>
      </p:sp>
    </p:spTree>
    <p:custDataLst>
      <p:tags r:id="rId3"/>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汇总</a:t>
            </a:r>
            <a:endParaRPr lang="zh-CN" altLang="en-US"/>
          </a:p>
        </p:txBody>
      </p:sp>
      <p:sp>
        <p:nvSpPr>
          <p:cNvPr id="3" name="内容占位符 2"/>
          <p:cNvSpPr>
            <a:spLocks noGrp="1"/>
          </p:cNvSpPr>
          <p:nvPr>
            <p:ph idx="1"/>
            <p:custDataLst>
              <p:tags r:id="rId2"/>
            </p:custDataLst>
          </p:nvPr>
        </p:nvSpPr>
        <p:spPr/>
        <p:txBody>
          <a:bodyPr/>
          <a:p>
            <a:pPr marL="0" indent="0">
              <a:buNone/>
            </a:pPr>
            <a:r>
              <a:rPr lang="zh-CN" altLang="en-US" sz="2800"/>
              <a:t>从中挑选出最合适的创新方向，汇总成最终版的建模思路，包括论文手需要的完整的尽可能完整严谨的建模思路（包括假设、创新），编程手需要每个子问题提供的变量</a:t>
            </a:r>
            <a:r>
              <a:rPr lang="en-US" altLang="zh-CN" sz="2800"/>
              <a:t>(</a:t>
            </a:r>
            <a:r>
              <a:rPr lang="zh-CN" altLang="en-US" sz="2800"/>
              <a:t>结合题目所给的数据）、公式、参数解释、合理的假设参数等，以及建模手需要的每个子问题解决用到的方法、参考的论文、在论文方法上的创新以及创新的原因</a:t>
            </a:r>
            <a:endParaRPr lang="zh-CN" altLang="en-US" sz="2800"/>
          </a:p>
        </p:txBody>
      </p:sp>
    </p:spTree>
    <p:custDataLst>
      <p:tags r:id="rId3"/>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数据清洗（你只给</a:t>
            </a:r>
            <a:r>
              <a:rPr lang="en-US" altLang="zh-CN"/>
              <a:t> Excel </a:t>
            </a:r>
            <a:r>
              <a:rPr lang="zh-CN" altLang="en-US"/>
              <a:t>开头几行）</a:t>
            </a:r>
            <a:endParaRPr lang="zh-CN" altLang="en-US"/>
          </a:p>
        </p:txBody>
      </p:sp>
      <p:sp>
        <p:nvSpPr>
          <p:cNvPr id="3" name="内容占位符 2"/>
          <p:cNvSpPr>
            <a:spLocks noGrp="1"/>
          </p:cNvSpPr>
          <p:nvPr>
            <p:ph idx="1"/>
            <p:custDataLst>
              <p:tags r:id="rId2"/>
            </p:custDataLst>
          </p:nvPr>
        </p:nvSpPr>
        <p:spPr>
          <a:xfrm>
            <a:off x="608400" y="1242750"/>
            <a:ext cx="10969200" cy="4759200"/>
          </a:xfrm>
        </p:spPr>
        <p:txBody>
          <a:bodyPr>
            <a:noAutofit/>
          </a:bodyPr>
          <a:p>
            <a:pPr marL="0" indent="0">
              <a:buNone/>
            </a:pPr>
            <a:r>
              <a:rPr lang="zh-CN" altLang="en-US" sz="1200"/>
              <a:t>你是一名熟悉竞赛级数据清洗与特征理解的数据科学家。</a:t>
            </a:r>
            <a:endParaRPr lang="zh-CN" altLang="en-US" sz="1200"/>
          </a:p>
          <a:p>
            <a:pPr marL="0" indent="0">
              <a:buNone/>
            </a:pPr>
            <a:r>
              <a:rPr lang="zh-CN" altLang="en-US" sz="1200"/>
              <a:t>以下是几个</a:t>
            </a:r>
            <a:r>
              <a:rPr lang="en-US" altLang="zh-CN" sz="1200"/>
              <a:t> Excel </a:t>
            </a:r>
            <a:r>
              <a:rPr lang="zh-CN" altLang="en-US" sz="1200"/>
              <a:t>数据文件的：</a:t>
            </a:r>
            <a:endParaRPr lang="zh-CN" altLang="en-US" sz="1200"/>
          </a:p>
          <a:p>
            <a:pPr marL="0" indent="0">
              <a:buNone/>
            </a:pPr>
            <a:r>
              <a:rPr lang="en-US" altLang="zh-CN" sz="1200"/>
              <a:t>- </a:t>
            </a:r>
            <a:r>
              <a:rPr lang="zh-CN" altLang="en-US" sz="1200"/>
              <a:t>列名</a:t>
            </a:r>
            <a:endParaRPr lang="zh-CN" altLang="en-US" sz="1200"/>
          </a:p>
          <a:p>
            <a:pPr marL="0" indent="0">
              <a:buNone/>
            </a:pPr>
            <a:r>
              <a:rPr lang="en-US" altLang="zh-CN" sz="1200"/>
              <a:t>- </a:t>
            </a:r>
            <a:r>
              <a:rPr lang="zh-CN" altLang="en-US" sz="1200"/>
              <a:t>前</a:t>
            </a:r>
            <a:r>
              <a:rPr lang="en-US" altLang="zh-CN" sz="1200"/>
              <a:t> N </a:t>
            </a:r>
            <a:r>
              <a:rPr lang="zh-CN" altLang="en-US" sz="1200"/>
              <a:t>行样本数据（我将提供）</a:t>
            </a:r>
            <a:endParaRPr lang="en-US" altLang="zh-CN" sz="1200"/>
          </a:p>
          <a:p>
            <a:pPr marL="0" indent="0">
              <a:buNone/>
            </a:pPr>
            <a:r>
              <a:rPr lang="zh-CN" altLang="en-US" sz="1200"/>
              <a:t>请完成：</a:t>
            </a:r>
            <a:endParaRPr lang="zh-CN" altLang="en-US" sz="1200"/>
          </a:p>
          <a:p>
            <a:pPr marL="0" indent="0">
              <a:buNone/>
            </a:pPr>
            <a:r>
              <a:rPr lang="en-US" altLang="zh-CN" sz="1200"/>
              <a:t>1. </a:t>
            </a:r>
            <a:r>
              <a:rPr lang="zh-CN" altLang="en-US" sz="1200"/>
              <a:t>推断每一列的数据类型与现实含义</a:t>
            </a:r>
            <a:endParaRPr lang="zh-CN" altLang="en-US" sz="1200"/>
          </a:p>
          <a:p>
            <a:pPr marL="0" indent="0">
              <a:buNone/>
            </a:pPr>
            <a:r>
              <a:rPr lang="en-US" altLang="zh-CN" sz="1200"/>
              <a:t>2. </a:t>
            </a:r>
            <a:r>
              <a:rPr lang="zh-CN" altLang="en-US" sz="1200"/>
              <a:t>判断可能存在的问题：</a:t>
            </a:r>
            <a:endParaRPr lang="zh-CN" altLang="en-US" sz="1200"/>
          </a:p>
          <a:p>
            <a:pPr marL="0" indent="0">
              <a:buNone/>
            </a:pPr>
            <a:r>
              <a:rPr lang="en-US" altLang="zh-CN" sz="1200"/>
              <a:t>   - </a:t>
            </a:r>
            <a:r>
              <a:rPr lang="zh-CN" altLang="en-US" sz="1200"/>
              <a:t>缺失值</a:t>
            </a:r>
            <a:endParaRPr lang="zh-CN" altLang="en-US" sz="1200"/>
          </a:p>
          <a:p>
            <a:pPr marL="0" indent="0">
              <a:buNone/>
            </a:pPr>
            <a:r>
              <a:rPr lang="en-US" altLang="zh-CN" sz="1200"/>
              <a:t>   - </a:t>
            </a:r>
            <a:r>
              <a:rPr lang="zh-CN" altLang="en-US" sz="1200"/>
              <a:t>异常值</a:t>
            </a:r>
            <a:endParaRPr lang="zh-CN" altLang="en-US" sz="1200"/>
          </a:p>
          <a:p>
            <a:pPr marL="0" indent="0">
              <a:buNone/>
            </a:pPr>
            <a:r>
              <a:rPr lang="en-US" altLang="zh-CN" sz="1200"/>
              <a:t>   - </a:t>
            </a:r>
            <a:r>
              <a:rPr lang="zh-CN" altLang="en-US" sz="1200"/>
              <a:t>重复数据</a:t>
            </a:r>
            <a:endParaRPr lang="zh-CN" altLang="en-US" sz="1200"/>
          </a:p>
          <a:p>
            <a:pPr marL="0" indent="0">
              <a:buNone/>
            </a:pPr>
            <a:r>
              <a:rPr lang="en-US" altLang="zh-CN" sz="1200"/>
              <a:t>   - </a:t>
            </a:r>
            <a:r>
              <a:rPr lang="zh-CN" altLang="en-US" sz="1200"/>
              <a:t>不一致单位</a:t>
            </a:r>
            <a:endParaRPr lang="zh-CN" altLang="en-US" sz="1200"/>
          </a:p>
          <a:p>
            <a:pPr marL="0" indent="0">
              <a:buNone/>
            </a:pPr>
            <a:r>
              <a:rPr lang="en-US" altLang="zh-CN" sz="1200"/>
              <a:t>3. </a:t>
            </a:r>
            <a:r>
              <a:rPr lang="zh-CN" altLang="en-US" sz="1200"/>
              <a:t>给出通用、稳健的</a:t>
            </a:r>
            <a:r>
              <a:rPr lang="en-US" altLang="zh-CN" sz="1200"/>
              <a:t> Python </a:t>
            </a:r>
            <a:r>
              <a:rPr lang="zh-CN" altLang="en-US" sz="1200"/>
              <a:t>数据清洗代码：</a:t>
            </a:r>
            <a:endParaRPr lang="zh-CN" altLang="en-US" sz="1200"/>
          </a:p>
          <a:p>
            <a:pPr marL="0" indent="0">
              <a:buNone/>
            </a:pPr>
            <a:r>
              <a:rPr lang="en-US" altLang="zh-CN" sz="1200"/>
              <a:t>   - </a:t>
            </a:r>
            <a:r>
              <a:rPr lang="zh-CN" altLang="en-US" sz="1200"/>
              <a:t>使用</a:t>
            </a:r>
            <a:r>
              <a:rPr lang="en-US" altLang="zh-CN" sz="1200"/>
              <a:t> pandas</a:t>
            </a:r>
            <a:endParaRPr lang="en-US" altLang="zh-CN" sz="1200"/>
          </a:p>
          <a:p>
            <a:pPr marL="0" indent="0">
              <a:buNone/>
            </a:pPr>
            <a:r>
              <a:rPr lang="en-US" altLang="zh-CN" sz="1200"/>
              <a:t>   - </a:t>
            </a:r>
            <a:r>
              <a:rPr lang="zh-CN" altLang="en-US" sz="1200"/>
              <a:t>主函数中我会传入文件路径</a:t>
            </a:r>
            <a:endParaRPr lang="zh-CN" altLang="en-US" sz="1200"/>
          </a:p>
          <a:p>
            <a:pPr marL="0" indent="0">
              <a:buNone/>
            </a:pPr>
            <a:r>
              <a:rPr lang="en-US" altLang="zh-CN" sz="1200"/>
              <a:t>   - </a:t>
            </a:r>
            <a:r>
              <a:rPr lang="zh-CN" altLang="en-US" sz="1200"/>
              <a:t>包含日志式注释，便于论文说明</a:t>
            </a:r>
            <a:endParaRPr lang="zh-CN" altLang="en-US" sz="1200"/>
          </a:p>
          <a:p>
            <a:pPr marL="0" indent="0">
              <a:buNone/>
            </a:pPr>
            <a:endParaRPr lang="zh-CN" altLang="en-US" sz="1200"/>
          </a:p>
        </p:txBody>
      </p:sp>
    </p:spTree>
    <p:custDataLst>
      <p:tags r:id="rId3"/>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论文方法</a:t>
            </a:r>
            <a:r>
              <a:rPr lang="en-US" altLang="zh-CN"/>
              <a:t> </a:t>
            </a:r>
            <a:r>
              <a:rPr lang="en-US" altLang="en-US"/>
              <a:t>→</a:t>
            </a:r>
            <a:r>
              <a:rPr lang="en-US" altLang="zh-CN"/>
              <a:t> Python </a:t>
            </a:r>
            <a:r>
              <a:rPr lang="zh-CN" altLang="en-US"/>
              <a:t>实现</a:t>
            </a:r>
            <a:r>
              <a:rPr lang="en-US" altLang="zh-CN"/>
              <a:t> + </a:t>
            </a:r>
            <a:r>
              <a:rPr lang="zh-CN" altLang="en-US"/>
              <a:t>创新改进</a:t>
            </a:r>
            <a:endParaRPr lang="zh-CN" altLang="en-US"/>
          </a:p>
        </p:txBody>
      </p:sp>
      <p:sp>
        <p:nvSpPr>
          <p:cNvPr id="3" name="内容占位符 2"/>
          <p:cNvSpPr>
            <a:spLocks noGrp="1"/>
          </p:cNvSpPr>
          <p:nvPr>
            <p:ph idx="1"/>
            <p:custDataLst>
              <p:tags r:id="rId2"/>
            </p:custDataLst>
          </p:nvPr>
        </p:nvSpPr>
        <p:spPr/>
        <p:txBody>
          <a:bodyPr>
            <a:normAutofit/>
          </a:bodyPr>
          <a:p>
            <a:pPr marL="0" indent="0">
              <a:buNone/>
            </a:pPr>
            <a:r>
              <a:rPr lang="zh-CN" altLang="en-US"/>
              <a:t>你是一名擅长将数学模型转化为</a:t>
            </a:r>
            <a:r>
              <a:rPr lang="en-US" altLang="zh-CN"/>
              <a:t> Python </a:t>
            </a:r>
            <a:r>
              <a:rPr lang="zh-CN" altLang="en-US"/>
              <a:t>的科研工程师。</a:t>
            </a:r>
            <a:endParaRPr lang="zh-CN" altLang="en-US"/>
          </a:p>
          <a:p>
            <a:pPr marL="0" indent="0">
              <a:buNone/>
            </a:pPr>
            <a:r>
              <a:rPr lang="en-US" altLang="zh-CN"/>
              <a:t>1. </a:t>
            </a:r>
            <a:r>
              <a:rPr lang="zh-CN" altLang="en-US"/>
              <a:t>请将以上最终确定的解决各个子问题的方法完整转化为</a:t>
            </a:r>
            <a:r>
              <a:rPr lang="en-US" altLang="zh-CN"/>
              <a:t> Python </a:t>
            </a:r>
            <a:r>
              <a:rPr lang="zh-CN" altLang="en-US"/>
              <a:t>实现：</a:t>
            </a:r>
            <a:endParaRPr lang="zh-CN" altLang="en-US"/>
          </a:p>
          <a:p>
            <a:pPr marL="0" indent="0">
              <a:buNone/>
            </a:pPr>
            <a:r>
              <a:rPr lang="en-US" altLang="zh-CN"/>
              <a:t>   - </a:t>
            </a:r>
            <a:r>
              <a:rPr lang="zh-CN" altLang="en-US"/>
              <a:t>模块化</a:t>
            </a:r>
            <a:endParaRPr lang="zh-CN" altLang="en-US"/>
          </a:p>
          <a:p>
            <a:pPr marL="0" indent="0">
              <a:buNone/>
            </a:pPr>
            <a:r>
              <a:rPr lang="en-US" altLang="zh-CN"/>
              <a:t>   - </a:t>
            </a:r>
            <a:r>
              <a:rPr lang="zh-CN" altLang="en-US"/>
              <a:t>便于参数调整</a:t>
            </a:r>
            <a:endParaRPr lang="zh-CN" altLang="en-US"/>
          </a:p>
          <a:p>
            <a:pPr marL="0" indent="0">
              <a:buNone/>
            </a:pPr>
            <a:r>
              <a:rPr lang="en-US" altLang="zh-CN"/>
              <a:t>   - </a:t>
            </a:r>
            <a:r>
              <a:rPr lang="zh-CN" altLang="en-US"/>
              <a:t>注释清晰，符合竞赛风格</a:t>
            </a:r>
            <a:endParaRPr lang="en-US" altLang="zh-CN"/>
          </a:p>
          <a:p>
            <a:pPr marL="0" indent="0">
              <a:buNone/>
            </a:pPr>
            <a:r>
              <a:rPr lang="en-US" altLang="zh-CN"/>
              <a:t>2. </a:t>
            </a:r>
            <a:r>
              <a:rPr lang="zh-CN" altLang="en-US"/>
              <a:t>针对我们的题目与数据特征：</a:t>
            </a:r>
            <a:endParaRPr lang="zh-CN" altLang="en-US"/>
          </a:p>
          <a:p>
            <a:pPr marL="0" indent="0">
              <a:buNone/>
            </a:pPr>
            <a:r>
              <a:rPr lang="en-US" altLang="zh-CN"/>
              <a:t>   - </a:t>
            </a:r>
            <a:r>
              <a:rPr lang="zh-CN" altLang="en-US"/>
              <a:t>提出至少</a:t>
            </a:r>
            <a:r>
              <a:rPr lang="en-US" altLang="zh-CN"/>
              <a:t> 1–2 </a:t>
            </a:r>
            <a:r>
              <a:rPr lang="zh-CN" altLang="en-US"/>
              <a:t>个结构性改进</a:t>
            </a:r>
            <a:endParaRPr lang="zh-CN" altLang="en-US"/>
          </a:p>
          <a:p>
            <a:pPr marL="0" indent="0">
              <a:buNone/>
            </a:pPr>
            <a:r>
              <a:rPr lang="en-US" altLang="zh-CN"/>
              <a:t>   - </a:t>
            </a:r>
            <a:r>
              <a:rPr lang="zh-CN" altLang="en-US"/>
              <a:t>给出改进后的代码版本（最终版）</a:t>
            </a:r>
            <a:endParaRPr lang="zh-CN" altLang="en-US"/>
          </a:p>
          <a:p>
            <a:pPr marL="0" indent="0">
              <a:buNone/>
            </a:pPr>
            <a:r>
              <a:rPr lang="en-US" altLang="zh-CN"/>
              <a:t>   - </a:t>
            </a:r>
            <a:r>
              <a:rPr lang="zh-CN" altLang="en-US"/>
              <a:t>说明创新的合理性与假设基础</a:t>
            </a:r>
            <a:endParaRPr lang="zh-CN" altLang="en-US"/>
          </a:p>
          <a:p>
            <a:pPr marL="0" indent="0">
              <a:buNone/>
            </a:pPr>
            <a:endParaRPr lang="zh-CN" altLang="en-US"/>
          </a:p>
        </p:txBody>
      </p:sp>
    </p:spTree>
    <p:custDataLst>
      <p:tags r:id="rId3"/>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鲁棒性与敏感性分析（高奖关键）</a:t>
            </a:r>
            <a:endParaRPr lang="zh-CN" altLang="en-US"/>
          </a:p>
        </p:txBody>
      </p:sp>
      <p:sp>
        <p:nvSpPr>
          <p:cNvPr id="3" name="内容占位符 2"/>
          <p:cNvSpPr>
            <a:spLocks noGrp="1"/>
          </p:cNvSpPr>
          <p:nvPr>
            <p:ph idx="1"/>
            <p:custDataLst>
              <p:tags r:id="rId2"/>
            </p:custDataLst>
          </p:nvPr>
        </p:nvSpPr>
        <p:spPr/>
        <p:txBody>
          <a:bodyPr>
            <a:normAutofit fontScale="80000"/>
          </a:bodyPr>
          <a:p>
            <a:pPr marL="0" indent="0">
              <a:buNone/>
            </a:pPr>
            <a:r>
              <a:rPr lang="zh-CN" altLang="en-US"/>
              <a:t>你是一名专注于模型可靠性与不确定性分析的应用数学专家。</a:t>
            </a:r>
            <a:endParaRPr lang="zh-CN" altLang="en-US"/>
          </a:p>
          <a:p>
            <a:pPr marL="0" indent="0">
              <a:buNone/>
            </a:pPr>
            <a:r>
              <a:rPr lang="zh-CN" altLang="en-US"/>
              <a:t>基于当前模型与数据：</a:t>
            </a:r>
            <a:endParaRPr lang="en-US" altLang="zh-CN"/>
          </a:p>
          <a:p>
            <a:pPr marL="0" indent="0">
              <a:buNone/>
            </a:pPr>
            <a:r>
              <a:rPr lang="en-US" altLang="zh-CN"/>
              <a:t>1. </a:t>
            </a:r>
            <a:r>
              <a:rPr lang="zh-CN" altLang="en-US"/>
              <a:t>请设计合理的鲁棒性分析方案：</a:t>
            </a:r>
            <a:endParaRPr lang="zh-CN" altLang="en-US"/>
          </a:p>
          <a:p>
            <a:pPr marL="0" indent="0">
              <a:buNone/>
            </a:pPr>
            <a:r>
              <a:rPr lang="en-US" altLang="zh-CN"/>
              <a:t>   - </a:t>
            </a:r>
            <a:r>
              <a:rPr lang="zh-CN" altLang="en-US"/>
              <a:t>参数扰动</a:t>
            </a:r>
            <a:endParaRPr lang="zh-CN" altLang="en-US"/>
          </a:p>
          <a:p>
            <a:pPr marL="0" indent="0">
              <a:buNone/>
            </a:pPr>
            <a:r>
              <a:rPr lang="en-US" altLang="zh-CN"/>
              <a:t>   - </a:t>
            </a:r>
            <a:r>
              <a:rPr lang="zh-CN" altLang="en-US"/>
              <a:t>数据噪声</a:t>
            </a:r>
            <a:endParaRPr lang="zh-CN" altLang="en-US"/>
          </a:p>
          <a:p>
            <a:pPr marL="0" indent="0">
              <a:buNone/>
            </a:pPr>
            <a:r>
              <a:rPr lang="en-US" altLang="zh-CN"/>
              <a:t>   - </a:t>
            </a:r>
            <a:r>
              <a:rPr lang="zh-CN" altLang="en-US"/>
              <a:t>情景变化</a:t>
            </a:r>
            <a:endParaRPr lang="en-US" altLang="zh-CN"/>
          </a:p>
          <a:p>
            <a:pPr marL="0" indent="0">
              <a:buNone/>
            </a:pPr>
            <a:r>
              <a:rPr lang="en-US" altLang="zh-CN"/>
              <a:t>2. </a:t>
            </a:r>
            <a:r>
              <a:rPr lang="zh-CN" altLang="en-US"/>
              <a:t>给出：</a:t>
            </a:r>
            <a:endParaRPr lang="zh-CN" altLang="en-US"/>
          </a:p>
          <a:p>
            <a:pPr marL="0" indent="0">
              <a:buNone/>
            </a:pPr>
            <a:r>
              <a:rPr lang="en-US" altLang="zh-CN"/>
              <a:t>   - </a:t>
            </a:r>
            <a:r>
              <a:rPr lang="zh-CN" altLang="en-US"/>
              <a:t>分析思路</a:t>
            </a:r>
            <a:endParaRPr lang="zh-CN" altLang="en-US"/>
          </a:p>
          <a:p>
            <a:pPr marL="0" indent="0">
              <a:buNone/>
            </a:pPr>
            <a:r>
              <a:rPr lang="en-US" altLang="zh-CN"/>
              <a:t>   - </a:t>
            </a:r>
            <a:r>
              <a:rPr lang="zh-CN" altLang="en-US"/>
              <a:t>评委容易理解的解释方式</a:t>
            </a:r>
            <a:endParaRPr lang="zh-CN" altLang="en-US"/>
          </a:p>
          <a:p>
            <a:pPr marL="0" indent="0">
              <a:buNone/>
            </a:pPr>
            <a:r>
              <a:rPr lang="en-US" altLang="zh-CN"/>
              <a:t>   - </a:t>
            </a:r>
            <a:r>
              <a:rPr lang="zh-CN" altLang="en-US"/>
              <a:t>对应的</a:t>
            </a:r>
            <a:r>
              <a:rPr lang="en-US" altLang="zh-CN"/>
              <a:t> Python </a:t>
            </a:r>
            <a:r>
              <a:rPr lang="zh-CN" altLang="en-US"/>
              <a:t>实现代码</a:t>
            </a:r>
            <a:endParaRPr lang="en-US" altLang="zh-CN"/>
          </a:p>
          <a:p>
            <a:pPr marL="0" indent="0">
              <a:buNone/>
            </a:pPr>
            <a:r>
              <a:rPr lang="en-US" altLang="zh-CN"/>
              <a:t>3. </a:t>
            </a:r>
            <a:r>
              <a:rPr lang="zh-CN" altLang="en-US"/>
              <a:t>请指出哪些结果最值得放进论文正文，哪些适合放附录。</a:t>
            </a:r>
            <a:endParaRPr lang="zh-CN" altLang="en-US"/>
          </a:p>
          <a:p>
            <a:pPr marL="0" indent="0">
              <a:buNone/>
            </a:pPr>
            <a:endParaRPr lang="zh-CN" altLang="en-US"/>
          </a:p>
        </p:txBody>
      </p:sp>
    </p:spTree>
    <p:custDataLst>
      <p:tags r:id="rId3"/>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图表、可视化与</a:t>
            </a:r>
            <a:r>
              <a:rPr lang="en-US" altLang="zh-CN"/>
              <a:t>“</a:t>
            </a:r>
            <a:r>
              <a:rPr lang="zh-CN" altLang="en-US"/>
              <a:t>评委记忆点</a:t>
            </a:r>
            <a:r>
              <a:rPr lang="en-US" altLang="zh-CN"/>
              <a:t>”</a:t>
            </a:r>
            <a:endParaRPr lang="en-US" altLang="zh-CN"/>
          </a:p>
        </p:txBody>
      </p:sp>
      <p:sp>
        <p:nvSpPr>
          <p:cNvPr id="3" name="内容占位符 2"/>
          <p:cNvSpPr>
            <a:spLocks noGrp="1"/>
          </p:cNvSpPr>
          <p:nvPr>
            <p:ph idx="1"/>
            <p:custDataLst>
              <p:tags r:id="rId2"/>
            </p:custDataLst>
          </p:nvPr>
        </p:nvSpPr>
        <p:spPr/>
        <p:txBody>
          <a:bodyPr>
            <a:normAutofit fontScale="70000"/>
          </a:bodyPr>
          <a:p>
            <a:pPr marL="0" indent="0">
              <a:buNone/>
            </a:pPr>
            <a:r>
              <a:rPr lang="zh-CN" altLang="en-US"/>
              <a:t>你是一名熟悉</a:t>
            </a:r>
            <a:r>
              <a:rPr lang="en-US" altLang="zh-CN"/>
              <a:t> MCM </a:t>
            </a:r>
            <a:r>
              <a:rPr lang="zh-CN" altLang="en-US"/>
              <a:t>高奖论文表达风格的科学可视化顾问。</a:t>
            </a:r>
            <a:endParaRPr lang="zh-CN" altLang="en-US"/>
          </a:p>
          <a:p>
            <a:pPr marL="0" indent="0">
              <a:buNone/>
            </a:pPr>
            <a:r>
              <a:rPr lang="zh-CN" altLang="en-US"/>
              <a:t>基于我们的题目、模型、数据与结论：</a:t>
            </a:r>
            <a:endParaRPr lang="en-US" altLang="zh-CN"/>
          </a:p>
          <a:p>
            <a:pPr marL="0" indent="0">
              <a:buNone/>
            </a:pPr>
            <a:r>
              <a:rPr lang="en-US" altLang="zh-CN"/>
              <a:t>1. </a:t>
            </a:r>
            <a:r>
              <a:rPr lang="zh-CN" altLang="en-US"/>
              <a:t>请建议适合的图表类型：</a:t>
            </a:r>
            <a:endParaRPr lang="zh-CN" altLang="en-US"/>
          </a:p>
          <a:p>
            <a:pPr marL="0" indent="0">
              <a:buNone/>
            </a:pPr>
            <a:r>
              <a:rPr lang="en-US" altLang="zh-CN"/>
              <a:t>   - </a:t>
            </a:r>
            <a:r>
              <a:rPr lang="zh-CN" altLang="en-US"/>
              <a:t>解释模型结构</a:t>
            </a:r>
            <a:endParaRPr lang="zh-CN" altLang="en-US"/>
          </a:p>
          <a:p>
            <a:pPr marL="0" indent="0">
              <a:buNone/>
            </a:pPr>
            <a:r>
              <a:rPr lang="en-US" altLang="zh-CN"/>
              <a:t>   - </a:t>
            </a:r>
            <a:r>
              <a:rPr lang="zh-CN" altLang="en-US"/>
              <a:t>展示结果趋势</a:t>
            </a:r>
            <a:endParaRPr lang="zh-CN" altLang="en-US"/>
          </a:p>
          <a:p>
            <a:pPr marL="0" indent="0">
              <a:buNone/>
            </a:pPr>
            <a:r>
              <a:rPr lang="en-US" altLang="zh-CN"/>
              <a:t>   - </a:t>
            </a:r>
            <a:r>
              <a:rPr lang="zh-CN" altLang="en-US"/>
              <a:t>对比不同方案</a:t>
            </a:r>
            <a:endParaRPr lang="en-US" altLang="zh-CN"/>
          </a:p>
          <a:p>
            <a:pPr marL="0" indent="0">
              <a:buNone/>
            </a:pPr>
            <a:r>
              <a:rPr lang="en-US" altLang="zh-CN"/>
              <a:t>2. </a:t>
            </a:r>
            <a:r>
              <a:rPr lang="zh-CN" altLang="en-US"/>
              <a:t>对每类图表，请说明：</a:t>
            </a:r>
            <a:endParaRPr lang="zh-CN" altLang="en-US"/>
          </a:p>
          <a:p>
            <a:pPr marL="0" indent="0">
              <a:buNone/>
            </a:pPr>
            <a:r>
              <a:rPr lang="en-US" altLang="zh-CN"/>
              <a:t>   - </a:t>
            </a:r>
            <a:r>
              <a:rPr lang="zh-CN" altLang="en-US"/>
              <a:t>设计目的</a:t>
            </a:r>
            <a:endParaRPr lang="zh-CN" altLang="en-US"/>
          </a:p>
          <a:p>
            <a:pPr marL="0" indent="0">
              <a:buNone/>
            </a:pPr>
            <a:r>
              <a:rPr lang="en-US" altLang="zh-CN"/>
              <a:t>   - </a:t>
            </a:r>
            <a:r>
              <a:rPr lang="zh-CN" altLang="en-US"/>
              <a:t>评委能在</a:t>
            </a:r>
            <a:r>
              <a:rPr lang="en-US" altLang="zh-CN"/>
              <a:t> 10 </a:t>
            </a:r>
            <a:r>
              <a:rPr lang="zh-CN" altLang="en-US"/>
              <a:t>秒内看懂什么</a:t>
            </a:r>
            <a:endParaRPr lang="en-US" altLang="zh-CN"/>
          </a:p>
          <a:p>
            <a:pPr marL="0" indent="0">
              <a:buNone/>
            </a:pPr>
            <a:r>
              <a:rPr lang="en-US" altLang="zh-CN"/>
              <a:t>3. </a:t>
            </a:r>
            <a:r>
              <a:rPr lang="zh-CN" altLang="en-US"/>
              <a:t>如适合，请给出：</a:t>
            </a:r>
            <a:endParaRPr lang="zh-CN" altLang="en-US"/>
          </a:p>
          <a:p>
            <a:pPr marL="0" indent="0">
              <a:buNone/>
            </a:pPr>
            <a:r>
              <a:rPr lang="en-US" altLang="zh-CN"/>
              <a:t>   - Python </a:t>
            </a:r>
            <a:r>
              <a:rPr lang="zh-CN" altLang="en-US"/>
              <a:t>绘图建议</a:t>
            </a:r>
            <a:endParaRPr lang="zh-CN" altLang="en-US"/>
          </a:p>
          <a:p>
            <a:pPr marL="0" indent="0">
              <a:buNone/>
            </a:pPr>
            <a:r>
              <a:rPr lang="en-US" altLang="zh-CN"/>
              <a:t>   - </a:t>
            </a:r>
            <a:r>
              <a:rPr lang="zh-CN" altLang="en-US"/>
              <a:t>或</a:t>
            </a:r>
            <a:r>
              <a:rPr lang="en-US" altLang="zh-CN"/>
              <a:t>“</a:t>
            </a:r>
            <a:r>
              <a:rPr lang="zh-CN" altLang="en-US"/>
              <a:t>海报级</a:t>
            </a:r>
            <a:r>
              <a:rPr lang="en-US" altLang="zh-CN"/>
              <a:t>”</a:t>
            </a:r>
            <a:r>
              <a:rPr lang="zh-CN" altLang="en-US"/>
              <a:t>图形设计思路</a:t>
            </a:r>
            <a:endParaRPr lang="zh-CN" altLang="en-US"/>
          </a:p>
          <a:p>
            <a:pPr marL="0" indent="0">
              <a:buNone/>
            </a:pPr>
            <a:endParaRPr lang="zh-CN" altLang="en-US"/>
          </a:p>
        </p:txBody>
      </p:sp>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4.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8.xml><?xml version="1.0" encoding="utf-8"?>
<p:tagLst xmlns:p="http://schemas.openxmlformats.org/presentationml/2006/main">
  <p:tag name="KSO_WM_BEAUTIFY_FLAG" val="#wm#"/>
  <p:tag name="KSO_WM_TEMPLATE_CATEGORY" val="custom"/>
  <p:tag name="KSO_WM_TEMPLATE_INDEX" val="20205081"/>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BEAUTIFY_FLAG" val="#wm#"/>
  <p:tag name="KSO_WM_TEMPLATE_CATEGORY" val="custom"/>
  <p:tag name="KSO_WM_TEMPLATE_INDEX" val="20205081"/>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4.xml><?xml version="1.0" encoding="utf-8"?>
<p:tagLst xmlns:p="http://schemas.openxmlformats.org/presentationml/2006/main">
  <p:tag name="KSO_WM_BEAUTIFY_FLAG" val="#wm#"/>
  <p:tag name="KSO_WM_TEMPLATE_CATEGORY" val="custom"/>
  <p:tag name="KSO_WM_TEMPLATE_INDEX" val="20205081"/>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7.xml><?xml version="1.0" encoding="utf-8"?>
<p:tagLst xmlns:p="http://schemas.openxmlformats.org/presentationml/2006/main">
  <p:tag name="KSO_WM_BEAUTIFY_FLAG" val="#wm#"/>
  <p:tag name="KSO_WM_TEMPLATE_CATEGORY" val="custom"/>
  <p:tag name="KSO_WM_TEMPLATE_INDEX" val="20205081"/>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0.xml><?xml version="1.0" encoding="utf-8"?>
<p:tagLst xmlns:p="http://schemas.openxmlformats.org/presentationml/2006/main">
  <p:tag name="KSO_WM_BEAUTIFY_FLAG" val="#wm#"/>
  <p:tag name="KSO_WM_TEMPLATE_CATEGORY" val="custom"/>
  <p:tag name="KSO_WM_TEMPLATE_INDEX" val="20205081"/>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3.xml><?xml version="1.0" encoding="utf-8"?>
<p:tagLst xmlns:p="http://schemas.openxmlformats.org/presentationml/2006/main">
  <p:tag name="KSO_WM_BEAUTIFY_FLAG" val="#wm#"/>
  <p:tag name="KSO_WM_TEMPLATE_CATEGORY" val="custom"/>
  <p:tag name="KSO_WM_TEMPLATE_INDEX" val="20205081"/>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6.xml><?xml version="1.0" encoding="utf-8"?>
<p:tagLst xmlns:p="http://schemas.openxmlformats.org/presentationml/2006/main">
  <p:tag name="KSO_WM_BEAUTIFY_FLAG" val="#wm#"/>
  <p:tag name="KSO_WM_TEMPLATE_CATEGORY" val="custom"/>
  <p:tag name="KSO_WM_TEMPLATE_INDEX" val="20205081"/>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9.xml><?xml version="1.0" encoding="utf-8"?>
<p:tagLst xmlns:p="http://schemas.openxmlformats.org/presentationml/2006/main">
  <p:tag name="KSO_WM_BEAUTIFY_FLAG" val="#wm#"/>
  <p:tag name="KSO_WM_TEMPLATE_CATEGORY" val="custom"/>
  <p:tag name="KSO_WM_TEMPLATE_INDEX" val="20205081"/>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2.xml><?xml version="1.0" encoding="utf-8"?>
<p:tagLst xmlns:p="http://schemas.openxmlformats.org/presentationml/2006/main">
  <p:tag name="KSO_WM_BEAUTIFY_FLAG" val="#wm#"/>
  <p:tag name="KSO_WM_TEMPLATE_CATEGORY" val="custom"/>
  <p:tag name="KSO_WM_TEMPLATE_INDEX" val="20205081"/>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5.xml><?xml version="1.0" encoding="utf-8"?>
<p:tagLst xmlns:p="http://schemas.openxmlformats.org/presentationml/2006/main">
  <p:tag name="KSO_WM_BEAUTIFY_FLAG" val="#wm#"/>
  <p:tag name="KSO_WM_TEMPLATE_CATEGORY" val="custom"/>
  <p:tag name="KSO_WM_TEMPLATE_INDEX" val="20205081"/>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8.xml><?xml version="1.0" encoding="utf-8"?>
<p:tagLst xmlns:p="http://schemas.openxmlformats.org/presentationml/2006/main">
  <p:tag name="KSO_WM_BEAUTIFY_FLAG" val="#wm#"/>
  <p:tag name="KSO_WM_TEMPLATE_CATEGORY" val="custom"/>
  <p:tag name="KSO_WM_TEMPLATE_INDEX" val="20205081"/>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1.xml><?xml version="1.0" encoding="utf-8"?>
<p:tagLst xmlns:p="http://schemas.openxmlformats.org/presentationml/2006/main">
  <p:tag name="KSO_WM_BEAUTIFY_FLAG" val="#wm#"/>
  <p:tag name="KSO_WM_TEMPLATE_CATEGORY" val="custom"/>
  <p:tag name="KSO_WM_TEMPLATE_INDEX" val="20205081"/>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4.xml><?xml version="1.0" encoding="utf-8"?>
<p:tagLst xmlns:p="http://schemas.openxmlformats.org/presentationml/2006/main">
  <p:tag name="KSO_WM_BEAUTIFY_FLAG" val="#wm#"/>
  <p:tag name="KSO_WM_TEMPLATE_CATEGORY" val="custom"/>
  <p:tag name="KSO_WM_TEMPLATE_INDEX" val="20205081"/>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7.xml><?xml version="1.0" encoding="utf-8"?>
<p:tagLst xmlns:p="http://schemas.openxmlformats.org/presentationml/2006/main">
  <p:tag name="KSO_WM_BEAUTIFY_FLAG" val="#wm#"/>
  <p:tag name="KSO_WM_TEMPLATE_CATEGORY" val="custom"/>
  <p:tag name="KSO_WM_TEMPLATE_INDEX" val="20205081"/>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0.xml><?xml version="1.0" encoding="utf-8"?>
<p:tagLst xmlns:p="http://schemas.openxmlformats.org/presentationml/2006/main">
  <p:tag name="KSO_WM_BEAUTIFY_FLAG" val="#wm#"/>
  <p:tag name="KSO_WM_TEMPLATE_CATEGORY" val="custom"/>
  <p:tag name="KSO_WM_TEMPLATE_INDEX" val="20205081"/>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3.xml><?xml version="1.0" encoding="utf-8"?>
<p:tagLst xmlns:p="http://schemas.openxmlformats.org/presentationml/2006/main">
  <p:tag name="KSO_WM_BEAUTIFY_FLAG" val="#wm#"/>
  <p:tag name="KSO_WM_TEMPLATE_CATEGORY" val="custom"/>
  <p:tag name="KSO_WM_TEMPLATE_INDEX" val="20205081"/>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6.xml><?xml version="1.0" encoding="utf-8"?>
<p:tagLst xmlns:p="http://schemas.openxmlformats.org/presentationml/2006/main">
  <p:tag name="KSO_WM_BEAUTIFY_FLAG" val="#wm#"/>
  <p:tag name="KSO_WM_TEMPLATE_CATEGORY" val="custom"/>
  <p:tag name="KSO_WM_TEMPLATE_INDEX" val="20205081"/>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9.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2432</Words>
  <Application>WPS 演示</Application>
  <PresentationFormat>宽屏</PresentationFormat>
  <Paragraphs>166</Paragraphs>
  <Slides>19</Slides>
  <Notes>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19</vt:i4>
      </vt:variant>
    </vt:vector>
  </HeadingPairs>
  <TitlesOfParts>
    <vt:vector size="27" baseType="lpstr">
      <vt:lpstr>Arial</vt:lpstr>
      <vt:lpstr>宋体</vt:lpstr>
      <vt:lpstr>Wingdings</vt:lpstr>
      <vt:lpstr>Wingdings</vt:lpstr>
      <vt:lpstr>微软雅黑</vt:lpstr>
      <vt:lpstr>Arial Unicode MS</vt:lpstr>
      <vt:lpstr>Calibri</vt:lpstr>
      <vt:lpstr>WPS</vt:lpstr>
      <vt:lpstr>美赛</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1.题目、背景、问题 → 关键信息 / 可用信息 / 创新点</vt:lpstr>
      <vt:lpstr>2.将问题转为“论文检索语言”，并初步帮你们想文献方向</vt:lpstr>
      <vt:lpstr>每个问题：初步思路 → 文献后升级建模方案</vt:lpstr>
      <vt:lpstr>每个问题：初步思路 → 文献后升级建模方案</vt:lpstr>
      <vt:lpstr>结合初步建模思路的调整的再次交互</vt:lpstr>
      <vt:lpstr>4.方法与论文的适应性 + 创新性改进</vt:lpstr>
      <vt:lpstr>汇总</vt:lpstr>
      <vt:lpstr>数据清洗（你只给 Excel 开头几行）</vt:lpstr>
      <vt:lpstr>论文方法 → Python 实现 + 创新改进</vt:lpstr>
      <vt:lpstr>鲁棒性与敏感性分析（高奖关键）</vt:lpstr>
      <vt:lpstr>图表、可视化与“评委记忆点”</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WPS_1607247793</cp:lastModifiedBy>
  <cp:revision>158</cp:revision>
  <dcterms:created xsi:type="dcterms:W3CDTF">2019-06-19T02:08:00Z</dcterms:created>
  <dcterms:modified xsi:type="dcterms:W3CDTF">2026-01-27T12:48:13Z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CE8F289D58364D6E9AF89702BBB6505A_11</vt:lpwstr>
  </property>
</Properties>
</file>