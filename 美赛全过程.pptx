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comments/comment1.xml" ContentType="application/vnd.openxmlformats-officedocument.presentationml.comments+xml"/>
  <Override PartName="/ppt/comments/comment2.xml" ContentType="application/vnd.openxmlformats-officedocument.presentationml.comments+xml"/>
  <Override PartName="/ppt/comments/comment3.xml" ContentType="application/vnd.openxmlformats-officedocument.presentationml.comments+xml"/>
  <Override PartName="/ppt/comments/comment4.xml" ContentType="application/vnd.openxmlformats-officedocument.presentationml.comments+xml"/>
  <Override PartName="/ppt/comments/comment5.xml" ContentType="application/vnd.openxmlformats-officedocument.presentationml.comment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1"/>
  </p:notesMasterIdLst>
  <p:sldIdLst>
    <p:sldId id="256" r:id="rId3"/>
    <p:sldId id="257" r:id="rId4"/>
    <p:sldId id="259" r:id="rId5"/>
    <p:sldId id="260" r:id="rId6"/>
    <p:sldId id="261" r:id="rId7"/>
    <p:sldId id="262" r:id="rId8"/>
    <p:sldId id="263" r:id="rId9"/>
    <p:sldId id="264" r:id="rId10"/>
    <p:sldId id="266" r:id="rId11"/>
    <p:sldId id="267" r:id="rId12"/>
    <p:sldId id="274" r:id="rId13"/>
    <p:sldId id="268" r:id="rId14"/>
    <p:sldId id="275" r:id="rId15"/>
    <p:sldId id="269" r:id="rId16"/>
    <p:sldId id="273" r:id="rId17"/>
    <p:sldId id="270" r:id="rId18"/>
    <p:sldId id="276" r:id="rId19"/>
    <p:sldId id="271" r:id="rId20"/>
    <p:sldId id="277" r:id="rId21"/>
    <p:sldId id="272" r:id="rId22"/>
    <p:sldId id="278" r:id="rId23"/>
    <p:sldId id="280" r:id="rId24"/>
    <p:sldId id="281" r:id="rId25"/>
    <p:sldId id="282" r:id="rId26"/>
    <p:sldId id="283" r:id="rId27"/>
    <p:sldId id="284" r:id="rId28"/>
    <p:sldId id="285" r:id="rId29"/>
    <p:sldId id="286" r:id="rId30"/>
    <p:sldId id="287" r:id="rId31"/>
    <p:sldId id="289" r:id="rId32"/>
    <p:sldId id="290" r:id="rId33"/>
    <p:sldId id="291" r:id="rId34"/>
    <p:sldId id="292" r:id="rId35"/>
    <p:sldId id="293" r:id="rId36"/>
    <p:sldId id="295" r:id="rId37"/>
    <p:sldId id="298" r:id="rId38"/>
    <p:sldId id="300" r:id="rId39"/>
    <p:sldId id="299" r:id="rId40"/>
    <p:sldId id="301" r:id="rId42"/>
    <p:sldId id="302" r:id="rId43"/>
    <p:sldId id="304" r:id="rId44"/>
    <p:sldId id="305" r:id="rId45"/>
    <p:sldId id="306" r:id="rId46"/>
    <p:sldId id="307" r:id="rId47"/>
    <p:sldId id="308" r:id="rId48"/>
    <p:sldId id="309" r:id="rId49"/>
    <p:sldId id="311" r:id="rId50"/>
    <p:sldId id="310" r:id="rId51"/>
    <p:sldId id="312" r:id="rId52"/>
    <p:sldId id="313" r:id="rId53"/>
    <p:sldId id="314" r:id="rId54"/>
    <p:sldId id="315" r:id="rId55"/>
    <p:sldId id="316" r:id="rId56"/>
    <p:sldId id="317" r:id="rId57"/>
    <p:sldId id="318" r:id="rId58"/>
    <p:sldId id="319" r:id="rId59"/>
    <p:sldId id="320" r:id="rId60"/>
    <p:sldId id="321" r:id="rId61"/>
    <p:sldId id="322" r:id="rId62"/>
    <p:sldId id="323" r:id="rId63"/>
    <p:sldId id="324" r:id="rId64"/>
    <p:sldId id="325" r:id="rId65"/>
    <p:sldId id="326" r:id="rId66"/>
    <p:sldId id="327" r:id="rId67"/>
    <p:sldId id="329" r:id="rId68"/>
    <p:sldId id="331" r:id="rId69"/>
    <p:sldId id="332" r:id="rId70"/>
    <p:sldId id="333" r:id="rId71"/>
    <p:sldId id="330" r:id="rId72"/>
    <p:sldId id="335" r:id="rId73"/>
    <p:sldId id="336" r:id="rId74"/>
    <p:sldId id="337" r:id="rId75"/>
    <p:sldId id="338" r:id="rId76"/>
    <p:sldId id="334" r:id="rId77"/>
    <p:sldId id="339" r:id="rId78"/>
    <p:sldId id="340" r:id="rId79"/>
    <p:sldId id="341" r:id="rId80"/>
    <p:sldId id="342" r:id="rId81"/>
    <p:sldId id="343" r:id="rId82"/>
    <p:sldId id="344" r:id="rId8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14" userDrawn="1">
          <p15:clr>
            <a:srgbClr val="A4A3A4"/>
          </p15:clr>
        </p15:guide>
        <p15:guide id="2" pos="3839"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PS_1607247793" initials="authorId_1149854278" lastIdx="5"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214"/>
        <p:guide pos="3839"/>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7" Type="http://schemas.openxmlformats.org/officeDocument/2006/relationships/commentAuthors" Target="commentAuthors.xml"/><Relationship Id="rId86" Type="http://schemas.openxmlformats.org/officeDocument/2006/relationships/tableStyles" Target="tableStyles.xml"/><Relationship Id="rId85" Type="http://schemas.openxmlformats.org/officeDocument/2006/relationships/viewProps" Target="viewProps.xml"/><Relationship Id="rId84" Type="http://schemas.openxmlformats.org/officeDocument/2006/relationships/presProps" Target="presProps.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6.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5.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notesMaster" Target="notesMasters/notesMaster1.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6-01-24T15:24:34.265" idx="1">
    <p:pos x="2839" y="1020"/>
    <p:text>把题目中的6个子问题列出</p:text>
  </p:cm>
</p:cmLst>
</file>

<file path=ppt/comments/comment2.xml><?xml version="1.0" encoding="utf-8"?>
<p:cmLst xmlns:a="http://schemas.openxmlformats.org/drawingml/2006/main" xmlns:r="http://schemas.openxmlformats.org/officeDocument/2006/relationships" xmlns:p="http://schemas.openxmlformats.org/presentationml/2006/main">
  <p:cm authorId="1" dt="2026-01-24T15:28:15.185" idx="2">
    <p:pos x="6707" y="1217"/>
    <p:text>他的意思是只能基于给的数据中的变量来建立奖牌数预测模型，只针对一二两问</p:text>
  </p:cm>
</p:cmLst>
</file>

<file path=ppt/comments/comment3.xml><?xml version="1.0" encoding="utf-8"?>
<p:cmLst xmlns:a="http://schemas.openxmlformats.org/drawingml/2006/main" xmlns:r="http://schemas.openxmlformats.org/officeDocument/2006/relationships" xmlns:p="http://schemas.openxmlformats.org/presentationml/2006/main">
  <p:cm authorId="1" dt="2026-01-24T15:30:40.736" idx="3">
    <p:pos x="2713" y="1030"/>
    <p:text>我们去年使用的是ARIMA+多元线性回归</p:text>
  </p:cm>
</p:cmLst>
</file>

<file path=ppt/comments/comment4.xml><?xml version="1.0" encoding="utf-8"?>
<p:cmLst xmlns:a="http://schemas.openxmlformats.org/drawingml/2006/main" xmlns:r="http://schemas.openxmlformats.org/officeDocument/2006/relationships" xmlns:p="http://schemas.openxmlformats.org/presentationml/2006/main">
  <p:cm authorId="1" dt="2026-01-24T15:36:13.114" idx="4">
    <p:pos x="3532" y="1935"/>
    <p:text>我们去年确实是这样</p:text>
  </p:cm>
</p:cmLst>
</file>

<file path=ppt/comments/comment5.xml><?xml version="1.0" encoding="utf-8"?>
<p:cmLst xmlns:a="http://schemas.openxmlformats.org/drawingml/2006/main" xmlns:r="http://schemas.openxmlformats.org/officeDocument/2006/relationships" xmlns:p="http://schemas.openxmlformats.org/presentationml/2006/main">
  <p:cm authorId="1" dt="2026-01-24T15:58:13.585" idx="5">
    <p:pos x="6058" y="1862"/>
    <p:text>有论文，不能完全依赖ai提供的论文</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65.xml"/><Relationship Id="rId2" Type="http://schemas.openxmlformats.org/officeDocument/2006/relationships/tags" Target="../tags/tag64.xml"/><Relationship Id="rId1" Type="http://schemas.openxmlformats.org/officeDocument/2006/relationships/tags" Target="../tags/tag63.xml"/></Relationships>
</file>

<file path=ppt/slides/_rels/slide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68.xml"/><Relationship Id="rId2" Type="http://schemas.openxmlformats.org/officeDocument/2006/relationships/tags" Target="../tags/tag67.xml"/><Relationship Id="rId1" Type="http://schemas.openxmlformats.org/officeDocument/2006/relationships/tags" Target="../tags/tag66.xml"/></Relationships>
</file>

<file path=ppt/slides/_rels/slide3.xml.rels><?xml version="1.0" encoding="UTF-8" standalone="yes"?>
<Relationships xmlns="http://schemas.openxmlformats.org/package/2006/relationships"><Relationship Id="rId5" Type="http://schemas.openxmlformats.org/officeDocument/2006/relationships/comments" Target="../comments/comment1.xml"/><Relationship Id="rId4" Type="http://schemas.openxmlformats.org/officeDocument/2006/relationships/slideLayout" Target="../slideLayouts/slideLayout2.xml"/><Relationship Id="rId3" Type="http://schemas.openxmlformats.org/officeDocument/2006/relationships/tags" Target="../tags/tag71.xml"/><Relationship Id="rId2" Type="http://schemas.openxmlformats.org/officeDocument/2006/relationships/tags" Target="../tags/tag70.xml"/><Relationship Id="rId1" Type="http://schemas.openxmlformats.org/officeDocument/2006/relationships/tags" Target="../tags/tag69.xml"/></Relationships>
</file>

<file path=ppt/slides/_rels/slide4.xml.rels><?xml version="1.0" encoding="UTF-8" standalone="yes"?>
<Relationships xmlns="http://schemas.openxmlformats.org/package/2006/relationships"><Relationship Id="rId5" Type="http://schemas.openxmlformats.org/officeDocument/2006/relationships/comments" Target="../comments/comment2.xml"/><Relationship Id="rId4" Type="http://schemas.openxmlformats.org/officeDocument/2006/relationships/slideLayout" Target="../slideLayouts/slideLayout2.xml"/><Relationship Id="rId3" Type="http://schemas.openxmlformats.org/officeDocument/2006/relationships/tags" Target="../tags/tag74.xml"/><Relationship Id="rId2" Type="http://schemas.openxmlformats.org/officeDocument/2006/relationships/tags" Target="../tags/tag73.xml"/><Relationship Id="rId1" Type="http://schemas.openxmlformats.org/officeDocument/2006/relationships/tags" Target="../tags/tag72.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6.xml"/><Relationship Id="rId1" Type="http://schemas.openxmlformats.org/officeDocument/2006/relationships/tags" Target="../tags/tag75.xml"/></Relationships>
</file>

<file path=ppt/slides/_rels/slide6.xml.rels><?xml version="1.0" encoding="UTF-8" standalone="yes"?>
<Relationships xmlns="http://schemas.openxmlformats.org/package/2006/relationships"><Relationship Id="rId5" Type="http://schemas.openxmlformats.org/officeDocument/2006/relationships/comments" Target="../comments/comment3.xml"/><Relationship Id="rId4" Type="http://schemas.openxmlformats.org/officeDocument/2006/relationships/slideLayout" Target="../slideLayouts/slideLayout2.xml"/><Relationship Id="rId3" Type="http://schemas.openxmlformats.org/officeDocument/2006/relationships/tags" Target="../tags/tag79.xml"/><Relationship Id="rId2" Type="http://schemas.openxmlformats.org/officeDocument/2006/relationships/tags" Target="../tags/tag78.xml"/><Relationship Id="rId1" Type="http://schemas.openxmlformats.org/officeDocument/2006/relationships/tags" Target="../tags/tag77.xml"/></Relationships>
</file>

<file path=ppt/slides/_rels/slide7.xml.rels><?xml version="1.0" encoding="UTF-8" standalone="yes"?>
<Relationships xmlns="http://schemas.openxmlformats.org/package/2006/relationships"><Relationship Id="rId5" Type="http://schemas.openxmlformats.org/officeDocument/2006/relationships/comments" Target="../comments/comment4.xml"/><Relationship Id="rId4" Type="http://schemas.openxmlformats.org/officeDocument/2006/relationships/slideLayout" Target="../slideLayouts/slideLayout2.xml"/><Relationship Id="rId3" Type="http://schemas.openxmlformats.org/officeDocument/2006/relationships/tags" Target="../tags/tag82.xml"/><Relationship Id="rId2" Type="http://schemas.openxmlformats.org/officeDocument/2006/relationships/tags" Target="../tags/tag81.xml"/><Relationship Id="rId1" Type="http://schemas.openxmlformats.org/officeDocument/2006/relationships/tags" Target="../tags/tag80.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4.xml"/><Relationship Id="rId1" Type="http://schemas.openxmlformats.org/officeDocument/2006/relationships/tags" Target="../tags/tag83.xml"/></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87.xml"/><Relationship Id="rId2" Type="http://schemas.openxmlformats.org/officeDocument/2006/relationships/tags" Target="../tags/tag86.xml"/><Relationship Id="rId1" Type="http://schemas.openxmlformats.org/officeDocument/2006/relationships/tags" Target="../tags/tag85.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89.xml"/><Relationship Id="rId1" Type="http://schemas.openxmlformats.org/officeDocument/2006/relationships/tags" Target="../tags/tag88.xml"/></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10.xml"/><Relationship Id="rId3" Type="http://schemas.openxmlformats.org/officeDocument/2006/relationships/tags" Target="../tags/tag91.xml"/><Relationship Id="rId2" Type="http://schemas.openxmlformats.org/officeDocument/2006/relationships/image" Target="../media/image1.png"/><Relationship Id="rId1" Type="http://schemas.openxmlformats.org/officeDocument/2006/relationships/tags" Target="../tags/tag90.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93.xml"/><Relationship Id="rId1" Type="http://schemas.openxmlformats.org/officeDocument/2006/relationships/tags" Target="../tags/tag92.xml"/></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10.xml"/><Relationship Id="rId3" Type="http://schemas.openxmlformats.org/officeDocument/2006/relationships/tags" Target="../tags/tag95.xml"/><Relationship Id="rId2" Type="http://schemas.openxmlformats.org/officeDocument/2006/relationships/image" Target="../media/image2.png"/><Relationship Id="rId1" Type="http://schemas.openxmlformats.org/officeDocument/2006/relationships/tags" Target="../tags/tag94.xml"/></Relationships>
</file>

<file path=ppt/slides/_rels/slide14.xml.rels><?xml version="1.0" encoding="UTF-8" standalone="yes"?>
<Relationships xmlns="http://schemas.openxmlformats.org/package/2006/relationships"><Relationship Id="rId4" Type="http://schemas.openxmlformats.org/officeDocument/2006/relationships/comments" Target="../comments/comment5.xml"/><Relationship Id="rId3" Type="http://schemas.openxmlformats.org/officeDocument/2006/relationships/slideLayout" Target="../slideLayouts/slideLayout10.xml"/><Relationship Id="rId2" Type="http://schemas.openxmlformats.org/officeDocument/2006/relationships/tags" Target="../tags/tag97.xml"/><Relationship Id="rId1" Type="http://schemas.openxmlformats.org/officeDocument/2006/relationships/tags" Target="../tags/tag96.xml"/></Relationships>
</file>

<file path=ppt/slides/_rels/slide15.xml.rels><?xml version="1.0" encoding="UTF-8" standalone="yes"?>
<Relationships xmlns="http://schemas.openxmlformats.org/package/2006/relationships"><Relationship Id="rId4" Type="http://schemas.openxmlformats.org/officeDocument/2006/relationships/slideLayout" Target="../slideLayouts/slideLayout10.xml"/><Relationship Id="rId3" Type="http://schemas.openxmlformats.org/officeDocument/2006/relationships/tags" Target="../tags/tag99.xml"/><Relationship Id="rId2" Type="http://schemas.openxmlformats.org/officeDocument/2006/relationships/image" Target="../media/image3.png"/><Relationship Id="rId1" Type="http://schemas.openxmlformats.org/officeDocument/2006/relationships/tags" Target="../tags/tag98.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101.xml"/><Relationship Id="rId1" Type="http://schemas.openxmlformats.org/officeDocument/2006/relationships/tags" Target="../tags/tag100.xml"/></Relationships>
</file>

<file path=ppt/slides/_rels/slide17.xml.rels><?xml version="1.0" encoding="UTF-8" standalone="yes"?>
<Relationships xmlns="http://schemas.openxmlformats.org/package/2006/relationships"><Relationship Id="rId4" Type="http://schemas.openxmlformats.org/officeDocument/2006/relationships/slideLayout" Target="../slideLayouts/slideLayout10.xml"/><Relationship Id="rId3" Type="http://schemas.openxmlformats.org/officeDocument/2006/relationships/tags" Target="../tags/tag103.xml"/><Relationship Id="rId2" Type="http://schemas.openxmlformats.org/officeDocument/2006/relationships/image" Target="../media/image4.png"/><Relationship Id="rId1" Type="http://schemas.openxmlformats.org/officeDocument/2006/relationships/tags" Target="../tags/tag102.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105.xml"/><Relationship Id="rId1" Type="http://schemas.openxmlformats.org/officeDocument/2006/relationships/tags" Target="../tags/tag104.xml"/></Relationships>
</file>

<file path=ppt/slides/_rels/slide19.xml.rels><?xml version="1.0" encoding="UTF-8" standalone="yes"?>
<Relationships xmlns="http://schemas.openxmlformats.org/package/2006/relationships"><Relationship Id="rId4" Type="http://schemas.openxmlformats.org/officeDocument/2006/relationships/slideLayout" Target="../slideLayouts/slideLayout10.xml"/><Relationship Id="rId3" Type="http://schemas.openxmlformats.org/officeDocument/2006/relationships/tags" Target="../tags/tag107.xml"/><Relationship Id="rId2" Type="http://schemas.openxmlformats.org/officeDocument/2006/relationships/image" Target="../media/image5.png"/><Relationship Id="rId1" Type="http://schemas.openxmlformats.org/officeDocument/2006/relationships/tags" Target="../tags/tag106.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109.xml"/><Relationship Id="rId1" Type="http://schemas.openxmlformats.org/officeDocument/2006/relationships/tags" Target="../tags/tag108.xml"/></Relationships>
</file>

<file path=ppt/slides/_rels/slide21.xml.rels><?xml version="1.0" encoding="UTF-8" standalone="yes"?>
<Relationships xmlns="http://schemas.openxmlformats.org/package/2006/relationships"><Relationship Id="rId4" Type="http://schemas.openxmlformats.org/officeDocument/2006/relationships/slideLayout" Target="../slideLayouts/slideLayout10.xml"/><Relationship Id="rId3" Type="http://schemas.openxmlformats.org/officeDocument/2006/relationships/tags" Target="../tags/tag111.xml"/><Relationship Id="rId2" Type="http://schemas.openxmlformats.org/officeDocument/2006/relationships/image" Target="../media/image6.png"/><Relationship Id="rId1" Type="http://schemas.openxmlformats.org/officeDocument/2006/relationships/tags" Target="../tags/tag110.xml"/></Relationships>
</file>

<file path=ppt/slides/_rels/slide2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14.xml"/><Relationship Id="rId2" Type="http://schemas.openxmlformats.org/officeDocument/2006/relationships/tags" Target="../tags/tag113.xml"/><Relationship Id="rId1" Type="http://schemas.openxmlformats.org/officeDocument/2006/relationships/tags" Target="../tags/tag112.xml"/></Relationships>
</file>

<file path=ppt/slides/_rels/slide2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17.xml"/><Relationship Id="rId2" Type="http://schemas.openxmlformats.org/officeDocument/2006/relationships/tags" Target="../tags/tag116.xml"/><Relationship Id="rId1" Type="http://schemas.openxmlformats.org/officeDocument/2006/relationships/tags" Target="../tags/tag115.xml"/></Relationships>
</file>

<file path=ppt/slides/_rels/slide2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20.xml"/><Relationship Id="rId2" Type="http://schemas.openxmlformats.org/officeDocument/2006/relationships/tags" Target="../tags/tag119.xml"/><Relationship Id="rId1" Type="http://schemas.openxmlformats.org/officeDocument/2006/relationships/tags" Target="../tags/tag118.xml"/></Relationships>
</file>

<file path=ppt/slides/_rels/slide2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23.xml"/><Relationship Id="rId2" Type="http://schemas.openxmlformats.org/officeDocument/2006/relationships/tags" Target="../tags/tag122.xml"/><Relationship Id="rId1" Type="http://schemas.openxmlformats.org/officeDocument/2006/relationships/tags" Target="../tags/tag121.xml"/></Relationships>
</file>

<file path=ppt/slides/_rels/slide2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26.xml"/><Relationship Id="rId2" Type="http://schemas.openxmlformats.org/officeDocument/2006/relationships/tags" Target="../tags/tag125.xml"/><Relationship Id="rId1" Type="http://schemas.openxmlformats.org/officeDocument/2006/relationships/tags" Target="../tags/tag124.xml"/></Relationships>
</file>

<file path=ppt/slides/_rels/slide2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29.xml"/><Relationship Id="rId2" Type="http://schemas.openxmlformats.org/officeDocument/2006/relationships/tags" Target="../tags/tag128.xml"/><Relationship Id="rId1" Type="http://schemas.openxmlformats.org/officeDocument/2006/relationships/tags" Target="../tags/tag127.xml"/></Relationships>
</file>

<file path=ppt/slides/_rels/slide2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32.xml"/><Relationship Id="rId2" Type="http://schemas.openxmlformats.org/officeDocument/2006/relationships/tags" Target="../tags/tag131.xml"/><Relationship Id="rId1" Type="http://schemas.openxmlformats.org/officeDocument/2006/relationships/tags" Target="../tags/tag130.xml"/></Relationships>
</file>

<file path=ppt/slides/_rels/slide2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35.xml"/><Relationship Id="rId2" Type="http://schemas.openxmlformats.org/officeDocument/2006/relationships/tags" Target="../tags/tag134.xml"/><Relationship Id="rId1" Type="http://schemas.openxmlformats.org/officeDocument/2006/relationships/tags" Target="../tags/tag133.xml"/></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137.xml"/><Relationship Id="rId1" Type="http://schemas.openxmlformats.org/officeDocument/2006/relationships/tags" Target="../tags/tag136.xml"/></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139.xml"/><Relationship Id="rId1" Type="http://schemas.openxmlformats.org/officeDocument/2006/relationships/tags" Target="../tags/tag138.xml"/></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141.xml"/><Relationship Id="rId1" Type="http://schemas.openxmlformats.org/officeDocument/2006/relationships/tags" Target="../tags/tag140.xml"/></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143.xml"/><Relationship Id="rId1" Type="http://schemas.openxmlformats.org/officeDocument/2006/relationships/tags" Target="../tags/tag142.xml"/></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145.xml"/><Relationship Id="rId1" Type="http://schemas.openxmlformats.org/officeDocument/2006/relationships/tags" Target="../tags/tag144.xml"/></Relationships>
</file>

<file path=ppt/slides/_rels/slide3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48.xml"/><Relationship Id="rId2" Type="http://schemas.openxmlformats.org/officeDocument/2006/relationships/tags" Target="../tags/tag147.xml"/><Relationship Id="rId1" Type="http://schemas.openxmlformats.org/officeDocument/2006/relationships/tags" Target="../tags/tag146.xml"/></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150.xml"/><Relationship Id="rId1" Type="http://schemas.openxmlformats.org/officeDocument/2006/relationships/tags" Target="../tags/tag149.xml"/></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152.xml"/><Relationship Id="rId1" Type="http://schemas.openxmlformats.org/officeDocument/2006/relationships/tags" Target="../tags/tag151.xml"/></Relationships>
</file>

<file path=ppt/slides/_rels/slide38.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0.xml"/><Relationship Id="rId2" Type="http://schemas.openxmlformats.org/officeDocument/2006/relationships/tags" Target="../tags/tag154.xml"/><Relationship Id="rId1" Type="http://schemas.openxmlformats.org/officeDocument/2006/relationships/tags" Target="../tags/tag153.xml"/></Relationships>
</file>

<file path=ppt/slides/_rels/slide39.xml.rels><?xml version="1.0" encoding="UTF-8" standalone="yes"?>
<Relationships xmlns="http://schemas.openxmlformats.org/package/2006/relationships"><Relationship Id="rId4" Type="http://schemas.openxmlformats.org/officeDocument/2006/relationships/slideLayout" Target="../slideLayouts/slideLayout10.xml"/><Relationship Id="rId3" Type="http://schemas.openxmlformats.org/officeDocument/2006/relationships/tags" Target="../tags/tag156.xml"/><Relationship Id="rId2" Type="http://schemas.openxmlformats.org/officeDocument/2006/relationships/image" Target="../media/image7.png"/><Relationship Id="rId1" Type="http://schemas.openxmlformats.org/officeDocument/2006/relationships/tags" Target="../tags/tag155.xml"/></Relationships>
</file>

<file path=ppt/slides/_rels/slide40.xml.rels><?xml version="1.0" encoding="UTF-8" standalone="yes"?>
<Relationships xmlns="http://schemas.openxmlformats.org/package/2006/relationships"><Relationship Id="rId4" Type="http://schemas.openxmlformats.org/officeDocument/2006/relationships/slideLayout" Target="../slideLayouts/slideLayout10.xml"/><Relationship Id="rId3" Type="http://schemas.openxmlformats.org/officeDocument/2006/relationships/tags" Target="../tags/tag158.xml"/><Relationship Id="rId2" Type="http://schemas.openxmlformats.org/officeDocument/2006/relationships/image" Target="../media/image8.png"/><Relationship Id="rId1" Type="http://schemas.openxmlformats.org/officeDocument/2006/relationships/tags" Target="../tags/tag157.xml"/></Relationships>
</file>

<file path=ppt/slides/_rels/slide4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61.xml"/><Relationship Id="rId2" Type="http://schemas.openxmlformats.org/officeDocument/2006/relationships/tags" Target="../tags/tag160.xml"/><Relationship Id="rId1" Type="http://schemas.openxmlformats.org/officeDocument/2006/relationships/tags" Target="../tags/tag159.xml"/></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163.xml"/><Relationship Id="rId1" Type="http://schemas.openxmlformats.org/officeDocument/2006/relationships/tags" Target="../tags/tag162.xml"/></Relationships>
</file>

<file path=ppt/slides/_rels/slide43.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165.xml"/><Relationship Id="rId1" Type="http://schemas.openxmlformats.org/officeDocument/2006/relationships/tags" Target="../tags/tag164.xml"/></Relationships>
</file>

<file path=ppt/slides/_rels/slide44.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167.xml"/><Relationship Id="rId1" Type="http://schemas.openxmlformats.org/officeDocument/2006/relationships/tags" Target="../tags/tag166.xml"/></Relationships>
</file>

<file path=ppt/slides/_rels/slide45.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169.xml"/><Relationship Id="rId1" Type="http://schemas.openxmlformats.org/officeDocument/2006/relationships/tags" Target="../tags/tag168.xml"/></Relationships>
</file>

<file path=ppt/slides/_rels/slide46.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171.xml"/><Relationship Id="rId1" Type="http://schemas.openxmlformats.org/officeDocument/2006/relationships/tags" Target="../tags/tag170.xml"/></Relationships>
</file>

<file path=ppt/slides/_rels/slide4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74.xml"/><Relationship Id="rId2" Type="http://schemas.openxmlformats.org/officeDocument/2006/relationships/tags" Target="../tags/tag173.xml"/><Relationship Id="rId1" Type="http://schemas.openxmlformats.org/officeDocument/2006/relationships/tags" Target="../tags/tag172.xml"/></Relationships>
</file>

<file path=ppt/slides/_rels/slide48.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176.xml"/><Relationship Id="rId1" Type="http://schemas.openxmlformats.org/officeDocument/2006/relationships/tags" Target="../tags/tag175.xml"/></Relationships>
</file>

<file path=ppt/slides/_rels/slide4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79.xml"/><Relationship Id="rId2" Type="http://schemas.openxmlformats.org/officeDocument/2006/relationships/tags" Target="../tags/tag178.xml"/><Relationship Id="rId1" Type="http://schemas.openxmlformats.org/officeDocument/2006/relationships/tags" Target="../tags/tag177.xml"/></Relationships>
</file>

<file path=ppt/slides/_rels/slide5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82.xml"/><Relationship Id="rId2" Type="http://schemas.openxmlformats.org/officeDocument/2006/relationships/tags" Target="../tags/tag181.xml"/><Relationship Id="rId1" Type="http://schemas.openxmlformats.org/officeDocument/2006/relationships/tags" Target="../tags/tag180.xml"/></Relationships>
</file>

<file path=ppt/slides/_rels/slide5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85.xml"/><Relationship Id="rId2" Type="http://schemas.openxmlformats.org/officeDocument/2006/relationships/tags" Target="../tags/tag184.xml"/><Relationship Id="rId1" Type="http://schemas.openxmlformats.org/officeDocument/2006/relationships/tags" Target="../tags/tag183.xml"/></Relationships>
</file>

<file path=ppt/slides/_rels/slide5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88.xml"/><Relationship Id="rId2" Type="http://schemas.openxmlformats.org/officeDocument/2006/relationships/tags" Target="../tags/tag187.xml"/><Relationship Id="rId1" Type="http://schemas.openxmlformats.org/officeDocument/2006/relationships/tags" Target="../tags/tag186.xml"/></Relationships>
</file>

<file path=ppt/slides/_rels/slide5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91.xml"/><Relationship Id="rId2" Type="http://schemas.openxmlformats.org/officeDocument/2006/relationships/tags" Target="../tags/tag190.xml"/><Relationship Id="rId1" Type="http://schemas.openxmlformats.org/officeDocument/2006/relationships/tags" Target="../tags/tag189.xml"/></Relationships>
</file>

<file path=ppt/slides/_rels/slide5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94.xml"/><Relationship Id="rId2" Type="http://schemas.openxmlformats.org/officeDocument/2006/relationships/tags" Target="../tags/tag193.xml"/><Relationship Id="rId1" Type="http://schemas.openxmlformats.org/officeDocument/2006/relationships/tags" Target="../tags/tag192.xml"/></Relationships>
</file>

<file path=ppt/slides/_rels/slide5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97.xml"/><Relationship Id="rId2" Type="http://schemas.openxmlformats.org/officeDocument/2006/relationships/tags" Target="../tags/tag196.xml"/><Relationship Id="rId1" Type="http://schemas.openxmlformats.org/officeDocument/2006/relationships/tags" Target="../tags/tag195.xml"/></Relationships>
</file>

<file path=ppt/slides/_rels/slide5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99.xml"/><Relationship Id="rId1" Type="http://schemas.openxmlformats.org/officeDocument/2006/relationships/tags" Target="../tags/tag198.xml"/></Relationships>
</file>

<file path=ppt/slides/_rels/slide5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202.xml"/><Relationship Id="rId2" Type="http://schemas.openxmlformats.org/officeDocument/2006/relationships/tags" Target="../tags/tag201.xml"/><Relationship Id="rId1" Type="http://schemas.openxmlformats.org/officeDocument/2006/relationships/tags" Target="../tags/tag200.xml"/></Relationships>
</file>

<file path=ppt/slides/_rels/slide5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205.xml"/><Relationship Id="rId2" Type="http://schemas.openxmlformats.org/officeDocument/2006/relationships/tags" Target="../tags/tag204.xml"/><Relationship Id="rId1" Type="http://schemas.openxmlformats.org/officeDocument/2006/relationships/tags" Target="../tags/tag203.xml"/></Relationships>
</file>

<file path=ppt/slides/_rels/slide59.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207.xml"/><Relationship Id="rId1" Type="http://schemas.openxmlformats.org/officeDocument/2006/relationships/tags" Target="../tags/tag206.xml"/></Relationships>
</file>

<file path=ppt/slides/_rels/slide60.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209.xml"/><Relationship Id="rId1" Type="http://schemas.openxmlformats.org/officeDocument/2006/relationships/tags" Target="../tags/tag208.xml"/></Relationships>
</file>

<file path=ppt/slides/_rels/slide61.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211.xml"/><Relationship Id="rId1" Type="http://schemas.openxmlformats.org/officeDocument/2006/relationships/tags" Target="../tags/tag210.xml"/></Relationships>
</file>

<file path=ppt/slides/_rels/slide62.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213.xml"/><Relationship Id="rId1" Type="http://schemas.openxmlformats.org/officeDocument/2006/relationships/tags" Target="../tags/tag212.xml"/></Relationships>
</file>

<file path=ppt/slides/_rels/slide63.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215.xml"/><Relationship Id="rId1" Type="http://schemas.openxmlformats.org/officeDocument/2006/relationships/tags" Target="../tags/tag214.xml"/></Relationships>
</file>

<file path=ppt/slides/_rels/slide64.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217.xml"/><Relationship Id="rId1" Type="http://schemas.openxmlformats.org/officeDocument/2006/relationships/tags" Target="../tags/tag216.xml"/></Relationships>
</file>

<file path=ppt/slides/_rels/slide6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220.xml"/><Relationship Id="rId2" Type="http://schemas.openxmlformats.org/officeDocument/2006/relationships/tags" Target="../tags/tag219.xml"/><Relationship Id="rId1" Type="http://schemas.openxmlformats.org/officeDocument/2006/relationships/tags" Target="../tags/tag218.xml"/></Relationships>
</file>

<file path=ppt/slides/_rels/slide6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22.xml"/><Relationship Id="rId1" Type="http://schemas.openxmlformats.org/officeDocument/2006/relationships/tags" Target="../tags/tag221.xml"/></Relationships>
</file>

<file path=ppt/slides/_rels/slide6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24.xml"/><Relationship Id="rId1" Type="http://schemas.openxmlformats.org/officeDocument/2006/relationships/tags" Target="../tags/tag223.xml"/></Relationships>
</file>

<file path=ppt/slides/_rels/slide6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26.xml"/><Relationship Id="rId1" Type="http://schemas.openxmlformats.org/officeDocument/2006/relationships/tags" Target="../tags/tag225.xml"/></Relationships>
</file>

<file path=ppt/slides/_rels/slide6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229.xml"/><Relationship Id="rId2" Type="http://schemas.openxmlformats.org/officeDocument/2006/relationships/tags" Target="../tags/tag228.xml"/><Relationship Id="rId1" Type="http://schemas.openxmlformats.org/officeDocument/2006/relationships/tags" Target="../tags/tag227.xml"/></Relationships>
</file>

<file path=ppt/slides/_rels/slide70.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231.xml"/><Relationship Id="rId1" Type="http://schemas.openxmlformats.org/officeDocument/2006/relationships/tags" Target="../tags/tag230.xml"/></Relationships>
</file>

<file path=ppt/slides/_rels/slide71.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233.xml"/><Relationship Id="rId1" Type="http://schemas.openxmlformats.org/officeDocument/2006/relationships/tags" Target="../tags/tag232.xml"/></Relationships>
</file>

<file path=ppt/slides/_rels/slide72.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235.xml"/><Relationship Id="rId1" Type="http://schemas.openxmlformats.org/officeDocument/2006/relationships/tags" Target="../tags/tag234.xml"/></Relationships>
</file>

<file path=ppt/slides/_rels/slide73.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237.xml"/><Relationship Id="rId1" Type="http://schemas.openxmlformats.org/officeDocument/2006/relationships/tags" Target="../tags/tag236.xml"/></Relationships>
</file>

<file path=ppt/slides/_rels/slide7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240.xml"/><Relationship Id="rId2" Type="http://schemas.openxmlformats.org/officeDocument/2006/relationships/tags" Target="../tags/tag239.xml"/><Relationship Id="rId1" Type="http://schemas.openxmlformats.org/officeDocument/2006/relationships/tags" Target="../tags/tag238.xml"/></Relationships>
</file>

<file path=ppt/slides/_rels/slide75.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242.xml"/><Relationship Id="rId1" Type="http://schemas.openxmlformats.org/officeDocument/2006/relationships/tags" Target="../tags/tag241.xml"/></Relationships>
</file>

<file path=ppt/slides/_rels/slide76.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244.xml"/><Relationship Id="rId1" Type="http://schemas.openxmlformats.org/officeDocument/2006/relationships/tags" Target="../tags/tag243.xml"/></Relationships>
</file>

<file path=ppt/slides/_rels/slide77.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246.xml"/><Relationship Id="rId1" Type="http://schemas.openxmlformats.org/officeDocument/2006/relationships/tags" Target="../tags/tag245.xml"/></Relationships>
</file>

<file path=ppt/slides/_rels/slide78.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248.xml"/><Relationship Id="rId1" Type="http://schemas.openxmlformats.org/officeDocument/2006/relationships/tags" Target="../tags/tag247.xml"/></Relationships>
</file>

<file path=ppt/slides/_rels/slide79.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250.xml"/><Relationship Id="rId1" Type="http://schemas.openxmlformats.org/officeDocument/2006/relationships/tags" Target="../tags/tag249.xml"/></Relationships>
</file>

<file path=ppt/slides/_rels/slide80.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252.xml"/><Relationship Id="rId1" Type="http://schemas.openxmlformats.org/officeDocument/2006/relationships/tags" Target="../tags/tag25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p:txBody>
          <a:bodyPr/>
          <a:p>
            <a:r>
              <a:rPr lang="zh-CN" altLang="zh-CN">
                <a:sym typeface="+mn-ea"/>
              </a:rPr>
              <a:t>美赛全过程</a:t>
            </a:r>
            <a:endParaRPr lang="zh-CN" altLang="zh-CN"/>
          </a:p>
        </p:txBody>
      </p:sp>
      <p:sp>
        <p:nvSpPr>
          <p:cNvPr id="3" name="副标题 2"/>
          <p:cNvSpPr>
            <a:spLocks noGrp="1"/>
          </p:cNvSpPr>
          <p:nvPr>
            <p:ph type="subTitle" idx="1"/>
            <p:custDataLst>
              <p:tags r:id="rId2"/>
            </p:custDataLst>
          </p:nvPr>
        </p:nvSpPr>
        <p:spPr>
          <a:xfrm>
            <a:off x="1198800" y="4238580"/>
            <a:ext cx="9799200" cy="1472400"/>
          </a:xfrm>
        </p:spPr>
        <p:txBody>
          <a:bodyPr/>
          <a:p>
            <a:r>
              <a:rPr lang="zh-CN" altLang="en-US">
                <a:latin typeface="宋体" panose="02010600030101010101" pitchFamily="2" charset="-122"/>
                <a:ea typeface="宋体" panose="02010600030101010101" pitchFamily="2" charset="-122"/>
                <a:cs typeface="宋体" panose="02010600030101010101" pitchFamily="2" charset="-122"/>
                <a:sym typeface="+mn-ea"/>
              </a:rPr>
              <a:t>创作者：袁衡</a:t>
            </a:r>
            <a:endParaRPr lang="zh-CN" altLang="en-US"/>
          </a:p>
        </p:txBody>
      </p:sp>
    </p:spTree>
    <p:custDataLst>
      <p:tags r:id="rId3"/>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normAutofit fontScale="90000"/>
          </a:bodyPr>
          <a:p>
            <a:r>
              <a:rPr lang="en-US" altLang="zh-CN"/>
              <a:t>1.</a:t>
            </a:r>
            <a:r>
              <a:rPr lang="zh-CN" altLang="en-US"/>
              <a:t>题目、背景、问题</a:t>
            </a:r>
            <a:r>
              <a:rPr lang="en-US" altLang="zh-CN"/>
              <a:t> </a:t>
            </a:r>
            <a:r>
              <a:rPr lang="en-US" altLang="en-US"/>
              <a:t>→</a:t>
            </a:r>
            <a:r>
              <a:rPr lang="en-US" altLang="zh-CN"/>
              <a:t> </a:t>
            </a:r>
            <a:r>
              <a:rPr lang="zh-CN" altLang="en-US"/>
              <a:t>关键信息</a:t>
            </a:r>
            <a:r>
              <a:rPr lang="en-US" altLang="zh-CN"/>
              <a:t> / </a:t>
            </a:r>
            <a:r>
              <a:rPr lang="zh-CN" altLang="en-US"/>
              <a:t>可用信息</a:t>
            </a:r>
            <a:r>
              <a:rPr lang="en-US" altLang="zh-CN"/>
              <a:t> / </a:t>
            </a:r>
            <a:r>
              <a:rPr lang="zh-CN" altLang="en-US"/>
              <a:t>创新点</a:t>
            </a:r>
            <a:endParaRPr lang="zh-CN" altLang="en-US"/>
          </a:p>
        </p:txBody>
      </p:sp>
      <p:sp>
        <p:nvSpPr>
          <p:cNvPr id="3" name="内容占位符 2"/>
          <p:cNvSpPr>
            <a:spLocks noGrp="1"/>
          </p:cNvSpPr>
          <p:nvPr>
            <p:ph idx="1"/>
            <p:custDataLst>
              <p:tags r:id="rId2"/>
            </p:custDataLst>
          </p:nvPr>
        </p:nvSpPr>
        <p:spPr>
          <a:xfrm>
            <a:off x="608330" y="1292225"/>
            <a:ext cx="10968990" cy="5202555"/>
          </a:xfrm>
        </p:spPr>
        <p:txBody>
          <a:bodyPr>
            <a:noAutofit/>
          </a:bodyPr>
          <a:p>
            <a:pPr marL="0" indent="0">
              <a:buNone/>
            </a:pPr>
            <a:r>
              <a:rPr lang="zh-CN" altLang="en-US" sz="1200" b="1">
                <a:latin typeface="宋体" panose="02010600030101010101" pitchFamily="2" charset="-122"/>
                <a:ea typeface="宋体" panose="02010600030101010101" pitchFamily="2" charset="-122"/>
                <a:cs typeface="宋体" panose="02010600030101010101" pitchFamily="2" charset="-122"/>
              </a:rPr>
              <a:t>你是一名具有</a:t>
            </a:r>
            <a:r>
              <a:rPr lang="en-US" altLang="zh-CN" sz="1200" b="1">
                <a:latin typeface="宋体" panose="02010600030101010101" pitchFamily="2" charset="-122"/>
                <a:ea typeface="宋体" panose="02010600030101010101" pitchFamily="2" charset="-122"/>
                <a:cs typeface="宋体" panose="02010600030101010101" pitchFamily="2" charset="-122"/>
              </a:rPr>
              <a:t> MCM C </a:t>
            </a:r>
            <a:r>
              <a:rPr lang="zh-CN" altLang="en-US" sz="1200" b="1">
                <a:latin typeface="宋体" panose="02010600030101010101" pitchFamily="2" charset="-122"/>
                <a:ea typeface="宋体" panose="02010600030101010101" pitchFamily="2" charset="-122"/>
                <a:cs typeface="宋体" panose="02010600030101010101" pitchFamily="2" charset="-122"/>
              </a:rPr>
              <a:t>题评审经验的应用数学与系统建模专家，擅长快速从复杂背景中提炼建模价值。所传入的文件是</a:t>
            </a:r>
            <a:r>
              <a:rPr lang="en-US" altLang="zh-CN" sz="1200" b="1">
                <a:latin typeface="宋体" panose="02010600030101010101" pitchFamily="2" charset="-122"/>
                <a:ea typeface="宋体" panose="02010600030101010101" pitchFamily="2" charset="-122"/>
                <a:cs typeface="宋体" panose="02010600030101010101" pitchFamily="2" charset="-122"/>
              </a:rPr>
              <a:t>2026 </a:t>
            </a:r>
            <a:r>
              <a:rPr lang="zh-CN" altLang="en-US" sz="1200" b="1">
                <a:latin typeface="宋体" panose="02010600030101010101" pitchFamily="2" charset="-122"/>
                <a:ea typeface="宋体" panose="02010600030101010101" pitchFamily="2" charset="-122"/>
                <a:cs typeface="宋体" panose="02010600030101010101" pitchFamily="2" charset="-122"/>
              </a:rPr>
              <a:t>年</a:t>
            </a:r>
            <a:r>
              <a:rPr lang="en-US" altLang="zh-CN" sz="1200" b="1">
                <a:latin typeface="宋体" panose="02010600030101010101" pitchFamily="2" charset="-122"/>
                <a:ea typeface="宋体" panose="02010600030101010101" pitchFamily="2" charset="-122"/>
                <a:cs typeface="宋体" panose="02010600030101010101" pitchFamily="2" charset="-122"/>
              </a:rPr>
              <a:t> MCM C </a:t>
            </a:r>
            <a:r>
              <a:rPr lang="zh-CN" altLang="en-US" sz="1200" b="1">
                <a:latin typeface="宋体" panose="02010600030101010101" pitchFamily="2" charset="-122"/>
                <a:ea typeface="宋体" panose="02010600030101010101" pitchFamily="2" charset="-122"/>
                <a:cs typeface="宋体" panose="02010600030101010101" pitchFamily="2" charset="-122"/>
              </a:rPr>
              <a:t>题的完整题目与背景：</a:t>
            </a:r>
            <a:endParaRPr lang="zh-CN" altLang="en-US" sz="1200" b="1">
              <a:latin typeface="宋体" panose="02010600030101010101" pitchFamily="2" charset="-122"/>
              <a:ea typeface="宋体" panose="02010600030101010101" pitchFamily="2" charset="-122"/>
              <a:cs typeface="宋体" panose="02010600030101010101" pitchFamily="2" charset="-122"/>
            </a:endParaRPr>
          </a:p>
          <a:p>
            <a:pPr marL="0" indent="0">
              <a:buNone/>
            </a:pPr>
            <a:r>
              <a:rPr lang="zh-CN" altLang="en-US" sz="1200" b="1">
                <a:latin typeface="宋体" panose="02010600030101010101" pitchFamily="2" charset="-122"/>
                <a:ea typeface="宋体" panose="02010600030101010101" pitchFamily="2" charset="-122"/>
                <a:cs typeface="宋体" panose="02010600030101010101" pitchFamily="2" charset="-122"/>
              </a:rPr>
              <a:t>【任务】</a:t>
            </a:r>
            <a:endParaRPr lang="en-US" altLang="zh-CN" sz="1200" b="1">
              <a:latin typeface="宋体" panose="02010600030101010101" pitchFamily="2" charset="-122"/>
              <a:ea typeface="宋体" panose="02010600030101010101" pitchFamily="2" charset="-122"/>
              <a:cs typeface="宋体" panose="02010600030101010101" pitchFamily="2" charset="-122"/>
            </a:endParaRPr>
          </a:p>
          <a:p>
            <a:pPr marL="0" indent="0">
              <a:buNone/>
            </a:pPr>
            <a:r>
              <a:rPr lang="zh-CN" altLang="en-US" sz="1200" b="1">
                <a:latin typeface="宋体" panose="02010600030101010101" pitchFamily="2" charset="-122"/>
                <a:ea typeface="宋体" panose="02010600030101010101" pitchFamily="2" charset="-122"/>
                <a:cs typeface="宋体" panose="02010600030101010101" pitchFamily="2" charset="-122"/>
              </a:rPr>
              <a:t>请将题目背景、问题描述、约束条件系统性拆解为：</a:t>
            </a:r>
            <a:endParaRPr lang="zh-CN" altLang="en-US" sz="1200" b="1">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en-US" sz="1200" b="1">
                <a:latin typeface="宋体" panose="02010600030101010101" pitchFamily="2" charset="-122"/>
                <a:ea typeface="宋体" panose="02010600030101010101" pitchFamily="2" charset="-122"/>
                <a:cs typeface="宋体" panose="02010600030101010101" pitchFamily="2" charset="-122"/>
              </a:rPr>
              <a:t>   </a:t>
            </a:r>
            <a:r>
              <a:rPr lang="en-US" altLang="zh-CN" sz="1200" b="1">
                <a:latin typeface="宋体" panose="02010600030101010101" pitchFamily="2" charset="-122"/>
                <a:ea typeface="宋体" panose="02010600030101010101" pitchFamily="2" charset="-122"/>
                <a:cs typeface="宋体" panose="02010600030101010101" pitchFamily="2" charset="-122"/>
              </a:rPr>
              <a:t>- </a:t>
            </a:r>
            <a:r>
              <a:rPr lang="zh-CN" altLang="en-US" sz="1200" b="1">
                <a:latin typeface="宋体" panose="02010600030101010101" pitchFamily="2" charset="-122"/>
                <a:ea typeface="宋体" panose="02010600030101010101" pitchFamily="2" charset="-122"/>
                <a:cs typeface="宋体" panose="02010600030101010101" pitchFamily="2" charset="-122"/>
              </a:rPr>
              <a:t>核心建模目标</a:t>
            </a:r>
            <a:endParaRPr lang="zh-CN" altLang="en-US" sz="1200" b="1">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en-US" sz="1200" b="1">
                <a:latin typeface="宋体" panose="02010600030101010101" pitchFamily="2" charset="-122"/>
                <a:ea typeface="宋体" panose="02010600030101010101" pitchFamily="2" charset="-122"/>
                <a:cs typeface="宋体" panose="02010600030101010101" pitchFamily="2" charset="-122"/>
              </a:rPr>
              <a:t>   </a:t>
            </a:r>
            <a:r>
              <a:rPr lang="en-US" altLang="zh-CN" sz="1200" b="1">
                <a:latin typeface="宋体" panose="02010600030101010101" pitchFamily="2" charset="-122"/>
                <a:ea typeface="宋体" panose="02010600030101010101" pitchFamily="2" charset="-122"/>
                <a:cs typeface="宋体" panose="02010600030101010101" pitchFamily="2" charset="-122"/>
              </a:rPr>
              <a:t>- </a:t>
            </a:r>
            <a:r>
              <a:rPr lang="zh-CN" altLang="en-US" sz="1200" b="1">
                <a:latin typeface="宋体" panose="02010600030101010101" pitchFamily="2" charset="-122"/>
                <a:ea typeface="宋体" panose="02010600030101010101" pitchFamily="2" charset="-122"/>
                <a:cs typeface="宋体" panose="02010600030101010101" pitchFamily="2" charset="-122"/>
              </a:rPr>
              <a:t>明确给定的信息</a:t>
            </a:r>
            <a:endParaRPr lang="zh-CN" altLang="en-US" sz="1200" b="1">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en-US" sz="1200" b="1">
                <a:latin typeface="宋体" panose="02010600030101010101" pitchFamily="2" charset="-122"/>
                <a:ea typeface="宋体" panose="02010600030101010101" pitchFamily="2" charset="-122"/>
                <a:cs typeface="宋体" panose="02010600030101010101" pitchFamily="2" charset="-122"/>
              </a:rPr>
              <a:t>   </a:t>
            </a:r>
            <a:r>
              <a:rPr lang="en-US" altLang="zh-CN" sz="1200" b="1">
                <a:latin typeface="宋体" panose="02010600030101010101" pitchFamily="2" charset="-122"/>
                <a:ea typeface="宋体" panose="02010600030101010101" pitchFamily="2" charset="-122"/>
                <a:cs typeface="宋体" panose="02010600030101010101" pitchFamily="2" charset="-122"/>
              </a:rPr>
              <a:t>- </a:t>
            </a:r>
            <a:r>
              <a:rPr lang="zh-CN" altLang="en-US" sz="1200" b="1">
                <a:latin typeface="宋体" panose="02010600030101010101" pitchFamily="2" charset="-122"/>
                <a:ea typeface="宋体" panose="02010600030101010101" pitchFamily="2" charset="-122"/>
                <a:cs typeface="宋体" panose="02010600030101010101" pitchFamily="2" charset="-122"/>
              </a:rPr>
              <a:t>隐含但可合理利用的信息</a:t>
            </a:r>
            <a:endParaRPr lang="zh-CN" altLang="en-US" sz="1200" b="1">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en-US" sz="1200" b="1">
                <a:latin typeface="宋体" panose="02010600030101010101" pitchFamily="2" charset="-122"/>
                <a:ea typeface="宋体" panose="02010600030101010101" pitchFamily="2" charset="-122"/>
                <a:cs typeface="宋体" panose="02010600030101010101" pitchFamily="2" charset="-122"/>
              </a:rPr>
              <a:t>   </a:t>
            </a:r>
            <a:r>
              <a:rPr lang="en-US" altLang="zh-CN" sz="1200" b="1">
                <a:latin typeface="宋体" panose="02010600030101010101" pitchFamily="2" charset="-122"/>
                <a:ea typeface="宋体" panose="02010600030101010101" pitchFamily="2" charset="-122"/>
                <a:cs typeface="宋体" panose="02010600030101010101" pitchFamily="2" charset="-122"/>
              </a:rPr>
              <a:t>- </a:t>
            </a:r>
            <a:r>
              <a:rPr lang="zh-CN" altLang="en-US" sz="1200" b="1">
                <a:latin typeface="宋体" panose="02010600030101010101" pitchFamily="2" charset="-122"/>
                <a:ea typeface="宋体" panose="02010600030101010101" pitchFamily="2" charset="-122"/>
                <a:cs typeface="宋体" panose="02010600030101010101" pitchFamily="2" charset="-122"/>
              </a:rPr>
              <a:t>潜在约束与现实限制</a:t>
            </a:r>
            <a:endParaRPr lang="zh-CN" altLang="en-US" sz="1200" b="1">
              <a:latin typeface="宋体" panose="02010600030101010101" pitchFamily="2" charset="-122"/>
              <a:ea typeface="宋体" panose="02010600030101010101" pitchFamily="2" charset="-122"/>
              <a:cs typeface="宋体" panose="02010600030101010101" pitchFamily="2" charset="-122"/>
            </a:endParaRPr>
          </a:p>
          <a:p>
            <a:pPr marL="0" indent="0">
              <a:buNone/>
            </a:pPr>
            <a:r>
              <a:rPr lang="zh-CN" altLang="en-US" sz="1200" b="1">
                <a:latin typeface="宋体" panose="02010600030101010101" pitchFamily="2" charset="-122"/>
                <a:ea typeface="宋体" panose="02010600030101010101" pitchFamily="2" charset="-122"/>
                <a:cs typeface="宋体" panose="02010600030101010101" pitchFamily="2" charset="-122"/>
              </a:rPr>
              <a:t>针对每一个子问题，请分别给出：</a:t>
            </a:r>
            <a:endParaRPr lang="zh-CN" altLang="en-US" sz="1200" b="1">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en-US" sz="1200" b="1">
                <a:latin typeface="宋体" panose="02010600030101010101" pitchFamily="2" charset="-122"/>
                <a:ea typeface="宋体" panose="02010600030101010101" pitchFamily="2" charset="-122"/>
                <a:cs typeface="宋体" panose="02010600030101010101" pitchFamily="2" charset="-122"/>
              </a:rPr>
              <a:t>   </a:t>
            </a:r>
            <a:r>
              <a:rPr lang="en-US" altLang="zh-CN" sz="1200" b="1">
                <a:latin typeface="宋体" panose="02010600030101010101" pitchFamily="2" charset="-122"/>
                <a:ea typeface="宋体" panose="02010600030101010101" pitchFamily="2" charset="-122"/>
                <a:cs typeface="宋体" panose="02010600030101010101" pitchFamily="2" charset="-122"/>
              </a:rPr>
              <a:t>- </a:t>
            </a:r>
            <a:r>
              <a:rPr lang="zh-CN" altLang="en-US" sz="1200" b="1">
                <a:latin typeface="宋体" panose="02010600030101010101" pitchFamily="2" charset="-122"/>
                <a:ea typeface="宋体" panose="02010600030101010101" pitchFamily="2" charset="-122"/>
                <a:cs typeface="宋体" panose="02010600030101010101" pitchFamily="2" charset="-122"/>
              </a:rPr>
              <a:t>传统</a:t>
            </a:r>
            <a:r>
              <a:rPr lang="en-US" altLang="zh-CN" sz="1200" b="1">
                <a:latin typeface="宋体" panose="02010600030101010101" pitchFamily="2" charset="-122"/>
                <a:ea typeface="宋体" panose="02010600030101010101" pitchFamily="2" charset="-122"/>
                <a:cs typeface="宋体" panose="02010600030101010101" pitchFamily="2" charset="-122"/>
              </a:rPr>
              <a:t>/</a:t>
            </a:r>
            <a:r>
              <a:rPr lang="zh-CN" altLang="en-US" sz="1200" b="1">
                <a:latin typeface="宋体" panose="02010600030101010101" pitchFamily="2" charset="-122"/>
                <a:ea typeface="宋体" panose="02010600030101010101" pitchFamily="2" charset="-122"/>
                <a:cs typeface="宋体" panose="02010600030101010101" pitchFamily="2" charset="-122"/>
              </a:rPr>
              <a:t>常规建模思路（评委预期的</a:t>
            </a:r>
            <a:r>
              <a:rPr lang="en-US" altLang="zh-CN" sz="1200" b="1">
                <a:latin typeface="宋体" panose="02010600030101010101" pitchFamily="2" charset="-122"/>
                <a:ea typeface="宋体" panose="02010600030101010101" pitchFamily="2" charset="-122"/>
                <a:cs typeface="宋体" panose="02010600030101010101" pitchFamily="2" charset="-122"/>
              </a:rPr>
              <a:t> baseline</a:t>
            </a:r>
            <a:r>
              <a:rPr lang="zh-CN" altLang="en-US" sz="1200" b="1">
                <a:latin typeface="宋体" panose="02010600030101010101" pitchFamily="2" charset="-122"/>
                <a:ea typeface="宋体" panose="02010600030101010101" pitchFamily="2" charset="-122"/>
                <a:cs typeface="宋体" panose="02010600030101010101" pitchFamily="2" charset="-122"/>
              </a:rPr>
              <a:t>）</a:t>
            </a:r>
            <a:endParaRPr lang="zh-CN" altLang="en-US" sz="1200" b="1">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en-US" sz="1200" b="1">
                <a:latin typeface="宋体" panose="02010600030101010101" pitchFamily="2" charset="-122"/>
                <a:ea typeface="宋体" panose="02010600030101010101" pitchFamily="2" charset="-122"/>
                <a:cs typeface="宋体" panose="02010600030101010101" pitchFamily="2" charset="-122"/>
              </a:rPr>
              <a:t>   </a:t>
            </a:r>
            <a:r>
              <a:rPr lang="en-US" altLang="zh-CN" sz="1200" b="1">
                <a:latin typeface="宋体" panose="02010600030101010101" pitchFamily="2" charset="-122"/>
                <a:ea typeface="宋体" panose="02010600030101010101" pitchFamily="2" charset="-122"/>
                <a:cs typeface="宋体" panose="02010600030101010101" pitchFamily="2" charset="-122"/>
              </a:rPr>
              <a:t>- </a:t>
            </a:r>
            <a:r>
              <a:rPr lang="zh-CN" altLang="en-US" sz="1200" b="1">
                <a:latin typeface="宋体" panose="02010600030101010101" pitchFamily="2" charset="-122"/>
                <a:ea typeface="宋体" panose="02010600030101010101" pitchFamily="2" charset="-122"/>
                <a:cs typeface="宋体" panose="02010600030101010101" pitchFamily="2" charset="-122"/>
              </a:rPr>
              <a:t>可提升奖项等级的潜在创新方向（模型、数据、假设、分析角度）</a:t>
            </a:r>
            <a:endParaRPr lang="zh-CN" altLang="en-US" sz="1200" b="1">
              <a:latin typeface="宋体" panose="02010600030101010101" pitchFamily="2" charset="-122"/>
              <a:ea typeface="宋体" panose="02010600030101010101" pitchFamily="2" charset="-122"/>
              <a:cs typeface="宋体" panose="02010600030101010101" pitchFamily="2" charset="-122"/>
            </a:endParaRPr>
          </a:p>
          <a:p>
            <a:pPr marL="0" indent="0">
              <a:buNone/>
            </a:pPr>
            <a:r>
              <a:rPr lang="zh-CN" altLang="en-US" sz="1200" b="1">
                <a:latin typeface="宋体" panose="02010600030101010101" pitchFamily="2" charset="-122"/>
                <a:ea typeface="宋体" panose="02010600030101010101" pitchFamily="2" charset="-122"/>
                <a:cs typeface="宋体" panose="02010600030101010101" pitchFamily="2" charset="-122"/>
              </a:rPr>
              <a:t>请站在</a:t>
            </a:r>
            <a:r>
              <a:rPr lang="en-US" altLang="zh-CN" sz="1200" b="1">
                <a:latin typeface="宋体" panose="02010600030101010101" pitchFamily="2" charset="-122"/>
                <a:ea typeface="宋体" panose="02010600030101010101" pitchFamily="2" charset="-122"/>
                <a:cs typeface="宋体" panose="02010600030101010101" pitchFamily="2" charset="-122"/>
              </a:rPr>
              <a:t> M/F </a:t>
            </a:r>
            <a:r>
              <a:rPr lang="zh-CN" altLang="en-US" sz="1200" b="1">
                <a:latin typeface="宋体" panose="02010600030101010101" pitchFamily="2" charset="-122"/>
                <a:ea typeface="宋体" panose="02010600030101010101" pitchFamily="2" charset="-122"/>
                <a:cs typeface="宋体" panose="02010600030101010101" pitchFamily="2" charset="-122"/>
              </a:rPr>
              <a:t>奖评委角度，指出：</a:t>
            </a:r>
            <a:endParaRPr lang="zh-CN" altLang="en-US" sz="1200" b="1">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en-US" sz="1200" b="1">
                <a:latin typeface="宋体" panose="02010600030101010101" pitchFamily="2" charset="-122"/>
                <a:ea typeface="宋体" panose="02010600030101010101" pitchFamily="2" charset="-122"/>
                <a:cs typeface="宋体" panose="02010600030101010101" pitchFamily="2" charset="-122"/>
              </a:rPr>
              <a:t>   </a:t>
            </a:r>
            <a:r>
              <a:rPr lang="en-US" altLang="zh-CN" sz="1200" b="1">
                <a:latin typeface="宋体" panose="02010600030101010101" pitchFamily="2" charset="-122"/>
                <a:ea typeface="宋体" panose="02010600030101010101" pitchFamily="2" charset="-122"/>
                <a:cs typeface="宋体" panose="02010600030101010101" pitchFamily="2" charset="-122"/>
              </a:rPr>
              <a:t>- </a:t>
            </a:r>
            <a:r>
              <a:rPr lang="zh-CN" altLang="en-US" sz="1200" b="1">
                <a:latin typeface="宋体" panose="02010600030101010101" pitchFamily="2" charset="-122"/>
                <a:ea typeface="宋体" panose="02010600030101010101" pitchFamily="2" charset="-122"/>
                <a:cs typeface="宋体" panose="02010600030101010101" pitchFamily="2" charset="-122"/>
              </a:rPr>
              <a:t>哪些地方最容易</a:t>
            </a:r>
            <a:r>
              <a:rPr lang="en-US" altLang="zh-CN" sz="1200" b="1">
                <a:latin typeface="宋体" panose="02010600030101010101" pitchFamily="2" charset="-122"/>
                <a:ea typeface="宋体" panose="02010600030101010101" pitchFamily="2" charset="-122"/>
                <a:cs typeface="宋体" panose="02010600030101010101" pitchFamily="2" charset="-122"/>
              </a:rPr>
              <a:t>“</a:t>
            </a:r>
            <a:r>
              <a:rPr lang="zh-CN" altLang="en-US" sz="1200" b="1">
                <a:latin typeface="宋体" panose="02010600030101010101" pitchFamily="2" charset="-122"/>
                <a:ea typeface="宋体" panose="02010600030101010101" pitchFamily="2" charset="-122"/>
                <a:cs typeface="宋体" panose="02010600030101010101" pitchFamily="2" charset="-122"/>
              </a:rPr>
              <a:t>同质化</a:t>
            </a:r>
            <a:r>
              <a:rPr lang="en-US" altLang="zh-CN" sz="1200" b="1">
                <a:latin typeface="宋体" panose="02010600030101010101" pitchFamily="2" charset="-122"/>
                <a:ea typeface="宋体" panose="02010600030101010101" pitchFamily="2" charset="-122"/>
                <a:cs typeface="宋体" panose="02010600030101010101" pitchFamily="2" charset="-122"/>
              </a:rPr>
              <a:t>”</a:t>
            </a:r>
            <a:endParaRPr lang="en-US" altLang="zh-CN" sz="1200" b="1">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en-US" sz="1200" b="1">
                <a:latin typeface="宋体" panose="02010600030101010101" pitchFamily="2" charset="-122"/>
                <a:ea typeface="宋体" panose="02010600030101010101" pitchFamily="2" charset="-122"/>
                <a:cs typeface="宋体" panose="02010600030101010101" pitchFamily="2" charset="-122"/>
              </a:rPr>
              <a:t>   </a:t>
            </a:r>
            <a:r>
              <a:rPr lang="en-US" altLang="zh-CN" sz="1200" b="1">
                <a:latin typeface="宋体" panose="02010600030101010101" pitchFamily="2" charset="-122"/>
                <a:ea typeface="宋体" panose="02010600030101010101" pitchFamily="2" charset="-122"/>
                <a:cs typeface="宋体" panose="02010600030101010101" pitchFamily="2" charset="-122"/>
              </a:rPr>
              <a:t>- </a:t>
            </a:r>
            <a:r>
              <a:rPr lang="zh-CN" altLang="en-US" sz="1200" b="1">
                <a:latin typeface="宋体" panose="02010600030101010101" pitchFamily="2" charset="-122"/>
                <a:ea typeface="宋体" panose="02010600030101010101" pitchFamily="2" charset="-122"/>
                <a:cs typeface="宋体" panose="02010600030101010101" pitchFamily="2" charset="-122"/>
              </a:rPr>
              <a:t>哪些地方最适合做差异化突破</a:t>
            </a:r>
            <a:endParaRPr lang="zh-CN" altLang="en-US" sz="1200" b="1">
              <a:latin typeface="宋体" panose="02010600030101010101" pitchFamily="2" charset="-122"/>
              <a:ea typeface="宋体" panose="02010600030101010101" pitchFamily="2" charset="-122"/>
              <a:cs typeface="宋体" panose="02010600030101010101" pitchFamily="2" charset="-122"/>
            </a:endParaRPr>
          </a:p>
          <a:p>
            <a:pPr marL="0" indent="0">
              <a:buNone/>
            </a:pPr>
            <a:r>
              <a:rPr lang="zh-CN" altLang="en-US" sz="1200" b="1">
                <a:latin typeface="宋体" panose="02010600030101010101" pitchFamily="2" charset="-122"/>
                <a:ea typeface="宋体" panose="02010600030101010101" pitchFamily="2" charset="-122"/>
                <a:cs typeface="宋体" panose="02010600030101010101" pitchFamily="2" charset="-122"/>
              </a:rPr>
              <a:t>输出请结构化，使用分点和表格形式。</a:t>
            </a:r>
            <a:endParaRPr lang="zh-CN" altLang="en-US" sz="1200" b="1">
              <a:latin typeface="宋体" panose="02010600030101010101" pitchFamily="2" charset="-122"/>
              <a:ea typeface="宋体" panose="02010600030101010101" pitchFamily="2" charset="-122"/>
              <a:cs typeface="宋体" panose="02010600030101010101" pitchFamily="2" charset="-122"/>
            </a:endParaRPr>
          </a:p>
        </p:txBody>
      </p:sp>
    </p:spTree>
    <p:custDataLst>
      <p:tags r:id="rId3"/>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一、整体题目核心拆解</a:t>
            </a:r>
            <a:endParaRPr lang="zh-CN" altLang="en-US"/>
          </a:p>
        </p:txBody>
      </p:sp>
      <p:sp>
        <p:nvSpPr>
          <p:cNvPr id="3" name="内容占位符 2"/>
          <p:cNvSpPr>
            <a:spLocks noGrp="1"/>
          </p:cNvSpPr>
          <p:nvPr>
            <p:ph idx="1"/>
            <p:custDataLst>
              <p:tags r:id="rId2"/>
            </p:custDataLst>
          </p:nvPr>
        </p:nvSpPr>
        <p:spPr/>
        <p:txBody>
          <a:bodyPr/>
          <a:p>
            <a:pPr marL="0" indent="0">
              <a:buNone/>
            </a:pPr>
            <a:r>
              <a:rPr lang="en-US" altLang="zh-CN"/>
              <a:t>1. </a:t>
            </a:r>
            <a:r>
              <a:rPr lang="zh-CN" altLang="en-US"/>
              <a:t>核心建模目标（按重要性排序）</a:t>
            </a:r>
            <a:r>
              <a:rPr lang="en-US" altLang="zh-CN"/>
              <a:t> </a:t>
            </a:r>
            <a:endParaRPr lang="en-US" altLang="zh-CN"/>
          </a:p>
          <a:p>
            <a:pPr marL="0" indent="0">
              <a:buNone/>
            </a:pPr>
            <a:r>
              <a:rPr lang="zh-CN" altLang="en-US"/>
              <a:t>建立可解释、可量化不确定性的国家奖牌预测模型（重点：金牌</a:t>
            </a:r>
            <a:r>
              <a:rPr lang="en-US" altLang="zh-CN"/>
              <a:t> + </a:t>
            </a:r>
            <a:r>
              <a:rPr lang="zh-CN" altLang="en-US"/>
              <a:t>总牌）</a:t>
            </a:r>
            <a:r>
              <a:rPr lang="en-US" altLang="zh-CN"/>
              <a:t> </a:t>
            </a:r>
            <a:endParaRPr lang="en-US" altLang="zh-CN"/>
          </a:p>
          <a:p>
            <a:pPr marL="0" indent="0">
              <a:buNone/>
            </a:pPr>
            <a:r>
              <a:rPr lang="zh-CN" altLang="en-US"/>
              <a:t>对</a:t>
            </a:r>
            <a:r>
              <a:rPr lang="en-US" altLang="zh-CN"/>
              <a:t>2028</a:t>
            </a:r>
            <a:r>
              <a:rPr lang="zh-CN" altLang="en-US"/>
              <a:t>洛杉矶奥运进行点预测</a:t>
            </a:r>
            <a:r>
              <a:rPr lang="en-US" altLang="zh-CN"/>
              <a:t> + </a:t>
            </a:r>
            <a:r>
              <a:rPr lang="zh-CN" altLang="en-US"/>
              <a:t>区间预测（</a:t>
            </a:r>
            <a:r>
              <a:rPr lang="en-US" altLang="zh-CN"/>
              <a:t>prediction intervals</a:t>
            </a:r>
            <a:r>
              <a:rPr lang="zh-CN" altLang="en-US"/>
              <a:t>）</a:t>
            </a:r>
            <a:r>
              <a:rPr lang="en-US" altLang="zh-CN"/>
              <a:t> </a:t>
            </a:r>
            <a:endParaRPr lang="en-US" altLang="zh-CN"/>
          </a:p>
          <a:p>
            <a:pPr marL="0" indent="0">
              <a:buNone/>
            </a:pPr>
            <a:r>
              <a:rPr lang="zh-CN" altLang="en-US"/>
              <a:t>合理处理从未得牌国家的第一枚奖牌概率（包括金牌）</a:t>
            </a:r>
            <a:r>
              <a:rPr lang="en-US" altLang="zh-CN"/>
              <a:t> </a:t>
            </a:r>
            <a:endParaRPr lang="en-US" altLang="zh-CN"/>
          </a:p>
          <a:p>
            <a:pPr marL="0" indent="0">
              <a:buNone/>
            </a:pPr>
            <a:r>
              <a:rPr lang="zh-CN" altLang="en-US"/>
              <a:t>量化项目设置（</a:t>
            </a:r>
            <a:r>
              <a:rPr lang="en-US" altLang="zh-CN"/>
              <a:t>programme</a:t>
            </a:r>
            <a:r>
              <a:rPr lang="zh-CN" altLang="en-US"/>
              <a:t>）与奖牌产出的关系（尤其是东道主优势）</a:t>
            </a:r>
            <a:r>
              <a:rPr lang="en-US" altLang="zh-CN"/>
              <a:t> </a:t>
            </a:r>
            <a:endParaRPr lang="en-US" altLang="zh-CN"/>
          </a:p>
          <a:p>
            <a:pPr marL="0" indent="0">
              <a:buNone/>
            </a:pPr>
            <a:r>
              <a:rPr lang="zh-CN" altLang="en-US"/>
              <a:t>识别并量化</a:t>
            </a:r>
            <a:r>
              <a:rPr lang="en-US" altLang="zh-CN"/>
              <a:t>“great coach”</a:t>
            </a:r>
            <a:r>
              <a:rPr lang="zh-CN" altLang="en-US"/>
              <a:t>效应（跨国教练流动带来的系统性增益）</a:t>
            </a:r>
            <a:r>
              <a:rPr lang="en-US" altLang="zh-CN"/>
              <a:t> </a:t>
            </a:r>
            <a:endParaRPr lang="en-US" altLang="zh-CN"/>
          </a:p>
          <a:p>
            <a:pPr marL="0" indent="0">
              <a:buNone/>
            </a:pPr>
            <a:r>
              <a:rPr lang="zh-CN" altLang="en-US"/>
              <a:t>挖掘</a:t>
            </a:r>
            <a:r>
              <a:rPr lang="en-US" altLang="zh-CN"/>
              <a:t>1–2</a:t>
            </a:r>
            <a:r>
              <a:rPr lang="zh-CN" altLang="en-US"/>
              <a:t>个原创、可操作的政策洞见（能给国家奥委会提供建议）</a:t>
            </a:r>
            <a:endParaRPr lang="zh-CN" altLang="en-US"/>
          </a:p>
        </p:txBody>
      </p:sp>
    </p:spTree>
    <p:custDataLst>
      <p:tags r:id="rId3"/>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custDataLst>
              <p:tags r:id="rId1"/>
            </p:custDataLst>
          </p:nvPr>
        </p:nvSpPr>
        <p:spPr>
          <a:xfrm>
            <a:off x="608330" y="659765"/>
            <a:ext cx="10968990" cy="5589905"/>
          </a:xfrm>
        </p:spPr>
        <p:txBody>
          <a:bodyPr/>
          <a:p>
            <a:pPr marL="0" indent="0">
              <a:buNone/>
            </a:pPr>
            <a:r>
              <a:rPr lang="en-US" altLang="zh-CN"/>
              <a:t>2. </a:t>
            </a:r>
            <a:r>
              <a:rPr lang="zh-CN" altLang="en-US"/>
              <a:t>明确给定的信息</a:t>
            </a:r>
            <a:endParaRPr lang="zh-CN" altLang="en-US"/>
          </a:p>
          <a:p>
            <a:pPr marL="0" indent="0">
              <a:buNone/>
            </a:pPr>
            <a:endParaRPr lang="zh-CN" altLang="en-US"/>
          </a:p>
        </p:txBody>
      </p:sp>
      <p:graphicFrame>
        <p:nvGraphicFramePr>
          <p:cNvPr id="4" name="表格 3"/>
          <p:cNvGraphicFramePr/>
          <p:nvPr>
            <p:custDataLst>
              <p:tags r:id="rId2"/>
            </p:custDataLst>
          </p:nvPr>
        </p:nvGraphicFramePr>
        <p:xfrm>
          <a:off x="853440" y="1332230"/>
          <a:ext cx="10485120" cy="2671445"/>
        </p:xfrm>
        <a:graphic>
          <a:graphicData uri="http://schemas.openxmlformats.org/drawingml/2006/table">
            <a:tbl>
              <a:tblPr/>
              <a:tblGrid>
                <a:gridCol w="3495040"/>
                <a:gridCol w="3495040"/>
                <a:gridCol w="3495040"/>
              </a:tblGrid>
              <a:tr h="334010">
                <a:tc>
                  <a:txBody>
                    <a:bodyPr/>
                    <a:p>
                      <a:r>
                        <a:rPr lang="zh-CN" altLang="en-US" sz="1100"/>
                        <a:t>类别</a:t>
                      </a:r>
                      <a:endParaRPr lang="zh-CN" altLang="en-US" sz="1100"/>
                    </a:p>
                  </a:txBody>
                  <a:tcPr marL="0" marR="0" marT="0" marB="0" anchor="ctr" anchorCtr="0">
                    <a:lnL>
                      <a:noFill/>
                    </a:lnL>
                    <a:lnR>
                      <a:noFill/>
                    </a:lnR>
                    <a:lnT>
                      <a:noFill/>
                    </a:lnT>
                    <a:lnB>
                      <a:noFill/>
                    </a:lnB>
                    <a:noFill/>
                  </a:tcPr>
                </a:tc>
                <a:tc>
                  <a:txBody>
                    <a:bodyPr/>
                    <a:p>
                      <a:r>
                        <a:rPr lang="zh-CN" altLang="en-US" sz="1100"/>
                        <a:t>内容</a:t>
                      </a:r>
                      <a:endParaRPr lang="zh-CN" altLang="en-US" sz="1100"/>
                    </a:p>
                  </a:txBody>
                  <a:tcPr marL="0" marR="0" marT="0" marB="0" anchor="ctr" anchorCtr="0">
                    <a:lnL>
                      <a:noFill/>
                    </a:lnL>
                    <a:lnR>
                      <a:noFill/>
                    </a:lnR>
                    <a:lnT>
                      <a:noFill/>
                    </a:lnT>
                    <a:lnB>
                      <a:noFill/>
                    </a:lnB>
                    <a:noFill/>
                  </a:tcPr>
                </a:tc>
                <a:tc>
                  <a:txBody>
                    <a:bodyPr/>
                    <a:p>
                      <a:r>
                        <a:rPr lang="zh-CN" altLang="en-US" sz="1100"/>
                        <a:t>关键限制</a:t>
                      </a:r>
                      <a:endParaRPr lang="zh-CN" altLang="en-US" sz="1100"/>
                    </a:p>
                  </a:txBody>
                  <a:tcPr marL="0" marR="0" marT="0" marB="0" anchor="ctr" anchorCtr="0">
                    <a:lnL>
                      <a:noFill/>
                    </a:lnL>
                    <a:lnR>
                      <a:noFill/>
                    </a:lnR>
                    <a:lnT>
                      <a:noFill/>
                    </a:lnT>
                    <a:lnB>
                      <a:noFill/>
                    </a:lnB>
                    <a:noFill/>
                  </a:tcPr>
                </a:tc>
              </a:tr>
              <a:tr h="1002030">
                <a:tc>
                  <a:txBody>
                    <a:bodyPr/>
                    <a:p>
                      <a:r>
                        <a:rPr lang="zh-CN" altLang="en-US" sz="1100"/>
                        <a:t>数据文件</a:t>
                      </a:r>
                      <a:endParaRPr lang="zh-CN" altLang="en-US" sz="1100"/>
                    </a:p>
                  </a:txBody>
                  <a:tcPr marL="0" marR="0" marT="0" marB="0" anchor="ctr" anchorCtr="0">
                    <a:lnL>
                      <a:noFill/>
                    </a:lnL>
                    <a:lnR>
                      <a:noFill/>
                    </a:lnR>
                    <a:lnT>
                      <a:noFill/>
                    </a:lnT>
                    <a:lnB>
                      <a:noFill/>
                    </a:lnB>
                    <a:noFill/>
                  </a:tcPr>
                </a:tc>
                <a:tc>
                  <a:txBody>
                    <a:bodyPr/>
                    <a:p>
                      <a:r>
                        <a:rPr lang="en-US" altLang="zh-CN" sz="1100"/>
                        <a:t>summerOly_medal_counts.csv summerOly_athletes.csv summerOly_programs.csv summerOly_hosts.csv data_dictionary.csv</a:t>
                      </a:r>
                      <a:endParaRPr lang="en-US" altLang="zh-CN" sz="1100"/>
                    </a:p>
                  </a:txBody>
                  <a:tcPr marL="0" marR="0" marT="0" marB="0" anchor="ctr" anchorCtr="0">
                    <a:lnL>
                      <a:noFill/>
                    </a:lnL>
                    <a:lnR>
                      <a:noFill/>
                    </a:lnR>
                    <a:lnT>
                      <a:noFill/>
                    </a:lnT>
                    <a:lnB>
                      <a:noFill/>
                    </a:lnB>
                    <a:noFill/>
                  </a:tcPr>
                </a:tc>
                <a:tc>
                  <a:txBody>
                    <a:bodyPr/>
                    <a:p>
                      <a:r>
                        <a:rPr lang="zh-CN" altLang="en-US" sz="1100" b="1"/>
                        <a:t>只能使用这些数据</a:t>
                      </a:r>
                      <a:r>
                        <a:rPr lang="zh-CN" altLang="en-US" sz="1100" b="1"/>
                        <a:t>（严禁外部历史预测数据）</a:t>
                      </a:r>
                      <a:endParaRPr lang="zh-CN" altLang="en-US" sz="1100" b="1"/>
                    </a:p>
                  </a:txBody>
                  <a:tcPr marL="0" marR="0" marT="0" marB="0" anchor="ctr" anchorCtr="0">
                    <a:lnL>
                      <a:noFill/>
                    </a:lnL>
                    <a:lnR>
                      <a:noFill/>
                    </a:lnR>
                    <a:lnT>
                      <a:noFill/>
                    </a:lnT>
                    <a:lnB>
                      <a:noFill/>
                    </a:lnB>
                    <a:noFill/>
                  </a:tcPr>
                </a:tc>
              </a:tr>
              <a:tr h="333375">
                <a:tc>
                  <a:txBody>
                    <a:bodyPr/>
                    <a:p>
                      <a:r>
                        <a:rPr lang="zh-CN" altLang="en-US" sz="1100"/>
                        <a:t>时间范围</a:t>
                      </a:r>
                      <a:endParaRPr lang="zh-CN" altLang="en-US" sz="1100"/>
                    </a:p>
                  </a:txBody>
                  <a:tcPr marL="0" marR="0" marT="0" marB="0" anchor="ctr" anchorCtr="0">
                    <a:lnL>
                      <a:noFill/>
                    </a:lnL>
                    <a:lnR>
                      <a:noFill/>
                    </a:lnR>
                    <a:lnT>
                      <a:noFill/>
                    </a:lnT>
                    <a:lnB>
                      <a:noFill/>
                    </a:lnB>
                    <a:noFill/>
                  </a:tcPr>
                </a:tc>
                <a:tc>
                  <a:txBody>
                    <a:bodyPr/>
                    <a:p>
                      <a:r>
                        <a:rPr lang="en-US" altLang="zh-CN" sz="1100"/>
                        <a:t>1896–2024</a:t>
                      </a:r>
                      <a:r>
                        <a:rPr lang="zh-CN" altLang="en-US" sz="1100"/>
                        <a:t>（历史）</a:t>
                      </a:r>
                      <a:r>
                        <a:rPr lang="en-US" altLang="zh-CN" sz="1100"/>
                        <a:t>+ 2028</a:t>
                      </a:r>
                      <a:r>
                        <a:rPr lang="zh-CN" altLang="en-US" sz="1100"/>
                        <a:t>（预测目标），</a:t>
                      </a:r>
                      <a:r>
                        <a:rPr lang="en-US" altLang="zh-CN" sz="1100"/>
                        <a:t>hosts</a:t>
                      </a:r>
                      <a:r>
                        <a:rPr lang="zh-CN" altLang="en-US" sz="1100"/>
                        <a:t>到</a:t>
                      </a:r>
                      <a:r>
                        <a:rPr lang="en-US" altLang="zh-CN" sz="1100"/>
                        <a:t>2032</a:t>
                      </a:r>
                      <a:endParaRPr lang="en-US" altLang="zh-CN" sz="1100"/>
                    </a:p>
                  </a:txBody>
                  <a:tcPr marL="0" marR="0" marT="0" marB="0" anchor="ctr" anchorCtr="0">
                    <a:lnL>
                      <a:noFill/>
                    </a:lnL>
                    <a:lnR>
                      <a:noFill/>
                    </a:lnR>
                    <a:lnT>
                      <a:noFill/>
                    </a:lnT>
                    <a:lnB>
                      <a:noFill/>
                    </a:lnB>
                    <a:noFill/>
                  </a:tcPr>
                </a:tc>
                <a:tc>
                  <a:txBody>
                    <a:bodyPr/>
                    <a:p>
                      <a:r>
                        <a:rPr lang="en-US" altLang="zh-CN" sz="1100"/>
                        <a:t>2032</a:t>
                      </a:r>
                      <a:r>
                        <a:rPr lang="zh-CN" altLang="en-US" sz="1100"/>
                        <a:t>以后无数据</a:t>
                      </a:r>
                      <a:endParaRPr lang="zh-CN" altLang="en-US" sz="1100"/>
                    </a:p>
                  </a:txBody>
                  <a:tcPr marL="0" marR="0" marT="0" marB="0" anchor="ctr" anchorCtr="0">
                    <a:lnL>
                      <a:noFill/>
                    </a:lnL>
                    <a:lnR>
                      <a:noFill/>
                    </a:lnR>
                    <a:lnT>
                      <a:noFill/>
                    </a:lnT>
                    <a:lnB>
                      <a:noFill/>
                    </a:lnB>
                    <a:noFill/>
                  </a:tcPr>
                </a:tc>
              </a:tr>
              <a:tr h="334645">
                <a:tc>
                  <a:txBody>
                    <a:bodyPr/>
                    <a:p>
                      <a:r>
                        <a:rPr lang="zh-CN" altLang="en-US" sz="1100"/>
                        <a:t>东道主信息</a:t>
                      </a:r>
                      <a:endParaRPr lang="zh-CN" altLang="en-US" sz="1100"/>
                    </a:p>
                  </a:txBody>
                  <a:tcPr marL="0" marR="0" marT="0" marB="0" anchor="ctr" anchorCtr="0">
                    <a:lnL>
                      <a:noFill/>
                    </a:lnL>
                    <a:lnR>
                      <a:noFill/>
                    </a:lnR>
                    <a:lnT>
                      <a:noFill/>
                    </a:lnT>
                    <a:lnB>
                      <a:noFill/>
                    </a:lnB>
                    <a:noFill/>
                  </a:tcPr>
                </a:tc>
                <a:tc>
                  <a:txBody>
                    <a:bodyPr/>
                    <a:p>
                      <a:r>
                        <a:rPr lang="zh-CN" altLang="en-US" sz="1100"/>
                        <a:t>明确给出每届主办国</a:t>
                      </a:r>
                      <a:endParaRPr lang="zh-CN" altLang="en-US" sz="1100"/>
                    </a:p>
                  </a:txBody>
                  <a:tcPr marL="0" marR="0" marT="0" marB="0" anchor="ctr" anchorCtr="0">
                    <a:lnL>
                      <a:noFill/>
                    </a:lnL>
                    <a:lnR>
                      <a:noFill/>
                    </a:lnR>
                    <a:lnT>
                      <a:noFill/>
                    </a:lnT>
                    <a:lnB>
                      <a:noFill/>
                    </a:lnB>
                    <a:noFill/>
                  </a:tcPr>
                </a:tc>
                <a:tc>
                  <a:txBody>
                    <a:bodyPr/>
                    <a:p>
                      <a:r>
                        <a:rPr lang="zh-CN" altLang="en-US" sz="1100"/>
                        <a:t>可用于</a:t>
                      </a:r>
                      <a:r>
                        <a:rPr lang="en-US" altLang="zh-CN" sz="1100"/>
                        <a:t>home advantage</a:t>
                      </a:r>
                      <a:r>
                        <a:rPr lang="zh-CN" altLang="en-US" sz="1100"/>
                        <a:t>建模</a:t>
                      </a:r>
                      <a:endParaRPr lang="zh-CN" altLang="en-US" sz="1100"/>
                    </a:p>
                  </a:txBody>
                  <a:tcPr marL="0" marR="0" marT="0" marB="0" anchor="ctr" anchorCtr="0">
                    <a:lnL>
                      <a:noFill/>
                    </a:lnL>
                    <a:lnR>
                      <a:noFill/>
                    </a:lnR>
                    <a:lnT>
                      <a:noFill/>
                    </a:lnT>
                    <a:lnB>
                      <a:noFill/>
                    </a:lnB>
                    <a:noFill/>
                  </a:tcPr>
                </a:tc>
              </a:tr>
              <a:tr h="333375">
                <a:tc>
                  <a:txBody>
                    <a:bodyPr/>
                    <a:p>
                      <a:r>
                        <a:rPr lang="zh-CN" altLang="en-US" sz="1100"/>
                        <a:t>项目数量</a:t>
                      </a:r>
                      <a:endParaRPr lang="zh-CN" altLang="en-US" sz="1100"/>
                    </a:p>
                  </a:txBody>
                  <a:tcPr marL="0" marR="0" marT="0" marB="0" anchor="ctr" anchorCtr="0">
                    <a:lnL>
                      <a:noFill/>
                    </a:lnL>
                    <a:lnR>
                      <a:noFill/>
                    </a:lnR>
                    <a:lnT>
                      <a:noFill/>
                    </a:lnT>
                    <a:lnB>
                      <a:noFill/>
                    </a:lnB>
                    <a:noFill/>
                  </a:tcPr>
                </a:tc>
                <a:tc>
                  <a:txBody>
                    <a:bodyPr/>
                    <a:p>
                      <a:r>
                        <a:rPr lang="zh-CN" altLang="en-US" sz="1100"/>
                        <a:t>按</a:t>
                      </a:r>
                      <a:r>
                        <a:rPr lang="en-US" altLang="zh-CN" sz="1100"/>
                        <a:t>sport/discipline/event</a:t>
                      </a:r>
                      <a:r>
                        <a:rPr lang="zh-CN" altLang="en-US" sz="1100"/>
                        <a:t>粒度给出历届数量</a:t>
                      </a:r>
                      <a:endParaRPr lang="zh-CN" altLang="en-US" sz="1100"/>
                    </a:p>
                  </a:txBody>
                  <a:tcPr marL="0" marR="0" marT="0" marB="0" anchor="ctr" anchorCtr="0">
                    <a:lnL>
                      <a:noFill/>
                    </a:lnL>
                    <a:lnR>
                      <a:noFill/>
                    </a:lnR>
                    <a:lnT>
                      <a:noFill/>
                    </a:lnT>
                    <a:lnB>
                      <a:noFill/>
                    </a:lnB>
                    <a:noFill/>
                  </a:tcPr>
                </a:tc>
                <a:tc>
                  <a:txBody>
                    <a:bodyPr/>
                    <a:p>
                      <a:r>
                        <a:rPr lang="en-US" altLang="zh-CN" sz="1100"/>
                        <a:t>2028</a:t>
                      </a:r>
                      <a:r>
                        <a:rPr lang="zh-CN" altLang="en-US" sz="1100"/>
                        <a:t>项目设置未知（需假设</a:t>
                      </a:r>
                      <a:r>
                        <a:rPr lang="en-US" altLang="zh-CN" sz="1100"/>
                        <a:t>/</a:t>
                      </a:r>
                      <a:r>
                        <a:rPr lang="zh-CN" altLang="en-US" sz="1100"/>
                        <a:t>外推）</a:t>
                      </a:r>
                      <a:endParaRPr lang="zh-CN" altLang="en-US" sz="1100"/>
                    </a:p>
                  </a:txBody>
                  <a:tcPr marL="0" marR="0" marT="0" marB="0" anchor="ctr" anchorCtr="0">
                    <a:lnL>
                      <a:noFill/>
                    </a:lnL>
                    <a:lnR>
                      <a:noFill/>
                    </a:lnR>
                    <a:lnT>
                      <a:noFill/>
                    </a:lnT>
                    <a:lnB>
                      <a:noFill/>
                    </a:lnB>
                    <a:noFill/>
                  </a:tcPr>
                </a:tc>
              </a:tr>
              <a:tr h="334010">
                <a:tc>
                  <a:txBody>
                    <a:bodyPr/>
                    <a:p>
                      <a:r>
                        <a:rPr lang="zh-CN" altLang="en-US" sz="1100"/>
                        <a:t>运动员级数据</a:t>
                      </a:r>
                      <a:endParaRPr lang="zh-CN" altLang="en-US" sz="1100"/>
                    </a:p>
                  </a:txBody>
                  <a:tcPr marL="0" marR="0" marT="0" marB="0" anchor="ctr" anchorCtr="0">
                    <a:lnL>
                      <a:noFill/>
                    </a:lnL>
                    <a:lnR>
                      <a:noFill/>
                    </a:lnR>
                    <a:lnT>
                      <a:noFill/>
                    </a:lnT>
                    <a:lnB>
                      <a:noFill/>
                    </a:lnB>
                    <a:noFill/>
                  </a:tcPr>
                </a:tc>
                <a:tc>
                  <a:txBody>
                    <a:bodyPr/>
                    <a:p>
                      <a:r>
                        <a:rPr lang="zh-CN" altLang="en-US" sz="1100"/>
                        <a:t>每人</a:t>
                      </a:r>
                      <a:r>
                        <a:rPr lang="en-US" altLang="zh-CN" sz="1100"/>
                        <a:t>·</a:t>
                      </a:r>
                      <a:r>
                        <a:rPr lang="zh-CN" altLang="en-US" sz="1100"/>
                        <a:t>每届</a:t>
                      </a:r>
                      <a:r>
                        <a:rPr lang="en-US" altLang="zh-CN" sz="1100"/>
                        <a:t>·</a:t>
                      </a:r>
                      <a:r>
                        <a:rPr lang="zh-CN" altLang="en-US" sz="1100"/>
                        <a:t>运动项目</a:t>
                      </a:r>
                      <a:r>
                        <a:rPr lang="en-US" altLang="zh-CN" sz="1100"/>
                        <a:t>·</a:t>
                      </a:r>
                      <a:r>
                        <a:rPr lang="zh-CN" altLang="en-US" sz="1100"/>
                        <a:t>成绩（金</a:t>
                      </a:r>
                      <a:r>
                        <a:rPr lang="en-US" altLang="zh-CN" sz="1100"/>
                        <a:t>/</a:t>
                      </a:r>
                      <a:r>
                        <a:rPr lang="zh-CN" altLang="en-US" sz="1100"/>
                        <a:t>银</a:t>
                      </a:r>
                      <a:r>
                        <a:rPr lang="en-US" altLang="zh-CN" sz="1100"/>
                        <a:t>/</a:t>
                      </a:r>
                      <a:r>
                        <a:rPr lang="zh-CN" altLang="en-US" sz="1100"/>
                        <a:t>铜</a:t>
                      </a:r>
                      <a:r>
                        <a:rPr lang="en-US" altLang="zh-CN" sz="1100"/>
                        <a:t>/</a:t>
                      </a:r>
                      <a:r>
                        <a:rPr lang="zh-CN" altLang="en-US" sz="1100"/>
                        <a:t>无）</a:t>
                      </a:r>
                      <a:endParaRPr lang="zh-CN" altLang="en-US" sz="1100"/>
                    </a:p>
                  </a:txBody>
                  <a:tcPr marL="0" marR="0" marT="0" marB="0" anchor="ctr" anchorCtr="0">
                    <a:lnL>
                      <a:noFill/>
                    </a:lnL>
                    <a:lnR>
                      <a:noFill/>
                    </a:lnR>
                    <a:lnT>
                      <a:noFill/>
                    </a:lnT>
                    <a:lnB>
                      <a:noFill/>
                    </a:lnB>
                    <a:noFill/>
                  </a:tcPr>
                </a:tc>
                <a:tc>
                  <a:txBody>
                    <a:bodyPr/>
                    <a:p>
                      <a:r>
                        <a:rPr lang="zh-CN" altLang="en-US" sz="1100"/>
                        <a:t>可用于教练</a:t>
                      </a:r>
                      <a:r>
                        <a:rPr lang="en-US" altLang="zh-CN" sz="1100"/>
                        <a:t>/</a:t>
                      </a:r>
                      <a:r>
                        <a:rPr lang="zh-CN" altLang="en-US" sz="1100"/>
                        <a:t>人才流动间接推断</a:t>
                      </a:r>
                      <a:endParaRPr lang="zh-CN" altLang="en-US" sz="1100"/>
                    </a:p>
                  </a:txBody>
                  <a:tcPr marL="0" marR="0" marT="0" marB="0" anchor="ctr" anchorCtr="0">
                    <a:lnL>
                      <a:noFill/>
                    </a:lnL>
                    <a:lnR>
                      <a:noFill/>
                    </a:lnR>
                    <a:lnT>
                      <a:noFill/>
                    </a:lnT>
                    <a:lnB>
                      <a:noFill/>
                    </a:lnB>
                    <a:noFill/>
                  </a:tcPr>
                </a:tc>
              </a:tr>
            </a:tbl>
          </a:graphicData>
        </a:graphic>
      </p:graphicFrame>
    </p:spTree>
    <p:custDataLst>
      <p:tags r:id="rId3"/>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custDataLst>
              <p:tags r:id="rId1"/>
            </p:custDataLst>
          </p:nvPr>
        </p:nvSpPr>
        <p:spPr>
          <a:xfrm>
            <a:off x="608330" y="746760"/>
            <a:ext cx="10968990" cy="5502910"/>
          </a:xfrm>
        </p:spPr>
        <p:txBody>
          <a:bodyPr>
            <a:normAutofit lnSpcReduction="10000"/>
          </a:bodyPr>
          <a:p>
            <a:pPr marL="0" indent="0">
              <a:buNone/>
            </a:pPr>
            <a:r>
              <a:rPr lang="en-US" altLang="zh-CN"/>
              <a:t>3. </a:t>
            </a:r>
            <a:r>
              <a:rPr lang="zh-CN" altLang="en-US"/>
              <a:t>隐含但可合理利用的信息（需有依据）</a:t>
            </a:r>
            <a:r>
              <a:rPr lang="en-US" altLang="zh-CN"/>
              <a:t> </a:t>
            </a:r>
            <a:endParaRPr lang="en-US" altLang="zh-CN"/>
          </a:p>
          <a:p>
            <a:pPr marL="0" indent="0">
              <a:buNone/>
            </a:pPr>
            <a:r>
              <a:rPr lang="zh-CN" altLang="en-US" b="1"/>
              <a:t>东道主</a:t>
            </a:r>
            <a:r>
              <a:rPr lang="zh-CN" altLang="en-US"/>
              <a:t>通常有额外项目提议权</a:t>
            </a:r>
            <a:r>
              <a:rPr lang="en-US" altLang="zh-CN"/>
              <a:t> </a:t>
            </a:r>
            <a:r>
              <a:rPr lang="en-US" altLang="en-US"/>
              <a:t>→</a:t>
            </a:r>
            <a:r>
              <a:rPr lang="en-US" altLang="zh-CN"/>
              <a:t> </a:t>
            </a:r>
            <a:r>
              <a:rPr lang="zh-CN" altLang="en-US"/>
              <a:t>可能偏向本国强项</a:t>
            </a:r>
            <a:r>
              <a:rPr lang="en-US" altLang="zh-CN"/>
              <a:t> • </a:t>
            </a:r>
            <a:r>
              <a:rPr lang="zh-CN" altLang="en-US"/>
              <a:t>多数运动项目奖牌数相对固定（</a:t>
            </a:r>
            <a:r>
              <a:rPr lang="en-US" altLang="zh-CN"/>
              <a:t>1</a:t>
            </a:r>
            <a:r>
              <a:rPr lang="zh-CN" altLang="en-US"/>
              <a:t>金</a:t>
            </a:r>
            <a:r>
              <a:rPr lang="en-US" altLang="zh-CN"/>
              <a:t>1</a:t>
            </a:r>
            <a:r>
              <a:rPr lang="zh-CN" altLang="en-US"/>
              <a:t>银</a:t>
            </a:r>
            <a:r>
              <a:rPr lang="en-US" altLang="zh-CN"/>
              <a:t>1</a:t>
            </a:r>
            <a:r>
              <a:rPr lang="zh-CN" altLang="en-US"/>
              <a:t>铜或团体项目变体）</a:t>
            </a:r>
            <a:r>
              <a:rPr lang="en-US" altLang="zh-CN"/>
              <a:t> </a:t>
            </a:r>
            <a:endParaRPr lang="en-US" altLang="zh-CN"/>
          </a:p>
          <a:p>
            <a:pPr marL="0" indent="0">
              <a:buNone/>
            </a:pPr>
            <a:r>
              <a:rPr lang="zh-CN" altLang="en-US"/>
              <a:t>运动员换国籍难度高</a:t>
            </a:r>
            <a:r>
              <a:rPr lang="en-US" altLang="zh-CN"/>
              <a:t> </a:t>
            </a:r>
            <a:r>
              <a:rPr lang="en-US" altLang="en-US"/>
              <a:t>→</a:t>
            </a:r>
            <a:r>
              <a:rPr lang="en-US" altLang="zh-CN"/>
              <a:t> </a:t>
            </a:r>
            <a:r>
              <a:rPr lang="zh-CN" altLang="en-US"/>
              <a:t>人才流动主要靠年轻一代而非现役转换</a:t>
            </a:r>
            <a:r>
              <a:rPr lang="en-US" altLang="zh-CN"/>
              <a:t> </a:t>
            </a:r>
            <a:endParaRPr lang="en-US" altLang="zh-CN"/>
          </a:p>
          <a:p>
            <a:pPr marL="0" indent="0">
              <a:buNone/>
            </a:pPr>
            <a:r>
              <a:rPr lang="zh-CN" altLang="en-US" b="1"/>
              <a:t>教练流动成本低、效果可能滞后</a:t>
            </a:r>
            <a:r>
              <a:rPr lang="en-US" altLang="zh-CN" b="1"/>
              <a:t>1–2</a:t>
            </a:r>
            <a:r>
              <a:rPr lang="zh-CN" altLang="en-US" b="1"/>
              <a:t>届</a:t>
            </a:r>
            <a:r>
              <a:rPr lang="en-US" altLang="zh-CN" b="1"/>
              <a:t> </a:t>
            </a:r>
            <a:endParaRPr lang="en-US" altLang="zh-CN" b="1"/>
          </a:p>
          <a:p>
            <a:pPr marL="0" indent="0">
              <a:buNone/>
            </a:pPr>
            <a:r>
              <a:rPr lang="zh-CN" altLang="en-US"/>
              <a:t>首次得牌国家多出现在新兴小国且多与田径</a:t>
            </a:r>
            <a:r>
              <a:rPr lang="en-US" altLang="zh-CN"/>
              <a:t>/</a:t>
            </a:r>
            <a:r>
              <a:rPr lang="zh-CN" altLang="en-US"/>
              <a:t>拳击</a:t>
            </a:r>
            <a:r>
              <a:rPr lang="en-US" altLang="zh-CN"/>
              <a:t>/</a:t>
            </a:r>
            <a:r>
              <a:rPr lang="zh-CN" altLang="en-US"/>
              <a:t>柔道</a:t>
            </a:r>
            <a:r>
              <a:rPr lang="en-US" altLang="zh-CN"/>
              <a:t>/</a:t>
            </a:r>
            <a:r>
              <a:rPr lang="zh-CN" altLang="en-US"/>
              <a:t>摔跤</a:t>
            </a:r>
            <a:r>
              <a:rPr lang="en-US" altLang="zh-CN"/>
              <a:t>/</a:t>
            </a:r>
            <a:r>
              <a:rPr lang="zh-CN" altLang="en-US"/>
              <a:t>举重等低设备依赖项目相关</a:t>
            </a:r>
            <a:r>
              <a:rPr lang="en-US" altLang="zh-CN"/>
              <a:t>  </a:t>
            </a:r>
            <a:endParaRPr lang="en-US" altLang="zh-CN"/>
          </a:p>
          <a:p>
            <a:pPr marL="0" indent="0">
              <a:buNone/>
            </a:pPr>
            <a:r>
              <a:rPr lang="en-US" altLang="zh-CN"/>
              <a:t>4. </a:t>
            </a:r>
            <a:r>
              <a:rPr lang="zh-CN" altLang="en-US"/>
              <a:t>潜在约束与现实限制（评委最常扣分点）</a:t>
            </a:r>
            <a:r>
              <a:rPr lang="en-US" altLang="zh-CN"/>
              <a:t> </a:t>
            </a:r>
            <a:endParaRPr lang="en-US" altLang="zh-CN"/>
          </a:p>
          <a:p>
            <a:pPr marL="0" indent="0">
              <a:buNone/>
            </a:pPr>
            <a:r>
              <a:rPr lang="en-US" altLang="zh-CN"/>
              <a:t>2028</a:t>
            </a:r>
            <a:r>
              <a:rPr lang="zh-CN" altLang="en-US"/>
              <a:t>具体项目表未知（只能基于趋势外推或假设）</a:t>
            </a:r>
            <a:r>
              <a:rPr lang="en-US" altLang="zh-CN"/>
              <a:t> </a:t>
            </a:r>
            <a:endParaRPr lang="en-US" altLang="zh-CN"/>
          </a:p>
          <a:p>
            <a:pPr marL="0" indent="0">
              <a:buNone/>
            </a:pPr>
            <a:r>
              <a:rPr lang="zh-CN" altLang="en-US"/>
              <a:t>运动员年龄结构、退役</a:t>
            </a:r>
            <a:r>
              <a:rPr lang="en-US" altLang="zh-CN"/>
              <a:t>/</a:t>
            </a:r>
            <a:r>
              <a:rPr lang="zh-CN" altLang="en-US"/>
              <a:t>新生代更替无法精确建模（数据只到</a:t>
            </a:r>
            <a:r>
              <a:rPr lang="en-US" altLang="zh-CN"/>
              <a:t>2024</a:t>
            </a:r>
            <a:r>
              <a:rPr lang="zh-CN" altLang="en-US"/>
              <a:t>）</a:t>
            </a:r>
            <a:r>
              <a:rPr lang="en-US" altLang="zh-CN"/>
              <a:t> </a:t>
            </a:r>
            <a:endParaRPr lang="en-US" altLang="zh-CN"/>
          </a:p>
          <a:p>
            <a:pPr marL="0" indent="0">
              <a:buNone/>
            </a:pPr>
            <a:r>
              <a:rPr lang="en-US" altLang="zh-CN"/>
              <a:t> </a:t>
            </a:r>
            <a:r>
              <a:rPr lang="en-US" altLang="zh-CN" b="1"/>
              <a:t>“great coach”</a:t>
            </a:r>
            <a:r>
              <a:rPr lang="zh-CN" altLang="en-US" b="1"/>
              <a:t>效应难以严格因果识别（混杂了经费、国家战略等）</a:t>
            </a:r>
            <a:r>
              <a:rPr lang="en-US" altLang="zh-CN" b="1"/>
              <a:t> </a:t>
            </a:r>
            <a:endParaRPr lang="en-US" altLang="zh-CN"/>
          </a:p>
          <a:p>
            <a:pPr marL="0" indent="0">
              <a:buNone/>
            </a:pPr>
            <a:r>
              <a:rPr lang="en-US" altLang="zh-CN" b="1"/>
              <a:t> </a:t>
            </a:r>
            <a:r>
              <a:rPr lang="zh-CN" altLang="en-US" b="1"/>
              <a:t>超过</a:t>
            </a:r>
            <a:r>
              <a:rPr lang="en-US" altLang="zh-CN" b="1"/>
              <a:t>60</a:t>
            </a:r>
            <a:r>
              <a:rPr lang="zh-CN" altLang="en-US" b="1"/>
              <a:t>个无牌国家样本稀疏</a:t>
            </a:r>
            <a:r>
              <a:rPr lang="en-US" altLang="zh-CN" b="1"/>
              <a:t> </a:t>
            </a:r>
            <a:r>
              <a:rPr lang="en-US" altLang="en-US" b="1"/>
              <a:t>→</a:t>
            </a:r>
            <a:r>
              <a:rPr lang="en-US" altLang="zh-CN" b="1"/>
              <a:t> </a:t>
            </a:r>
            <a:r>
              <a:rPr lang="zh-CN" altLang="en-US" b="1"/>
              <a:t>预测极易过拟合或变成主观判断</a:t>
            </a:r>
            <a:r>
              <a:rPr lang="en-US" altLang="zh-CN" b="1"/>
              <a:t> </a:t>
            </a:r>
            <a:endParaRPr lang="en-US" altLang="zh-CN" b="1"/>
          </a:p>
          <a:p>
            <a:pPr marL="0" indent="0">
              <a:buNone/>
            </a:pPr>
            <a:r>
              <a:rPr lang="en-US" altLang="zh-CN"/>
              <a:t>25</a:t>
            </a:r>
            <a:r>
              <a:rPr lang="zh-CN" altLang="en-US"/>
              <a:t>页篇幅限制下难以同时做好深度与广度</a:t>
            </a:r>
            <a:endParaRPr lang="zh-CN" altLang="en-US"/>
          </a:p>
        </p:txBody>
      </p:sp>
    </p:spTree>
    <p:custDataLst>
      <p:tags r:id="rId2"/>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二、逐个子问题建模思路对比</a:t>
            </a:r>
            <a:endParaRPr lang="zh-CN" altLang="en-US"/>
          </a:p>
        </p:txBody>
      </p:sp>
      <p:graphicFrame>
        <p:nvGraphicFramePr>
          <p:cNvPr id="5" name="表格 4"/>
          <p:cNvGraphicFramePr/>
          <p:nvPr>
            <p:custDataLst>
              <p:tags r:id="rId2"/>
            </p:custDataLst>
          </p:nvPr>
        </p:nvGraphicFramePr>
        <p:xfrm>
          <a:off x="608330" y="1313815"/>
          <a:ext cx="10829925" cy="5293995"/>
        </p:xfrm>
        <a:graphic>
          <a:graphicData uri="http://schemas.openxmlformats.org/drawingml/2006/table">
            <a:tbl>
              <a:tblPr/>
              <a:tblGrid>
                <a:gridCol w="2165985"/>
                <a:gridCol w="2165985"/>
                <a:gridCol w="2165985"/>
                <a:gridCol w="2165985"/>
                <a:gridCol w="2165985"/>
              </a:tblGrid>
              <a:tr h="278765">
                <a:tc>
                  <a:txBody>
                    <a:bodyPr/>
                    <a:p>
                      <a:r>
                        <a:rPr lang="zh-CN" altLang="en-US" sz="800"/>
                        <a:t>子问题</a:t>
                      </a:r>
                      <a:endParaRPr lang="zh-CN" altLang="en-US" sz="800"/>
                    </a:p>
                  </a:txBody>
                  <a:tcPr marL="0" marR="0" marT="0" marB="0" anchor="ctr" anchorCtr="0">
                    <a:lnL>
                      <a:noFill/>
                    </a:lnL>
                    <a:lnR>
                      <a:noFill/>
                    </a:lnR>
                    <a:lnT>
                      <a:noFill/>
                    </a:lnT>
                    <a:lnB>
                      <a:noFill/>
                    </a:lnB>
                    <a:noFill/>
                  </a:tcPr>
                </a:tc>
                <a:tc>
                  <a:txBody>
                    <a:bodyPr/>
                    <a:p>
                      <a:r>
                        <a:rPr lang="zh-CN" altLang="en-US" sz="800"/>
                        <a:t>传统</a:t>
                      </a:r>
                      <a:r>
                        <a:rPr lang="en-US" altLang="zh-CN" sz="800"/>
                        <a:t>/</a:t>
                      </a:r>
                      <a:r>
                        <a:rPr lang="zh-CN" altLang="en-US" sz="800"/>
                        <a:t>常规思路（</a:t>
                      </a:r>
                      <a:r>
                        <a:rPr lang="en-US" altLang="zh-CN" sz="800"/>
                        <a:t>M</a:t>
                      </a:r>
                      <a:r>
                        <a:rPr lang="zh-CN" altLang="en-US" sz="800"/>
                        <a:t>奖</a:t>
                      </a:r>
                      <a:r>
                        <a:rPr lang="en-US" altLang="zh-CN" sz="800"/>
                        <a:t>baseline</a:t>
                      </a:r>
                      <a:r>
                        <a:rPr lang="zh-CN" altLang="en-US" sz="800"/>
                        <a:t>）</a:t>
                      </a:r>
                      <a:endParaRPr lang="zh-CN" altLang="en-US" sz="800"/>
                    </a:p>
                  </a:txBody>
                  <a:tcPr marL="0" marR="0" marT="0" marB="0" anchor="ctr" anchorCtr="0">
                    <a:lnL>
                      <a:noFill/>
                    </a:lnL>
                    <a:lnR>
                      <a:noFill/>
                    </a:lnR>
                    <a:lnT>
                      <a:noFill/>
                    </a:lnT>
                    <a:lnB>
                      <a:noFill/>
                    </a:lnB>
                    <a:noFill/>
                  </a:tcPr>
                </a:tc>
                <a:tc>
                  <a:txBody>
                    <a:bodyPr/>
                    <a:p>
                      <a:r>
                        <a:rPr lang="zh-CN" altLang="en-US" sz="800"/>
                        <a:t>可冲击</a:t>
                      </a:r>
                      <a:r>
                        <a:rPr lang="en-US" altLang="zh-CN" sz="800"/>
                        <a:t>F</a:t>
                      </a:r>
                      <a:r>
                        <a:rPr lang="zh-CN" altLang="en-US" sz="800"/>
                        <a:t>奖</a:t>
                      </a:r>
                      <a:r>
                        <a:rPr lang="en-US" altLang="zh-CN" sz="800"/>
                        <a:t>/Honorable Mention</a:t>
                      </a:r>
                      <a:r>
                        <a:rPr lang="zh-CN" altLang="en-US" sz="800"/>
                        <a:t>的创新方向</a:t>
                      </a:r>
                      <a:endParaRPr lang="zh-CN" altLang="en-US" sz="800"/>
                    </a:p>
                  </a:txBody>
                  <a:tcPr marL="0" marR="0" marT="0" marB="0" anchor="ctr" anchorCtr="0">
                    <a:lnL>
                      <a:noFill/>
                    </a:lnL>
                    <a:lnR>
                      <a:noFill/>
                    </a:lnR>
                    <a:lnT>
                      <a:noFill/>
                    </a:lnT>
                    <a:lnB>
                      <a:noFill/>
                    </a:lnB>
                    <a:noFill/>
                  </a:tcPr>
                </a:tc>
                <a:tc>
                  <a:txBody>
                    <a:bodyPr/>
                    <a:p>
                      <a:r>
                        <a:rPr lang="zh-CN" altLang="en-US" sz="800"/>
                        <a:t>最容易同质化的地方</a:t>
                      </a:r>
                      <a:endParaRPr lang="zh-CN" altLang="en-US" sz="800"/>
                    </a:p>
                  </a:txBody>
                  <a:tcPr marL="0" marR="0" marT="0" marB="0" anchor="ctr" anchorCtr="0">
                    <a:lnL>
                      <a:noFill/>
                    </a:lnL>
                    <a:lnR>
                      <a:noFill/>
                    </a:lnR>
                    <a:lnT>
                      <a:noFill/>
                    </a:lnT>
                    <a:lnB>
                      <a:noFill/>
                    </a:lnB>
                    <a:noFill/>
                  </a:tcPr>
                </a:tc>
                <a:tc>
                  <a:txBody>
                    <a:bodyPr/>
                    <a:p>
                      <a:r>
                        <a:rPr lang="zh-CN" altLang="en-US" sz="800"/>
                        <a:t>差异化突破最有价值的点</a:t>
                      </a:r>
                      <a:endParaRPr lang="zh-CN" altLang="en-US" sz="800"/>
                    </a:p>
                  </a:txBody>
                  <a:tcPr marL="0" marR="0" marT="0" marB="0" anchor="ctr" anchorCtr="0">
                    <a:lnL>
                      <a:noFill/>
                    </a:lnL>
                    <a:lnR>
                      <a:noFill/>
                    </a:lnR>
                    <a:lnT>
                      <a:noFill/>
                    </a:lnT>
                    <a:lnB>
                      <a:noFill/>
                    </a:lnB>
                    <a:noFill/>
                  </a:tcPr>
                </a:tc>
              </a:tr>
              <a:tr h="974725">
                <a:tc>
                  <a:txBody>
                    <a:bodyPr/>
                    <a:p>
                      <a:r>
                        <a:rPr lang="en-US" altLang="zh-CN" sz="800" b="1"/>
                        <a:t>1. </a:t>
                      </a:r>
                      <a:r>
                        <a:rPr lang="zh-CN" altLang="en-US" sz="800" b="1"/>
                        <a:t>奖牌计数模型（金牌</a:t>
                      </a:r>
                      <a:r>
                        <a:rPr lang="en-US" altLang="zh-CN" sz="800" b="1"/>
                        <a:t>+</a:t>
                      </a:r>
                      <a:r>
                        <a:rPr lang="zh-CN" altLang="en-US" sz="800" b="1"/>
                        <a:t>总牌）</a:t>
                      </a:r>
                      <a:endParaRPr lang="zh-CN" altLang="en-US" sz="800" b="1"/>
                    </a:p>
                  </a:txBody>
                  <a:tcPr marL="0" marR="0" marT="0" marB="0" anchor="ctr" anchorCtr="0">
                    <a:lnL>
                      <a:noFill/>
                    </a:lnL>
                    <a:lnR>
                      <a:noFill/>
                    </a:lnR>
                    <a:lnT>
                      <a:noFill/>
                    </a:lnT>
                    <a:lnB>
                      <a:noFill/>
                    </a:lnB>
                    <a:noFill/>
                  </a:tcPr>
                </a:tc>
                <a:tc>
                  <a:txBody>
                    <a:bodyPr/>
                    <a:p>
                      <a:r>
                        <a:rPr lang="en-US" altLang="zh-CN" sz="800"/>
                        <a:t>Poisson / Negative Binomial</a:t>
                      </a:r>
                      <a:r>
                        <a:rPr lang="zh-CN" altLang="en-US" sz="800"/>
                        <a:t>回归 或线性混合效应模型 主要特征：</a:t>
                      </a:r>
                      <a:r>
                        <a:rPr lang="en-US" altLang="zh-CN" sz="800"/>
                        <a:t>GDP</a:t>
                      </a:r>
                      <a:r>
                        <a:rPr lang="zh-CN" altLang="en-US" sz="800"/>
                        <a:t>、人口、历史均值、上一届成绩、是否东道主</a:t>
                      </a:r>
                      <a:endParaRPr lang="zh-CN" altLang="en-US" sz="800"/>
                    </a:p>
                  </a:txBody>
                  <a:tcPr marL="0" marR="0" marT="0" marB="0" anchor="ctr" anchorCtr="0">
                    <a:lnL>
                      <a:noFill/>
                    </a:lnL>
                    <a:lnR>
                      <a:noFill/>
                    </a:lnR>
                    <a:lnT>
                      <a:noFill/>
                    </a:lnT>
                    <a:lnB>
                      <a:noFill/>
                    </a:lnB>
                    <a:noFill/>
                  </a:tcPr>
                </a:tc>
                <a:tc>
                  <a:txBody>
                    <a:bodyPr/>
                    <a:p>
                      <a:r>
                        <a:rPr lang="en-US" altLang="zh-CN" sz="800"/>
                        <a:t>1. </a:t>
                      </a:r>
                      <a:r>
                        <a:rPr lang="zh-CN" altLang="en-US" sz="800"/>
                        <a:t>层次贝叶斯模型（国家层面随机效应 </a:t>
                      </a:r>
                      <a:r>
                        <a:rPr lang="en-US" altLang="zh-CN" sz="800"/>
                        <a:t>+ </a:t>
                      </a:r>
                      <a:r>
                        <a:rPr lang="zh-CN" altLang="en-US" sz="800"/>
                        <a:t>时间自回归） </a:t>
                      </a:r>
                      <a:r>
                        <a:rPr lang="en-US" altLang="zh-CN" sz="800"/>
                        <a:t>2. </a:t>
                      </a:r>
                      <a:r>
                        <a:rPr lang="zh-CN" altLang="en-US" sz="800"/>
                        <a:t>序列模型（</a:t>
                      </a:r>
                      <a:r>
                        <a:rPr lang="en-US" altLang="zh-CN" sz="800"/>
                        <a:t>LSTM/Transformer</a:t>
                      </a:r>
                      <a:r>
                        <a:rPr lang="zh-CN" altLang="en-US" sz="800"/>
                        <a:t>）捕捉国家长期轨迹 </a:t>
                      </a:r>
                      <a:r>
                        <a:rPr lang="en-US" altLang="zh-CN" sz="800"/>
                        <a:t>3. Zero-inflated + hurdle</a:t>
                      </a:r>
                      <a:r>
                        <a:rPr lang="zh-CN" altLang="en-US" sz="800"/>
                        <a:t>模型分别建模“是否得牌”和“得多少” </a:t>
                      </a:r>
                      <a:r>
                        <a:rPr lang="en-US" altLang="zh-CN" sz="800"/>
                        <a:t>4. </a:t>
                      </a:r>
                      <a:r>
                        <a:rPr lang="zh-CN" altLang="en-US" sz="800"/>
                        <a:t>加入运动员存量年龄结构代理变量</a:t>
                      </a:r>
                      <a:endParaRPr lang="zh-CN" altLang="en-US" sz="800"/>
                    </a:p>
                  </a:txBody>
                  <a:tcPr marL="0" marR="0" marT="0" marB="0" anchor="ctr" anchorCtr="0">
                    <a:lnL>
                      <a:noFill/>
                    </a:lnL>
                    <a:lnR>
                      <a:noFill/>
                    </a:lnR>
                    <a:lnT>
                      <a:noFill/>
                    </a:lnT>
                    <a:lnB>
                      <a:noFill/>
                    </a:lnB>
                    <a:noFill/>
                  </a:tcPr>
                </a:tc>
                <a:tc>
                  <a:txBody>
                    <a:bodyPr/>
                    <a:p>
                      <a:r>
                        <a:rPr lang="zh-CN" altLang="en-US" sz="800"/>
                        <a:t>直接用</a:t>
                      </a:r>
                      <a:r>
                        <a:rPr lang="en-US" altLang="zh-CN" sz="800"/>
                        <a:t>GDP+</a:t>
                      </a:r>
                      <a:r>
                        <a:rPr lang="zh-CN" altLang="en-US" sz="800"/>
                        <a:t>人口</a:t>
                      </a:r>
                      <a:r>
                        <a:rPr lang="en-US" altLang="zh-CN" sz="800"/>
                        <a:t>+lag</a:t>
                      </a:r>
                      <a:r>
                        <a:rPr lang="zh-CN" altLang="en-US" sz="800"/>
                        <a:t>做</a:t>
                      </a:r>
                      <a:r>
                        <a:rPr lang="en-US" altLang="zh-CN" sz="800"/>
                        <a:t>Poisson</a:t>
                      </a:r>
                      <a:r>
                        <a:rPr lang="zh-CN" altLang="en-US" sz="800"/>
                        <a:t>回归</a:t>
                      </a:r>
                      <a:endParaRPr lang="zh-CN" altLang="en-US" sz="800"/>
                    </a:p>
                  </a:txBody>
                  <a:tcPr marL="0" marR="0" marT="0" marB="0" anchor="ctr" anchorCtr="0">
                    <a:lnL>
                      <a:noFill/>
                    </a:lnL>
                    <a:lnR>
                      <a:noFill/>
                    </a:lnR>
                    <a:lnT>
                      <a:noFill/>
                    </a:lnT>
                    <a:lnB>
                      <a:noFill/>
                    </a:lnB>
                    <a:noFill/>
                  </a:tcPr>
                </a:tc>
                <a:tc>
                  <a:txBody>
                    <a:bodyPr/>
                    <a:p>
                      <a:r>
                        <a:rPr lang="en-US" altLang="zh-CN" sz="800"/>
                        <a:t>1. </a:t>
                      </a:r>
                      <a:r>
                        <a:rPr lang="zh-CN" altLang="en-US" sz="800"/>
                        <a:t>非常明确的分层结构（国家</a:t>
                      </a:r>
                      <a:r>
                        <a:rPr lang="en-US" altLang="zh-CN" sz="800"/>
                        <a:t>-</a:t>
                      </a:r>
                      <a:r>
                        <a:rPr lang="zh-CN" altLang="en-US" sz="800"/>
                        <a:t>大洲</a:t>
                      </a:r>
                      <a:r>
                        <a:rPr lang="en-US" altLang="zh-CN" sz="800"/>
                        <a:t>-</a:t>
                      </a:r>
                      <a:r>
                        <a:rPr lang="zh-CN" altLang="en-US" sz="800"/>
                        <a:t>运动大类） </a:t>
                      </a:r>
                      <a:r>
                        <a:rPr lang="en-US" altLang="zh-CN" sz="800"/>
                        <a:t>2. </a:t>
                      </a:r>
                      <a:r>
                        <a:rPr lang="zh-CN" altLang="en-US" sz="800"/>
                        <a:t>对小国</a:t>
                      </a:r>
                      <a:r>
                        <a:rPr lang="en-US" altLang="zh-CN" sz="800"/>
                        <a:t>/</a:t>
                      </a:r>
                      <a:r>
                        <a:rPr lang="zh-CN" altLang="en-US" sz="800"/>
                        <a:t>首次得牌的零膨胀处理 </a:t>
                      </a:r>
                      <a:r>
                        <a:rPr lang="en-US" altLang="zh-CN" sz="800"/>
                        <a:t>3. </a:t>
                      </a:r>
                      <a:r>
                        <a:rPr lang="zh-CN" altLang="en-US" sz="800"/>
                        <a:t>不确定性传播到</a:t>
                      </a:r>
                      <a:r>
                        <a:rPr lang="en-US" altLang="zh-CN" sz="800"/>
                        <a:t>2028</a:t>
                      </a:r>
                      <a:r>
                        <a:rPr lang="zh-CN" altLang="en-US" sz="800"/>
                        <a:t>的完整链路</a:t>
                      </a:r>
                      <a:endParaRPr lang="zh-CN" altLang="en-US" sz="800"/>
                    </a:p>
                  </a:txBody>
                  <a:tcPr marL="0" marR="0" marT="0" marB="0" anchor="ctr" anchorCtr="0">
                    <a:lnL>
                      <a:noFill/>
                    </a:lnL>
                    <a:lnR>
                      <a:noFill/>
                    </a:lnR>
                    <a:lnT>
                      <a:noFill/>
                    </a:lnT>
                    <a:lnB>
                      <a:noFill/>
                    </a:lnB>
                    <a:noFill/>
                  </a:tcPr>
                </a:tc>
              </a:tr>
              <a:tr h="696595">
                <a:tc>
                  <a:txBody>
                    <a:bodyPr/>
                    <a:p>
                      <a:r>
                        <a:rPr lang="en-US" altLang="zh-CN" sz="800" b="1"/>
                        <a:t>2. 2028</a:t>
                      </a:r>
                      <a:r>
                        <a:rPr lang="zh-CN" altLang="en-US" sz="800" b="1"/>
                        <a:t>预测 </a:t>
                      </a:r>
                      <a:r>
                        <a:rPr lang="en-US" altLang="zh-CN" sz="800" b="1"/>
                        <a:t>&amp; </a:t>
                      </a:r>
                      <a:r>
                        <a:rPr lang="zh-CN" altLang="en-US" sz="800" b="1"/>
                        <a:t>预测区间</a:t>
                      </a:r>
                      <a:endParaRPr lang="zh-CN" altLang="en-US" sz="800" b="1"/>
                    </a:p>
                  </a:txBody>
                  <a:tcPr marL="0" marR="0" marT="0" marB="0" anchor="ctr" anchorCtr="0">
                    <a:lnL>
                      <a:noFill/>
                    </a:lnL>
                    <a:lnR>
                      <a:noFill/>
                    </a:lnR>
                    <a:lnT>
                      <a:noFill/>
                    </a:lnT>
                    <a:lnB>
                      <a:noFill/>
                    </a:lnB>
                    <a:noFill/>
                  </a:tcPr>
                </a:tc>
                <a:tc>
                  <a:txBody>
                    <a:bodyPr/>
                    <a:p>
                      <a:r>
                        <a:rPr lang="zh-CN" altLang="en-US" sz="800"/>
                        <a:t>点估计 </a:t>
                      </a:r>
                      <a:r>
                        <a:rPr lang="en-US" altLang="zh-CN" sz="800"/>
                        <a:t>+ bootstrap / MC</a:t>
                      </a:r>
                      <a:r>
                        <a:rPr lang="zh-CN" altLang="en-US" sz="800"/>
                        <a:t>模拟给出</a:t>
                      </a:r>
                      <a:r>
                        <a:rPr lang="en-US" altLang="zh-CN" sz="800"/>
                        <a:t>95%</a:t>
                      </a:r>
                      <a:r>
                        <a:rPr lang="zh-CN" altLang="en-US" sz="800"/>
                        <a:t>区间</a:t>
                      </a:r>
                      <a:endParaRPr lang="zh-CN" altLang="en-US" sz="800"/>
                    </a:p>
                  </a:txBody>
                  <a:tcPr marL="0" marR="0" marT="0" marB="0" anchor="ctr" anchorCtr="0">
                    <a:lnL>
                      <a:noFill/>
                    </a:lnL>
                    <a:lnR>
                      <a:noFill/>
                    </a:lnR>
                    <a:lnT>
                      <a:noFill/>
                    </a:lnT>
                    <a:lnB>
                      <a:noFill/>
                    </a:lnB>
                    <a:noFill/>
                  </a:tcPr>
                </a:tc>
                <a:tc>
                  <a:txBody>
                    <a:bodyPr/>
                    <a:p>
                      <a:r>
                        <a:rPr lang="en-US" altLang="zh-CN" sz="800"/>
                        <a:t>1. </a:t>
                      </a:r>
                      <a:r>
                        <a:rPr lang="zh-CN" altLang="en-US" sz="800"/>
                        <a:t>分位数回归或生成式预测（给出完整分布） </a:t>
                      </a:r>
                      <a:r>
                        <a:rPr lang="en-US" altLang="zh-CN" sz="800"/>
                        <a:t>2. </a:t>
                      </a:r>
                      <a:r>
                        <a:rPr lang="zh-CN" altLang="en-US" sz="800"/>
                        <a:t>情景分析（高</a:t>
                      </a:r>
                      <a:r>
                        <a:rPr lang="en-US" altLang="zh-CN" sz="800"/>
                        <a:t>/</a:t>
                      </a:r>
                      <a:r>
                        <a:rPr lang="zh-CN" altLang="en-US" sz="800"/>
                        <a:t>中</a:t>
                      </a:r>
                      <a:r>
                        <a:rPr lang="en-US" altLang="zh-CN" sz="800"/>
                        <a:t>/</a:t>
                      </a:r>
                      <a:r>
                        <a:rPr lang="zh-CN" altLang="en-US" sz="800"/>
                        <a:t>低三种项目设置假设） </a:t>
                      </a:r>
                      <a:r>
                        <a:rPr lang="en-US" altLang="zh-CN" sz="800"/>
                        <a:t>3. </a:t>
                      </a:r>
                      <a:r>
                        <a:rPr lang="zh-CN" altLang="en-US" sz="800"/>
                        <a:t>后验预测分布可视化（小提琴图</a:t>
                      </a:r>
                      <a:r>
                        <a:rPr lang="en-US" altLang="zh-CN" sz="800"/>
                        <a:t>+</a:t>
                      </a:r>
                      <a:r>
                        <a:rPr lang="zh-CN" altLang="en-US" sz="800"/>
                        <a:t>排名概率云图）</a:t>
                      </a:r>
                      <a:endParaRPr lang="zh-CN" altLang="en-US" sz="800"/>
                    </a:p>
                  </a:txBody>
                  <a:tcPr marL="0" marR="0" marT="0" marB="0" anchor="ctr" anchorCtr="0">
                    <a:lnL>
                      <a:noFill/>
                    </a:lnL>
                    <a:lnR>
                      <a:noFill/>
                    </a:lnR>
                    <a:lnT>
                      <a:noFill/>
                    </a:lnT>
                    <a:lnB>
                      <a:noFill/>
                    </a:lnB>
                    <a:noFill/>
                  </a:tcPr>
                </a:tc>
                <a:tc>
                  <a:txBody>
                    <a:bodyPr/>
                    <a:p>
                      <a:r>
                        <a:rPr lang="zh-CN" altLang="en-US" sz="800"/>
                        <a:t>简单点预测 </a:t>
                      </a:r>
                      <a:r>
                        <a:rPr lang="en-US" altLang="zh-CN" sz="800"/>
                        <a:t>+ </a:t>
                      </a:r>
                      <a:r>
                        <a:rPr lang="zh-CN" altLang="en-US" sz="800"/>
                        <a:t>对称</a:t>
                      </a:r>
                      <a:r>
                        <a:rPr lang="en-US" altLang="zh-CN" sz="800"/>
                        <a:t>±</a:t>
                      </a:r>
                      <a:r>
                        <a:rPr lang="zh-CN" altLang="en-US" sz="800"/>
                        <a:t>误差</a:t>
                      </a:r>
                      <a:endParaRPr lang="zh-CN" altLang="en-US" sz="800"/>
                    </a:p>
                  </a:txBody>
                  <a:tcPr marL="0" marR="0" marT="0" marB="0" anchor="ctr" anchorCtr="0">
                    <a:lnL>
                      <a:noFill/>
                    </a:lnL>
                    <a:lnR>
                      <a:noFill/>
                    </a:lnR>
                    <a:lnT>
                      <a:noFill/>
                    </a:lnT>
                    <a:lnB>
                      <a:noFill/>
                    </a:lnB>
                    <a:noFill/>
                  </a:tcPr>
                </a:tc>
                <a:tc>
                  <a:txBody>
                    <a:bodyPr/>
                    <a:p>
                      <a:r>
                        <a:rPr lang="zh-CN" altLang="en-US" sz="800"/>
                        <a:t>给出国家排名变化概率矩阵（谁最可能超中国</a:t>
                      </a:r>
                      <a:r>
                        <a:rPr lang="en-US" altLang="zh-CN" sz="800"/>
                        <a:t>/</a:t>
                      </a:r>
                      <a:r>
                        <a:rPr lang="zh-CN" altLang="en-US" sz="800"/>
                        <a:t>掉出前</a:t>
                      </a:r>
                      <a:r>
                        <a:rPr lang="en-US" altLang="zh-CN" sz="800"/>
                        <a:t>8</a:t>
                      </a:r>
                      <a:r>
                        <a:rPr lang="zh-CN" altLang="en-US" sz="800"/>
                        <a:t>等）</a:t>
                      </a:r>
                      <a:endParaRPr lang="zh-CN" altLang="en-US" sz="800"/>
                    </a:p>
                  </a:txBody>
                  <a:tcPr marL="0" marR="0" marT="0" marB="0" anchor="ctr" anchorCtr="0">
                    <a:lnL>
                      <a:noFill/>
                    </a:lnL>
                    <a:lnR>
                      <a:noFill/>
                    </a:lnR>
                    <a:lnT>
                      <a:noFill/>
                    </a:lnT>
                    <a:lnB>
                      <a:noFill/>
                    </a:lnB>
                    <a:noFill/>
                  </a:tcPr>
                </a:tc>
              </a:tr>
              <a:tr h="835660">
                <a:tc>
                  <a:txBody>
                    <a:bodyPr/>
                    <a:p>
                      <a:r>
                        <a:rPr lang="en-US" altLang="zh-CN" sz="800" b="1"/>
                        <a:t>3. </a:t>
                      </a:r>
                      <a:r>
                        <a:rPr lang="zh-CN" altLang="en-US" sz="800" b="1"/>
                        <a:t>首次得牌国家数量 </a:t>
                      </a:r>
                      <a:r>
                        <a:rPr lang="en-US" altLang="zh-CN" sz="800" b="1"/>
                        <a:t>&amp; </a:t>
                      </a:r>
                      <a:r>
                        <a:rPr lang="zh-CN" altLang="en-US" sz="800" b="1"/>
                        <a:t>概率</a:t>
                      </a:r>
                      <a:endParaRPr lang="zh-CN" altLang="en-US" sz="800" b="1"/>
                    </a:p>
                  </a:txBody>
                  <a:tcPr marL="0" marR="0" marT="0" marB="0" anchor="ctr" anchorCtr="0">
                    <a:lnL>
                      <a:noFill/>
                    </a:lnL>
                    <a:lnR>
                      <a:noFill/>
                    </a:lnR>
                    <a:lnT>
                      <a:noFill/>
                    </a:lnT>
                    <a:lnB>
                      <a:noFill/>
                    </a:lnB>
                    <a:noFill/>
                  </a:tcPr>
                </a:tc>
                <a:tc>
                  <a:txBody>
                    <a:bodyPr/>
                    <a:p>
                      <a:r>
                        <a:rPr lang="zh-CN" altLang="en-US" sz="800"/>
                        <a:t>逻辑回归或简单比例外推</a:t>
                      </a:r>
                      <a:endParaRPr lang="zh-CN" altLang="en-US" sz="800"/>
                    </a:p>
                  </a:txBody>
                  <a:tcPr marL="0" marR="0" marT="0" marB="0" anchor="ctr" anchorCtr="0">
                    <a:lnL>
                      <a:noFill/>
                    </a:lnL>
                    <a:lnR>
                      <a:noFill/>
                    </a:lnR>
                    <a:lnT>
                      <a:noFill/>
                    </a:lnT>
                    <a:lnB>
                      <a:noFill/>
                    </a:lnB>
                    <a:noFill/>
                  </a:tcPr>
                </a:tc>
                <a:tc>
                  <a:txBody>
                    <a:bodyPr/>
                    <a:p>
                      <a:r>
                        <a:rPr lang="en-US" altLang="zh-CN" sz="800"/>
                        <a:t>1. </a:t>
                      </a:r>
                      <a:r>
                        <a:rPr lang="zh-CN" altLang="en-US" sz="800"/>
                        <a:t>生存分析（</a:t>
                      </a:r>
                      <a:r>
                        <a:rPr lang="en-US" altLang="zh-CN" sz="800"/>
                        <a:t>Kaplan-Meier + Cox</a:t>
                      </a:r>
                      <a:r>
                        <a:rPr lang="zh-CN" altLang="en-US" sz="800"/>
                        <a:t>）把“无牌年限”作为生存时间 </a:t>
                      </a:r>
                      <a:r>
                        <a:rPr lang="en-US" altLang="zh-CN" sz="800"/>
                        <a:t>2. </a:t>
                      </a:r>
                      <a:r>
                        <a:rPr lang="zh-CN" altLang="en-US" sz="800"/>
                        <a:t>极稀有事件建模（</a:t>
                      </a:r>
                      <a:r>
                        <a:rPr lang="en-US" altLang="zh-CN" sz="800"/>
                        <a:t>Firth logistic / Bayesian with horseshoe prior</a:t>
                      </a:r>
                      <a:r>
                        <a:rPr lang="zh-CN" altLang="en-US" sz="800"/>
                        <a:t>） </a:t>
                      </a:r>
                      <a:r>
                        <a:rPr lang="en-US" altLang="zh-CN" sz="800"/>
                        <a:t>3. </a:t>
                      </a:r>
                      <a:r>
                        <a:rPr lang="zh-CN" altLang="en-US" sz="800"/>
                        <a:t>与项目数少、设备依赖低的运动挂钩</a:t>
                      </a:r>
                      <a:endParaRPr lang="zh-CN" altLang="en-US" sz="800"/>
                    </a:p>
                  </a:txBody>
                  <a:tcPr marL="0" marR="0" marT="0" marB="0" anchor="ctr" anchorCtr="0">
                    <a:lnL>
                      <a:noFill/>
                    </a:lnL>
                    <a:lnR>
                      <a:noFill/>
                    </a:lnR>
                    <a:lnT>
                      <a:noFill/>
                    </a:lnT>
                    <a:lnB>
                      <a:noFill/>
                    </a:lnB>
                    <a:noFill/>
                  </a:tcPr>
                </a:tc>
                <a:tc>
                  <a:txBody>
                    <a:bodyPr/>
                    <a:p>
                      <a:r>
                        <a:rPr lang="zh-CN" altLang="en-US" sz="800"/>
                        <a:t>简单说“大概</a:t>
                      </a:r>
                      <a:r>
                        <a:rPr lang="en-US" altLang="zh-CN" sz="800"/>
                        <a:t>5–10</a:t>
                      </a:r>
                      <a:r>
                        <a:rPr lang="zh-CN" altLang="en-US" sz="800"/>
                        <a:t>个”</a:t>
                      </a:r>
                      <a:endParaRPr lang="zh-CN" altLang="en-US" sz="800"/>
                    </a:p>
                  </a:txBody>
                  <a:tcPr marL="0" marR="0" marT="0" marB="0" anchor="ctr" anchorCtr="0">
                    <a:lnL>
                      <a:noFill/>
                    </a:lnL>
                    <a:lnR>
                      <a:noFill/>
                    </a:lnR>
                    <a:lnT>
                      <a:noFill/>
                    </a:lnT>
                    <a:lnB>
                      <a:noFill/>
                    </a:lnB>
                    <a:noFill/>
                  </a:tcPr>
                </a:tc>
                <a:tc>
                  <a:txBody>
                    <a:bodyPr/>
                    <a:p>
                      <a:r>
                        <a:rPr lang="en-US" altLang="zh-CN" sz="800"/>
                        <a:t>1. </a:t>
                      </a:r>
                      <a:r>
                        <a:rPr lang="zh-CN" altLang="en-US" sz="800"/>
                        <a:t>给出具体国家名单的概率排序（前</a:t>
                      </a:r>
                      <a:r>
                        <a:rPr lang="en-US" altLang="zh-CN" sz="800"/>
                        <a:t>15</a:t>
                      </a:r>
                      <a:r>
                        <a:rPr lang="zh-CN" altLang="en-US" sz="800"/>
                        <a:t>） </a:t>
                      </a:r>
                      <a:r>
                        <a:rPr lang="en-US" altLang="zh-CN" sz="800"/>
                        <a:t>2. </a:t>
                      </a:r>
                      <a:r>
                        <a:rPr lang="zh-CN" altLang="en-US" sz="800"/>
                        <a:t>与具体运动项目关联（哪些项目最容易爆冷）</a:t>
                      </a:r>
                      <a:endParaRPr lang="zh-CN" altLang="en-US" sz="800"/>
                    </a:p>
                  </a:txBody>
                  <a:tcPr marL="0" marR="0" marT="0" marB="0" anchor="ctr" anchorCtr="0">
                    <a:lnL>
                      <a:noFill/>
                    </a:lnL>
                    <a:lnR>
                      <a:noFill/>
                    </a:lnR>
                    <a:lnT>
                      <a:noFill/>
                    </a:lnT>
                    <a:lnB>
                      <a:noFill/>
                    </a:lnB>
                    <a:noFill/>
                  </a:tcPr>
                </a:tc>
              </a:tr>
              <a:tr h="836930">
                <a:tc>
                  <a:txBody>
                    <a:bodyPr/>
                    <a:p>
                      <a:r>
                        <a:rPr lang="en-US" altLang="zh-CN" sz="800" b="1"/>
                        <a:t>4. </a:t>
                      </a:r>
                      <a:r>
                        <a:rPr lang="zh-CN" altLang="en-US" sz="800" b="1"/>
                        <a:t>项目设置与奖牌关系 </a:t>
                      </a:r>
                      <a:r>
                        <a:rPr lang="en-US" altLang="zh-CN" sz="800" b="1"/>
                        <a:t>+ </a:t>
                      </a:r>
                      <a:r>
                        <a:rPr lang="zh-CN" altLang="en-US" sz="800" b="1"/>
                        <a:t>东道主效应</a:t>
                      </a:r>
                      <a:endParaRPr lang="zh-CN" altLang="en-US" sz="800" b="1"/>
                    </a:p>
                  </a:txBody>
                  <a:tcPr marL="0" marR="0" marT="0" marB="0" anchor="ctr" anchorCtr="0">
                    <a:lnL>
                      <a:noFill/>
                    </a:lnL>
                    <a:lnR>
                      <a:noFill/>
                    </a:lnR>
                    <a:lnT>
                      <a:noFill/>
                    </a:lnT>
                    <a:lnB>
                      <a:noFill/>
                    </a:lnB>
                    <a:noFill/>
                  </a:tcPr>
                </a:tc>
                <a:tc>
                  <a:txBody>
                    <a:bodyPr/>
                    <a:p>
                      <a:r>
                        <a:rPr lang="zh-CN" altLang="en-US" sz="800"/>
                        <a:t>加入</a:t>
                      </a:r>
                      <a:r>
                        <a:rPr lang="en-US" altLang="zh-CN" sz="800"/>
                        <a:t>dummy</a:t>
                      </a:r>
                      <a:r>
                        <a:rPr lang="zh-CN" altLang="en-US" sz="800"/>
                        <a:t>变量（是否东道主）</a:t>
                      </a:r>
                      <a:r>
                        <a:rPr lang="en-US" altLang="zh-CN" sz="800"/>
                        <a:t>+ </a:t>
                      </a:r>
                      <a:r>
                        <a:rPr lang="zh-CN" altLang="en-US" sz="800"/>
                        <a:t>总项目数</a:t>
                      </a:r>
                      <a:endParaRPr lang="zh-CN" altLang="en-US" sz="800"/>
                    </a:p>
                  </a:txBody>
                  <a:tcPr marL="0" marR="0" marT="0" marB="0" anchor="ctr" anchorCtr="0">
                    <a:lnL>
                      <a:noFill/>
                    </a:lnL>
                    <a:lnR>
                      <a:noFill/>
                    </a:lnR>
                    <a:lnT>
                      <a:noFill/>
                    </a:lnT>
                    <a:lnB>
                      <a:noFill/>
                    </a:lnB>
                    <a:noFill/>
                  </a:tcPr>
                </a:tc>
                <a:tc>
                  <a:txBody>
                    <a:bodyPr/>
                    <a:p>
                      <a:r>
                        <a:rPr lang="en-US" altLang="zh-CN" sz="800"/>
                        <a:t>1. </a:t>
                      </a:r>
                      <a:r>
                        <a:rPr lang="zh-CN" altLang="en-US" sz="800"/>
                        <a:t>国家</a:t>
                      </a:r>
                      <a:r>
                        <a:rPr lang="en-US" altLang="zh-CN" sz="800"/>
                        <a:t>-</a:t>
                      </a:r>
                      <a:r>
                        <a:rPr lang="zh-CN" altLang="en-US" sz="800"/>
                        <a:t>项目二维匹配矩阵分解（类似</a:t>
                      </a:r>
                      <a:r>
                        <a:rPr lang="en-US" altLang="zh-CN" sz="800"/>
                        <a:t>SVD/NMF</a:t>
                      </a:r>
                      <a:r>
                        <a:rPr lang="zh-CN" altLang="en-US" sz="800"/>
                        <a:t>） </a:t>
                      </a:r>
                      <a:r>
                        <a:rPr lang="en-US" altLang="zh-CN" sz="800"/>
                        <a:t>2. </a:t>
                      </a:r>
                      <a:r>
                        <a:rPr lang="zh-CN" altLang="en-US" sz="800"/>
                        <a:t>东道主新增项目偏好分析（用历史新增项目与东道主强项重合度） </a:t>
                      </a:r>
                      <a:r>
                        <a:rPr lang="en-US" altLang="zh-CN" sz="800"/>
                        <a:t>3. </a:t>
                      </a:r>
                      <a:r>
                        <a:rPr lang="zh-CN" altLang="en-US" sz="800"/>
                        <a:t>构建“项目亲和力指数”（国家在某项目历史得牌率 </a:t>
                      </a:r>
                      <a:r>
                        <a:rPr lang="en-US" altLang="zh-CN" sz="800"/>
                        <a:t>× </a:t>
                      </a:r>
                      <a:r>
                        <a:rPr lang="zh-CN" altLang="en-US" sz="800"/>
                        <a:t>项目数）</a:t>
                      </a:r>
                      <a:endParaRPr lang="zh-CN" altLang="en-US" sz="800"/>
                    </a:p>
                  </a:txBody>
                  <a:tcPr marL="0" marR="0" marT="0" marB="0" anchor="ctr" anchorCtr="0">
                    <a:lnL>
                      <a:noFill/>
                    </a:lnL>
                    <a:lnR>
                      <a:noFill/>
                    </a:lnR>
                    <a:lnT>
                      <a:noFill/>
                    </a:lnT>
                    <a:lnB>
                      <a:noFill/>
                    </a:lnB>
                    <a:noFill/>
                  </a:tcPr>
                </a:tc>
                <a:tc>
                  <a:txBody>
                    <a:bodyPr/>
                    <a:p>
                      <a:r>
                        <a:rPr lang="zh-CN" altLang="en-US" sz="800"/>
                        <a:t>只做东道主</a:t>
                      </a:r>
                      <a:r>
                        <a:rPr lang="en-US" altLang="zh-CN" sz="800"/>
                        <a:t>dummy</a:t>
                      </a:r>
                      <a:endParaRPr lang="en-US" altLang="zh-CN" sz="800"/>
                    </a:p>
                  </a:txBody>
                  <a:tcPr marL="0" marR="0" marT="0" marB="0" anchor="ctr" anchorCtr="0">
                    <a:lnL>
                      <a:noFill/>
                    </a:lnL>
                    <a:lnR>
                      <a:noFill/>
                    </a:lnR>
                    <a:lnT>
                      <a:noFill/>
                    </a:lnT>
                    <a:lnB>
                      <a:noFill/>
                    </a:lnB>
                    <a:noFill/>
                  </a:tcPr>
                </a:tc>
                <a:tc>
                  <a:txBody>
                    <a:bodyPr/>
                    <a:p>
                      <a:r>
                        <a:rPr lang="zh-CN" altLang="en-US" sz="800"/>
                        <a:t>东道主新增项目选择倾向的量化证据 </a:t>
                      </a:r>
                      <a:r>
                        <a:rPr lang="en-US" altLang="zh-CN" sz="800"/>
                        <a:t>+ </a:t>
                      </a:r>
                      <a:r>
                        <a:rPr lang="zh-CN" altLang="en-US" sz="800"/>
                        <a:t>对</a:t>
                      </a:r>
                      <a:r>
                        <a:rPr lang="en-US" altLang="zh-CN" sz="800"/>
                        <a:t>2028</a:t>
                      </a:r>
                      <a:r>
                        <a:rPr lang="zh-CN" altLang="en-US" sz="800"/>
                        <a:t>的敏感性分析</a:t>
                      </a:r>
                      <a:endParaRPr lang="zh-CN" altLang="en-US" sz="800"/>
                    </a:p>
                  </a:txBody>
                  <a:tcPr marL="0" marR="0" marT="0" marB="0" anchor="ctr" anchorCtr="0">
                    <a:lnL>
                      <a:noFill/>
                    </a:lnL>
                    <a:lnR>
                      <a:noFill/>
                    </a:lnR>
                    <a:lnT>
                      <a:noFill/>
                    </a:lnT>
                    <a:lnB>
                      <a:noFill/>
                    </a:lnB>
                    <a:noFill/>
                  </a:tcPr>
                </a:tc>
              </a:tr>
              <a:tr h="695325">
                <a:tc>
                  <a:txBody>
                    <a:bodyPr/>
                    <a:p>
                      <a:r>
                        <a:rPr lang="en-US" altLang="zh-CN" sz="800" b="1"/>
                        <a:t>5. Great Coach </a:t>
                      </a:r>
                      <a:r>
                        <a:rPr lang="zh-CN" altLang="en-US" sz="800" b="1"/>
                        <a:t>效应</a:t>
                      </a:r>
                      <a:endParaRPr lang="zh-CN" altLang="en-US" sz="800" b="1"/>
                    </a:p>
                  </a:txBody>
                  <a:tcPr marL="0" marR="0" marT="0" marB="0" anchor="ctr" anchorCtr="0">
                    <a:lnL>
                      <a:noFill/>
                    </a:lnL>
                    <a:lnR>
                      <a:noFill/>
                    </a:lnR>
                    <a:lnT>
                      <a:noFill/>
                    </a:lnT>
                    <a:lnB>
                      <a:noFill/>
                    </a:lnB>
                    <a:noFill/>
                  </a:tcPr>
                </a:tc>
                <a:tc>
                  <a:txBody>
                    <a:bodyPr/>
                    <a:p>
                      <a:r>
                        <a:rPr lang="zh-CN" altLang="en-US" sz="800" b="1"/>
                        <a:t>简单前后对比（某教练在位期间奖牌增量）</a:t>
                      </a:r>
                      <a:endParaRPr lang="zh-CN" altLang="en-US" sz="800" b="1"/>
                    </a:p>
                  </a:txBody>
                  <a:tcPr marL="0" marR="0" marT="0" marB="0" anchor="ctr" anchorCtr="0">
                    <a:lnL>
                      <a:noFill/>
                    </a:lnL>
                    <a:lnR>
                      <a:noFill/>
                    </a:lnR>
                    <a:lnT>
                      <a:noFill/>
                    </a:lnT>
                    <a:lnB>
                      <a:noFill/>
                    </a:lnB>
                    <a:noFill/>
                  </a:tcPr>
                </a:tc>
                <a:tc>
                  <a:txBody>
                    <a:bodyPr/>
                    <a:p>
                      <a:r>
                        <a:rPr lang="en-US" altLang="zh-CN" sz="800"/>
                        <a:t>1. </a:t>
                      </a:r>
                      <a:r>
                        <a:rPr lang="zh-CN" altLang="en-US" sz="800"/>
                        <a:t>差分法 </a:t>
                      </a:r>
                      <a:r>
                        <a:rPr lang="en-US" altLang="zh-CN" sz="800"/>
                        <a:t>+ </a:t>
                      </a:r>
                      <a:r>
                        <a:rPr lang="zh-CN" altLang="en-US" sz="800"/>
                        <a:t>合成控制法（</a:t>
                      </a:r>
                      <a:r>
                        <a:rPr lang="en-US" altLang="zh-CN" sz="800"/>
                        <a:t>SCM</a:t>
                      </a:r>
                      <a:r>
                        <a:rPr lang="zh-CN" altLang="en-US" sz="800"/>
                        <a:t>）做因果推断 </a:t>
                      </a:r>
                      <a:r>
                        <a:rPr lang="en-US" altLang="zh-CN" sz="800"/>
                        <a:t>2. </a:t>
                      </a:r>
                      <a:r>
                        <a:rPr lang="zh-CN" altLang="en-US" sz="800"/>
                        <a:t>教练</a:t>
                      </a:r>
                      <a:r>
                        <a:rPr lang="en-US" altLang="zh-CN" sz="800"/>
                        <a:t>-</a:t>
                      </a:r>
                      <a:r>
                        <a:rPr lang="zh-CN" altLang="en-US" sz="800"/>
                        <a:t>国家</a:t>
                      </a:r>
                      <a:r>
                        <a:rPr lang="en-US" altLang="zh-CN" sz="800"/>
                        <a:t>-</a:t>
                      </a:r>
                      <a:r>
                        <a:rPr lang="zh-CN" altLang="en-US" sz="800"/>
                        <a:t>时间三维张量分解 </a:t>
                      </a:r>
                      <a:r>
                        <a:rPr lang="en-US" altLang="zh-CN" sz="800"/>
                        <a:t>3. </a:t>
                      </a:r>
                      <a:r>
                        <a:rPr lang="zh-CN" altLang="en-US" sz="800"/>
                        <a:t>从运动员数据中构建教练网络（同一教练带过的运动员） </a:t>
                      </a:r>
                      <a:r>
                        <a:rPr lang="en-US" altLang="zh-CN" sz="800"/>
                        <a:t>4. </a:t>
                      </a:r>
                      <a:r>
                        <a:rPr lang="zh-CN" altLang="en-US" sz="800"/>
                        <a:t>量化“教练红利半衰期”</a:t>
                      </a:r>
                      <a:endParaRPr lang="zh-CN" altLang="en-US" sz="800"/>
                    </a:p>
                  </a:txBody>
                  <a:tcPr marL="0" marR="0" marT="0" marB="0" anchor="ctr" anchorCtr="0">
                    <a:lnL>
                      <a:noFill/>
                    </a:lnL>
                    <a:lnR>
                      <a:noFill/>
                    </a:lnR>
                    <a:lnT>
                      <a:noFill/>
                    </a:lnT>
                    <a:lnB>
                      <a:noFill/>
                    </a:lnB>
                    <a:noFill/>
                  </a:tcPr>
                </a:tc>
                <a:tc>
                  <a:txBody>
                    <a:bodyPr/>
                    <a:p>
                      <a:r>
                        <a:rPr lang="zh-CN" altLang="en-US" sz="800"/>
                        <a:t>只举</a:t>
                      </a:r>
                      <a:r>
                        <a:rPr lang="en-US" altLang="zh-CN" sz="800"/>
                        <a:t>Lang Ping / Karolyi</a:t>
                      </a:r>
                      <a:r>
                        <a:rPr lang="zh-CN" altLang="en-US" sz="800"/>
                        <a:t>两个例子</a:t>
                      </a:r>
                      <a:endParaRPr lang="zh-CN" altLang="en-US" sz="800"/>
                    </a:p>
                  </a:txBody>
                  <a:tcPr marL="0" marR="0" marT="0" marB="0" anchor="ctr" anchorCtr="0">
                    <a:lnL>
                      <a:noFill/>
                    </a:lnL>
                    <a:lnR>
                      <a:noFill/>
                    </a:lnR>
                    <a:lnT>
                      <a:noFill/>
                    </a:lnT>
                    <a:lnB>
                      <a:noFill/>
                    </a:lnB>
                    <a:noFill/>
                  </a:tcPr>
                </a:tc>
                <a:tc>
                  <a:txBody>
                    <a:bodyPr/>
                    <a:p>
                      <a:r>
                        <a:rPr lang="en-US" altLang="zh-CN" sz="800"/>
                        <a:t>1. </a:t>
                      </a:r>
                      <a:r>
                        <a:rPr lang="zh-CN" altLang="en-US" sz="800"/>
                        <a:t>找到更多未被提及的案例（数据驱动发现） </a:t>
                      </a:r>
                      <a:r>
                        <a:rPr lang="en-US" altLang="zh-CN" sz="800"/>
                        <a:t>2. </a:t>
                      </a:r>
                      <a:r>
                        <a:rPr lang="zh-CN" altLang="en-US" sz="800"/>
                        <a:t>给出增牌数量级（</a:t>
                      </a:r>
                      <a:r>
                        <a:rPr lang="en-US" altLang="zh-CN" sz="800"/>
                        <a:t>e.g. +3~8</a:t>
                      </a:r>
                      <a:r>
                        <a:rPr lang="zh-CN" altLang="en-US" sz="800"/>
                        <a:t>金的置信区间） </a:t>
                      </a:r>
                      <a:r>
                        <a:rPr lang="en-US" altLang="zh-CN" sz="800"/>
                        <a:t>3. </a:t>
                      </a:r>
                      <a:r>
                        <a:rPr lang="zh-CN" altLang="en-US" sz="800"/>
                        <a:t>提出投资回报模拟（雇佣成本 </a:t>
                      </a:r>
                      <a:r>
                        <a:rPr lang="en-US" altLang="zh-CN" sz="800"/>
                        <a:t>vs </a:t>
                      </a:r>
                      <a:r>
                        <a:rPr lang="zh-CN" altLang="en-US" sz="800"/>
                        <a:t>预期增益）</a:t>
                      </a:r>
                      <a:endParaRPr lang="zh-CN" altLang="en-US" sz="800"/>
                    </a:p>
                  </a:txBody>
                  <a:tcPr marL="0" marR="0" marT="0" marB="0" anchor="ctr" anchorCtr="0">
                    <a:lnL>
                      <a:noFill/>
                    </a:lnL>
                    <a:lnR>
                      <a:noFill/>
                    </a:lnR>
                    <a:lnT>
                      <a:noFill/>
                    </a:lnT>
                    <a:lnB>
                      <a:noFill/>
                    </a:lnB>
                    <a:noFill/>
                  </a:tcPr>
                </a:tc>
              </a:tr>
              <a:tr h="975995">
                <a:tc>
                  <a:txBody>
                    <a:bodyPr/>
                    <a:p>
                      <a:r>
                        <a:rPr lang="en-US" altLang="zh-CN" sz="800" b="1"/>
                        <a:t>6. </a:t>
                      </a:r>
                      <a:r>
                        <a:rPr lang="zh-CN" altLang="en-US" sz="800" b="1"/>
                        <a:t>原创洞见</a:t>
                      </a:r>
                      <a:endParaRPr lang="zh-CN" altLang="en-US" sz="800" b="1"/>
                    </a:p>
                  </a:txBody>
                  <a:tcPr marL="0" marR="0" marT="0" marB="0" anchor="ctr" anchorCtr="0">
                    <a:lnL>
                      <a:noFill/>
                    </a:lnL>
                    <a:lnR>
                      <a:noFill/>
                    </a:lnR>
                    <a:lnT>
                      <a:noFill/>
                    </a:lnT>
                    <a:lnB>
                      <a:noFill/>
                    </a:lnB>
                    <a:noFill/>
                  </a:tcPr>
                </a:tc>
                <a:tc>
                  <a:txBody>
                    <a:bodyPr/>
                    <a:p>
                      <a:r>
                        <a:rPr lang="zh-CN" altLang="en-US" sz="800"/>
                        <a:t>“人口多</a:t>
                      </a:r>
                      <a:r>
                        <a:rPr lang="en-US" altLang="zh-CN" sz="800"/>
                        <a:t>/GDP</a:t>
                      </a:r>
                      <a:r>
                        <a:rPr lang="zh-CN" altLang="en-US" sz="800"/>
                        <a:t>高 </a:t>
                      </a:r>
                      <a:r>
                        <a:rPr lang="en-US" altLang="zh-CN" sz="800"/>
                        <a:t>→ </a:t>
                      </a:r>
                      <a:r>
                        <a:rPr lang="zh-CN" altLang="en-US" sz="800"/>
                        <a:t>奖牌多” “</a:t>
                      </a:r>
                      <a:r>
                        <a:rPr lang="zh-CN" altLang="en-US" sz="800" b="1"/>
                        <a:t>东道主优势明显</a:t>
                      </a:r>
                      <a:r>
                        <a:rPr lang="zh-CN" altLang="en-US" sz="800"/>
                        <a:t>”</a:t>
                      </a:r>
                      <a:endParaRPr lang="zh-CN" altLang="en-US" sz="800"/>
                    </a:p>
                  </a:txBody>
                  <a:tcPr marL="0" marR="0" marT="0" marB="0" anchor="ctr" anchorCtr="0">
                    <a:lnL>
                      <a:noFill/>
                    </a:lnL>
                    <a:lnR>
                      <a:noFill/>
                    </a:lnR>
                    <a:lnT>
                      <a:noFill/>
                    </a:lnT>
                    <a:lnB>
                      <a:noFill/>
                    </a:lnB>
                    <a:noFill/>
                  </a:tcPr>
                </a:tc>
                <a:tc>
                  <a:txBody>
                    <a:bodyPr/>
                    <a:p>
                      <a:r>
                        <a:rPr lang="en-US" altLang="zh-CN" sz="800"/>
                        <a:t>1. </a:t>
                      </a:r>
                      <a:r>
                        <a:rPr lang="zh-CN" altLang="en-US" sz="800"/>
                        <a:t>发现某些运动的全球奖牌集中度在下降</a:t>
                      </a:r>
                      <a:r>
                        <a:rPr lang="en-US" altLang="zh-CN" sz="800"/>
                        <a:t>/</a:t>
                      </a:r>
                      <a:r>
                        <a:rPr lang="zh-CN" altLang="en-US" sz="800"/>
                        <a:t>上升 </a:t>
                      </a:r>
                      <a:r>
                        <a:rPr lang="en-US" altLang="zh-CN" sz="800"/>
                        <a:t>2. </a:t>
                      </a:r>
                      <a:r>
                        <a:rPr lang="zh-CN" altLang="en-US" sz="800"/>
                        <a:t>小国首次得牌的触发条件组合（经济</a:t>
                      </a:r>
                      <a:r>
                        <a:rPr lang="en-US" altLang="zh-CN" sz="800"/>
                        <a:t>+</a:t>
                      </a:r>
                      <a:r>
                        <a:rPr lang="zh-CN" altLang="en-US" sz="800"/>
                        <a:t>项目</a:t>
                      </a:r>
                      <a:r>
                        <a:rPr lang="en-US" altLang="zh-CN" sz="800"/>
                        <a:t>+</a:t>
                      </a:r>
                      <a:r>
                        <a:rPr lang="zh-CN" altLang="en-US" sz="800"/>
                        <a:t>教练） </a:t>
                      </a:r>
                      <a:r>
                        <a:rPr lang="en-US" altLang="zh-CN" sz="800"/>
                        <a:t>3. </a:t>
                      </a:r>
                      <a:r>
                        <a:rPr lang="zh-CN" altLang="en-US" sz="800"/>
                        <a:t>性别平等政策与女子项目奖牌增量的长期关系 </a:t>
                      </a:r>
                      <a:r>
                        <a:rPr lang="en-US" altLang="zh-CN" sz="800"/>
                        <a:t>4. “</a:t>
                      </a:r>
                      <a:r>
                        <a:rPr lang="zh-CN" altLang="en-US" sz="800"/>
                        <a:t>教练红利”与“举国体制”之间的替代</a:t>
                      </a:r>
                      <a:r>
                        <a:rPr lang="en-US" altLang="zh-CN" sz="800"/>
                        <a:t>/</a:t>
                      </a:r>
                      <a:r>
                        <a:rPr lang="zh-CN" altLang="en-US" sz="800"/>
                        <a:t>互补关系</a:t>
                      </a:r>
                      <a:endParaRPr lang="zh-CN" altLang="en-US" sz="800"/>
                    </a:p>
                  </a:txBody>
                  <a:tcPr marL="0" marR="0" marT="0" marB="0" anchor="ctr" anchorCtr="0">
                    <a:lnL>
                      <a:noFill/>
                    </a:lnL>
                    <a:lnR>
                      <a:noFill/>
                    </a:lnR>
                    <a:lnT>
                      <a:noFill/>
                    </a:lnT>
                    <a:lnB>
                      <a:noFill/>
                    </a:lnB>
                    <a:noFill/>
                  </a:tcPr>
                </a:tc>
                <a:tc>
                  <a:txBody>
                    <a:bodyPr/>
                    <a:p>
                      <a:r>
                        <a:rPr lang="zh-CN" altLang="en-US" sz="800"/>
                        <a:t>泛泛而谈的经济</a:t>
                      </a:r>
                      <a:r>
                        <a:rPr lang="en-US" altLang="zh-CN" sz="800"/>
                        <a:t>/</a:t>
                      </a:r>
                      <a:r>
                        <a:rPr lang="zh-CN" altLang="en-US" sz="800"/>
                        <a:t>人口相关性</a:t>
                      </a:r>
                      <a:endParaRPr lang="zh-CN" altLang="en-US" sz="800"/>
                    </a:p>
                  </a:txBody>
                  <a:tcPr marL="0" marR="0" marT="0" marB="0" anchor="ctr" anchorCtr="0">
                    <a:lnL>
                      <a:noFill/>
                    </a:lnL>
                    <a:lnR>
                      <a:noFill/>
                    </a:lnR>
                    <a:lnT>
                      <a:noFill/>
                    </a:lnT>
                    <a:lnB>
                      <a:noFill/>
                    </a:lnB>
                    <a:noFill/>
                  </a:tcPr>
                </a:tc>
                <a:tc>
                  <a:txBody>
                    <a:bodyPr/>
                    <a:p>
                      <a:r>
                        <a:rPr lang="zh-CN" altLang="en-US" sz="800"/>
                        <a:t>可直接转化为国家战略建议的量化结论（</a:t>
                      </a:r>
                      <a:r>
                        <a:rPr lang="en-US" altLang="zh-CN" sz="800"/>
                        <a:t>e.g. </a:t>
                      </a:r>
                      <a:r>
                        <a:rPr lang="zh-CN" altLang="en-US" sz="800"/>
                        <a:t>投资某项目比整体投入性价比高</a:t>
                      </a:r>
                      <a:r>
                        <a:rPr lang="en-US" altLang="zh-CN" sz="800"/>
                        <a:t>X</a:t>
                      </a:r>
                      <a:r>
                        <a:rPr lang="zh-CN" altLang="en-US" sz="800"/>
                        <a:t>倍）</a:t>
                      </a:r>
                      <a:endParaRPr lang="zh-CN" altLang="en-US" sz="800"/>
                    </a:p>
                  </a:txBody>
                  <a:tcPr marL="0" marR="0" marT="0" marB="0" anchor="ctr" anchorCtr="0">
                    <a:lnL>
                      <a:noFill/>
                    </a:lnL>
                    <a:lnR>
                      <a:noFill/>
                    </a:lnR>
                    <a:lnT>
                      <a:noFill/>
                    </a:lnT>
                    <a:lnB>
                      <a:noFill/>
                    </a:lnB>
                    <a:noFill/>
                  </a:tcPr>
                </a:tc>
              </a:tr>
            </a:tbl>
          </a:graphicData>
        </a:graphic>
      </p:graphicFrame>
    </p:spTree>
    <p:custDataLst>
      <p:tags r:id="rId3"/>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normAutofit fontScale="90000"/>
          </a:bodyPr>
          <a:p>
            <a:r>
              <a:rPr lang="zh-CN" altLang="en-US" sz="3110"/>
              <a:t>三、评委视角：最容易同质化</a:t>
            </a:r>
            <a:r>
              <a:rPr lang="en-US" altLang="zh-CN" sz="3110"/>
              <a:t> &amp; </a:t>
            </a:r>
            <a:r>
              <a:rPr lang="zh-CN" altLang="en-US" sz="3110"/>
              <a:t>最容易拉开差距的点（排序）</a:t>
            </a:r>
            <a:endParaRPr lang="zh-CN" altLang="en-US" sz="3110"/>
          </a:p>
        </p:txBody>
      </p:sp>
      <p:sp>
        <p:nvSpPr>
          <p:cNvPr id="3" name="内容占位符 2"/>
          <p:cNvSpPr>
            <a:spLocks noGrp="1"/>
          </p:cNvSpPr>
          <p:nvPr>
            <p:ph idx="1"/>
            <p:custDataLst>
              <p:tags r:id="rId2"/>
            </p:custDataLst>
          </p:nvPr>
        </p:nvSpPr>
        <p:spPr/>
        <p:txBody>
          <a:bodyPr>
            <a:noAutofit/>
          </a:bodyPr>
          <a:p>
            <a:pPr marL="0" indent="0">
              <a:buNone/>
            </a:pPr>
            <a:r>
              <a:rPr lang="zh-CN" altLang="en-US" sz="1300" b="1"/>
              <a:t>最容易高度同质化的</a:t>
            </a:r>
            <a:r>
              <a:rPr lang="en-US" altLang="zh-CN" sz="1300" b="1"/>
              <a:t>5</a:t>
            </a:r>
            <a:r>
              <a:rPr lang="zh-CN" altLang="en-US" sz="1300" b="1"/>
              <a:t>个雷区（几乎所有</a:t>
            </a:r>
            <a:r>
              <a:rPr lang="en-US" altLang="zh-CN" sz="1300" b="1"/>
              <a:t>M</a:t>
            </a:r>
            <a:r>
              <a:rPr lang="zh-CN" altLang="en-US" sz="1300" b="1"/>
              <a:t>奖及以下论文都会做）</a:t>
            </a:r>
            <a:endParaRPr lang="en-US" altLang="zh-CN" sz="1300" b="1"/>
          </a:p>
          <a:p>
            <a:pPr marL="0" indent="0">
              <a:buNone/>
            </a:pPr>
            <a:r>
              <a:rPr lang="zh-CN" altLang="en-US" sz="1300"/>
              <a:t>直接拿</a:t>
            </a:r>
            <a:r>
              <a:rPr lang="en-US" altLang="zh-CN" sz="1300"/>
              <a:t>GDP+</a:t>
            </a:r>
            <a:r>
              <a:rPr lang="zh-CN" altLang="en-US" sz="1300"/>
              <a:t>人口</a:t>
            </a:r>
            <a:r>
              <a:rPr lang="en-US" altLang="zh-CN" sz="1300"/>
              <a:t>+</a:t>
            </a:r>
            <a:r>
              <a:rPr lang="zh-CN" altLang="en-US" sz="1300"/>
              <a:t>上一届成绩做</a:t>
            </a:r>
            <a:r>
              <a:rPr lang="en-US" altLang="zh-CN" sz="1300"/>
              <a:t>Poisson</a:t>
            </a:r>
            <a:r>
              <a:rPr lang="zh-CN" altLang="en-US" sz="1300"/>
              <a:t>回归</a:t>
            </a:r>
            <a:endParaRPr lang="zh-CN" altLang="en-US" sz="1300"/>
          </a:p>
          <a:p>
            <a:pPr marL="0" indent="0">
              <a:buNone/>
            </a:pPr>
            <a:r>
              <a:rPr lang="zh-CN" altLang="en-US" sz="1300" b="1"/>
              <a:t>东道主只加一个</a:t>
            </a:r>
            <a:r>
              <a:rPr lang="en-US" altLang="zh-CN" sz="1300" b="1"/>
              <a:t>0/1</a:t>
            </a:r>
            <a:r>
              <a:rPr lang="zh-CN" altLang="en-US" sz="1300" b="1"/>
              <a:t>哑变量</a:t>
            </a:r>
            <a:endParaRPr lang="zh-CN" altLang="en-US" sz="1300" b="1"/>
          </a:p>
          <a:p>
            <a:pPr marL="0" indent="0">
              <a:buNone/>
            </a:pPr>
            <a:r>
              <a:rPr lang="en-US" altLang="zh-CN" sz="1300" b="1"/>
              <a:t>Great coach</a:t>
            </a:r>
            <a:r>
              <a:rPr lang="zh-CN" altLang="en-US" sz="1300" b="1"/>
              <a:t>只提</a:t>
            </a:r>
            <a:r>
              <a:rPr lang="en-US" altLang="zh-CN" sz="1300" b="1"/>
              <a:t>Lang Ping</a:t>
            </a:r>
            <a:r>
              <a:rPr lang="zh-CN" altLang="en-US" sz="1300" b="1"/>
              <a:t>和</a:t>
            </a:r>
            <a:r>
              <a:rPr lang="en-US" altLang="zh-CN" sz="1300" b="1"/>
              <a:t>Karolyi</a:t>
            </a:r>
            <a:r>
              <a:rPr lang="zh-CN" altLang="en-US" sz="1300" b="1"/>
              <a:t>两个例子，主观打分</a:t>
            </a:r>
            <a:endParaRPr lang="zh-CN" altLang="en-US" sz="1300" b="1"/>
          </a:p>
          <a:p>
            <a:pPr marL="0" indent="0">
              <a:buNone/>
            </a:pPr>
            <a:r>
              <a:rPr lang="zh-CN" altLang="en-US" sz="1300" b="1"/>
              <a:t>首次得牌国家只说</a:t>
            </a:r>
            <a:r>
              <a:rPr lang="en-US" altLang="zh-CN" sz="1300" b="1"/>
              <a:t>“</a:t>
            </a:r>
            <a:r>
              <a:rPr lang="zh-CN" altLang="en-US" sz="1300" b="1"/>
              <a:t>大概</a:t>
            </a:r>
            <a:r>
              <a:rPr lang="en-US" altLang="zh-CN" sz="1300" b="1"/>
              <a:t>5–10</a:t>
            </a:r>
            <a:r>
              <a:rPr lang="zh-CN" altLang="en-US" sz="1300" b="1"/>
              <a:t>个</a:t>
            </a:r>
            <a:r>
              <a:rPr lang="en-US" altLang="zh-CN" sz="1300" b="1"/>
              <a:t>”</a:t>
            </a:r>
            <a:r>
              <a:rPr lang="zh-CN" altLang="en-US" sz="1300" b="1"/>
              <a:t>，没有具体国家概率排序</a:t>
            </a:r>
            <a:endParaRPr lang="zh-CN" altLang="en-US" sz="1300" b="1"/>
          </a:p>
          <a:p>
            <a:pPr marL="0" indent="0">
              <a:buNone/>
            </a:pPr>
            <a:r>
              <a:rPr lang="zh-CN" altLang="en-US" sz="1300" b="1"/>
              <a:t>结论停留在</a:t>
            </a:r>
            <a:r>
              <a:rPr lang="en-US" altLang="zh-CN" sz="1300" b="1"/>
              <a:t>“</a:t>
            </a:r>
            <a:r>
              <a:rPr lang="zh-CN" altLang="en-US" sz="1300" b="1"/>
              <a:t>经济重要</a:t>
            </a:r>
            <a:r>
              <a:rPr lang="en-US" altLang="zh-CN" sz="1300" b="1"/>
              <a:t>”“</a:t>
            </a:r>
            <a:r>
              <a:rPr lang="zh-CN" altLang="en-US" sz="1300" b="1"/>
              <a:t>人口重要</a:t>
            </a:r>
            <a:r>
              <a:rPr lang="en-US" altLang="zh-CN" sz="1300" b="1"/>
              <a:t>”“</a:t>
            </a:r>
            <a:r>
              <a:rPr lang="zh-CN" altLang="en-US" sz="1300" b="1"/>
              <a:t>东道主有优势</a:t>
            </a:r>
            <a:r>
              <a:rPr lang="en-US" altLang="zh-CN" sz="1300" b="1"/>
              <a:t>”</a:t>
            </a:r>
            <a:endParaRPr lang="en-US" altLang="zh-CN" sz="1300" b="1"/>
          </a:p>
          <a:p>
            <a:pPr marL="0" indent="0">
              <a:buNone/>
            </a:pPr>
            <a:r>
              <a:rPr lang="zh-CN" altLang="en-US" sz="1300" b="1"/>
              <a:t>最容易做出差异化、冲击</a:t>
            </a:r>
            <a:r>
              <a:rPr lang="en-US" altLang="zh-CN" sz="1300" b="1"/>
              <a:t>F</a:t>
            </a:r>
            <a:r>
              <a:rPr lang="zh-CN" altLang="en-US" sz="1300" b="1"/>
              <a:t>奖的</a:t>
            </a:r>
            <a:r>
              <a:rPr lang="en-US" altLang="zh-CN" sz="1300" b="1"/>
              <a:t>7</a:t>
            </a:r>
            <a:r>
              <a:rPr lang="zh-CN" altLang="en-US" sz="1300" b="1"/>
              <a:t>个高价值方向（按可操作性排序）</a:t>
            </a:r>
            <a:endParaRPr lang="en-US" altLang="zh-CN" sz="1300" b="1"/>
          </a:p>
          <a:p>
            <a:pPr marL="0" indent="0">
              <a:buNone/>
            </a:pPr>
            <a:r>
              <a:rPr lang="zh-CN" altLang="en-US" sz="1300"/>
              <a:t>因果视角下的</a:t>
            </a:r>
            <a:r>
              <a:rPr lang="en-US" altLang="zh-CN" sz="1300"/>
              <a:t>great coach</a:t>
            </a:r>
            <a:r>
              <a:rPr lang="zh-CN" altLang="en-US" sz="1300"/>
              <a:t>效应（</a:t>
            </a:r>
            <a:r>
              <a:rPr lang="en-US" altLang="zh-CN" sz="1300"/>
              <a:t>SCM / DID / </a:t>
            </a:r>
            <a:r>
              <a:rPr lang="zh-CN" altLang="en-US" sz="1300"/>
              <a:t>匹配</a:t>
            </a:r>
            <a:r>
              <a:rPr lang="en-US" altLang="zh-CN" sz="1300"/>
              <a:t> + </a:t>
            </a:r>
            <a:r>
              <a:rPr lang="zh-CN" altLang="en-US" sz="1300"/>
              <a:t>敏感性分析）</a:t>
            </a:r>
            <a:endParaRPr lang="zh-CN" altLang="en-US" sz="1300"/>
          </a:p>
          <a:p>
            <a:pPr marL="0" indent="0">
              <a:buNone/>
            </a:pPr>
            <a:r>
              <a:rPr lang="zh-CN" altLang="en-US" sz="1300"/>
              <a:t>国家</a:t>
            </a:r>
            <a:r>
              <a:rPr lang="en-US" altLang="zh-CN" sz="1300"/>
              <a:t>-</a:t>
            </a:r>
            <a:r>
              <a:rPr lang="zh-CN" altLang="en-US" sz="1300"/>
              <a:t>项目匹配矩阵的低秩分解或双聚类</a:t>
            </a:r>
            <a:r>
              <a:rPr lang="en-US" altLang="zh-CN" sz="1300"/>
              <a:t> </a:t>
            </a:r>
            <a:r>
              <a:rPr lang="en-US" altLang="en-US" sz="1300"/>
              <a:t>→</a:t>
            </a:r>
            <a:r>
              <a:rPr lang="en-US" altLang="zh-CN" sz="1300"/>
              <a:t> </a:t>
            </a:r>
            <a:r>
              <a:rPr lang="zh-CN" altLang="en-US" sz="1300"/>
              <a:t>发现隐藏的国家专长</a:t>
            </a:r>
            <a:endParaRPr lang="zh-CN" altLang="en-US" sz="1300"/>
          </a:p>
          <a:p>
            <a:pPr marL="0" indent="0">
              <a:buNone/>
            </a:pPr>
            <a:r>
              <a:rPr lang="zh-CN" altLang="en-US" sz="1300"/>
              <a:t>首次得牌的生存分析</a:t>
            </a:r>
            <a:r>
              <a:rPr lang="en-US" altLang="zh-CN" sz="1300"/>
              <a:t> + </a:t>
            </a:r>
            <a:r>
              <a:rPr lang="zh-CN" altLang="en-US" sz="1300"/>
              <a:t>稀有事件建模</a:t>
            </a:r>
            <a:r>
              <a:rPr lang="en-US" altLang="zh-CN" sz="1300"/>
              <a:t> </a:t>
            </a:r>
            <a:r>
              <a:rPr lang="en-US" altLang="en-US" sz="1300"/>
              <a:t>→</a:t>
            </a:r>
            <a:r>
              <a:rPr lang="en-US" altLang="zh-CN" sz="1300"/>
              <a:t> </a:t>
            </a:r>
            <a:r>
              <a:rPr lang="zh-CN" altLang="en-US" sz="1300"/>
              <a:t>给出前</a:t>
            </a:r>
            <a:r>
              <a:rPr lang="en-US" altLang="zh-CN" sz="1300"/>
              <a:t>15</a:t>
            </a:r>
            <a:r>
              <a:rPr lang="zh-CN" altLang="en-US" sz="1300"/>
              <a:t>国家名单及概率</a:t>
            </a:r>
            <a:endParaRPr lang="zh-CN" altLang="en-US" sz="1300"/>
          </a:p>
          <a:p>
            <a:pPr marL="0" indent="0">
              <a:buNone/>
            </a:pPr>
            <a:r>
              <a:rPr lang="zh-CN" altLang="en-US" sz="1300"/>
              <a:t>后验排名概率云图或排名跃迁概率矩阵（谁最可能进前</a:t>
            </a:r>
            <a:r>
              <a:rPr lang="en-US" altLang="zh-CN" sz="1300"/>
              <a:t>5/</a:t>
            </a:r>
            <a:r>
              <a:rPr lang="zh-CN" altLang="en-US" sz="1300"/>
              <a:t>掉出前</a:t>
            </a:r>
            <a:r>
              <a:rPr lang="en-US" altLang="zh-CN" sz="1300"/>
              <a:t>10</a:t>
            </a:r>
            <a:r>
              <a:rPr lang="zh-CN" altLang="en-US" sz="1300"/>
              <a:t>）</a:t>
            </a:r>
            <a:endParaRPr lang="zh-CN" altLang="en-US" sz="1300"/>
          </a:p>
          <a:p>
            <a:pPr marL="0" indent="0">
              <a:buNone/>
            </a:pPr>
            <a:r>
              <a:rPr lang="zh-CN" altLang="en-US" sz="1300"/>
              <a:t>东道主新增项目选择偏好的统计证据（历史新增项目与东道主得牌率的相关性）</a:t>
            </a:r>
            <a:endParaRPr lang="zh-CN" altLang="en-US" sz="1300"/>
          </a:p>
          <a:p>
            <a:pPr marL="0" indent="0">
              <a:buNone/>
            </a:pPr>
            <a:r>
              <a:rPr lang="zh-CN" altLang="en-US" sz="1300"/>
              <a:t>教练流动网络的构建与中心性分析（谁是超级节点教练）</a:t>
            </a:r>
            <a:endParaRPr lang="zh-CN" altLang="en-US" sz="1300"/>
          </a:p>
          <a:p>
            <a:pPr marL="0" indent="0">
              <a:buNone/>
            </a:pPr>
            <a:r>
              <a:rPr lang="zh-CN" altLang="en-US" sz="1300"/>
              <a:t>投资回报模拟（针对具体国家</a:t>
            </a:r>
            <a:r>
              <a:rPr lang="en-US" altLang="zh-CN" sz="1300"/>
              <a:t>+</a:t>
            </a:r>
            <a:r>
              <a:rPr lang="zh-CN" altLang="en-US" sz="1300"/>
              <a:t>具体项目</a:t>
            </a:r>
            <a:r>
              <a:rPr lang="en-US" altLang="zh-CN" sz="1300"/>
              <a:t>+</a:t>
            </a:r>
            <a:r>
              <a:rPr lang="zh-CN" altLang="en-US" sz="1300"/>
              <a:t>雇佣</a:t>
            </a:r>
            <a:r>
              <a:rPr lang="en-US" altLang="zh-CN" sz="1300"/>
              <a:t>great coach</a:t>
            </a:r>
            <a:r>
              <a:rPr lang="zh-CN" altLang="en-US" sz="1300"/>
              <a:t>的预期增益）</a:t>
            </a:r>
            <a:endParaRPr lang="zh-CN" altLang="en-US" sz="1300"/>
          </a:p>
        </p:txBody>
      </p:sp>
    </p:spTree>
    <p:custDataLst>
      <p:tags r:id="rId3"/>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custDataLst>
              <p:tags r:id="rId1"/>
            </p:custDataLst>
          </p:nvPr>
        </p:nvSpPr>
        <p:spPr/>
        <p:txBody>
          <a:bodyPr/>
          <a:p>
            <a:pPr marL="0" indent="0">
              <a:buNone/>
            </a:pPr>
            <a:r>
              <a:rPr lang="zh-CN" altLang="en-US" sz="3200" b="1"/>
              <a:t>如果你的论文里没有因果推断语言、没有给出具体国家名单的首次得牌概率排序、没有对</a:t>
            </a:r>
            <a:r>
              <a:rPr lang="en-US" altLang="zh-CN" sz="3200" b="1"/>
              <a:t>great coach</a:t>
            </a:r>
            <a:r>
              <a:rPr lang="zh-CN" altLang="en-US" sz="3200" b="1"/>
              <a:t>做超过前后对比的分析，就很难冲击</a:t>
            </a:r>
            <a:r>
              <a:rPr lang="en-US" altLang="zh-CN" sz="3200" b="1"/>
              <a:t>F</a:t>
            </a:r>
            <a:r>
              <a:rPr lang="zh-CN" altLang="en-US" sz="3200" b="1"/>
              <a:t>奖；</a:t>
            </a:r>
            <a:endParaRPr lang="zh-CN" altLang="en-US" sz="3200" b="1"/>
          </a:p>
          <a:p>
            <a:pPr marL="0" indent="0">
              <a:buNone/>
            </a:pPr>
            <a:r>
              <a:rPr lang="zh-CN" altLang="en-US" sz="3200" b="1"/>
              <a:t>如果你能同时做出项目</a:t>
            </a:r>
            <a:r>
              <a:rPr lang="en-US" altLang="zh-CN" sz="3200" b="1"/>
              <a:t>-</a:t>
            </a:r>
            <a:r>
              <a:rPr lang="zh-CN" altLang="en-US" sz="3200" b="1"/>
              <a:t>国家匹配可视化</a:t>
            </a:r>
            <a:r>
              <a:rPr lang="en-US" altLang="zh-CN" sz="3200" b="1"/>
              <a:t> + </a:t>
            </a:r>
            <a:r>
              <a:rPr lang="zh-CN" altLang="en-US" sz="3200" b="1"/>
              <a:t>教练网络图</a:t>
            </a:r>
            <a:r>
              <a:rPr lang="en-US" altLang="zh-CN" sz="3200" b="1"/>
              <a:t> + 2028</a:t>
            </a:r>
            <a:r>
              <a:rPr lang="zh-CN" altLang="en-US" sz="3200" b="1"/>
              <a:t>排名概率云，并且结论有明确的战略建议，则有很强的</a:t>
            </a:r>
            <a:r>
              <a:rPr lang="en-US" altLang="zh-CN" sz="3200" b="1"/>
              <a:t>F</a:t>
            </a:r>
            <a:r>
              <a:rPr lang="zh-CN" altLang="en-US" sz="3200" b="1"/>
              <a:t>奖甚至</a:t>
            </a:r>
            <a:r>
              <a:rPr lang="en-US" altLang="zh-CN" sz="3200" b="1"/>
              <a:t>Outstanding</a:t>
            </a:r>
            <a:r>
              <a:rPr lang="zh-CN" altLang="en-US" sz="3200" b="1"/>
              <a:t>竞争力。</a:t>
            </a:r>
            <a:endParaRPr lang="zh-CN" altLang="en-US" sz="3200" b="1"/>
          </a:p>
        </p:txBody>
      </p:sp>
    </p:spTree>
    <p:custDataLst>
      <p:tags r:id="rId2"/>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a:xfrm>
            <a:off x="608330" y="608330"/>
            <a:ext cx="11348085" cy="705485"/>
          </a:xfrm>
        </p:spPr>
        <p:txBody>
          <a:bodyPr>
            <a:normAutofit fontScale="90000"/>
          </a:bodyPr>
          <a:p>
            <a:r>
              <a:rPr lang="en-US" altLang="zh-CN"/>
              <a:t>2.</a:t>
            </a:r>
            <a:r>
              <a:rPr lang="zh-CN" altLang="en-US"/>
              <a:t>将问题转为</a:t>
            </a:r>
            <a:r>
              <a:rPr lang="en-US" altLang="zh-CN"/>
              <a:t>“</a:t>
            </a:r>
            <a:r>
              <a:rPr lang="zh-CN" altLang="en-US"/>
              <a:t>论文检索语言</a:t>
            </a:r>
            <a:r>
              <a:rPr lang="en-US" altLang="zh-CN"/>
              <a:t>”</a:t>
            </a:r>
            <a:r>
              <a:rPr lang="zh-CN" altLang="en-US"/>
              <a:t>，并初步帮你们想文献方向</a:t>
            </a:r>
            <a:endParaRPr lang="zh-CN" altLang="en-US"/>
          </a:p>
        </p:txBody>
      </p:sp>
      <p:sp>
        <p:nvSpPr>
          <p:cNvPr id="3" name="内容占位符 2"/>
          <p:cNvSpPr>
            <a:spLocks noGrp="1"/>
          </p:cNvSpPr>
          <p:nvPr>
            <p:ph idx="1"/>
            <p:custDataLst>
              <p:tags r:id="rId2"/>
            </p:custDataLst>
          </p:nvPr>
        </p:nvSpPr>
        <p:spPr>
          <a:xfrm>
            <a:off x="608330" y="1307465"/>
            <a:ext cx="10968990" cy="5502910"/>
          </a:xfrm>
        </p:spPr>
        <p:txBody>
          <a:bodyPr>
            <a:normAutofit fontScale="25000"/>
          </a:bodyPr>
          <a:p>
            <a:pPr marL="0" indent="0">
              <a:buNone/>
            </a:pPr>
            <a:r>
              <a:rPr lang="zh-CN" altLang="en-US" sz="4800" b="1">
                <a:latin typeface="宋体" panose="02010600030101010101" pitchFamily="2" charset="-122"/>
                <a:ea typeface="宋体" panose="02010600030101010101" pitchFamily="2" charset="-122"/>
                <a:cs typeface="宋体" panose="02010600030101010101" pitchFamily="2" charset="-122"/>
              </a:rPr>
              <a:t>你是一名熟悉</a:t>
            </a:r>
            <a:r>
              <a:rPr lang="en-US" altLang="zh-CN" sz="4800" b="1">
                <a:latin typeface="宋体" panose="02010600030101010101" pitchFamily="2" charset="-122"/>
                <a:ea typeface="宋体" panose="02010600030101010101" pitchFamily="2" charset="-122"/>
                <a:cs typeface="宋体" panose="02010600030101010101" pitchFamily="2" charset="-122"/>
              </a:rPr>
              <a:t> Web of Science</a:t>
            </a:r>
            <a:r>
              <a:rPr lang="zh-CN" altLang="en-US" sz="4800" b="1">
                <a:latin typeface="宋体" panose="02010600030101010101" pitchFamily="2" charset="-122"/>
                <a:ea typeface="宋体" panose="02010600030101010101" pitchFamily="2" charset="-122"/>
                <a:cs typeface="宋体" panose="02010600030101010101" pitchFamily="2" charset="-122"/>
              </a:rPr>
              <a:t>、</a:t>
            </a:r>
            <a:r>
              <a:rPr lang="en-US" altLang="zh-CN" sz="4800" b="1">
                <a:latin typeface="宋体" panose="02010600030101010101" pitchFamily="2" charset="-122"/>
                <a:ea typeface="宋体" panose="02010600030101010101" pitchFamily="2" charset="-122"/>
                <a:cs typeface="宋体" panose="02010600030101010101" pitchFamily="2" charset="-122"/>
              </a:rPr>
              <a:t>Scopus</a:t>
            </a:r>
            <a:r>
              <a:rPr lang="zh-CN" altLang="en-US" sz="4800" b="1">
                <a:latin typeface="宋体" panose="02010600030101010101" pitchFamily="2" charset="-122"/>
                <a:ea typeface="宋体" panose="02010600030101010101" pitchFamily="2" charset="-122"/>
                <a:cs typeface="宋体" panose="02010600030101010101" pitchFamily="2" charset="-122"/>
              </a:rPr>
              <a:t>、</a:t>
            </a:r>
            <a:r>
              <a:rPr lang="en-US" altLang="zh-CN" sz="4800" b="1">
                <a:latin typeface="宋体" panose="02010600030101010101" pitchFamily="2" charset="-122"/>
                <a:ea typeface="宋体" panose="02010600030101010101" pitchFamily="2" charset="-122"/>
                <a:cs typeface="宋体" panose="02010600030101010101" pitchFamily="2" charset="-122"/>
              </a:rPr>
              <a:t>IEEE Xplore</a:t>
            </a:r>
            <a:r>
              <a:rPr lang="zh-CN" altLang="en-US" sz="4800" b="1">
                <a:latin typeface="宋体" panose="02010600030101010101" pitchFamily="2" charset="-122"/>
                <a:ea typeface="宋体" panose="02010600030101010101" pitchFamily="2" charset="-122"/>
                <a:cs typeface="宋体" panose="02010600030101010101" pitchFamily="2" charset="-122"/>
              </a:rPr>
              <a:t>、</a:t>
            </a:r>
            <a:r>
              <a:rPr lang="en-US" altLang="zh-CN" sz="4800" b="1">
                <a:latin typeface="宋体" panose="02010600030101010101" pitchFamily="2" charset="-122"/>
                <a:ea typeface="宋体" panose="02010600030101010101" pitchFamily="2" charset="-122"/>
                <a:cs typeface="宋体" panose="02010600030101010101" pitchFamily="2" charset="-122"/>
              </a:rPr>
              <a:t>ScienceDirect </a:t>
            </a:r>
            <a:r>
              <a:rPr lang="zh-CN" altLang="en-US" sz="4800" b="1">
                <a:latin typeface="宋体" panose="02010600030101010101" pitchFamily="2" charset="-122"/>
                <a:ea typeface="宋体" panose="02010600030101010101" pitchFamily="2" charset="-122"/>
                <a:cs typeface="宋体" panose="02010600030101010101" pitchFamily="2" charset="-122"/>
              </a:rPr>
              <a:t>的应用数学研究员。基于以上的建模问题与背景：</a:t>
            </a:r>
            <a:endParaRPr lang="en-US" altLang="zh-CN" sz="4800" b="1">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zh-CN" sz="4800" b="1">
                <a:latin typeface="宋体" panose="02010600030101010101" pitchFamily="2" charset="-122"/>
                <a:ea typeface="宋体" panose="02010600030101010101" pitchFamily="2" charset="-122"/>
                <a:cs typeface="宋体" panose="02010600030101010101" pitchFamily="2" charset="-122"/>
              </a:rPr>
              <a:t>1. </a:t>
            </a:r>
            <a:r>
              <a:rPr lang="zh-CN" altLang="en-US" sz="4800" b="1">
                <a:latin typeface="宋体" panose="02010600030101010101" pitchFamily="2" charset="-122"/>
                <a:ea typeface="宋体" panose="02010600030101010101" pitchFamily="2" charset="-122"/>
                <a:cs typeface="宋体" panose="02010600030101010101" pitchFamily="2" charset="-122"/>
              </a:rPr>
              <a:t>请将每一个子问题转化为「学术论文检索语言」，包括：</a:t>
            </a:r>
            <a:endParaRPr lang="zh-CN" altLang="en-US" sz="4800" b="1">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zh-CN" sz="4800" b="1">
                <a:latin typeface="宋体" panose="02010600030101010101" pitchFamily="2" charset="-122"/>
                <a:ea typeface="宋体" panose="02010600030101010101" pitchFamily="2" charset="-122"/>
                <a:cs typeface="宋体" panose="02010600030101010101" pitchFamily="2" charset="-122"/>
              </a:rPr>
              <a:t>   - </a:t>
            </a:r>
            <a:r>
              <a:rPr lang="zh-CN" altLang="en-US" sz="4800" b="1">
                <a:latin typeface="宋体" panose="02010600030101010101" pitchFamily="2" charset="-122"/>
                <a:ea typeface="宋体" panose="02010600030101010101" pitchFamily="2" charset="-122"/>
                <a:cs typeface="宋体" panose="02010600030101010101" pitchFamily="2" charset="-122"/>
              </a:rPr>
              <a:t>核心关键词（英文）</a:t>
            </a:r>
            <a:endParaRPr lang="zh-CN" altLang="en-US" sz="4800" b="1">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zh-CN" sz="4800" b="1">
                <a:latin typeface="宋体" panose="02010600030101010101" pitchFamily="2" charset="-122"/>
                <a:ea typeface="宋体" panose="02010600030101010101" pitchFamily="2" charset="-122"/>
                <a:cs typeface="宋体" panose="02010600030101010101" pitchFamily="2" charset="-122"/>
              </a:rPr>
              <a:t>   - </a:t>
            </a:r>
            <a:r>
              <a:rPr lang="zh-CN" altLang="en-US" sz="4800" b="1">
                <a:latin typeface="宋体" panose="02010600030101010101" pitchFamily="2" charset="-122"/>
                <a:ea typeface="宋体" panose="02010600030101010101" pitchFamily="2" charset="-122"/>
                <a:cs typeface="宋体" panose="02010600030101010101" pitchFamily="2" charset="-122"/>
              </a:rPr>
              <a:t>常见方法关键词</a:t>
            </a:r>
            <a:endParaRPr lang="zh-CN" altLang="en-US" sz="4800" b="1">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zh-CN" sz="4800" b="1">
                <a:latin typeface="宋体" panose="02010600030101010101" pitchFamily="2" charset="-122"/>
                <a:ea typeface="宋体" panose="02010600030101010101" pitchFamily="2" charset="-122"/>
                <a:cs typeface="宋体" panose="02010600030101010101" pitchFamily="2" charset="-122"/>
              </a:rPr>
              <a:t>   - </a:t>
            </a:r>
            <a:r>
              <a:rPr lang="zh-CN" altLang="en-US" sz="4800" b="1">
                <a:latin typeface="宋体" panose="02010600030101010101" pitchFamily="2" charset="-122"/>
                <a:ea typeface="宋体" panose="02010600030101010101" pitchFamily="2" charset="-122"/>
                <a:cs typeface="宋体" panose="02010600030101010101" pitchFamily="2" charset="-122"/>
              </a:rPr>
              <a:t>可替代的交叉领域关键词</a:t>
            </a:r>
            <a:endParaRPr lang="en-US" altLang="zh-CN" sz="4800" b="1">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zh-CN" sz="4800" b="1">
                <a:latin typeface="宋体" panose="02010600030101010101" pitchFamily="2" charset="-122"/>
                <a:ea typeface="宋体" panose="02010600030101010101" pitchFamily="2" charset="-122"/>
                <a:cs typeface="宋体" panose="02010600030101010101" pitchFamily="2" charset="-122"/>
              </a:rPr>
              <a:t>2. </a:t>
            </a:r>
            <a:r>
              <a:rPr lang="zh-CN" altLang="en-US" sz="4800" b="1">
                <a:latin typeface="宋体" panose="02010600030101010101" pitchFamily="2" charset="-122"/>
                <a:ea typeface="宋体" panose="02010600030101010101" pitchFamily="2" charset="-122"/>
                <a:cs typeface="宋体" panose="02010600030101010101" pitchFamily="2" charset="-122"/>
              </a:rPr>
              <a:t>请分别给出适合检索的数据库并预先进行各个子问题相关论文查找并提供相应论文名称和链接：</a:t>
            </a:r>
            <a:endParaRPr lang="zh-CN" altLang="en-US" sz="4800" b="1">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zh-CN" sz="4800" b="1">
                <a:latin typeface="宋体" panose="02010600030101010101" pitchFamily="2" charset="-122"/>
                <a:ea typeface="宋体" panose="02010600030101010101" pitchFamily="2" charset="-122"/>
                <a:cs typeface="宋体" panose="02010600030101010101" pitchFamily="2" charset="-122"/>
              </a:rPr>
              <a:t>   - Web of Science</a:t>
            </a:r>
            <a:endParaRPr lang="en-US" altLang="zh-CN" sz="4800" b="1">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zh-CN" sz="4800" b="1">
                <a:latin typeface="宋体" panose="02010600030101010101" pitchFamily="2" charset="-122"/>
                <a:ea typeface="宋体" panose="02010600030101010101" pitchFamily="2" charset="-122"/>
                <a:cs typeface="宋体" panose="02010600030101010101" pitchFamily="2" charset="-122"/>
              </a:rPr>
              <a:t>   - Scopus</a:t>
            </a:r>
            <a:endParaRPr lang="en-US" altLang="zh-CN" sz="4800" b="1">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zh-CN" sz="4800" b="1">
                <a:latin typeface="宋体" panose="02010600030101010101" pitchFamily="2" charset="-122"/>
                <a:ea typeface="宋体" panose="02010600030101010101" pitchFamily="2" charset="-122"/>
                <a:cs typeface="宋体" panose="02010600030101010101" pitchFamily="2" charset="-122"/>
              </a:rPr>
              <a:t>   - IEEE Xplore</a:t>
            </a:r>
            <a:endParaRPr lang="en-US" altLang="zh-CN" sz="4800" b="1">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zh-CN" sz="4800" b="1">
                <a:latin typeface="宋体" panose="02010600030101010101" pitchFamily="2" charset="-122"/>
                <a:ea typeface="宋体" panose="02010600030101010101" pitchFamily="2" charset="-122"/>
                <a:cs typeface="宋体" panose="02010600030101010101" pitchFamily="2" charset="-122"/>
              </a:rPr>
              <a:t>   - ScienceDirect / Elsevier</a:t>
            </a:r>
            <a:endParaRPr lang="en-US" altLang="zh-CN" sz="4800" b="1">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zh-CN" sz="4800" b="1">
                <a:latin typeface="宋体" panose="02010600030101010101" pitchFamily="2" charset="-122"/>
                <a:ea typeface="宋体" panose="02010600030101010101" pitchFamily="2" charset="-122"/>
                <a:cs typeface="宋体" panose="02010600030101010101" pitchFamily="2" charset="-122"/>
              </a:rPr>
              <a:t>3. </a:t>
            </a:r>
            <a:r>
              <a:rPr lang="zh-CN" altLang="en-US" sz="4800" b="1">
                <a:latin typeface="宋体" panose="02010600030101010101" pitchFamily="2" charset="-122"/>
                <a:ea typeface="宋体" panose="02010600030101010101" pitchFamily="2" charset="-122"/>
                <a:cs typeface="宋体" panose="02010600030101010101" pitchFamily="2" charset="-122"/>
              </a:rPr>
              <a:t>对每类关键词，请说明：</a:t>
            </a:r>
            <a:endParaRPr lang="zh-CN" altLang="en-US" sz="4800" b="1">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zh-CN" sz="4800" b="1">
                <a:latin typeface="宋体" panose="02010600030101010101" pitchFamily="2" charset="-122"/>
                <a:ea typeface="宋体" panose="02010600030101010101" pitchFamily="2" charset="-122"/>
                <a:cs typeface="宋体" panose="02010600030101010101" pitchFamily="2" charset="-122"/>
              </a:rPr>
              <a:t>   - </a:t>
            </a:r>
            <a:r>
              <a:rPr lang="zh-CN" altLang="en-US" sz="4800" b="1">
                <a:latin typeface="宋体" panose="02010600030101010101" pitchFamily="2" charset="-122"/>
                <a:ea typeface="宋体" panose="02010600030101010101" pitchFamily="2" charset="-122"/>
                <a:cs typeface="宋体" panose="02010600030101010101" pitchFamily="2" charset="-122"/>
              </a:rPr>
              <a:t>常见模型框架</a:t>
            </a:r>
            <a:endParaRPr lang="zh-CN" altLang="en-US" sz="4800" b="1">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zh-CN" sz="4800" b="1">
                <a:latin typeface="宋体" panose="02010600030101010101" pitchFamily="2" charset="-122"/>
                <a:ea typeface="宋体" panose="02010600030101010101" pitchFamily="2" charset="-122"/>
                <a:cs typeface="宋体" panose="02010600030101010101" pitchFamily="2" charset="-122"/>
              </a:rPr>
              <a:t>   - </a:t>
            </a:r>
            <a:r>
              <a:rPr lang="zh-CN" altLang="en-US" sz="4800" b="1">
                <a:latin typeface="宋体" panose="02010600030101010101" pitchFamily="2" charset="-122"/>
                <a:ea typeface="宋体" panose="02010600030101010101" pitchFamily="2" charset="-122"/>
                <a:cs typeface="宋体" panose="02010600030101010101" pitchFamily="2" charset="-122"/>
              </a:rPr>
              <a:t>这些方法通常解决什么类型的问题</a:t>
            </a:r>
            <a:endParaRPr lang="en-US" altLang="zh-CN" sz="4800" b="1">
              <a:latin typeface="宋体" panose="02010600030101010101" pitchFamily="2" charset="-122"/>
              <a:ea typeface="宋体" panose="02010600030101010101" pitchFamily="2" charset="-122"/>
              <a:cs typeface="宋体" panose="02010600030101010101" pitchFamily="2" charset="-122"/>
            </a:endParaRPr>
          </a:p>
          <a:p>
            <a:pPr marL="0" indent="0">
              <a:buNone/>
            </a:pPr>
            <a:r>
              <a:rPr lang="zh-CN" altLang="en-US" sz="4800" b="1">
                <a:latin typeface="宋体" panose="02010600030101010101" pitchFamily="2" charset="-122"/>
                <a:ea typeface="宋体" panose="02010600030101010101" pitchFamily="2" charset="-122"/>
                <a:cs typeface="宋体" panose="02010600030101010101" pitchFamily="2" charset="-122"/>
              </a:rPr>
              <a:t>输出格式：</a:t>
            </a:r>
            <a:endParaRPr lang="zh-CN" altLang="en-US" sz="4800" b="1">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zh-CN" sz="4800" b="1">
                <a:latin typeface="宋体" panose="02010600030101010101" pitchFamily="2" charset="-122"/>
                <a:ea typeface="宋体" panose="02010600030101010101" pitchFamily="2" charset="-122"/>
                <a:cs typeface="宋体" panose="02010600030101010101" pitchFamily="2" charset="-122"/>
              </a:rPr>
              <a:t>- </a:t>
            </a:r>
            <a:r>
              <a:rPr lang="zh-CN" altLang="en-US" sz="4800" b="1">
                <a:latin typeface="宋体" panose="02010600030101010101" pitchFamily="2" charset="-122"/>
                <a:ea typeface="宋体" panose="02010600030101010101" pitchFamily="2" charset="-122"/>
                <a:cs typeface="宋体" panose="02010600030101010101" pitchFamily="2" charset="-122"/>
              </a:rPr>
              <a:t>子问题</a:t>
            </a:r>
            <a:r>
              <a:rPr lang="en-US" altLang="zh-CN" sz="4800" b="1">
                <a:latin typeface="宋体" panose="02010600030101010101" pitchFamily="2" charset="-122"/>
                <a:ea typeface="宋体" panose="02010600030101010101" pitchFamily="2" charset="-122"/>
                <a:cs typeface="宋体" panose="02010600030101010101" pitchFamily="2" charset="-122"/>
              </a:rPr>
              <a:t> </a:t>
            </a:r>
            <a:r>
              <a:rPr lang="en-US" altLang="en-US" sz="4800" b="1">
                <a:latin typeface="宋体" panose="02010600030101010101" pitchFamily="2" charset="-122"/>
                <a:ea typeface="宋体" panose="02010600030101010101" pitchFamily="2" charset="-122"/>
                <a:cs typeface="宋体" panose="02010600030101010101" pitchFamily="2" charset="-122"/>
              </a:rPr>
              <a:t>→</a:t>
            </a:r>
            <a:r>
              <a:rPr lang="en-US" altLang="zh-CN" sz="4800" b="1">
                <a:latin typeface="宋体" panose="02010600030101010101" pitchFamily="2" charset="-122"/>
                <a:ea typeface="宋体" panose="02010600030101010101" pitchFamily="2" charset="-122"/>
                <a:cs typeface="宋体" panose="02010600030101010101" pitchFamily="2" charset="-122"/>
              </a:rPr>
              <a:t> </a:t>
            </a:r>
            <a:r>
              <a:rPr lang="zh-CN" altLang="en-US" sz="4800" b="1">
                <a:latin typeface="宋体" panose="02010600030101010101" pitchFamily="2" charset="-122"/>
                <a:ea typeface="宋体" panose="02010600030101010101" pitchFamily="2" charset="-122"/>
                <a:cs typeface="宋体" panose="02010600030101010101" pitchFamily="2" charset="-122"/>
              </a:rPr>
              <a:t>检索关键词</a:t>
            </a:r>
            <a:r>
              <a:rPr lang="en-US" altLang="zh-CN" sz="4800" b="1">
                <a:latin typeface="宋体" panose="02010600030101010101" pitchFamily="2" charset="-122"/>
                <a:ea typeface="宋体" panose="02010600030101010101" pitchFamily="2" charset="-122"/>
                <a:cs typeface="宋体" panose="02010600030101010101" pitchFamily="2" charset="-122"/>
              </a:rPr>
              <a:t> </a:t>
            </a:r>
            <a:r>
              <a:rPr lang="en-US" altLang="en-US" sz="4800" b="1">
                <a:latin typeface="宋体" panose="02010600030101010101" pitchFamily="2" charset="-122"/>
                <a:ea typeface="宋体" panose="02010600030101010101" pitchFamily="2" charset="-122"/>
                <a:cs typeface="宋体" panose="02010600030101010101" pitchFamily="2" charset="-122"/>
              </a:rPr>
              <a:t>→</a:t>
            </a:r>
            <a:r>
              <a:rPr lang="en-US" altLang="zh-CN" sz="4800" b="1">
                <a:latin typeface="宋体" panose="02010600030101010101" pitchFamily="2" charset="-122"/>
                <a:ea typeface="宋体" panose="02010600030101010101" pitchFamily="2" charset="-122"/>
                <a:cs typeface="宋体" panose="02010600030101010101" pitchFamily="2" charset="-122"/>
              </a:rPr>
              <a:t> </a:t>
            </a:r>
            <a:r>
              <a:rPr lang="zh-CN" altLang="en-US" sz="4800" b="1">
                <a:latin typeface="宋体" panose="02010600030101010101" pitchFamily="2" charset="-122"/>
                <a:ea typeface="宋体" panose="02010600030101010101" pitchFamily="2" charset="-122"/>
                <a:cs typeface="宋体" panose="02010600030101010101" pitchFamily="2" charset="-122"/>
              </a:rPr>
              <a:t>推荐数据库</a:t>
            </a:r>
            <a:r>
              <a:rPr lang="en-US" altLang="zh-CN" sz="4800" b="1">
                <a:latin typeface="宋体" panose="02010600030101010101" pitchFamily="2" charset="-122"/>
                <a:ea typeface="宋体" panose="02010600030101010101" pitchFamily="2" charset="-122"/>
                <a:cs typeface="宋体" panose="02010600030101010101" pitchFamily="2" charset="-122"/>
              </a:rPr>
              <a:t> </a:t>
            </a:r>
            <a:r>
              <a:rPr lang="en-US" altLang="en-US" sz="4800" b="1">
                <a:latin typeface="宋体" panose="02010600030101010101" pitchFamily="2" charset="-122"/>
                <a:ea typeface="宋体" panose="02010600030101010101" pitchFamily="2" charset="-122"/>
                <a:cs typeface="宋体" panose="02010600030101010101" pitchFamily="2" charset="-122"/>
              </a:rPr>
              <a:t>→</a:t>
            </a:r>
            <a:r>
              <a:rPr lang="en-US" altLang="zh-CN" sz="4800" b="1">
                <a:latin typeface="宋体" panose="02010600030101010101" pitchFamily="2" charset="-122"/>
                <a:ea typeface="宋体" panose="02010600030101010101" pitchFamily="2" charset="-122"/>
                <a:cs typeface="宋体" panose="02010600030101010101" pitchFamily="2" charset="-122"/>
              </a:rPr>
              <a:t> </a:t>
            </a:r>
            <a:r>
              <a:rPr lang="zh-CN" altLang="en-US" sz="4800" b="1">
                <a:latin typeface="宋体" panose="02010600030101010101" pitchFamily="2" charset="-122"/>
                <a:ea typeface="宋体" panose="02010600030101010101" pitchFamily="2" charset="-122"/>
                <a:cs typeface="宋体" panose="02010600030101010101" pitchFamily="2" charset="-122"/>
              </a:rPr>
              <a:t>方法类型</a:t>
            </a:r>
            <a:endParaRPr lang="zh-CN" altLang="en-US" sz="4800" b="1">
              <a:latin typeface="宋体" panose="02010600030101010101" pitchFamily="2" charset="-122"/>
              <a:ea typeface="宋体" panose="02010600030101010101" pitchFamily="2" charset="-122"/>
              <a:cs typeface="宋体" panose="02010600030101010101" pitchFamily="2" charset="-122"/>
            </a:endParaRPr>
          </a:p>
          <a:p>
            <a:pPr marL="0" indent="0">
              <a:buNone/>
            </a:pPr>
            <a:endParaRPr lang="zh-CN" altLang="en-US" sz="4800" b="1">
              <a:latin typeface="宋体" panose="02010600030101010101" pitchFamily="2" charset="-122"/>
              <a:ea typeface="宋体" panose="02010600030101010101" pitchFamily="2" charset="-122"/>
              <a:cs typeface="宋体" panose="02010600030101010101" pitchFamily="2" charset="-122"/>
            </a:endParaRPr>
          </a:p>
          <a:p>
            <a:pPr marL="0" indent="0">
              <a:buNone/>
            </a:pPr>
            <a:endParaRPr lang="zh-CN" altLang="en-US" sz="4800" b="1">
              <a:latin typeface="宋体" panose="02010600030101010101" pitchFamily="2" charset="-122"/>
              <a:ea typeface="宋体" panose="02010600030101010101" pitchFamily="2" charset="-122"/>
              <a:cs typeface="宋体" panose="02010600030101010101" pitchFamily="2" charset="-122"/>
            </a:endParaRPr>
          </a:p>
        </p:txBody>
      </p:sp>
    </p:spTree>
    <p:custDataLst>
      <p:tags r:id="rId3"/>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sz="quarter" idx="13"/>
            <p:custDataLst>
              <p:tags r:id="rId1"/>
            </p:custDataLst>
          </p:nvPr>
        </p:nvSpPr>
        <p:spPr>
          <a:xfrm>
            <a:off x="608330" y="108585"/>
            <a:ext cx="10972800" cy="6148070"/>
          </a:xfrm>
        </p:spPr>
        <p:txBody>
          <a:bodyPr>
            <a:normAutofit fontScale="25000"/>
          </a:bodyPr>
          <a:p>
            <a:pPr marL="0" indent="0">
              <a:buNone/>
            </a:pPr>
            <a:r>
              <a:rPr lang="zh-CN" altLang="en-US" sz="4800" b="1"/>
              <a:t>子问题</a:t>
            </a:r>
            <a:r>
              <a:rPr lang="en-US" altLang="zh-CN" sz="4800" b="1"/>
              <a:t>1</a:t>
            </a:r>
            <a:r>
              <a:rPr lang="zh-CN" altLang="en-US" sz="4800" b="1"/>
              <a:t>：奖牌计数模型（</a:t>
            </a:r>
            <a:r>
              <a:rPr lang="en-US" altLang="zh-CN" sz="4800" b="1"/>
              <a:t>Gold &amp; Total medals</a:t>
            </a:r>
            <a:r>
              <a:rPr lang="zh-CN" altLang="en-US" sz="4800" b="1"/>
              <a:t>）</a:t>
            </a:r>
            <a:r>
              <a:rPr lang="en-US" altLang="zh-CN" sz="4800" b="1"/>
              <a:t>+ </a:t>
            </a:r>
            <a:r>
              <a:rPr lang="zh-CN" altLang="en-US" sz="4800" b="1"/>
              <a:t>不确定性</a:t>
            </a:r>
            <a:r>
              <a:rPr lang="en-US" altLang="zh-CN" sz="4800" b="1"/>
              <a:t>/</a:t>
            </a:r>
            <a:r>
              <a:rPr lang="zh-CN" altLang="en-US" sz="4800" b="1"/>
              <a:t>模型性能评估</a:t>
            </a:r>
            <a:endParaRPr lang="zh-CN" altLang="en-US" sz="4800" b="1"/>
          </a:p>
          <a:p>
            <a:pPr marL="0" indent="0">
              <a:buNone/>
            </a:pPr>
            <a:r>
              <a:rPr lang="zh-CN" altLang="en-US" sz="4800"/>
              <a:t>检索关键词</a:t>
            </a:r>
            <a:endParaRPr lang="zh-CN" altLang="en-US" sz="4800"/>
          </a:p>
          <a:p>
            <a:pPr marL="0" indent="0">
              <a:buNone/>
            </a:pPr>
            <a:r>
              <a:rPr lang="zh-CN" altLang="en-US" sz="4800"/>
              <a:t>核心：</a:t>
            </a:r>
            <a:r>
              <a:rPr lang="en-US" altLang="zh-CN" sz="4800"/>
              <a:t> "Olympic medal" OR "Olympic medals" "prediction" OR "forecasting" OR "modeling" OR "count"</a:t>
            </a:r>
            <a:endParaRPr lang="en-US" altLang="zh-CN" sz="4800"/>
          </a:p>
          <a:p>
            <a:pPr marL="0" indent="0">
              <a:buNone/>
            </a:pPr>
            <a:r>
              <a:rPr lang="zh-CN" altLang="en-US" sz="4800"/>
              <a:t>常见方法：</a:t>
            </a:r>
            <a:r>
              <a:rPr lang="en-US" altLang="zh-CN" sz="4800"/>
              <a:t> "Poisson regression" OR "negative binomial" OR "zero-inflated" OR "hurdle model" OR "Bayesian hierarchical" OR "random effects"</a:t>
            </a:r>
            <a:endParaRPr lang="en-US" altLang="zh-CN" sz="4800"/>
          </a:p>
          <a:p>
            <a:pPr marL="0" indent="0">
              <a:buNone/>
            </a:pPr>
            <a:r>
              <a:rPr lang="zh-CN" altLang="en-US" sz="4800"/>
              <a:t>交叉：</a:t>
            </a:r>
            <a:r>
              <a:rPr lang="en-US" altLang="zh-CN" sz="4800"/>
              <a:t> "socioeconomic determinants" "Olympic success" OR "sport performance prediction" "machine learning"</a:t>
            </a:r>
            <a:endParaRPr lang="en-US" altLang="zh-CN" sz="4800"/>
          </a:p>
          <a:p>
            <a:pPr marL="0" indent="0">
              <a:buNone/>
            </a:pPr>
            <a:r>
              <a:rPr lang="zh-CN" altLang="en-US" sz="4800"/>
              <a:t>代表性论文（</a:t>
            </a:r>
            <a:r>
              <a:rPr lang="en-US" altLang="zh-CN" sz="4800"/>
              <a:t>≤2024</a:t>
            </a:r>
            <a:r>
              <a:rPr lang="zh-CN" altLang="en-US" sz="4800"/>
              <a:t>）</a:t>
            </a:r>
            <a:endParaRPr lang="en-US" altLang="zh-CN" sz="4800"/>
          </a:p>
          <a:p>
            <a:pPr marL="0" indent="0">
              <a:buNone/>
            </a:pPr>
            <a:r>
              <a:rPr lang="en-US" altLang="zh-CN" sz="4800"/>
              <a:t>Forecasting the Olympic medal distribution – A socioeconomic machine learning model (2022)</a:t>
            </a:r>
            <a:endParaRPr lang="en-US" altLang="zh-CN" sz="4800"/>
          </a:p>
          <a:p>
            <a:pPr marL="0" indent="0">
              <a:buNone/>
            </a:pPr>
            <a:r>
              <a:rPr lang="en-US" altLang="zh-CN" sz="4800"/>
              <a:t>DOI: https://doi.org/10.1016/j.techfore.2021.121552 (ScienceDirect)</a:t>
            </a:r>
            <a:endParaRPr lang="en-US" altLang="zh-CN" sz="4800"/>
          </a:p>
          <a:p>
            <a:pPr marL="0" indent="0">
              <a:buNone/>
            </a:pPr>
            <a:r>
              <a:rPr lang="en-US" altLang="en-US" sz="4800"/>
              <a:t>→</a:t>
            </a:r>
            <a:r>
              <a:rPr lang="en-US" altLang="zh-CN" sz="4800"/>
              <a:t> </a:t>
            </a:r>
            <a:r>
              <a:rPr lang="zh-CN" altLang="en-US" sz="4800"/>
              <a:t>对比</a:t>
            </a:r>
            <a:r>
              <a:rPr lang="en-US" altLang="zh-CN" sz="4800"/>
              <a:t>ML</a:t>
            </a:r>
            <a:r>
              <a:rPr lang="zh-CN" altLang="en-US" sz="4800"/>
              <a:t>与传统计数模型，强调超越</a:t>
            </a:r>
            <a:r>
              <a:rPr lang="en-US" altLang="zh-CN" sz="4800"/>
              <a:t>naive</a:t>
            </a:r>
            <a:r>
              <a:rPr lang="zh-CN" altLang="en-US" sz="4800"/>
              <a:t>基准</a:t>
            </a:r>
            <a:endParaRPr lang="zh-CN" altLang="en-US" sz="4800"/>
          </a:p>
          <a:p>
            <a:pPr marL="0" indent="0">
              <a:buNone/>
            </a:pPr>
            <a:r>
              <a:rPr lang="en-US" altLang="zh-CN" sz="4800" b="1"/>
              <a:t>Forecasting National Medal Totals at the Summer Olympic Games Reconsidered (2021)</a:t>
            </a:r>
            <a:endParaRPr lang="en-US" altLang="zh-CN" sz="4800" b="1"/>
          </a:p>
          <a:p>
            <a:pPr marL="0" indent="0">
              <a:buNone/>
            </a:pPr>
            <a:r>
              <a:rPr lang="en-US" altLang="zh-CN" sz="4800"/>
              <a:t>DOI: https://doi.org/10.1111/ssqu.12782 (Wiley, Scopus</a:t>
            </a:r>
            <a:r>
              <a:rPr lang="zh-CN" altLang="en-US" sz="4800"/>
              <a:t>收录</a:t>
            </a:r>
            <a:r>
              <a:rPr lang="en-US" altLang="zh-CN" sz="4800"/>
              <a:t>)</a:t>
            </a:r>
            <a:endParaRPr lang="en-US" altLang="zh-CN" sz="4800"/>
          </a:p>
          <a:p>
            <a:pPr marL="0" indent="0">
              <a:buNone/>
            </a:pPr>
            <a:r>
              <a:rPr lang="en-US" altLang="en-US" sz="4800"/>
              <a:t>→</a:t>
            </a:r>
            <a:r>
              <a:rPr lang="en-US" altLang="zh-CN" sz="4800"/>
              <a:t> </a:t>
            </a:r>
            <a:r>
              <a:rPr lang="zh-CN" altLang="en-US" sz="4800"/>
              <a:t>推荐</a:t>
            </a:r>
            <a:r>
              <a:rPr lang="en-US" altLang="zh-CN" sz="4800"/>
              <a:t>zero-inflated negative binomial</a:t>
            </a:r>
            <a:r>
              <a:rPr lang="zh-CN" altLang="en-US" sz="4800"/>
              <a:t>处理大量零值</a:t>
            </a:r>
            <a:endParaRPr lang="zh-CN" altLang="en-US" sz="4800"/>
          </a:p>
          <a:p>
            <a:pPr marL="0" indent="0">
              <a:buNone/>
            </a:pPr>
            <a:r>
              <a:rPr lang="en-US" altLang="zh-CN" sz="4800"/>
              <a:t>Population, economic and geographic predictors of nations' medal tallies... (2022)</a:t>
            </a:r>
            <a:endParaRPr lang="en-US" altLang="zh-CN" sz="4800"/>
          </a:p>
          <a:p>
            <a:pPr marL="0" indent="0">
              <a:buNone/>
            </a:pPr>
            <a:r>
              <a:rPr lang="en-US" altLang="zh-CN" sz="4800"/>
              <a:t>PMC: https://pmc.ncbi.nlm.nih.gov/articles/PMC9428451/ (Scopus/Web of Science)</a:t>
            </a:r>
            <a:endParaRPr lang="en-US" altLang="zh-CN" sz="4800"/>
          </a:p>
          <a:p>
            <a:pPr marL="0" indent="0">
              <a:buNone/>
            </a:pPr>
            <a:r>
              <a:rPr lang="en-US" altLang="en-US" sz="4800"/>
              <a:t>→</a:t>
            </a:r>
            <a:r>
              <a:rPr lang="en-US" altLang="zh-CN" sz="4800"/>
              <a:t> Poisson</a:t>
            </a:r>
            <a:r>
              <a:rPr lang="zh-CN" altLang="en-US" sz="4800"/>
              <a:t>回归</a:t>
            </a:r>
            <a:r>
              <a:rPr lang="en-US" altLang="zh-CN" sz="4800"/>
              <a:t> + </a:t>
            </a:r>
            <a:r>
              <a:rPr lang="zh-CN" altLang="en-US" sz="4800"/>
              <a:t>人口</a:t>
            </a:r>
            <a:r>
              <a:rPr lang="en-US" altLang="zh-CN" sz="4800"/>
              <a:t>/</a:t>
            </a:r>
            <a:r>
              <a:rPr lang="zh-CN" altLang="en-US" sz="4800"/>
              <a:t>经济预测因子</a:t>
            </a:r>
            <a:endParaRPr lang="en-US" altLang="zh-CN" sz="4800"/>
          </a:p>
          <a:p>
            <a:pPr marL="0" indent="0">
              <a:buNone/>
            </a:pPr>
            <a:r>
              <a:rPr lang="zh-CN" altLang="en-US" sz="4800"/>
              <a:t>常见模型框架：</a:t>
            </a:r>
            <a:r>
              <a:rPr lang="en-US" altLang="zh-CN" sz="4800"/>
              <a:t>Zero-Inflated Negative Binomial (ZINB)</a:t>
            </a:r>
            <a:r>
              <a:rPr lang="zh-CN" altLang="en-US" sz="4800"/>
              <a:t>、</a:t>
            </a:r>
            <a:r>
              <a:rPr lang="en-US" altLang="zh-CN" sz="4800"/>
              <a:t>Poisson/Quasi-Poisson</a:t>
            </a:r>
            <a:r>
              <a:rPr lang="zh-CN" altLang="en-US" sz="4800"/>
              <a:t>、</a:t>
            </a:r>
            <a:r>
              <a:rPr lang="en-US" altLang="zh-CN" sz="4800"/>
              <a:t>Bayesian hierarchical (</a:t>
            </a:r>
            <a:r>
              <a:rPr lang="zh-CN" altLang="en-US" sz="4800"/>
              <a:t>国家随机效应</a:t>
            </a:r>
            <a:r>
              <a:rPr lang="en-US" altLang="zh-CN" sz="4800"/>
              <a:t>+</a:t>
            </a:r>
            <a:r>
              <a:rPr lang="zh-CN" altLang="en-US" sz="4800"/>
              <a:t>时间</a:t>
            </a:r>
            <a:r>
              <a:rPr lang="en-US" altLang="zh-CN" sz="4800"/>
              <a:t>AR)</a:t>
            </a:r>
            <a:r>
              <a:rPr lang="zh-CN" altLang="en-US" sz="4800"/>
              <a:t>、</a:t>
            </a:r>
            <a:r>
              <a:rPr lang="en-US" altLang="zh-CN" sz="4800"/>
              <a:t>Gradient Boosting/XGBoost</a:t>
            </a:r>
            <a:r>
              <a:rPr lang="zh-CN" altLang="en-US" sz="4800"/>
              <a:t>（后期）</a:t>
            </a:r>
            <a:endParaRPr lang="zh-CN" altLang="en-US" sz="4800"/>
          </a:p>
          <a:p>
            <a:pPr marL="0" indent="0">
              <a:buNone/>
            </a:pPr>
            <a:r>
              <a:rPr lang="zh-CN" altLang="en-US" sz="4800"/>
              <a:t>解决的问题类型：过离散计数数据（大量国家</a:t>
            </a:r>
            <a:r>
              <a:rPr lang="en-US" altLang="zh-CN" sz="4800"/>
              <a:t>0</a:t>
            </a:r>
            <a:r>
              <a:rPr lang="zh-CN" altLang="en-US" sz="4800"/>
              <a:t>枚奖牌）、异方差、非独立观测（国家间相关性）、预测不确定性量化（后验分布或</a:t>
            </a:r>
            <a:r>
              <a:rPr lang="en-US" altLang="zh-CN" sz="4800"/>
              <a:t>bootstrap</a:t>
            </a:r>
            <a:r>
              <a:rPr lang="zh-CN" altLang="en-US" sz="4800"/>
              <a:t>）</a:t>
            </a:r>
            <a:endParaRPr lang="zh-CN" altLang="en-US" sz="4800"/>
          </a:p>
        </p:txBody>
      </p:sp>
    </p:spTree>
    <p:custDataLst>
      <p:tags r:id="rId2"/>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内容占位符 2"/>
          <p:cNvPicPr>
            <a:picLocks noChangeAspect="1"/>
          </p:cNvPicPr>
          <p:nvPr>
            <p:ph sz="quarter" idx="13"/>
            <p:custDataLst>
              <p:tags r:id="rId1"/>
            </p:custDataLst>
          </p:nvPr>
        </p:nvPicPr>
        <p:blipFill>
          <a:blip r:embed="rId2"/>
          <a:stretch>
            <a:fillRect/>
          </a:stretch>
        </p:blipFill>
        <p:spPr>
          <a:xfrm>
            <a:off x="3170555" y="774065"/>
            <a:ext cx="5847080" cy="5482590"/>
          </a:xfrm>
          <a:prstGeom prst="rect">
            <a:avLst/>
          </a:prstGeom>
        </p:spPr>
      </p:pic>
    </p:spTree>
    <p:custDataLst>
      <p:tags r:id="rId3"/>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sz="quarter" idx="13"/>
            <p:custDataLst>
              <p:tags r:id="rId1"/>
            </p:custDataLst>
          </p:nvPr>
        </p:nvSpPr>
        <p:spPr/>
        <p:txBody>
          <a:bodyPr>
            <a:noAutofit/>
          </a:bodyPr>
          <a:p>
            <a:pPr marL="0" indent="0">
              <a:buNone/>
            </a:pPr>
            <a:r>
              <a:rPr lang="zh-CN" altLang="en-US" sz="1400" b="1"/>
              <a:t>子问题</a:t>
            </a:r>
            <a:r>
              <a:rPr lang="en-US" altLang="zh-CN" sz="1400" b="1"/>
              <a:t>2</a:t>
            </a:r>
            <a:r>
              <a:rPr lang="zh-CN" altLang="en-US" sz="1400" b="1"/>
              <a:t>：</a:t>
            </a:r>
            <a:r>
              <a:rPr lang="en-US" altLang="zh-CN" sz="1400" b="1"/>
              <a:t>2028</a:t>
            </a:r>
            <a:r>
              <a:rPr lang="zh-CN" altLang="en-US" sz="1400" b="1"/>
              <a:t>预测</a:t>
            </a:r>
            <a:r>
              <a:rPr lang="en-US" altLang="zh-CN" sz="1400" b="1"/>
              <a:t> + </a:t>
            </a:r>
            <a:r>
              <a:rPr lang="zh-CN" altLang="en-US" sz="1400" b="1"/>
              <a:t>预测区间</a:t>
            </a:r>
            <a:r>
              <a:rPr lang="en-US" altLang="zh-CN" sz="1400" b="1"/>
              <a:t> + </a:t>
            </a:r>
            <a:r>
              <a:rPr lang="zh-CN" altLang="en-US" sz="1400" b="1"/>
              <a:t>国家改进</a:t>
            </a:r>
            <a:r>
              <a:rPr lang="en-US" altLang="zh-CN" sz="1400" b="1"/>
              <a:t>/</a:t>
            </a:r>
            <a:r>
              <a:rPr lang="zh-CN" altLang="en-US" sz="1400" b="1"/>
              <a:t>下降判断</a:t>
            </a:r>
            <a:endParaRPr lang="zh-CN" altLang="en-US" sz="1400" b="1"/>
          </a:p>
          <a:p>
            <a:pPr marL="0" indent="0">
              <a:buNone/>
            </a:pPr>
            <a:r>
              <a:rPr lang="zh-CN" altLang="en-US" sz="1400"/>
              <a:t>检索关键词</a:t>
            </a:r>
            <a:endParaRPr lang="zh-CN" altLang="en-US" sz="1400"/>
          </a:p>
          <a:p>
            <a:pPr marL="0" indent="0">
              <a:buNone/>
            </a:pPr>
            <a:r>
              <a:rPr lang="zh-CN" altLang="en-US" sz="1400"/>
              <a:t>核心：</a:t>
            </a:r>
            <a:r>
              <a:rPr lang="en-US" altLang="zh-CN" sz="1400"/>
              <a:t> "Olympic medal forecast" OR "predicting Olympic medals" "2020" OR "2024" OR "future"</a:t>
            </a:r>
            <a:endParaRPr lang="en-US" altLang="zh-CN" sz="1400"/>
          </a:p>
          <a:p>
            <a:pPr marL="0" indent="0">
              <a:buNone/>
            </a:pPr>
            <a:r>
              <a:rPr lang="zh-CN" altLang="en-US" sz="1400"/>
              <a:t>常见方法：</a:t>
            </a:r>
            <a:r>
              <a:rPr lang="en-US" altLang="zh-CN" sz="1400"/>
              <a:t> "prediction interval" OR "posterior predictive" OR "bootstrap" OR "quantile regression"</a:t>
            </a:r>
            <a:endParaRPr lang="en-US" altLang="zh-CN" sz="1400"/>
          </a:p>
          <a:p>
            <a:pPr marL="0" indent="0">
              <a:buNone/>
            </a:pPr>
            <a:r>
              <a:rPr lang="zh-CN" altLang="en-US" sz="1400"/>
              <a:t>交叉：</a:t>
            </a:r>
            <a:r>
              <a:rPr lang="en-US" altLang="zh-CN" sz="1400"/>
              <a:t> "scenario analysis" "Olympic" OR "ranking probability" "Bayesian"</a:t>
            </a:r>
            <a:endParaRPr lang="en-US" altLang="zh-CN" sz="1400"/>
          </a:p>
          <a:p>
            <a:pPr marL="0" indent="0">
              <a:buNone/>
            </a:pPr>
            <a:r>
              <a:rPr lang="zh-CN" altLang="en-US" sz="1400"/>
              <a:t>代表性论文</a:t>
            </a:r>
            <a:endParaRPr lang="en-US" altLang="zh-CN" sz="1400"/>
          </a:p>
          <a:p>
            <a:pPr marL="0" indent="0">
              <a:buNone/>
            </a:pPr>
            <a:r>
              <a:rPr lang="zh-CN" altLang="en-US" sz="1400"/>
              <a:t>同上</a:t>
            </a:r>
            <a:r>
              <a:rPr lang="en-US" altLang="zh-CN" sz="1400" b="1"/>
              <a:t> Forecasting the Olympic medal distribution (2022) – </a:t>
            </a:r>
            <a:r>
              <a:rPr lang="zh-CN" altLang="en-US" sz="1400" b="1"/>
              <a:t>明确讨论预测区间与不确定性</a:t>
            </a:r>
            <a:endParaRPr lang="zh-CN" altLang="en-US" sz="1400" b="1"/>
          </a:p>
          <a:p>
            <a:pPr marL="0" indent="0">
              <a:buNone/>
            </a:pPr>
            <a:r>
              <a:rPr lang="en-US" altLang="zh-CN" sz="1400"/>
              <a:t>Predicting Medal Counts in Olympics Using Machine Learning Algorithms (2024)</a:t>
            </a:r>
            <a:endParaRPr lang="en-US" altLang="zh-CN" sz="1400"/>
          </a:p>
          <a:p>
            <a:pPr marL="0" indent="0">
              <a:buNone/>
            </a:pPr>
            <a:r>
              <a:rPr lang="en-US" altLang="zh-CN" sz="1400"/>
              <a:t>ResearchGate (</a:t>
            </a:r>
            <a:r>
              <a:rPr lang="zh-CN" altLang="en-US" sz="1400"/>
              <a:t>早期版本</a:t>
            </a:r>
            <a:r>
              <a:rPr lang="en-US" altLang="zh-CN" sz="1400"/>
              <a:t>2023–2024) </a:t>
            </a:r>
            <a:r>
              <a:rPr lang="en-US" altLang="en-US" sz="1400"/>
              <a:t>→</a:t>
            </a:r>
            <a:r>
              <a:rPr lang="en-US" altLang="zh-CN" sz="1400"/>
              <a:t> </a:t>
            </a:r>
            <a:r>
              <a:rPr lang="zh-CN" altLang="en-US" sz="1400"/>
              <a:t>比较多种</a:t>
            </a:r>
            <a:r>
              <a:rPr lang="en-US" altLang="zh-CN" sz="1400"/>
              <a:t>ML</a:t>
            </a:r>
            <a:r>
              <a:rPr lang="zh-CN" altLang="en-US" sz="1400"/>
              <a:t>模型的预测性能</a:t>
            </a:r>
            <a:endParaRPr lang="en-US" altLang="zh-CN" sz="1400"/>
          </a:p>
          <a:p>
            <a:pPr marL="0" indent="0">
              <a:buNone/>
            </a:pPr>
            <a:r>
              <a:rPr lang="zh-CN" altLang="en-US" sz="1400"/>
              <a:t>常见模型框架：</a:t>
            </a:r>
            <a:r>
              <a:rPr lang="en-US" altLang="zh-CN" sz="1400"/>
              <a:t>Bayesian posterior predictive checks</a:t>
            </a:r>
            <a:r>
              <a:rPr lang="zh-CN" altLang="en-US" sz="1400"/>
              <a:t>、</a:t>
            </a:r>
            <a:r>
              <a:rPr lang="en-US" altLang="zh-CN" sz="1400"/>
              <a:t>Quantile regression</a:t>
            </a:r>
            <a:r>
              <a:rPr lang="zh-CN" altLang="en-US" sz="1400"/>
              <a:t>、</a:t>
            </a:r>
            <a:r>
              <a:rPr lang="en-US" altLang="zh-CN" sz="1400"/>
              <a:t>Bootstrap/Monte Carlo prediction intervals</a:t>
            </a:r>
            <a:r>
              <a:rPr lang="zh-CN" altLang="en-US" sz="1400"/>
              <a:t>、</a:t>
            </a:r>
            <a:r>
              <a:rPr lang="en-US" altLang="zh-CN" sz="1400"/>
              <a:t>Conformal prediction</a:t>
            </a:r>
            <a:r>
              <a:rPr lang="zh-CN" altLang="en-US" sz="1400"/>
              <a:t>（新兴）</a:t>
            </a:r>
            <a:endParaRPr lang="zh-CN" altLang="en-US" sz="1400"/>
          </a:p>
          <a:p>
            <a:pPr marL="0" indent="0">
              <a:buNone/>
            </a:pPr>
            <a:r>
              <a:rPr lang="zh-CN" altLang="en-US" sz="1400"/>
              <a:t>解决的问题类型：点估计不可靠时的不确定性传播、排名敏感性分析、情景模拟（经济</a:t>
            </a:r>
            <a:r>
              <a:rPr lang="en-US" altLang="zh-CN" sz="1400"/>
              <a:t>/</a:t>
            </a:r>
            <a:r>
              <a:rPr lang="zh-CN" altLang="en-US" sz="1400"/>
              <a:t>政治变量变化）</a:t>
            </a:r>
            <a:endParaRPr lang="zh-CN" altLang="en-US" sz="1400"/>
          </a:p>
        </p:txBody>
      </p:sp>
    </p:spTree>
    <p:custDataLst>
      <p:tags r:id="rId2"/>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内容占位符 2"/>
          <p:cNvPicPr>
            <a:picLocks noChangeAspect="1"/>
          </p:cNvPicPr>
          <p:nvPr>
            <p:ph sz="quarter" idx="13"/>
            <p:custDataLst>
              <p:tags r:id="rId1"/>
            </p:custDataLst>
          </p:nvPr>
        </p:nvPicPr>
        <p:blipFill>
          <a:blip r:embed="rId2"/>
          <a:stretch>
            <a:fillRect/>
          </a:stretch>
        </p:blipFill>
        <p:spPr>
          <a:xfrm>
            <a:off x="3699510" y="774065"/>
            <a:ext cx="4789805" cy="5482590"/>
          </a:xfrm>
          <a:prstGeom prst="rect">
            <a:avLst/>
          </a:prstGeom>
        </p:spPr>
      </p:pic>
    </p:spTree>
    <p:custDataLst>
      <p:tags r:id="rId3"/>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sz="quarter" idx="13"/>
            <p:custDataLst>
              <p:tags r:id="rId1"/>
            </p:custDataLst>
          </p:nvPr>
        </p:nvSpPr>
        <p:spPr/>
        <p:txBody>
          <a:bodyPr>
            <a:noAutofit/>
          </a:bodyPr>
          <a:p>
            <a:pPr marL="0" indent="0">
              <a:buNone/>
            </a:pPr>
            <a:r>
              <a:rPr lang="zh-CN" altLang="en-US" sz="1300" b="1"/>
              <a:t>子问题</a:t>
            </a:r>
            <a:r>
              <a:rPr lang="en-US" altLang="zh-CN" sz="1300" b="1"/>
              <a:t>3</a:t>
            </a:r>
            <a:r>
              <a:rPr lang="zh-CN" altLang="en-US" sz="1300" b="1"/>
              <a:t>：从未得牌国家首次得牌概率</a:t>
            </a:r>
            <a:r>
              <a:rPr lang="en-US" altLang="zh-CN" sz="1300" b="1"/>
              <a:t> + </a:t>
            </a:r>
            <a:r>
              <a:rPr lang="zh-CN" altLang="en-US" sz="1300" b="1"/>
              <a:t>数量估计</a:t>
            </a:r>
            <a:r>
              <a:rPr lang="en-US" altLang="zh-CN" sz="1300" b="1"/>
              <a:t> + </a:t>
            </a:r>
            <a:r>
              <a:rPr lang="zh-CN" altLang="en-US" sz="1300" b="1"/>
              <a:t>赔率</a:t>
            </a:r>
            <a:endParaRPr lang="zh-CN" altLang="en-US" sz="1300" b="1"/>
          </a:p>
          <a:p>
            <a:pPr marL="0" indent="0">
              <a:buNone/>
            </a:pPr>
            <a:r>
              <a:rPr lang="zh-CN" altLang="en-US" sz="1300"/>
              <a:t>检索关键词</a:t>
            </a:r>
            <a:endParaRPr lang="zh-CN" altLang="en-US" sz="1300"/>
          </a:p>
          <a:p>
            <a:pPr marL="0" indent="0">
              <a:buNone/>
            </a:pPr>
            <a:r>
              <a:rPr lang="zh-CN" altLang="en-US" sz="1300"/>
              <a:t>核心：</a:t>
            </a:r>
            <a:r>
              <a:rPr lang="en-US" altLang="zh-CN" sz="1300"/>
              <a:t> "first Olympic medal" OR "maiden medal" OR "breakthrough medal" "developing countries" OR "small nations" Olympics</a:t>
            </a:r>
            <a:endParaRPr lang="en-US" altLang="zh-CN" sz="1300"/>
          </a:p>
          <a:p>
            <a:pPr marL="0" indent="0">
              <a:buNone/>
            </a:pPr>
            <a:r>
              <a:rPr lang="zh-CN" altLang="en-US" sz="1300"/>
              <a:t>常见方法：</a:t>
            </a:r>
            <a:r>
              <a:rPr lang="en-US" altLang="zh-CN" sz="1300"/>
              <a:t> "survival analysis" OR "Cox model" OR "zero-inflated" OR "rare event logistic"</a:t>
            </a:r>
            <a:endParaRPr lang="en-US" altLang="zh-CN" sz="1300"/>
          </a:p>
          <a:p>
            <a:pPr marL="0" indent="0">
              <a:buNone/>
            </a:pPr>
            <a:r>
              <a:rPr lang="zh-CN" altLang="en-US" sz="1300"/>
              <a:t>交叉：</a:t>
            </a:r>
            <a:r>
              <a:rPr lang="en-US" altLang="zh-CN" sz="1300"/>
              <a:t> " medal debut" OR "historically non-winning countries" "Olympic participation"</a:t>
            </a:r>
            <a:endParaRPr lang="en-US" altLang="zh-CN" sz="1300"/>
          </a:p>
          <a:p>
            <a:pPr marL="0" indent="0">
              <a:buNone/>
            </a:pPr>
            <a:r>
              <a:rPr lang="zh-CN" altLang="en-US" sz="1300"/>
              <a:t>代表性论文</a:t>
            </a:r>
            <a:endParaRPr lang="en-US" altLang="zh-CN" sz="1300"/>
          </a:p>
          <a:p>
            <a:pPr marL="0" indent="0">
              <a:buNone/>
            </a:pPr>
            <a:r>
              <a:rPr lang="zh-CN" altLang="en-US" sz="1300"/>
              <a:t>直接主题论文较少，多为新闻</a:t>
            </a:r>
            <a:r>
              <a:rPr lang="en-US" altLang="zh-CN" sz="1300"/>
              <a:t>/</a:t>
            </a:r>
            <a:r>
              <a:rPr lang="zh-CN" altLang="en-US" sz="1300"/>
              <a:t>案例报道；间接相关：</a:t>
            </a:r>
            <a:r>
              <a:rPr lang="en-US" altLang="zh-CN" sz="1300"/>
              <a:t>Population Muscle Strength Predicts Olympic Medal Tallies (2017)</a:t>
            </a:r>
            <a:endParaRPr lang="en-US" altLang="zh-CN" sz="1300"/>
          </a:p>
          <a:p>
            <a:pPr marL="0" indent="0">
              <a:buNone/>
            </a:pPr>
            <a:r>
              <a:rPr lang="en-US" altLang="zh-CN" sz="1300"/>
              <a:t>DOI: 10.1371/journal.pone.0169821 </a:t>
            </a:r>
            <a:r>
              <a:rPr lang="en-US" altLang="en-US" sz="1300"/>
              <a:t>→</a:t>
            </a:r>
            <a:r>
              <a:rPr lang="en-US" altLang="zh-CN" sz="1300"/>
              <a:t> </a:t>
            </a:r>
            <a:r>
              <a:rPr lang="zh-CN" altLang="en-US" sz="1300"/>
              <a:t>提及长期无牌国家筛选</a:t>
            </a:r>
            <a:endParaRPr lang="zh-CN" altLang="en-US" sz="1300"/>
          </a:p>
          <a:p>
            <a:pPr marL="0" indent="0">
              <a:buNone/>
            </a:pPr>
            <a:r>
              <a:rPr lang="zh-CN" altLang="en-US" sz="1300"/>
              <a:t>（纯学术首次得牌概率模型罕见，多隐含在零膨胀模型中）</a:t>
            </a:r>
            <a:endParaRPr lang="en-US" altLang="zh-CN" sz="1300"/>
          </a:p>
          <a:p>
            <a:pPr marL="0" indent="0">
              <a:buNone/>
            </a:pPr>
            <a:r>
              <a:rPr lang="zh-CN" altLang="en-US" sz="1300"/>
              <a:t>常见模型框架：</a:t>
            </a:r>
            <a:r>
              <a:rPr lang="en-US" altLang="zh-CN" sz="1300"/>
              <a:t>Zero-inflated</a:t>
            </a:r>
            <a:r>
              <a:rPr lang="zh-CN" altLang="en-US" sz="1300"/>
              <a:t>部分作为</a:t>
            </a:r>
            <a:r>
              <a:rPr lang="en-US" altLang="zh-CN" sz="1300"/>
              <a:t>“</a:t>
            </a:r>
            <a:r>
              <a:rPr lang="zh-CN" altLang="en-US" sz="1300"/>
              <a:t>是否突破</a:t>
            </a:r>
            <a:r>
              <a:rPr lang="en-US" altLang="zh-CN" sz="1300"/>
              <a:t>”</a:t>
            </a:r>
            <a:r>
              <a:rPr lang="zh-CN" altLang="en-US" sz="1300"/>
              <a:t>二值模型、</a:t>
            </a:r>
            <a:r>
              <a:rPr lang="en-US" altLang="zh-CN" sz="1300"/>
              <a:t>Kaplan-Meier</a:t>
            </a:r>
            <a:r>
              <a:rPr lang="zh-CN" altLang="en-US" sz="1300"/>
              <a:t>生存曲线（以奥运届为</a:t>
            </a:r>
            <a:r>
              <a:rPr lang="en-US" altLang="zh-CN" sz="1300"/>
              <a:t>“</a:t>
            </a:r>
            <a:r>
              <a:rPr lang="zh-CN" altLang="en-US" sz="1300"/>
              <a:t>时间</a:t>
            </a:r>
            <a:r>
              <a:rPr lang="en-US" altLang="zh-CN" sz="1300"/>
              <a:t>”</a:t>
            </a:r>
            <a:r>
              <a:rPr lang="zh-CN" altLang="en-US" sz="1300"/>
              <a:t>）、</a:t>
            </a:r>
            <a:r>
              <a:rPr lang="en-US" altLang="zh-CN" sz="1300"/>
              <a:t>Rare-event logit (Firth</a:t>
            </a:r>
            <a:r>
              <a:rPr lang="zh-CN" altLang="en-US" sz="1300"/>
              <a:t>修正</a:t>
            </a:r>
            <a:r>
              <a:rPr lang="en-US" altLang="zh-CN" sz="1300"/>
              <a:t>)</a:t>
            </a:r>
            <a:endParaRPr lang="en-US" altLang="zh-CN" sz="1300"/>
          </a:p>
          <a:p>
            <a:pPr marL="0" indent="0">
              <a:buNone/>
            </a:pPr>
            <a:r>
              <a:rPr lang="zh-CN" altLang="en-US" sz="1300"/>
              <a:t>解决的问题类型：极低概率事件、长期生存分析、稀疏数据下的突破预测</a:t>
            </a:r>
            <a:endParaRPr lang="zh-CN" altLang="en-US" sz="1300"/>
          </a:p>
        </p:txBody>
      </p:sp>
    </p:spTree>
    <p:custDataLst>
      <p:tags r:id="rId2"/>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内容占位符 2"/>
          <p:cNvPicPr>
            <a:picLocks noChangeAspect="1"/>
          </p:cNvPicPr>
          <p:nvPr>
            <p:ph sz="quarter" idx="13"/>
            <p:custDataLst>
              <p:tags r:id="rId1"/>
            </p:custDataLst>
          </p:nvPr>
        </p:nvPicPr>
        <p:blipFill>
          <a:blip r:embed="rId2"/>
          <a:stretch>
            <a:fillRect/>
          </a:stretch>
        </p:blipFill>
        <p:spPr>
          <a:xfrm>
            <a:off x="1886585" y="774065"/>
            <a:ext cx="8415655" cy="5482590"/>
          </a:xfrm>
          <a:prstGeom prst="rect">
            <a:avLst/>
          </a:prstGeom>
        </p:spPr>
      </p:pic>
    </p:spTree>
    <p:custDataLst>
      <p:tags r:id="rId3"/>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sz="quarter" idx="13"/>
            <p:custDataLst>
              <p:tags r:id="rId1"/>
            </p:custDataLst>
          </p:nvPr>
        </p:nvSpPr>
        <p:spPr/>
        <p:txBody>
          <a:bodyPr>
            <a:noAutofit/>
          </a:bodyPr>
          <a:p>
            <a:pPr marL="0" indent="0">
              <a:buNone/>
            </a:pPr>
            <a:r>
              <a:rPr lang="zh-CN" altLang="en-US" sz="1300" b="1"/>
              <a:t>子问题</a:t>
            </a:r>
            <a:r>
              <a:rPr lang="en-US" altLang="zh-CN" sz="1300" b="1"/>
              <a:t>4</a:t>
            </a:r>
            <a:r>
              <a:rPr lang="zh-CN" altLang="en-US" sz="1300" b="1"/>
              <a:t>：项目设置（</a:t>
            </a:r>
            <a:r>
              <a:rPr lang="en-US" altLang="zh-CN" sz="1300" b="1"/>
              <a:t>events/program</a:t>
            </a:r>
            <a:r>
              <a:rPr lang="zh-CN" altLang="en-US" sz="1300" b="1"/>
              <a:t>）与奖牌关系</a:t>
            </a:r>
            <a:r>
              <a:rPr lang="en-US" altLang="zh-CN" sz="1300" b="1"/>
              <a:t> + </a:t>
            </a:r>
            <a:r>
              <a:rPr lang="zh-CN" altLang="en-US" sz="1300" b="1"/>
              <a:t>东道主效应</a:t>
            </a:r>
            <a:r>
              <a:rPr lang="en-US" altLang="zh-CN" sz="1300" b="1"/>
              <a:t> + </a:t>
            </a:r>
            <a:r>
              <a:rPr lang="zh-CN" altLang="en-US" sz="1300" b="1"/>
              <a:t>重要运动项目</a:t>
            </a:r>
            <a:endParaRPr lang="zh-CN" altLang="en-US" sz="1300" b="1"/>
          </a:p>
          <a:p>
            <a:pPr marL="0" indent="0">
              <a:buNone/>
            </a:pPr>
            <a:r>
              <a:rPr lang="zh-CN" altLang="en-US" sz="1300"/>
              <a:t>检索关键词</a:t>
            </a:r>
            <a:endParaRPr lang="zh-CN" altLang="en-US" sz="1300"/>
          </a:p>
          <a:p>
            <a:pPr marL="0" indent="0">
              <a:buNone/>
            </a:pPr>
            <a:r>
              <a:rPr lang="zh-CN" altLang="en-US" sz="1300"/>
              <a:t>核心：</a:t>
            </a:r>
            <a:r>
              <a:rPr lang="en-US" altLang="zh-CN" sz="1300"/>
              <a:t> "home advantage" OR "host country effect" "Olympic medals" OR "Olympic Games"</a:t>
            </a:r>
            <a:endParaRPr lang="en-US" altLang="zh-CN" sz="1300"/>
          </a:p>
          <a:p>
            <a:pPr marL="0" indent="0">
              <a:buNone/>
            </a:pPr>
            <a:r>
              <a:rPr lang="zh-CN" altLang="en-US" sz="1300"/>
              <a:t>常见方法：</a:t>
            </a:r>
            <a:r>
              <a:rPr lang="en-US" altLang="zh-CN" sz="1300"/>
              <a:t> "fixed effects" OR "difference-in-differences" OR "propensity score"</a:t>
            </a:r>
            <a:endParaRPr lang="en-US" altLang="zh-CN" sz="1300"/>
          </a:p>
          <a:p>
            <a:pPr marL="0" indent="0">
              <a:buNone/>
            </a:pPr>
            <a:r>
              <a:rPr lang="zh-CN" altLang="en-US" sz="1300"/>
              <a:t>交叉：</a:t>
            </a:r>
            <a:r>
              <a:rPr lang="en-US" altLang="zh-CN" sz="1300"/>
              <a:t> "sport-specific advantage" OR "programme effect" OR "event structure" Olympics</a:t>
            </a:r>
            <a:endParaRPr lang="en-US" altLang="zh-CN" sz="1300"/>
          </a:p>
          <a:p>
            <a:pPr marL="0" indent="0">
              <a:buNone/>
            </a:pPr>
            <a:r>
              <a:rPr lang="en-US" altLang="zh-CN" sz="1300"/>
              <a:t>The less obvious effect of hosting the Olympics on sporting performance (2022)</a:t>
            </a:r>
            <a:endParaRPr lang="en-US" altLang="zh-CN" sz="1300"/>
          </a:p>
          <a:p>
            <a:pPr marL="0" indent="0">
              <a:buNone/>
            </a:pPr>
            <a:r>
              <a:rPr lang="en-US" altLang="zh-CN" sz="1300"/>
              <a:t>DOI: 10.1038/s41598-022-27259-8 (Nature, Scopus) </a:t>
            </a:r>
            <a:r>
              <a:rPr lang="en-US" altLang="en-US" sz="1300"/>
              <a:t>→</a:t>
            </a:r>
            <a:r>
              <a:rPr lang="en-US" altLang="zh-CN" sz="1300"/>
              <a:t> Zero-inflated</a:t>
            </a:r>
            <a:r>
              <a:rPr lang="zh-CN" altLang="en-US" sz="1300"/>
              <a:t>模型量化东道主效应</a:t>
            </a:r>
            <a:endParaRPr lang="zh-CN" altLang="en-US" sz="1300"/>
          </a:p>
          <a:p>
            <a:pPr marL="0" indent="0">
              <a:buNone/>
            </a:pPr>
            <a:r>
              <a:rPr lang="en-US" altLang="zh-CN" sz="1300"/>
              <a:t>How big is home advantage at the Olympic Games? (2021)</a:t>
            </a:r>
            <a:endParaRPr lang="en-US" altLang="zh-CN" sz="1300"/>
          </a:p>
          <a:p>
            <a:pPr marL="0" indent="0">
              <a:buNone/>
            </a:pPr>
            <a:r>
              <a:rPr lang="en-US" altLang="zh-CN" sz="1300"/>
              <a:t>University of Reading working paper (</a:t>
            </a:r>
            <a:r>
              <a:rPr lang="zh-CN" altLang="en-US" sz="1300"/>
              <a:t>后续</a:t>
            </a:r>
            <a:r>
              <a:rPr lang="en-US" altLang="zh-CN" sz="1300"/>
              <a:t>Scopus</a:t>
            </a:r>
            <a:r>
              <a:rPr lang="zh-CN" altLang="en-US" sz="1300"/>
              <a:t>收录</a:t>
            </a:r>
            <a:r>
              <a:rPr lang="en-US" altLang="zh-CN" sz="1300"/>
              <a:t>) </a:t>
            </a:r>
            <a:r>
              <a:rPr lang="en-US" altLang="en-US" sz="1300"/>
              <a:t>→</a:t>
            </a:r>
            <a:r>
              <a:rPr lang="en-US" altLang="zh-CN" sz="1300"/>
              <a:t> </a:t>
            </a:r>
            <a:r>
              <a:rPr lang="zh-CN" altLang="en-US" sz="1300"/>
              <a:t>时间趋势分析</a:t>
            </a:r>
            <a:endParaRPr lang="zh-CN" altLang="en-US" sz="1300"/>
          </a:p>
          <a:p>
            <a:pPr marL="0" indent="0">
              <a:buNone/>
            </a:pPr>
            <a:r>
              <a:rPr lang="en-US" altLang="zh-CN" sz="1300"/>
              <a:t>HOME ADVANTAGE IN THE OLYMPIC GAMES (</a:t>
            </a:r>
            <a:r>
              <a:rPr lang="zh-CN" altLang="en-US" sz="1300"/>
              <a:t>经典</a:t>
            </a:r>
            <a:r>
              <a:rPr lang="en-US" altLang="zh-CN" sz="1300"/>
              <a:t>, ~2000s–2010s) </a:t>
            </a:r>
            <a:r>
              <a:rPr lang="zh-CN" altLang="en-US" sz="1300"/>
              <a:t>多篇</a:t>
            </a:r>
            <a:endParaRPr lang="en-US" altLang="zh-CN" sz="1300"/>
          </a:p>
          <a:p>
            <a:pPr marL="0" indent="0">
              <a:buNone/>
            </a:pPr>
            <a:r>
              <a:rPr lang="zh-CN" altLang="en-US" sz="1300"/>
              <a:t>常见模型框架：</a:t>
            </a:r>
            <a:r>
              <a:rPr lang="en-US" altLang="zh-CN" sz="1300"/>
              <a:t>DID (</a:t>
            </a:r>
            <a:r>
              <a:rPr lang="zh-CN" altLang="en-US" sz="1300"/>
              <a:t>前后对比</a:t>
            </a:r>
            <a:r>
              <a:rPr lang="en-US" altLang="zh-CN" sz="1300"/>
              <a:t>)</a:t>
            </a:r>
            <a:r>
              <a:rPr lang="zh-CN" altLang="en-US" sz="1300"/>
              <a:t>、</a:t>
            </a:r>
            <a:r>
              <a:rPr lang="en-US" altLang="zh-CN" sz="1300"/>
              <a:t>Conditional logit per event</a:t>
            </a:r>
            <a:r>
              <a:rPr lang="zh-CN" altLang="en-US" sz="1300"/>
              <a:t>、</a:t>
            </a:r>
            <a:r>
              <a:rPr lang="en-US" altLang="zh-CN" sz="1300"/>
              <a:t>Zero-inflated Poisson for count</a:t>
            </a:r>
            <a:endParaRPr lang="en-US" altLang="zh-CN" sz="1300"/>
          </a:p>
          <a:p>
            <a:pPr marL="0" indent="0">
              <a:buNone/>
            </a:pPr>
            <a:r>
              <a:rPr lang="zh-CN" altLang="en-US" sz="1300"/>
              <a:t>解决的问题类型：因果识别</a:t>
            </a:r>
            <a:r>
              <a:rPr lang="en-US" altLang="zh-CN" sz="1300"/>
              <a:t>home bias</a:t>
            </a:r>
            <a:r>
              <a:rPr lang="zh-CN" altLang="en-US" sz="1300"/>
              <a:t>、项目数与奖牌产出的弹性、东道主新增项目偏好</a:t>
            </a:r>
            <a:endParaRPr lang="zh-CN" altLang="en-US" sz="1300"/>
          </a:p>
        </p:txBody>
      </p:sp>
    </p:spTree>
    <p:custDataLst>
      <p:tags r:id="rId2"/>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内容占位符 2"/>
          <p:cNvPicPr>
            <a:picLocks noChangeAspect="1"/>
          </p:cNvPicPr>
          <p:nvPr>
            <p:ph sz="quarter" idx="13"/>
            <p:custDataLst>
              <p:tags r:id="rId1"/>
            </p:custDataLst>
          </p:nvPr>
        </p:nvPicPr>
        <p:blipFill>
          <a:blip r:embed="rId2"/>
          <a:stretch>
            <a:fillRect/>
          </a:stretch>
        </p:blipFill>
        <p:spPr>
          <a:xfrm>
            <a:off x="3716020" y="774065"/>
            <a:ext cx="4756785" cy="5482590"/>
          </a:xfrm>
          <a:prstGeom prst="rect">
            <a:avLst/>
          </a:prstGeom>
        </p:spPr>
      </p:pic>
    </p:spTree>
    <p:custDataLst>
      <p:tags r:id="rId3"/>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sz="quarter" idx="13"/>
            <p:custDataLst>
              <p:tags r:id="rId1"/>
            </p:custDataLst>
          </p:nvPr>
        </p:nvSpPr>
        <p:spPr/>
        <p:txBody>
          <a:bodyPr>
            <a:normAutofit fontScale="90000"/>
          </a:bodyPr>
          <a:p>
            <a:pPr marL="0" indent="0">
              <a:buNone/>
            </a:pPr>
            <a:r>
              <a:rPr lang="zh-CN" altLang="en-US" b="1"/>
              <a:t>子问题</a:t>
            </a:r>
            <a:r>
              <a:rPr lang="en-US" altLang="zh-CN" b="1"/>
              <a:t>5</a:t>
            </a:r>
            <a:r>
              <a:rPr lang="zh-CN" altLang="en-US" b="1"/>
              <a:t>：</a:t>
            </a:r>
            <a:r>
              <a:rPr lang="en-US" altLang="zh-CN" b="1"/>
              <a:t>Great coach</a:t>
            </a:r>
            <a:r>
              <a:rPr lang="zh-CN" altLang="en-US" b="1"/>
              <a:t>效应</a:t>
            </a:r>
            <a:r>
              <a:rPr lang="en-US" altLang="zh-CN" b="1"/>
              <a:t> + </a:t>
            </a:r>
            <a:r>
              <a:rPr lang="zh-CN" altLang="en-US" b="1"/>
              <a:t>量化贡献</a:t>
            </a:r>
            <a:r>
              <a:rPr lang="en-US" altLang="zh-CN" b="1"/>
              <a:t> + </a:t>
            </a:r>
            <a:r>
              <a:rPr lang="zh-CN" altLang="en-US" b="1"/>
              <a:t>推荐国家</a:t>
            </a:r>
            <a:r>
              <a:rPr lang="en-US" altLang="zh-CN" b="1"/>
              <a:t>/</a:t>
            </a:r>
            <a:r>
              <a:rPr lang="zh-CN" altLang="en-US" b="1"/>
              <a:t>项目</a:t>
            </a:r>
            <a:endParaRPr lang="zh-CN" altLang="en-US" b="1"/>
          </a:p>
          <a:p>
            <a:pPr marL="0" indent="0">
              <a:buNone/>
            </a:pPr>
            <a:r>
              <a:rPr lang="zh-CN" altLang="en-US"/>
              <a:t>检索关键词</a:t>
            </a:r>
            <a:endParaRPr lang="zh-CN" altLang="en-US"/>
          </a:p>
          <a:p>
            <a:pPr marL="0" indent="0">
              <a:buNone/>
            </a:pPr>
            <a:r>
              <a:rPr lang="zh-CN" altLang="en-US"/>
              <a:t>核心：</a:t>
            </a:r>
            <a:r>
              <a:rPr lang="en-US" altLang="zh-CN"/>
              <a:t> "coach effect" OR "coaching effect" OR "great coach" Olympic OR "coach migration" "performance" OR "medals"</a:t>
            </a:r>
            <a:endParaRPr lang="en-US" altLang="zh-CN"/>
          </a:p>
          <a:p>
            <a:pPr marL="0" indent="0">
              <a:buNone/>
            </a:pPr>
            <a:r>
              <a:rPr lang="zh-CN" altLang="en-US"/>
              <a:t>常见方法：</a:t>
            </a:r>
            <a:r>
              <a:rPr lang="en-US" altLang="zh-CN"/>
              <a:t> "propensity score matching" OR "synthetic control" OR "difference-in-differences" OR "causal inference"</a:t>
            </a:r>
            <a:endParaRPr lang="en-US" altLang="zh-CN"/>
          </a:p>
          <a:p>
            <a:pPr marL="0" indent="0">
              <a:buNone/>
            </a:pPr>
            <a:r>
              <a:rPr lang="zh-CN" altLang="en-US"/>
              <a:t>交叉：</a:t>
            </a:r>
            <a:r>
              <a:rPr lang="en-US" altLang="zh-CN"/>
              <a:t> "human capital transfer" OR "knowledge spillover" coaching "sports"</a:t>
            </a:r>
            <a:endParaRPr lang="en-US" altLang="zh-CN"/>
          </a:p>
          <a:p>
            <a:pPr marL="0" indent="0">
              <a:buNone/>
            </a:pPr>
            <a:r>
              <a:rPr lang="zh-CN" altLang="en-US"/>
              <a:t>代表性论文（直接主题极少，多为</a:t>
            </a:r>
            <a:r>
              <a:rPr lang="en-US" altLang="zh-CN"/>
              <a:t>2020</a:t>
            </a:r>
            <a:r>
              <a:rPr lang="zh-CN" altLang="en-US"/>
              <a:t>年后学生竞赛衍生）</a:t>
            </a:r>
            <a:endParaRPr lang="en-US" altLang="zh-CN"/>
          </a:p>
          <a:p>
            <a:pPr marL="0" indent="0">
              <a:buNone/>
            </a:pPr>
            <a:r>
              <a:rPr lang="zh-CN" altLang="en-US"/>
              <a:t>纯学术高水平论文罕见；间接：</a:t>
            </a:r>
            <a:r>
              <a:rPr lang="en-US" altLang="zh-CN"/>
              <a:t>The less obvious effect... (2022) </a:t>
            </a:r>
            <a:r>
              <a:rPr lang="zh-CN" altLang="en-US"/>
              <a:t>有类似流动效应讨论</a:t>
            </a:r>
            <a:endParaRPr lang="zh-CN" altLang="en-US"/>
          </a:p>
          <a:p>
            <a:pPr marL="0" indent="0">
              <a:buNone/>
            </a:pPr>
            <a:r>
              <a:rPr lang="zh-CN" altLang="en-US"/>
              <a:t>多见于会议</a:t>
            </a:r>
            <a:r>
              <a:rPr lang="en-US" altLang="zh-CN"/>
              <a:t>/</a:t>
            </a:r>
            <a:r>
              <a:rPr lang="zh-CN" altLang="en-US"/>
              <a:t>学生论文，如</a:t>
            </a:r>
            <a:r>
              <a:rPr lang="en-US" altLang="zh-CN"/>
              <a:t> SPIE </a:t>
            </a:r>
            <a:r>
              <a:rPr lang="zh-CN" altLang="en-US"/>
              <a:t>或</a:t>
            </a:r>
            <a:r>
              <a:rPr lang="en-US" altLang="zh-CN"/>
              <a:t> ACM </a:t>
            </a:r>
            <a:r>
              <a:rPr lang="zh-CN" altLang="en-US"/>
              <a:t>衍生（但非顶级期刊）</a:t>
            </a:r>
            <a:endParaRPr lang="en-US" altLang="zh-CN"/>
          </a:p>
          <a:p>
            <a:pPr marL="0" indent="0">
              <a:buNone/>
            </a:pPr>
            <a:r>
              <a:rPr lang="zh-CN" altLang="en-US"/>
              <a:t>常见模型框架：</a:t>
            </a:r>
            <a:r>
              <a:rPr lang="en-US" altLang="zh-CN"/>
              <a:t>PSM + DID</a:t>
            </a:r>
            <a:r>
              <a:rPr lang="zh-CN" altLang="en-US"/>
              <a:t>、</a:t>
            </a:r>
            <a:r>
              <a:rPr lang="en-US" altLang="zh-CN"/>
              <a:t>Synthetic Control Method (SCM)</a:t>
            </a:r>
            <a:r>
              <a:rPr lang="zh-CN" altLang="en-US"/>
              <a:t>、</a:t>
            </a:r>
            <a:r>
              <a:rPr lang="en-US" altLang="zh-CN"/>
              <a:t>Event study around coach change</a:t>
            </a:r>
            <a:endParaRPr lang="en-US" altLang="zh-CN"/>
          </a:p>
          <a:p>
            <a:pPr marL="0" indent="0">
              <a:buNone/>
            </a:pPr>
            <a:r>
              <a:rPr lang="zh-CN" altLang="en-US"/>
              <a:t>解决的问题类型：非随机干预的因果效应估计、知识</a:t>
            </a:r>
            <a:r>
              <a:rPr lang="en-US" altLang="zh-CN"/>
              <a:t>/</a:t>
            </a:r>
            <a:r>
              <a:rPr lang="zh-CN" altLang="en-US"/>
              <a:t>技术转移量化、政策干预模拟</a:t>
            </a:r>
            <a:endParaRPr lang="zh-CN" altLang="en-US"/>
          </a:p>
        </p:txBody>
      </p:sp>
    </p:spTree>
    <p:custDataLst>
      <p:tags r:id="rId2"/>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内容占位符 2"/>
          <p:cNvPicPr>
            <a:picLocks noChangeAspect="1"/>
          </p:cNvPicPr>
          <p:nvPr>
            <p:ph sz="quarter" idx="13"/>
            <p:custDataLst>
              <p:tags r:id="rId1"/>
            </p:custDataLst>
          </p:nvPr>
        </p:nvPicPr>
        <p:blipFill>
          <a:blip r:embed="rId2"/>
          <a:stretch>
            <a:fillRect/>
          </a:stretch>
        </p:blipFill>
        <p:spPr>
          <a:xfrm>
            <a:off x="2830195" y="774065"/>
            <a:ext cx="6527800" cy="5482590"/>
          </a:xfrm>
          <a:prstGeom prst="rect">
            <a:avLst/>
          </a:prstGeom>
        </p:spPr>
      </p:pic>
    </p:spTree>
    <p:custDataLst>
      <p:tags r:id="rId3"/>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sz="quarter" idx="13"/>
            <p:custDataLst>
              <p:tags r:id="rId1"/>
            </p:custDataLst>
          </p:nvPr>
        </p:nvSpPr>
        <p:spPr/>
        <p:txBody>
          <a:bodyPr>
            <a:normAutofit/>
          </a:bodyPr>
          <a:p>
            <a:pPr marL="0" indent="0">
              <a:buNone/>
            </a:pPr>
            <a:r>
              <a:rPr lang="zh-CN" altLang="en-US" b="1"/>
              <a:t>子问题</a:t>
            </a:r>
            <a:r>
              <a:rPr lang="en-US" altLang="zh-CN" b="1"/>
              <a:t>6</a:t>
            </a:r>
            <a:r>
              <a:rPr lang="zh-CN" altLang="en-US" b="1"/>
              <a:t>：其他原创洞见（政策建议）</a:t>
            </a:r>
            <a:endParaRPr lang="zh-CN" altLang="en-US" b="1"/>
          </a:p>
          <a:p>
            <a:pPr marL="0" indent="0">
              <a:buNone/>
            </a:pPr>
            <a:r>
              <a:rPr lang="zh-CN" altLang="en-US"/>
              <a:t>检索关键词</a:t>
            </a:r>
            <a:endParaRPr lang="zh-CN" altLang="en-US"/>
          </a:p>
          <a:p>
            <a:pPr marL="0" indent="0">
              <a:buNone/>
            </a:pPr>
            <a:r>
              <a:rPr lang="zh-CN" altLang="en-US"/>
              <a:t>核心：</a:t>
            </a:r>
            <a:r>
              <a:rPr lang="en-US" altLang="zh-CN"/>
              <a:t> "determinants of Olympic success" OR "socio-economic factors Olympic medals" OR "policy implications" Olympic performance</a:t>
            </a:r>
            <a:endParaRPr lang="en-US" altLang="zh-CN"/>
          </a:p>
          <a:p>
            <a:pPr marL="0" indent="0">
              <a:buNone/>
            </a:pPr>
            <a:r>
              <a:rPr lang="zh-CN" altLang="en-US"/>
              <a:t>常见方法：</a:t>
            </a:r>
            <a:r>
              <a:rPr lang="en-US" altLang="zh-CN"/>
              <a:t> "panel data" OR "fixed effects" OR "structural equation modeling"</a:t>
            </a:r>
            <a:endParaRPr lang="en-US" altLang="zh-CN"/>
          </a:p>
          <a:p>
            <a:pPr marL="0" indent="0">
              <a:buNone/>
            </a:pPr>
            <a:r>
              <a:rPr lang="zh-CN" altLang="en-US"/>
              <a:t>交叉：</a:t>
            </a:r>
            <a:r>
              <a:rPr lang="en-US" altLang="zh-CN"/>
              <a:t> "gender equality" "Olympic" OR "investment efficiency" "sports policy"</a:t>
            </a:r>
            <a:endParaRPr lang="en-US" altLang="zh-CN"/>
          </a:p>
          <a:p>
            <a:pPr marL="0" indent="0">
              <a:buNone/>
            </a:pPr>
            <a:r>
              <a:rPr lang="zh-CN" altLang="en-US"/>
              <a:t>代表性论文</a:t>
            </a:r>
            <a:endParaRPr lang="en-US" altLang="zh-CN"/>
          </a:p>
          <a:p>
            <a:pPr marL="0" indent="0">
              <a:buNone/>
            </a:pPr>
            <a:r>
              <a:rPr lang="en-US" altLang="zh-CN"/>
              <a:t>Predicting Olympic Medal Counts: the Effects of Economic Development... (2005–</a:t>
            </a:r>
            <a:r>
              <a:rPr lang="zh-CN" altLang="en-US"/>
              <a:t>后续多篇</a:t>
            </a:r>
            <a:r>
              <a:rPr lang="en-US" altLang="zh-CN"/>
              <a:t>)</a:t>
            </a:r>
            <a:endParaRPr lang="en-US" altLang="zh-CN"/>
          </a:p>
          <a:p>
            <a:pPr marL="0" indent="0">
              <a:buNone/>
            </a:pPr>
            <a:r>
              <a:rPr lang="en-US" altLang="zh-CN"/>
              <a:t>Forecasting the Olympic medal distribution (2022) – </a:t>
            </a:r>
            <a:r>
              <a:rPr lang="zh-CN" altLang="en-US"/>
              <a:t>讨论政策含义</a:t>
            </a:r>
            <a:endParaRPr lang="en-US" altLang="zh-CN"/>
          </a:p>
          <a:p>
            <a:pPr marL="0" indent="0">
              <a:buNone/>
            </a:pPr>
            <a:r>
              <a:rPr lang="zh-CN" altLang="en-US"/>
              <a:t>常见模型框架：</a:t>
            </a:r>
            <a:r>
              <a:rPr lang="en-US" altLang="zh-CN"/>
              <a:t>Panel fixed effects</a:t>
            </a:r>
            <a:r>
              <a:rPr lang="zh-CN" altLang="en-US"/>
              <a:t>、</a:t>
            </a:r>
            <a:r>
              <a:rPr lang="en-US" altLang="zh-CN"/>
              <a:t>Instrumental variables</a:t>
            </a:r>
            <a:r>
              <a:rPr lang="zh-CN" altLang="en-US"/>
              <a:t>、</a:t>
            </a:r>
            <a:r>
              <a:rPr lang="en-US" altLang="zh-CN"/>
              <a:t>Mediation analysis</a:t>
            </a:r>
            <a:endParaRPr lang="en-US" altLang="zh-CN"/>
          </a:p>
          <a:p>
            <a:pPr marL="0" indent="0">
              <a:buNone/>
            </a:pPr>
            <a:r>
              <a:rPr lang="zh-CN" altLang="en-US"/>
              <a:t>解决的问题类型：长期驱动因素分解、投资回报分析、国家战略优化</a:t>
            </a:r>
            <a:endParaRPr lang="zh-CN" altLang="en-US"/>
          </a:p>
        </p:txBody>
      </p:sp>
    </p:spTree>
    <p:custDataLst>
      <p:tags r:id="rId2"/>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内容占位符 2"/>
          <p:cNvPicPr>
            <a:picLocks noChangeAspect="1"/>
          </p:cNvPicPr>
          <p:nvPr>
            <p:ph sz="quarter" idx="13"/>
            <p:custDataLst>
              <p:tags r:id="rId1"/>
            </p:custDataLst>
          </p:nvPr>
        </p:nvPicPr>
        <p:blipFill>
          <a:blip r:embed="rId2"/>
          <a:stretch>
            <a:fillRect/>
          </a:stretch>
        </p:blipFill>
        <p:spPr>
          <a:xfrm>
            <a:off x="3561080" y="774065"/>
            <a:ext cx="5066030" cy="5482590"/>
          </a:xfrm>
          <a:prstGeom prst="rect">
            <a:avLst/>
          </a:prstGeom>
        </p:spPr>
      </p:pic>
    </p:spTree>
    <p:custDataLst>
      <p:tags r:id="rId3"/>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每个问题：初步思路</a:t>
            </a:r>
            <a:r>
              <a:rPr lang="en-US" altLang="zh-CN"/>
              <a:t> </a:t>
            </a:r>
            <a:r>
              <a:rPr lang="en-US" altLang="en-US"/>
              <a:t>→</a:t>
            </a:r>
            <a:r>
              <a:rPr lang="en-US" altLang="zh-CN"/>
              <a:t> </a:t>
            </a:r>
            <a:r>
              <a:rPr lang="zh-CN" altLang="en-US"/>
              <a:t>文献后升级建模方案</a:t>
            </a:r>
            <a:endParaRPr lang="zh-CN" altLang="en-US"/>
          </a:p>
        </p:txBody>
      </p:sp>
      <p:sp>
        <p:nvSpPr>
          <p:cNvPr id="3" name="内容占位符 2"/>
          <p:cNvSpPr>
            <a:spLocks noGrp="1"/>
          </p:cNvSpPr>
          <p:nvPr>
            <p:ph idx="1"/>
            <p:custDataLst>
              <p:tags r:id="rId2"/>
            </p:custDataLst>
          </p:nvPr>
        </p:nvSpPr>
        <p:spPr/>
        <p:txBody>
          <a:bodyPr>
            <a:normAutofit lnSpcReduction="10000"/>
          </a:bodyPr>
          <a:p>
            <a:pPr marL="0" indent="0">
              <a:buNone/>
            </a:pPr>
            <a:r>
              <a:rPr lang="zh-CN" altLang="en-US">
                <a:latin typeface="宋体" panose="02010600030101010101" pitchFamily="2" charset="-122"/>
                <a:ea typeface="宋体" panose="02010600030101010101" pitchFamily="2" charset="-122"/>
                <a:cs typeface="宋体" panose="02010600030101010101" pitchFamily="2" charset="-122"/>
              </a:rPr>
              <a:t>你是一名擅长</a:t>
            </a:r>
            <a:r>
              <a:rPr lang="en-US" altLang="zh-CN">
                <a:latin typeface="宋体" panose="02010600030101010101" pitchFamily="2" charset="-122"/>
                <a:ea typeface="宋体" panose="02010600030101010101" pitchFamily="2" charset="-122"/>
                <a:cs typeface="宋体" panose="02010600030101010101" pitchFamily="2" charset="-122"/>
              </a:rPr>
              <a:t>“</a:t>
            </a:r>
            <a:r>
              <a:rPr lang="zh-CN" altLang="en-US">
                <a:latin typeface="宋体" panose="02010600030101010101" pitchFamily="2" charset="-122"/>
                <a:ea typeface="宋体" panose="02010600030101010101" pitchFamily="2" charset="-122"/>
                <a:cs typeface="宋体" panose="02010600030101010101" pitchFamily="2" charset="-122"/>
              </a:rPr>
              <a:t>从论文方法到竞赛模型落地</a:t>
            </a:r>
            <a:r>
              <a:rPr lang="en-US" altLang="zh-CN">
                <a:latin typeface="宋体" panose="02010600030101010101" pitchFamily="2" charset="-122"/>
                <a:ea typeface="宋体" panose="02010600030101010101" pitchFamily="2" charset="-122"/>
                <a:cs typeface="宋体" panose="02010600030101010101" pitchFamily="2" charset="-122"/>
              </a:rPr>
              <a:t>”</a:t>
            </a:r>
            <a:r>
              <a:rPr lang="zh-CN" altLang="en-US">
                <a:latin typeface="宋体" panose="02010600030101010101" pitchFamily="2" charset="-122"/>
                <a:ea typeface="宋体" panose="02010600030101010101" pitchFamily="2" charset="-122"/>
                <a:cs typeface="宋体" panose="02010600030101010101" pitchFamily="2" charset="-122"/>
              </a:rPr>
              <a:t>的建模顾问。</a:t>
            </a:r>
            <a:endParaRPr lang="zh-CN" altLang="en-US">
              <a:latin typeface="宋体" panose="02010600030101010101" pitchFamily="2" charset="-122"/>
              <a:ea typeface="宋体" panose="02010600030101010101" pitchFamily="2" charset="-122"/>
              <a:cs typeface="宋体" panose="02010600030101010101" pitchFamily="2" charset="-122"/>
            </a:endParaRPr>
          </a:p>
          <a:p>
            <a:pPr marL="0" indent="0">
              <a:buNone/>
            </a:pPr>
            <a:r>
              <a:rPr lang="zh-CN" altLang="en-US">
                <a:latin typeface="宋体" panose="02010600030101010101" pitchFamily="2" charset="-122"/>
                <a:ea typeface="宋体" panose="02010600030101010101" pitchFamily="2" charset="-122"/>
                <a:cs typeface="宋体" panose="02010600030101010101" pitchFamily="2" charset="-122"/>
              </a:rPr>
              <a:t>针对以上提取的各个子问题</a:t>
            </a:r>
            <a:r>
              <a:rPr lang="en-US" altLang="zh-CN">
                <a:latin typeface="宋体" panose="02010600030101010101" pitchFamily="2" charset="-122"/>
                <a:ea typeface="宋体" panose="02010600030101010101" pitchFamily="2" charset="-122"/>
                <a:cs typeface="宋体" panose="02010600030101010101" pitchFamily="2" charset="-122"/>
              </a:rPr>
              <a:t> </a:t>
            </a:r>
            <a:r>
              <a:rPr lang="zh-CN" altLang="en-US">
                <a:latin typeface="宋体" panose="02010600030101010101" pitchFamily="2" charset="-122"/>
                <a:ea typeface="宋体" panose="02010600030101010101" pitchFamily="2" charset="-122"/>
                <a:cs typeface="宋体" panose="02010600030101010101" pitchFamily="2" charset="-122"/>
              </a:rPr>
              <a:t>：</a:t>
            </a:r>
            <a:endParaRPr lang="en-US" altLang="zh-CN">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zh-CN">
                <a:latin typeface="宋体" panose="02010600030101010101" pitchFamily="2" charset="-122"/>
                <a:ea typeface="宋体" panose="02010600030101010101" pitchFamily="2" charset="-122"/>
                <a:cs typeface="宋体" panose="02010600030101010101" pitchFamily="2" charset="-122"/>
              </a:rPr>
              <a:t>1. </a:t>
            </a:r>
            <a:r>
              <a:rPr lang="zh-CN" altLang="en-US">
                <a:latin typeface="宋体" panose="02010600030101010101" pitchFamily="2" charset="-122"/>
                <a:ea typeface="宋体" panose="02010600030101010101" pitchFamily="2" charset="-122"/>
                <a:cs typeface="宋体" panose="02010600030101010101" pitchFamily="2" charset="-122"/>
              </a:rPr>
              <a:t>请给出一个不依赖具体论文的初步建模思路，包括：</a:t>
            </a:r>
            <a:endParaRPr lang="zh-CN" altLang="en-US">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zh-CN">
                <a:latin typeface="宋体" panose="02010600030101010101" pitchFamily="2" charset="-122"/>
                <a:ea typeface="宋体" panose="02010600030101010101" pitchFamily="2" charset="-122"/>
                <a:cs typeface="宋体" panose="02010600030101010101" pitchFamily="2" charset="-122"/>
              </a:rPr>
              <a:t>   - </a:t>
            </a:r>
            <a:r>
              <a:rPr lang="zh-CN" altLang="en-US">
                <a:latin typeface="宋体" panose="02010600030101010101" pitchFamily="2" charset="-122"/>
                <a:ea typeface="宋体" panose="02010600030101010101" pitchFamily="2" charset="-122"/>
                <a:cs typeface="宋体" panose="02010600030101010101" pitchFamily="2" charset="-122"/>
              </a:rPr>
              <a:t>模型类型选择理由</a:t>
            </a:r>
            <a:endParaRPr lang="zh-CN" altLang="en-US">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zh-CN">
                <a:latin typeface="宋体" panose="02010600030101010101" pitchFamily="2" charset="-122"/>
                <a:ea typeface="宋体" panose="02010600030101010101" pitchFamily="2" charset="-122"/>
                <a:cs typeface="宋体" panose="02010600030101010101" pitchFamily="2" charset="-122"/>
              </a:rPr>
              <a:t>   - </a:t>
            </a:r>
            <a:r>
              <a:rPr lang="zh-CN" altLang="en-US">
                <a:latin typeface="宋体" panose="02010600030101010101" pitchFamily="2" charset="-122"/>
                <a:ea typeface="宋体" panose="02010600030101010101" pitchFamily="2" charset="-122"/>
                <a:cs typeface="宋体" panose="02010600030101010101" pitchFamily="2" charset="-122"/>
              </a:rPr>
              <a:t>决策变量、状态变量</a:t>
            </a:r>
            <a:endParaRPr lang="zh-CN" altLang="en-US">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zh-CN">
                <a:latin typeface="宋体" panose="02010600030101010101" pitchFamily="2" charset="-122"/>
                <a:ea typeface="宋体" panose="02010600030101010101" pitchFamily="2" charset="-122"/>
                <a:cs typeface="宋体" panose="02010600030101010101" pitchFamily="2" charset="-122"/>
              </a:rPr>
              <a:t>   - </a:t>
            </a:r>
            <a:r>
              <a:rPr lang="zh-CN" altLang="en-US">
                <a:latin typeface="宋体" panose="02010600030101010101" pitchFamily="2" charset="-122"/>
                <a:ea typeface="宋体" panose="02010600030101010101" pitchFamily="2" charset="-122"/>
                <a:cs typeface="宋体" panose="02010600030101010101" pitchFamily="2" charset="-122"/>
              </a:rPr>
              <a:t>目标函数与约束</a:t>
            </a:r>
            <a:endParaRPr lang="zh-CN" altLang="en-US">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zh-CN">
                <a:latin typeface="宋体" panose="02010600030101010101" pitchFamily="2" charset="-122"/>
                <a:ea typeface="宋体" panose="02010600030101010101" pitchFamily="2" charset="-122"/>
                <a:cs typeface="宋体" panose="02010600030101010101" pitchFamily="2" charset="-122"/>
              </a:rPr>
              <a:t>   - </a:t>
            </a:r>
            <a:r>
              <a:rPr lang="zh-CN" altLang="en-US">
                <a:latin typeface="宋体" panose="02010600030101010101" pitchFamily="2" charset="-122"/>
                <a:ea typeface="宋体" panose="02010600030101010101" pitchFamily="2" charset="-122"/>
                <a:cs typeface="宋体" panose="02010600030101010101" pitchFamily="2" charset="-122"/>
              </a:rPr>
              <a:t>初始假设（尽量现实、可解释）</a:t>
            </a:r>
            <a:endParaRPr lang="en-US" altLang="zh-CN">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zh-CN">
                <a:latin typeface="宋体" panose="02010600030101010101" pitchFamily="2" charset="-122"/>
                <a:ea typeface="宋体" panose="02010600030101010101" pitchFamily="2" charset="-122"/>
                <a:cs typeface="宋体" panose="02010600030101010101" pitchFamily="2" charset="-122"/>
              </a:rPr>
              <a:t>2. </a:t>
            </a:r>
            <a:r>
              <a:rPr lang="zh-CN" altLang="en-US">
                <a:latin typeface="宋体" panose="02010600030101010101" pitchFamily="2" charset="-122"/>
                <a:ea typeface="宋体" panose="02010600030101010101" pitchFamily="2" charset="-122"/>
                <a:cs typeface="宋体" panose="02010600030101010101" pitchFamily="2" charset="-122"/>
              </a:rPr>
              <a:t>请指出该思路的潜在不足，以及后续可以通过文献补强的方向。</a:t>
            </a:r>
            <a:endParaRPr lang="zh-CN" altLang="en-US">
              <a:latin typeface="宋体" panose="02010600030101010101" pitchFamily="2" charset="-122"/>
              <a:ea typeface="宋体" panose="02010600030101010101" pitchFamily="2" charset="-122"/>
              <a:cs typeface="宋体" panose="02010600030101010101" pitchFamily="2" charset="-122"/>
            </a:endParaRPr>
          </a:p>
          <a:p>
            <a:pPr marL="0" indent="0">
              <a:buNone/>
            </a:pPr>
            <a:endParaRPr lang="zh-CN" altLang="en-US">
              <a:latin typeface="宋体" panose="02010600030101010101" pitchFamily="2" charset="-122"/>
              <a:ea typeface="宋体" panose="02010600030101010101" pitchFamily="2" charset="-122"/>
              <a:cs typeface="宋体" panose="02010600030101010101" pitchFamily="2" charset="-122"/>
            </a:endParaRPr>
          </a:p>
        </p:txBody>
      </p:sp>
    </p:spTree>
    <p:custDataLst>
      <p:tags r:id="rId3"/>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sym typeface="+mn-ea"/>
              </a:rPr>
              <a:t>每个问题：初步思路</a:t>
            </a:r>
            <a:r>
              <a:rPr lang="en-US" altLang="zh-CN">
                <a:sym typeface="+mn-ea"/>
              </a:rPr>
              <a:t> </a:t>
            </a:r>
            <a:r>
              <a:rPr lang="en-US" altLang="en-US">
                <a:sym typeface="+mn-ea"/>
              </a:rPr>
              <a:t>→</a:t>
            </a:r>
            <a:r>
              <a:rPr lang="en-US" altLang="zh-CN">
                <a:sym typeface="+mn-ea"/>
              </a:rPr>
              <a:t> </a:t>
            </a:r>
            <a:r>
              <a:rPr lang="zh-CN" altLang="en-US">
                <a:sym typeface="+mn-ea"/>
              </a:rPr>
              <a:t>文献后升级建模方案</a:t>
            </a:r>
            <a:endParaRPr lang="zh-CN" altLang="en-US"/>
          </a:p>
        </p:txBody>
      </p:sp>
      <p:sp>
        <p:nvSpPr>
          <p:cNvPr id="3" name="内容占位符 2"/>
          <p:cNvSpPr>
            <a:spLocks noGrp="1"/>
          </p:cNvSpPr>
          <p:nvPr>
            <p:ph idx="1"/>
            <p:custDataLst>
              <p:tags r:id="rId2"/>
            </p:custDataLst>
          </p:nvPr>
        </p:nvSpPr>
        <p:spPr/>
        <p:txBody>
          <a:bodyPr/>
          <a:p>
            <a:pPr marL="0" indent="0">
              <a:buNone/>
            </a:pPr>
            <a:r>
              <a:rPr lang="zh-CN" altLang="en-US">
                <a:latin typeface="宋体" panose="02010600030101010101" pitchFamily="2" charset="-122"/>
                <a:ea typeface="宋体" panose="02010600030101010101" pitchFamily="2" charset="-122"/>
                <a:cs typeface="宋体" panose="02010600030101010101" pitchFamily="2" charset="-122"/>
              </a:rPr>
              <a:t>我已查到以下论文方法（我将概述）：</a:t>
            </a:r>
            <a:endParaRPr lang="en-US" altLang="zh-CN">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zh-CN">
                <a:latin typeface="宋体" panose="02010600030101010101" pitchFamily="2" charset="-122"/>
                <a:ea typeface="宋体" panose="02010600030101010101" pitchFamily="2" charset="-122"/>
                <a:cs typeface="宋体" panose="02010600030101010101" pitchFamily="2" charset="-122"/>
              </a:rPr>
              <a:t>1. </a:t>
            </a:r>
            <a:r>
              <a:rPr lang="zh-CN" altLang="en-US">
                <a:latin typeface="宋体" panose="02010600030101010101" pitchFamily="2" charset="-122"/>
                <a:ea typeface="宋体" panose="02010600030101010101" pitchFamily="2" charset="-122"/>
                <a:cs typeface="宋体" panose="02010600030101010101" pitchFamily="2" charset="-122"/>
              </a:rPr>
              <a:t>请分析该方法与题目、数据的适配性</a:t>
            </a:r>
            <a:endParaRPr lang="zh-CN" altLang="en-US">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zh-CN">
                <a:latin typeface="宋体" panose="02010600030101010101" pitchFamily="2" charset="-122"/>
                <a:ea typeface="宋体" panose="02010600030101010101" pitchFamily="2" charset="-122"/>
                <a:cs typeface="宋体" panose="02010600030101010101" pitchFamily="2" charset="-122"/>
              </a:rPr>
              <a:t>2. </a:t>
            </a:r>
            <a:r>
              <a:rPr lang="zh-CN" altLang="en-US">
                <a:latin typeface="宋体" panose="02010600030101010101" pitchFamily="2" charset="-122"/>
                <a:ea typeface="宋体" panose="02010600030101010101" pitchFamily="2" charset="-122"/>
                <a:cs typeface="宋体" panose="02010600030101010101" pitchFamily="2" charset="-122"/>
              </a:rPr>
              <a:t>在不违背竞赛合理性的前提下，帮我：</a:t>
            </a:r>
            <a:endParaRPr lang="zh-CN" altLang="en-US">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zh-CN">
                <a:latin typeface="宋体" panose="02010600030101010101" pitchFamily="2" charset="-122"/>
                <a:ea typeface="宋体" panose="02010600030101010101" pitchFamily="2" charset="-122"/>
                <a:cs typeface="宋体" panose="02010600030101010101" pitchFamily="2" charset="-122"/>
              </a:rPr>
              <a:t>   - </a:t>
            </a:r>
            <a:r>
              <a:rPr lang="zh-CN" altLang="en-US">
                <a:latin typeface="宋体" panose="02010600030101010101" pitchFamily="2" charset="-122"/>
                <a:ea typeface="宋体" panose="02010600030101010101" pitchFamily="2" charset="-122"/>
                <a:cs typeface="宋体" panose="02010600030101010101" pitchFamily="2" charset="-122"/>
              </a:rPr>
              <a:t>调整变量定义</a:t>
            </a:r>
            <a:endParaRPr lang="zh-CN" altLang="en-US">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zh-CN">
                <a:latin typeface="宋体" panose="02010600030101010101" pitchFamily="2" charset="-122"/>
                <a:ea typeface="宋体" panose="02010600030101010101" pitchFamily="2" charset="-122"/>
                <a:cs typeface="宋体" panose="02010600030101010101" pitchFamily="2" charset="-122"/>
              </a:rPr>
              <a:t>   - </a:t>
            </a:r>
            <a:r>
              <a:rPr lang="zh-CN" altLang="en-US">
                <a:latin typeface="宋体" panose="02010600030101010101" pitchFamily="2" charset="-122"/>
                <a:ea typeface="宋体" panose="02010600030101010101" pitchFamily="2" charset="-122"/>
                <a:cs typeface="宋体" panose="02010600030101010101" pitchFamily="2" charset="-122"/>
              </a:rPr>
              <a:t>修改假设条件</a:t>
            </a:r>
            <a:endParaRPr lang="zh-CN" altLang="en-US">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zh-CN">
                <a:latin typeface="宋体" panose="02010600030101010101" pitchFamily="2" charset="-122"/>
                <a:ea typeface="宋体" panose="02010600030101010101" pitchFamily="2" charset="-122"/>
                <a:cs typeface="宋体" panose="02010600030101010101" pitchFamily="2" charset="-122"/>
              </a:rPr>
              <a:t>   - </a:t>
            </a:r>
            <a:r>
              <a:rPr lang="zh-CN" altLang="en-US">
                <a:latin typeface="宋体" panose="02010600030101010101" pitchFamily="2" charset="-122"/>
                <a:ea typeface="宋体" panose="02010600030101010101" pitchFamily="2" charset="-122"/>
                <a:cs typeface="宋体" panose="02010600030101010101" pitchFamily="2" charset="-122"/>
              </a:rPr>
              <a:t>简化或增强模型结构</a:t>
            </a:r>
            <a:endParaRPr lang="zh-CN" altLang="en-US">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zh-CN">
                <a:latin typeface="宋体" panose="02010600030101010101" pitchFamily="2" charset="-122"/>
                <a:ea typeface="宋体" panose="02010600030101010101" pitchFamily="2" charset="-122"/>
                <a:cs typeface="宋体" panose="02010600030101010101" pitchFamily="2" charset="-122"/>
              </a:rPr>
              <a:t>3. </a:t>
            </a:r>
            <a:r>
              <a:rPr lang="zh-CN" altLang="en-US">
                <a:latin typeface="宋体" panose="02010600030101010101" pitchFamily="2" charset="-122"/>
                <a:ea typeface="宋体" panose="02010600030101010101" pitchFamily="2" charset="-122"/>
                <a:cs typeface="宋体" panose="02010600030101010101" pitchFamily="2" charset="-122"/>
              </a:rPr>
              <a:t>给出</a:t>
            </a:r>
            <a:r>
              <a:rPr lang="en-US" altLang="zh-CN">
                <a:latin typeface="宋体" panose="02010600030101010101" pitchFamily="2" charset="-122"/>
                <a:ea typeface="宋体" panose="02010600030101010101" pitchFamily="2" charset="-122"/>
                <a:cs typeface="宋体" panose="02010600030101010101" pitchFamily="2" charset="-122"/>
              </a:rPr>
              <a:t>“</a:t>
            </a:r>
            <a:r>
              <a:rPr lang="zh-CN" altLang="en-US">
                <a:latin typeface="宋体" panose="02010600030101010101" pitchFamily="2" charset="-122"/>
                <a:ea typeface="宋体" panose="02010600030101010101" pitchFamily="2" charset="-122"/>
                <a:cs typeface="宋体" panose="02010600030101010101" pitchFamily="2" charset="-122"/>
              </a:rPr>
              <a:t>竞赛可实现版本</a:t>
            </a:r>
            <a:r>
              <a:rPr lang="en-US" altLang="zh-CN">
                <a:latin typeface="宋体" panose="02010600030101010101" pitchFamily="2" charset="-122"/>
                <a:ea typeface="宋体" panose="02010600030101010101" pitchFamily="2" charset="-122"/>
                <a:cs typeface="宋体" panose="02010600030101010101" pitchFamily="2" charset="-122"/>
              </a:rPr>
              <a:t>”</a:t>
            </a:r>
            <a:r>
              <a:rPr lang="zh-CN" altLang="en-US">
                <a:latin typeface="宋体" panose="02010600030101010101" pitchFamily="2" charset="-122"/>
                <a:ea typeface="宋体" panose="02010600030101010101" pitchFamily="2" charset="-122"/>
                <a:cs typeface="宋体" panose="02010600030101010101" pitchFamily="2" charset="-122"/>
              </a:rPr>
              <a:t>的最终模型框架</a:t>
            </a:r>
            <a:endParaRPr lang="zh-CN" altLang="en-US">
              <a:latin typeface="宋体" panose="02010600030101010101" pitchFamily="2" charset="-122"/>
              <a:ea typeface="宋体" panose="02010600030101010101" pitchFamily="2" charset="-122"/>
              <a:cs typeface="宋体" panose="02010600030101010101" pitchFamily="2" charset="-122"/>
            </a:endParaRPr>
          </a:p>
          <a:p>
            <a:pPr marL="0" indent="0">
              <a:buNone/>
            </a:pPr>
            <a:endParaRPr lang="zh-CN" altLang="en-US">
              <a:latin typeface="宋体" panose="02010600030101010101" pitchFamily="2" charset="-122"/>
              <a:ea typeface="宋体" panose="02010600030101010101" pitchFamily="2" charset="-122"/>
              <a:cs typeface="宋体" panose="02010600030101010101" pitchFamily="2" charset="-122"/>
            </a:endParaRPr>
          </a:p>
        </p:txBody>
      </p:sp>
    </p:spTree>
    <p:custDataLst>
      <p:tags r:id="rId3"/>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normAutofit fontScale="90000"/>
          </a:bodyPr>
          <a:p>
            <a:br>
              <a:rPr lang="en-US" altLang="zh-CN" sz="2665"/>
            </a:br>
            <a:r>
              <a:rPr lang="zh-CN" altLang="en-US" sz="2665"/>
              <a:t>子问题</a:t>
            </a:r>
            <a:r>
              <a:rPr lang="en-US" altLang="zh-CN" sz="2665"/>
              <a:t>1</a:t>
            </a:r>
            <a:r>
              <a:rPr lang="zh-CN" altLang="en-US" sz="2665"/>
              <a:t>：奖牌计数模型（金牌</a:t>
            </a:r>
            <a:r>
              <a:rPr lang="en-US" altLang="zh-CN" sz="2665"/>
              <a:t>+</a:t>
            </a:r>
            <a:r>
              <a:rPr lang="zh-CN" altLang="en-US" sz="2665"/>
              <a:t>总牌）</a:t>
            </a:r>
            <a:r>
              <a:rPr lang="en-US" altLang="zh-CN" sz="2665"/>
              <a:t>+ </a:t>
            </a:r>
            <a:r>
              <a:rPr lang="zh-CN" altLang="en-US" sz="2665"/>
              <a:t>不确定性</a:t>
            </a:r>
            <a:r>
              <a:rPr lang="en-US" altLang="zh-CN" sz="2665"/>
              <a:t>/</a:t>
            </a:r>
            <a:r>
              <a:rPr lang="zh-CN" altLang="en-US" sz="2665"/>
              <a:t>模型性能评估</a:t>
            </a:r>
            <a:endParaRPr lang="zh-CN" altLang="en-US" sz="2665"/>
          </a:p>
        </p:txBody>
      </p:sp>
      <p:sp>
        <p:nvSpPr>
          <p:cNvPr id="3" name="内容占位符 2"/>
          <p:cNvSpPr>
            <a:spLocks noGrp="1"/>
          </p:cNvSpPr>
          <p:nvPr>
            <p:ph idx="1"/>
            <p:custDataLst>
              <p:tags r:id="rId2"/>
            </p:custDataLst>
          </p:nvPr>
        </p:nvSpPr>
        <p:spPr/>
        <p:txBody>
          <a:bodyPr>
            <a:noAutofit/>
          </a:bodyPr>
          <a:p>
            <a:pPr marL="0" indent="0">
              <a:buNone/>
            </a:pPr>
            <a:r>
              <a:rPr lang="en-US" altLang="zh-CN" sz="1200"/>
              <a:t>1. </a:t>
            </a:r>
            <a:r>
              <a:rPr lang="zh-CN" altLang="en-US" sz="1200"/>
              <a:t>初步建模思路</a:t>
            </a:r>
            <a:endParaRPr lang="en-US" altLang="zh-CN" sz="1200"/>
          </a:p>
          <a:p>
            <a:pPr marL="0" indent="0">
              <a:buNone/>
            </a:pPr>
            <a:r>
              <a:rPr lang="zh-CN" altLang="en-US" sz="1200"/>
              <a:t>模型类型选择理由：选择</a:t>
            </a:r>
            <a:r>
              <a:rPr lang="en-US" altLang="zh-CN" sz="1200"/>
              <a:t>Zero-Inflated Negative Binomial (ZINB)</a:t>
            </a:r>
            <a:r>
              <a:rPr lang="zh-CN" altLang="en-US" sz="1200"/>
              <a:t>回归模型，因为奖牌计数数据是过离散的非负整数（许多国家为</a:t>
            </a:r>
            <a:r>
              <a:rPr lang="en-US" altLang="zh-CN" sz="1200"/>
              <a:t>0</a:t>
            </a:r>
            <a:r>
              <a:rPr lang="zh-CN" altLang="en-US" sz="1200"/>
              <a:t>），</a:t>
            </a:r>
            <a:r>
              <a:rPr lang="en-US" altLang="zh-CN" sz="1200"/>
              <a:t>ZINB</a:t>
            </a:r>
            <a:r>
              <a:rPr lang="zh-CN" altLang="en-US" sz="1200"/>
              <a:t>能处理过量零值（</a:t>
            </a:r>
            <a:r>
              <a:rPr lang="zh-CN" altLang="en-US" sz="1200" b="1"/>
              <a:t>零膨胀部分建模</a:t>
            </a:r>
            <a:r>
              <a:rPr lang="en-US" altLang="zh-CN" sz="1200" b="1"/>
              <a:t>“</a:t>
            </a:r>
            <a:r>
              <a:rPr lang="zh-CN" altLang="en-US" sz="1200" b="1"/>
              <a:t>是否得牌</a:t>
            </a:r>
            <a:r>
              <a:rPr lang="en-US" altLang="zh-CN" sz="1200"/>
              <a:t>”</a:t>
            </a:r>
            <a:r>
              <a:rPr lang="zh-CN" altLang="en-US" sz="1200"/>
              <a:t>），并在计数部分捕捉方差大于均值的过离散特征。相比简单</a:t>
            </a:r>
            <a:r>
              <a:rPr lang="en-US" altLang="zh-CN" sz="1200"/>
              <a:t>Poisson</a:t>
            </a:r>
            <a:r>
              <a:rPr lang="zh-CN" altLang="en-US" sz="1200"/>
              <a:t>，它更现实地反映奥运奖牌的</a:t>
            </a:r>
            <a:r>
              <a:rPr lang="en-US" altLang="zh-CN" sz="1200"/>
              <a:t>“</a:t>
            </a:r>
            <a:r>
              <a:rPr lang="zh-CN" altLang="en-US" sz="1200"/>
              <a:t>马太效应</a:t>
            </a:r>
            <a:r>
              <a:rPr lang="en-US" altLang="zh-CN" sz="1200"/>
              <a:t>”</a:t>
            </a:r>
            <a:r>
              <a:rPr lang="zh-CN" altLang="en-US" sz="1200"/>
              <a:t>（强国垄断）。不确定性通过</a:t>
            </a:r>
            <a:r>
              <a:rPr lang="en-US" altLang="zh-CN" sz="1200"/>
              <a:t>Bootstrap</a:t>
            </a:r>
            <a:r>
              <a:rPr lang="zh-CN" altLang="en-US" sz="1200"/>
              <a:t>重采样或模拟后验分布量化，性能用</a:t>
            </a:r>
            <a:r>
              <a:rPr lang="en-US" altLang="zh-CN" sz="1200"/>
              <a:t>RMSE</a:t>
            </a:r>
            <a:r>
              <a:rPr lang="zh-CN" altLang="en-US" sz="1200"/>
              <a:t>、</a:t>
            </a:r>
            <a:r>
              <a:rPr lang="en-US" altLang="zh-CN" sz="1200"/>
              <a:t>MAE</a:t>
            </a:r>
            <a:r>
              <a:rPr lang="zh-CN" altLang="en-US" sz="1200"/>
              <a:t>和覆盖率评估。</a:t>
            </a:r>
            <a:endParaRPr lang="zh-CN" altLang="en-US" sz="1200"/>
          </a:p>
          <a:p>
            <a:pPr marL="0" indent="0">
              <a:buNone/>
            </a:pPr>
            <a:r>
              <a:rPr lang="zh-CN" altLang="en-US" sz="1200"/>
              <a:t>决策变量：国家投资水平（代理为历史奖牌</a:t>
            </a:r>
            <a:r>
              <a:rPr lang="en-US" altLang="zh-CN" sz="1200"/>
              <a:t>lag</a:t>
            </a:r>
            <a:r>
              <a:rPr lang="zh-CN" altLang="en-US" sz="1200"/>
              <a:t>值）、是否东道主（二元变量）。</a:t>
            </a:r>
            <a:endParaRPr lang="zh-CN" altLang="en-US" sz="1200"/>
          </a:p>
          <a:p>
            <a:pPr marL="0" indent="0">
              <a:buNone/>
            </a:pPr>
            <a:r>
              <a:rPr lang="zh-CN" altLang="en-US" sz="1200"/>
              <a:t>状态变量：国家历史奖牌均值、人口规模、</a:t>
            </a:r>
            <a:r>
              <a:rPr lang="en-US" altLang="zh-CN" sz="1200"/>
              <a:t>GDP</a:t>
            </a:r>
            <a:r>
              <a:rPr lang="zh-CN" altLang="en-US" sz="1200"/>
              <a:t>代理（从外部背景推断，但数据中无，直接用历史奖牌趋势代理）、奥运届数（时间序列）。</a:t>
            </a:r>
            <a:endParaRPr lang="zh-CN" altLang="en-US" sz="1200"/>
          </a:p>
          <a:p>
            <a:pPr marL="0" indent="0">
              <a:buNone/>
            </a:pPr>
            <a:r>
              <a:rPr lang="zh-CN" altLang="en-US" sz="1200"/>
              <a:t>目标函数与约束：最小化负对数似然（或均方误差在模拟中）；约束：奖牌总数不超过项目总奖牌数（历史中约</a:t>
            </a:r>
            <a:r>
              <a:rPr lang="en-US" altLang="zh-CN" sz="1200"/>
              <a:t>3</a:t>
            </a:r>
            <a:r>
              <a:rPr lang="zh-CN" altLang="en-US" sz="1200"/>
              <a:t>倍项目数），参数非负。</a:t>
            </a:r>
            <a:endParaRPr lang="zh-CN" altLang="en-US" sz="1200"/>
          </a:p>
          <a:p>
            <a:pPr marL="0" indent="0">
              <a:buNone/>
            </a:pPr>
            <a:r>
              <a:rPr lang="zh-CN" altLang="en-US" sz="1200"/>
              <a:t>初始假设：奖牌产出正相关于国家规模（人口</a:t>
            </a:r>
            <a:r>
              <a:rPr lang="en-US" altLang="zh-CN" sz="1200"/>
              <a:t>/GDP</a:t>
            </a:r>
            <a:r>
              <a:rPr lang="zh-CN" altLang="en-US" sz="1200"/>
              <a:t>），东道主有</a:t>
            </a:r>
            <a:r>
              <a:rPr lang="en-US" altLang="zh-CN" sz="1200"/>
              <a:t>10–20%</a:t>
            </a:r>
            <a:r>
              <a:rPr lang="zh-CN" altLang="en-US" sz="1200"/>
              <a:t>增益（基于历史观察）；时间平稳性（无重大规则变革）；独立性（国家间无直接竞争影响，忽略地缘政治）。</a:t>
            </a:r>
            <a:endParaRPr lang="en-US" altLang="zh-CN" sz="1200"/>
          </a:p>
          <a:p>
            <a:pPr marL="0" indent="0">
              <a:buNone/>
            </a:pPr>
            <a:r>
              <a:rPr lang="en-US" altLang="zh-CN" sz="1200"/>
              <a:t>2. </a:t>
            </a:r>
            <a:r>
              <a:rPr lang="zh-CN" altLang="en-US" sz="1200"/>
              <a:t>潜在不足及文献补强方向</a:t>
            </a:r>
            <a:endParaRPr lang="en-US" altLang="zh-CN" sz="1200"/>
          </a:p>
          <a:p>
            <a:pPr marL="0" indent="0">
              <a:buNone/>
            </a:pPr>
            <a:r>
              <a:rPr lang="zh-CN" altLang="en-US" sz="1200"/>
              <a:t>潜在不足：忽略时间相关性（</a:t>
            </a:r>
            <a:r>
              <a:rPr lang="en-US" altLang="zh-CN" sz="1200"/>
              <a:t>e.g. </a:t>
            </a:r>
            <a:r>
              <a:rPr lang="zh-CN" altLang="en-US" sz="1200"/>
              <a:t>连续届递减效应）和国家异质性（小国过拟合）；不确定性可能高估（</a:t>
            </a:r>
            <a:r>
              <a:rPr lang="en-US" altLang="zh-CN" sz="1200"/>
              <a:t>Bootstrap</a:t>
            </a:r>
            <a:r>
              <a:rPr lang="zh-CN" altLang="en-US" sz="1200"/>
              <a:t>假设独立抽样不符）。</a:t>
            </a:r>
            <a:endParaRPr lang="zh-CN" altLang="en-US" sz="1200"/>
          </a:p>
          <a:p>
            <a:pPr marL="0" indent="0">
              <a:buNone/>
            </a:pPr>
            <a:r>
              <a:rPr lang="zh-CN" altLang="en-US" sz="1200"/>
              <a:t>文献补强方向：引入分层贝叶斯（</a:t>
            </a:r>
            <a:r>
              <a:rPr lang="en-US" altLang="zh-CN" sz="1200"/>
              <a:t>hierarchical Bayesian</a:t>
            </a:r>
            <a:r>
              <a:rPr lang="zh-CN" altLang="en-US" sz="1200"/>
              <a:t>）处理异质性，从</a:t>
            </a:r>
            <a:r>
              <a:rPr lang="en-US" altLang="zh-CN" sz="1200"/>
              <a:t>“Bayesian hierarchical modeling Olympic”</a:t>
            </a:r>
            <a:r>
              <a:rPr lang="zh-CN" altLang="en-US" sz="1200"/>
              <a:t>论文中借鉴先验分布设计；用</a:t>
            </a:r>
            <a:r>
              <a:rPr lang="en-US" altLang="zh-CN" sz="1200"/>
              <a:t>ML</a:t>
            </a:r>
            <a:r>
              <a:rPr lang="zh-CN" altLang="en-US" sz="1200"/>
              <a:t>增强如</a:t>
            </a:r>
            <a:r>
              <a:rPr lang="en-US" altLang="zh-CN" sz="1200"/>
              <a:t>XGBoost</a:t>
            </a:r>
            <a:r>
              <a:rPr lang="zh-CN" altLang="en-US" sz="1200"/>
              <a:t>处理非线性，从</a:t>
            </a:r>
            <a:r>
              <a:rPr lang="en-US" altLang="zh-CN" sz="1200"/>
              <a:t>“machine learning Olympic prediction”</a:t>
            </a:r>
            <a:r>
              <a:rPr lang="zh-CN" altLang="en-US" sz="1200"/>
              <a:t>中学习特征工程。</a:t>
            </a:r>
            <a:endParaRPr lang="zh-CN" altLang="en-US" sz="1200"/>
          </a:p>
        </p:txBody>
      </p:sp>
    </p:spTree>
    <p:custDataLst>
      <p:tags r:id="rId3"/>
    </p:custData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normAutofit fontScale="90000"/>
          </a:bodyPr>
          <a:p>
            <a:r>
              <a:rPr lang="zh-CN" altLang="en-US"/>
              <a:t>子问题</a:t>
            </a:r>
            <a:r>
              <a:rPr lang="en-US" altLang="zh-CN"/>
              <a:t>2</a:t>
            </a:r>
            <a:r>
              <a:rPr lang="zh-CN" altLang="en-US"/>
              <a:t>：</a:t>
            </a:r>
            <a:r>
              <a:rPr lang="en-US" altLang="zh-CN"/>
              <a:t>2028</a:t>
            </a:r>
            <a:r>
              <a:rPr lang="zh-CN" altLang="en-US"/>
              <a:t>预测</a:t>
            </a:r>
            <a:r>
              <a:rPr lang="en-US" altLang="zh-CN"/>
              <a:t> + </a:t>
            </a:r>
            <a:r>
              <a:rPr lang="zh-CN" altLang="en-US"/>
              <a:t>预测区间</a:t>
            </a:r>
            <a:r>
              <a:rPr lang="en-US" altLang="zh-CN"/>
              <a:t> + </a:t>
            </a:r>
            <a:r>
              <a:rPr lang="zh-CN" altLang="en-US"/>
              <a:t>国家改进</a:t>
            </a:r>
            <a:r>
              <a:rPr lang="en-US" altLang="zh-CN"/>
              <a:t>/</a:t>
            </a:r>
            <a:r>
              <a:rPr lang="zh-CN" altLang="en-US"/>
              <a:t>下降判断</a:t>
            </a:r>
            <a:endParaRPr lang="zh-CN" altLang="en-US"/>
          </a:p>
        </p:txBody>
      </p:sp>
      <p:sp>
        <p:nvSpPr>
          <p:cNvPr id="3" name="内容占位符 2"/>
          <p:cNvSpPr>
            <a:spLocks noGrp="1"/>
          </p:cNvSpPr>
          <p:nvPr>
            <p:ph idx="1"/>
            <p:custDataLst>
              <p:tags r:id="rId2"/>
            </p:custDataLst>
          </p:nvPr>
        </p:nvSpPr>
        <p:spPr/>
        <p:txBody>
          <a:bodyPr>
            <a:normAutofit fontScale="80000"/>
          </a:bodyPr>
          <a:p>
            <a:pPr marL="0" indent="0">
              <a:buNone/>
            </a:pPr>
            <a:r>
              <a:rPr lang="en-US" altLang="zh-CN"/>
              <a:t>1. </a:t>
            </a:r>
            <a:r>
              <a:rPr lang="zh-CN" altLang="en-US"/>
              <a:t>初步建模思路</a:t>
            </a:r>
            <a:endParaRPr lang="en-US" altLang="zh-CN"/>
          </a:p>
          <a:p>
            <a:pPr marL="0" indent="0">
              <a:buNone/>
            </a:pPr>
            <a:r>
              <a:rPr lang="zh-CN" altLang="en-US"/>
              <a:t>模型类型选择理由：使用</a:t>
            </a:r>
            <a:r>
              <a:rPr lang="en-US" altLang="zh-CN"/>
              <a:t>ARIMA</a:t>
            </a:r>
            <a:r>
              <a:rPr lang="zh-CN" altLang="en-US"/>
              <a:t>时间序列模型结合外生变量（</a:t>
            </a:r>
            <a:r>
              <a:rPr lang="en-US" altLang="zh-CN"/>
              <a:t>ARIMAX</a:t>
            </a:r>
            <a:r>
              <a:rPr lang="zh-CN" altLang="en-US"/>
              <a:t>），因为历史奖牌有自相关趋势（</a:t>
            </a:r>
            <a:r>
              <a:rPr lang="en-US" altLang="zh-CN"/>
              <a:t>lag 1–2</a:t>
            </a:r>
            <a:r>
              <a:rPr lang="zh-CN" altLang="en-US"/>
              <a:t>届），易外推到</a:t>
            </a:r>
            <a:r>
              <a:rPr lang="en-US" altLang="zh-CN"/>
              <a:t>2028</a:t>
            </a:r>
            <a:r>
              <a:rPr lang="zh-CN" altLang="en-US"/>
              <a:t>；预测区间通过模拟误差分布或置信区间计算。相比静态回归，它捕捉动态改进</a:t>
            </a:r>
            <a:r>
              <a:rPr lang="en-US" altLang="zh-CN"/>
              <a:t>/</a:t>
            </a:r>
            <a:r>
              <a:rPr lang="zh-CN" altLang="en-US"/>
              <a:t>下降（如新兴国家上升趋势）。</a:t>
            </a:r>
            <a:endParaRPr lang="zh-CN" altLang="en-US"/>
          </a:p>
          <a:p>
            <a:pPr marL="0" indent="0">
              <a:buNone/>
            </a:pPr>
            <a:r>
              <a:rPr lang="zh-CN" altLang="en-US"/>
              <a:t>决策变量：假设</a:t>
            </a:r>
            <a:r>
              <a:rPr lang="en-US" altLang="zh-CN"/>
              <a:t>2028</a:t>
            </a:r>
            <a:r>
              <a:rPr lang="zh-CN" altLang="en-US"/>
              <a:t>项目数（基于历史趋势外推</a:t>
            </a:r>
            <a:r>
              <a:rPr lang="en-US" altLang="zh-CN"/>
              <a:t>+5%</a:t>
            </a:r>
            <a:r>
              <a:rPr lang="zh-CN" altLang="en-US"/>
              <a:t>增长）、东道主</a:t>
            </a:r>
            <a:r>
              <a:rPr lang="en-US" altLang="zh-CN"/>
              <a:t>USA dummy</a:t>
            </a:r>
            <a:r>
              <a:rPr lang="zh-CN" altLang="en-US"/>
              <a:t>。</a:t>
            </a:r>
            <a:endParaRPr lang="zh-CN" altLang="en-US"/>
          </a:p>
          <a:p>
            <a:pPr marL="0" indent="0">
              <a:buNone/>
            </a:pPr>
            <a:r>
              <a:rPr lang="zh-CN" altLang="en-US"/>
              <a:t>状态变量：每国过去</a:t>
            </a:r>
            <a:r>
              <a:rPr lang="en-US" altLang="zh-CN"/>
              <a:t>4</a:t>
            </a:r>
            <a:r>
              <a:rPr lang="zh-CN" altLang="en-US"/>
              <a:t>届奖牌序列、全球奖牌总量（项目数代理）。</a:t>
            </a:r>
            <a:endParaRPr lang="zh-CN" altLang="en-US"/>
          </a:p>
          <a:p>
            <a:pPr marL="0" indent="0">
              <a:buNone/>
            </a:pPr>
            <a:r>
              <a:rPr lang="zh-CN" altLang="en-US"/>
              <a:t>目标函数与约束：最小化</a:t>
            </a:r>
            <a:r>
              <a:rPr lang="en-US" altLang="zh-CN"/>
              <a:t>AIC/BIC</a:t>
            </a:r>
            <a:r>
              <a:rPr lang="zh-CN" altLang="en-US"/>
              <a:t>拟合优度；约束：预测值非负，总奖牌不超过预计项目数</a:t>
            </a:r>
            <a:r>
              <a:rPr lang="en-US" altLang="zh-CN"/>
              <a:t>*3</a:t>
            </a:r>
            <a:r>
              <a:rPr lang="zh-CN" altLang="en-US"/>
              <a:t>（金银铜）。</a:t>
            </a:r>
            <a:endParaRPr lang="zh-CN" altLang="en-US"/>
          </a:p>
          <a:p>
            <a:pPr marL="0" indent="0">
              <a:buNone/>
            </a:pPr>
            <a:r>
              <a:rPr lang="zh-CN" altLang="en-US"/>
              <a:t>初始假设：趋势平稳（无疫情等黑天鹅）；</a:t>
            </a:r>
            <a:r>
              <a:rPr lang="en-US" altLang="zh-CN"/>
              <a:t>USA</a:t>
            </a:r>
            <a:r>
              <a:rPr lang="zh-CN" altLang="en-US"/>
              <a:t>东道主增益</a:t>
            </a:r>
            <a:r>
              <a:rPr lang="en-US" altLang="zh-CN"/>
              <a:t>15%</a:t>
            </a:r>
            <a:r>
              <a:rPr lang="zh-CN" altLang="en-US"/>
              <a:t>（历史平均）；小国改进概率与历史</a:t>
            </a:r>
            <a:r>
              <a:rPr lang="en-US" altLang="zh-CN"/>
              <a:t>lag</a:t>
            </a:r>
            <a:r>
              <a:rPr lang="zh-CN" altLang="en-US"/>
              <a:t>正相关，大国（如中国）可能持平或微降（饱和效应）。</a:t>
            </a:r>
            <a:endParaRPr lang="en-US" altLang="zh-CN"/>
          </a:p>
          <a:p>
            <a:pPr marL="0" indent="0">
              <a:buNone/>
            </a:pPr>
            <a:r>
              <a:rPr lang="en-US" altLang="zh-CN"/>
              <a:t>2. </a:t>
            </a:r>
            <a:r>
              <a:rPr lang="zh-CN" altLang="en-US"/>
              <a:t>潜在不足及文献补强方向</a:t>
            </a:r>
            <a:endParaRPr lang="en-US" altLang="zh-CN"/>
          </a:p>
          <a:p>
            <a:pPr marL="0" indent="0">
              <a:buNone/>
            </a:pPr>
            <a:r>
              <a:rPr lang="zh-CN" altLang="en-US"/>
              <a:t>潜在不足：对未知事件（如新增项目）敏感，外推误差大；区间可能太宽（忽略结构性变化）。</a:t>
            </a:r>
            <a:endParaRPr lang="zh-CN" altLang="en-US"/>
          </a:p>
          <a:p>
            <a:pPr marL="0" indent="0">
              <a:buNone/>
            </a:pPr>
            <a:r>
              <a:rPr lang="zh-CN" altLang="en-US"/>
              <a:t>文献补强方向：转向情景分析（</a:t>
            </a:r>
            <a:r>
              <a:rPr lang="en-US" altLang="zh-CN"/>
              <a:t>scenario-based forecasting</a:t>
            </a:r>
            <a:r>
              <a:rPr lang="zh-CN" altLang="en-US"/>
              <a:t>），从</a:t>
            </a:r>
            <a:r>
              <a:rPr lang="en-US" altLang="zh-CN"/>
              <a:t>“quantile regression Olympic forecast”</a:t>
            </a:r>
            <a:r>
              <a:rPr lang="zh-CN" altLang="en-US"/>
              <a:t>论文中借鉴分布预测；整合</a:t>
            </a:r>
            <a:r>
              <a:rPr lang="en-US" altLang="zh-CN"/>
              <a:t>ML</a:t>
            </a:r>
            <a:r>
              <a:rPr lang="zh-CN" altLang="en-US"/>
              <a:t>如</a:t>
            </a:r>
            <a:r>
              <a:rPr lang="en-US" altLang="zh-CN"/>
              <a:t>LSTM</a:t>
            </a:r>
            <a:r>
              <a:rPr lang="zh-CN" altLang="en-US"/>
              <a:t>捕捉非线性趋势，从</a:t>
            </a:r>
            <a:r>
              <a:rPr lang="en-US" altLang="zh-CN"/>
              <a:t>“time series forecasting sports”</a:t>
            </a:r>
            <a:r>
              <a:rPr lang="zh-CN" altLang="en-US"/>
              <a:t>中学习序列依赖。</a:t>
            </a:r>
            <a:endParaRPr lang="zh-CN" altLang="en-US"/>
          </a:p>
        </p:txBody>
      </p:sp>
    </p:spTree>
    <p:custDataLst>
      <p:tags r:id="rId3"/>
    </p:custData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normAutofit fontScale="90000"/>
          </a:bodyPr>
          <a:p>
            <a:r>
              <a:rPr lang="zh-CN" altLang="en-US"/>
              <a:t>子问题</a:t>
            </a:r>
            <a:r>
              <a:rPr lang="en-US" altLang="zh-CN"/>
              <a:t>3</a:t>
            </a:r>
            <a:r>
              <a:rPr lang="zh-CN" altLang="en-US"/>
              <a:t>：从未得牌国家首次得牌概率</a:t>
            </a:r>
            <a:r>
              <a:rPr lang="en-US" altLang="zh-CN"/>
              <a:t> + </a:t>
            </a:r>
            <a:r>
              <a:rPr lang="zh-CN" altLang="en-US"/>
              <a:t>数量估计</a:t>
            </a:r>
            <a:r>
              <a:rPr lang="en-US" altLang="zh-CN"/>
              <a:t> + </a:t>
            </a:r>
            <a:r>
              <a:rPr lang="zh-CN" altLang="en-US"/>
              <a:t>赔率</a:t>
            </a:r>
            <a:endParaRPr lang="zh-CN" altLang="en-US"/>
          </a:p>
        </p:txBody>
      </p:sp>
      <p:sp>
        <p:nvSpPr>
          <p:cNvPr id="3" name="内容占位符 2"/>
          <p:cNvSpPr>
            <a:spLocks noGrp="1"/>
          </p:cNvSpPr>
          <p:nvPr>
            <p:ph idx="1"/>
            <p:custDataLst>
              <p:tags r:id="rId2"/>
            </p:custDataLst>
          </p:nvPr>
        </p:nvSpPr>
        <p:spPr/>
        <p:txBody>
          <a:bodyPr>
            <a:normAutofit fontScale="80000"/>
          </a:bodyPr>
          <a:p>
            <a:pPr marL="0" indent="0">
              <a:buNone/>
            </a:pPr>
            <a:r>
              <a:rPr lang="en-US" altLang="zh-CN"/>
              <a:t>1. </a:t>
            </a:r>
            <a:r>
              <a:rPr lang="zh-CN" altLang="en-US"/>
              <a:t>初步建模思路</a:t>
            </a:r>
            <a:endParaRPr lang="en-US" altLang="zh-CN"/>
          </a:p>
          <a:p>
            <a:pPr marL="0" indent="0">
              <a:buNone/>
            </a:pPr>
            <a:r>
              <a:rPr lang="zh-CN" altLang="en-US"/>
              <a:t>模型类型选择理由：采用</a:t>
            </a:r>
            <a:r>
              <a:rPr lang="en-US" altLang="zh-CN"/>
              <a:t>Logistic</a:t>
            </a:r>
            <a:r>
              <a:rPr lang="zh-CN" altLang="en-US"/>
              <a:t>回归（二值：得牌</a:t>
            </a:r>
            <a:r>
              <a:rPr lang="en-US" altLang="zh-CN"/>
              <a:t>/</a:t>
            </a:r>
            <a:r>
              <a:rPr lang="zh-CN" altLang="en-US"/>
              <a:t>否）结合</a:t>
            </a:r>
            <a:r>
              <a:rPr lang="en-US" altLang="zh-CN"/>
              <a:t>Poisson</a:t>
            </a:r>
            <a:r>
              <a:rPr lang="zh-CN" altLang="en-US"/>
              <a:t>计数（预计数量），因为首次得牌是稀有事件，</a:t>
            </a:r>
            <a:r>
              <a:rPr lang="en-US" altLang="zh-CN"/>
              <a:t>Logistic</a:t>
            </a:r>
            <a:r>
              <a:rPr lang="zh-CN" altLang="en-US"/>
              <a:t>处理概率，</a:t>
            </a:r>
            <a:r>
              <a:rPr lang="en-US" altLang="zh-CN"/>
              <a:t>Poisson</a:t>
            </a:r>
            <a:r>
              <a:rPr lang="zh-CN" altLang="en-US"/>
              <a:t>估计总数。赔率通过</a:t>
            </a:r>
            <a:r>
              <a:rPr lang="en-US" altLang="zh-CN"/>
              <a:t>odds ratio</a:t>
            </a:r>
            <a:r>
              <a:rPr lang="zh-CN" altLang="en-US"/>
              <a:t>计算。不确定性用</a:t>
            </a:r>
            <a:r>
              <a:rPr lang="en-US" altLang="zh-CN"/>
              <a:t>Monte Carlo</a:t>
            </a:r>
            <a:r>
              <a:rPr lang="zh-CN" altLang="en-US"/>
              <a:t>模拟样本分布。</a:t>
            </a:r>
            <a:endParaRPr lang="zh-CN" altLang="en-US"/>
          </a:p>
          <a:p>
            <a:pPr marL="0" indent="0">
              <a:buNone/>
            </a:pPr>
            <a:r>
              <a:rPr lang="zh-CN" altLang="en-US"/>
              <a:t>决策变量：参与奥运届数（累积经验）、项目参与度（代理为运动员数）。</a:t>
            </a:r>
            <a:endParaRPr lang="zh-CN" altLang="en-US"/>
          </a:p>
          <a:p>
            <a:pPr marL="0" indent="0">
              <a:buNone/>
            </a:pPr>
            <a:r>
              <a:rPr lang="zh-CN" altLang="en-US"/>
              <a:t>状态变量：国家无牌年限、洲际分类（非洲</a:t>
            </a:r>
            <a:r>
              <a:rPr lang="en-US" altLang="zh-CN"/>
              <a:t>/</a:t>
            </a:r>
            <a:r>
              <a:rPr lang="zh-CN" altLang="en-US"/>
              <a:t>亚洲小国高概率）、全球首次得牌历史率（约</a:t>
            </a:r>
            <a:r>
              <a:rPr lang="en-US" altLang="zh-CN"/>
              <a:t>5–10/</a:t>
            </a:r>
            <a:r>
              <a:rPr lang="zh-CN" altLang="en-US"/>
              <a:t>届）。</a:t>
            </a:r>
            <a:endParaRPr lang="zh-CN" altLang="en-US"/>
          </a:p>
          <a:p>
            <a:pPr marL="0" indent="0">
              <a:buNone/>
            </a:pPr>
            <a:r>
              <a:rPr lang="zh-CN" altLang="en-US"/>
              <a:t>目标函数与约束：最大化似然；约束：概率</a:t>
            </a:r>
            <a:r>
              <a:rPr lang="en-US" altLang="zh-CN"/>
              <a:t>[0,1]</a:t>
            </a:r>
            <a:r>
              <a:rPr lang="zh-CN" altLang="en-US"/>
              <a:t>，总数不超过无牌国家数（</a:t>
            </a:r>
            <a:r>
              <a:rPr lang="en-US" altLang="zh-CN"/>
              <a:t>&gt;60</a:t>
            </a:r>
            <a:r>
              <a:rPr lang="zh-CN" altLang="en-US"/>
              <a:t>）。</a:t>
            </a:r>
            <a:endParaRPr lang="zh-CN" altLang="en-US"/>
          </a:p>
          <a:p>
            <a:pPr marL="0" indent="0">
              <a:buNone/>
            </a:pPr>
            <a:r>
              <a:rPr lang="zh-CN" altLang="en-US"/>
              <a:t>初始假设：小国（人口</a:t>
            </a:r>
            <a:r>
              <a:rPr lang="en-US" altLang="zh-CN"/>
              <a:t>&lt;1e7</a:t>
            </a:r>
            <a:r>
              <a:rPr lang="zh-CN" altLang="en-US"/>
              <a:t>）概率高（低竞争）；首次多在低门槛项目（如田径）；平均</a:t>
            </a:r>
            <a:r>
              <a:rPr lang="en-US" altLang="zh-CN"/>
              <a:t>5–8</a:t>
            </a:r>
            <a:r>
              <a:rPr lang="zh-CN" altLang="en-US"/>
              <a:t>国</a:t>
            </a:r>
            <a:r>
              <a:rPr lang="en-US" altLang="zh-CN"/>
              <a:t>/</a:t>
            </a:r>
            <a:r>
              <a:rPr lang="zh-CN" altLang="en-US"/>
              <a:t>届（历史观察），赔率</a:t>
            </a:r>
            <a:r>
              <a:rPr lang="en-US" altLang="zh-CN"/>
              <a:t>1:10</a:t>
            </a:r>
            <a:r>
              <a:rPr lang="zh-CN" altLang="en-US"/>
              <a:t>（低概率事件）。</a:t>
            </a:r>
            <a:endParaRPr lang="en-US" altLang="zh-CN"/>
          </a:p>
          <a:p>
            <a:pPr marL="0" indent="0">
              <a:buNone/>
            </a:pPr>
            <a:r>
              <a:rPr lang="en-US" altLang="zh-CN"/>
              <a:t>2. </a:t>
            </a:r>
            <a:r>
              <a:rPr lang="zh-CN" altLang="en-US"/>
              <a:t>潜在不足及文献补强方向</a:t>
            </a:r>
            <a:endParaRPr lang="en-US" altLang="zh-CN"/>
          </a:p>
          <a:p>
            <a:pPr marL="0" indent="0">
              <a:buNone/>
            </a:pPr>
            <a:r>
              <a:rPr lang="zh-CN" altLang="en-US"/>
              <a:t>潜在不足：样本偏差（历史首次少），过拟合小国；赔率主观（无精确分布）。</a:t>
            </a:r>
            <a:endParaRPr lang="zh-CN" altLang="en-US"/>
          </a:p>
          <a:p>
            <a:pPr marL="0" indent="0">
              <a:buNone/>
            </a:pPr>
            <a:r>
              <a:rPr lang="zh-CN" altLang="en-US"/>
              <a:t>文献补强方向：用生存分析（</a:t>
            </a:r>
            <a:r>
              <a:rPr lang="en-US" altLang="zh-CN"/>
              <a:t>Cox</a:t>
            </a:r>
            <a:r>
              <a:rPr lang="zh-CN" altLang="en-US"/>
              <a:t>模型）处理</a:t>
            </a:r>
            <a:r>
              <a:rPr lang="en-US" altLang="zh-CN"/>
              <a:t>“</a:t>
            </a:r>
            <a:r>
              <a:rPr lang="zh-CN" altLang="en-US"/>
              <a:t>时间到首次</a:t>
            </a:r>
            <a:r>
              <a:rPr lang="en-US" altLang="zh-CN"/>
              <a:t>”</a:t>
            </a:r>
            <a:r>
              <a:rPr lang="zh-CN" altLang="en-US"/>
              <a:t>，从</a:t>
            </a:r>
            <a:r>
              <a:rPr lang="en-US" altLang="zh-CN"/>
              <a:t>“survival analysis rare events sports”</a:t>
            </a:r>
            <a:r>
              <a:rPr lang="zh-CN" altLang="en-US"/>
              <a:t>论文中借鉴风险函数；稀有事件修正如</a:t>
            </a:r>
            <a:r>
              <a:rPr lang="en-US" altLang="zh-CN"/>
              <a:t>Firth logit</a:t>
            </a:r>
            <a:r>
              <a:rPr lang="zh-CN" altLang="en-US"/>
              <a:t>，从</a:t>
            </a:r>
            <a:r>
              <a:rPr lang="en-US" altLang="zh-CN"/>
              <a:t>“rare event logistic”</a:t>
            </a:r>
            <a:r>
              <a:rPr lang="zh-CN" altLang="en-US"/>
              <a:t>中学习偏差校正。</a:t>
            </a:r>
            <a:endParaRPr lang="zh-CN" altLang="en-US"/>
          </a:p>
        </p:txBody>
      </p:sp>
    </p:spTree>
    <p:custDataLst>
      <p:tags r:id="rId3"/>
    </p:custData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normAutofit fontScale="90000"/>
          </a:bodyPr>
          <a:p>
            <a:r>
              <a:rPr lang="zh-CN" altLang="en-US"/>
              <a:t>子问题</a:t>
            </a:r>
            <a:r>
              <a:rPr lang="en-US" altLang="zh-CN"/>
              <a:t>4</a:t>
            </a:r>
            <a:r>
              <a:rPr lang="zh-CN" altLang="en-US"/>
              <a:t>：项目设置与奖牌关系</a:t>
            </a:r>
            <a:r>
              <a:rPr lang="en-US" altLang="zh-CN"/>
              <a:t> + </a:t>
            </a:r>
            <a:r>
              <a:rPr lang="zh-CN" altLang="en-US"/>
              <a:t>东道主效应</a:t>
            </a:r>
            <a:r>
              <a:rPr lang="en-US" altLang="zh-CN"/>
              <a:t> + </a:t>
            </a:r>
            <a:r>
              <a:rPr lang="zh-CN" altLang="en-US"/>
              <a:t>重要运动项目</a:t>
            </a:r>
            <a:endParaRPr lang="zh-CN" altLang="en-US"/>
          </a:p>
        </p:txBody>
      </p:sp>
      <p:sp>
        <p:nvSpPr>
          <p:cNvPr id="3" name="内容占位符 2"/>
          <p:cNvSpPr>
            <a:spLocks noGrp="1"/>
          </p:cNvSpPr>
          <p:nvPr>
            <p:ph idx="1"/>
            <p:custDataLst>
              <p:tags r:id="rId2"/>
            </p:custDataLst>
          </p:nvPr>
        </p:nvSpPr>
        <p:spPr/>
        <p:txBody>
          <a:bodyPr>
            <a:normAutofit fontScale="80000"/>
          </a:bodyPr>
          <a:p>
            <a:pPr marL="0" indent="0">
              <a:buNone/>
            </a:pPr>
            <a:r>
              <a:rPr lang="en-US" altLang="zh-CN"/>
              <a:t>1. </a:t>
            </a:r>
            <a:r>
              <a:rPr lang="zh-CN" altLang="en-US"/>
              <a:t>初步建模思路</a:t>
            </a:r>
            <a:endParaRPr lang="en-US" altLang="zh-CN"/>
          </a:p>
          <a:p>
            <a:pPr marL="0" indent="0">
              <a:buNone/>
            </a:pPr>
            <a:r>
              <a:rPr lang="zh-CN" altLang="en-US"/>
              <a:t>模型类型选择理由：固定效应面板回归（</a:t>
            </a:r>
            <a:r>
              <a:rPr lang="en-US" altLang="zh-CN"/>
              <a:t>panel fixed effects</a:t>
            </a:r>
            <a:r>
              <a:rPr lang="zh-CN" altLang="en-US"/>
              <a:t>），因为数据是国家</a:t>
            </a:r>
            <a:r>
              <a:rPr lang="en-US" altLang="zh-CN"/>
              <a:t>-</a:t>
            </a:r>
            <a:r>
              <a:rPr lang="zh-CN" altLang="en-US"/>
              <a:t>届</a:t>
            </a:r>
            <a:r>
              <a:rPr lang="en-US" altLang="zh-CN"/>
              <a:t>-</a:t>
            </a:r>
            <a:r>
              <a:rPr lang="zh-CN" altLang="en-US"/>
              <a:t>项目面板，能控制国家固定异质性，量化项目数变化对奖牌的弹性。东道主用交互项捕捉。</a:t>
            </a:r>
            <a:endParaRPr lang="zh-CN" altLang="en-US"/>
          </a:p>
          <a:p>
            <a:pPr marL="0" indent="0">
              <a:buNone/>
            </a:pPr>
            <a:r>
              <a:rPr lang="zh-CN" altLang="en-US"/>
              <a:t>决策变量：东道主新增项目数（假设偏向强项，</a:t>
            </a:r>
            <a:r>
              <a:rPr lang="en-US" altLang="zh-CN"/>
              <a:t>+5–10</a:t>
            </a:r>
            <a:r>
              <a:rPr lang="zh-CN" altLang="en-US"/>
              <a:t>个）。</a:t>
            </a:r>
            <a:endParaRPr lang="zh-CN" altLang="en-US"/>
          </a:p>
          <a:p>
            <a:pPr marL="0" indent="0">
              <a:buNone/>
            </a:pPr>
            <a:r>
              <a:rPr lang="zh-CN" altLang="en-US"/>
              <a:t>状态变量：每项目奖牌率（历史得牌</a:t>
            </a:r>
            <a:r>
              <a:rPr lang="en-US" altLang="zh-CN"/>
              <a:t>/</a:t>
            </a:r>
            <a:r>
              <a:rPr lang="zh-CN" altLang="en-US"/>
              <a:t>项目数）、项目类型（团体</a:t>
            </a:r>
            <a:r>
              <a:rPr lang="en-US" altLang="zh-CN"/>
              <a:t>/</a:t>
            </a:r>
            <a:r>
              <a:rPr lang="zh-CN" altLang="en-US"/>
              <a:t>个人，低门槛</a:t>
            </a:r>
            <a:r>
              <a:rPr lang="en-US" altLang="zh-CN"/>
              <a:t>/</a:t>
            </a:r>
            <a:r>
              <a:rPr lang="zh-CN" altLang="en-US"/>
              <a:t>高）。</a:t>
            </a:r>
            <a:endParaRPr lang="zh-CN" altLang="en-US"/>
          </a:p>
          <a:p>
            <a:pPr marL="0" indent="0">
              <a:buNone/>
            </a:pPr>
            <a:r>
              <a:rPr lang="zh-CN" altLang="en-US"/>
              <a:t>目标函数与约束：最小化</a:t>
            </a:r>
            <a:r>
              <a:rPr lang="en-US" altLang="zh-CN"/>
              <a:t>SSE</a:t>
            </a:r>
            <a:r>
              <a:rPr lang="zh-CN" altLang="en-US"/>
              <a:t>；约束：项目数正，奖牌弹性</a:t>
            </a:r>
            <a:r>
              <a:rPr lang="en-US" altLang="zh-CN"/>
              <a:t>&lt;1</a:t>
            </a:r>
            <a:r>
              <a:rPr lang="zh-CN" altLang="en-US"/>
              <a:t>（递减回报）。</a:t>
            </a:r>
            <a:endParaRPr lang="zh-CN" altLang="en-US"/>
          </a:p>
          <a:p>
            <a:pPr marL="0" indent="0">
              <a:buNone/>
            </a:pPr>
            <a:r>
              <a:rPr lang="zh-CN" altLang="en-US"/>
              <a:t>初始假设：东道主奖牌增</a:t>
            </a:r>
            <a:r>
              <a:rPr lang="en-US" altLang="zh-CN"/>
              <a:t>10–20%</a:t>
            </a:r>
            <a:r>
              <a:rPr lang="zh-CN" altLang="en-US"/>
              <a:t>（场地</a:t>
            </a:r>
            <a:r>
              <a:rPr lang="en-US" altLang="zh-CN"/>
              <a:t>/</a:t>
            </a:r>
            <a:r>
              <a:rPr lang="zh-CN" altLang="en-US"/>
              <a:t>裁判偏好）；强国重要项目固定（如</a:t>
            </a:r>
            <a:r>
              <a:rPr lang="en-US" altLang="zh-CN"/>
              <a:t>USA</a:t>
            </a:r>
            <a:r>
              <a:rPr lang="zh-CN" altLang="en-US"/>
              <a:t>游泳、中国体操）；项目增加正相关奖牌但边际递减。</a:t>
            </a:r>
            <a:endParaRPr lang="en-US" altLang="zh-CN"/>
          </a:p>
          <a:p>
            <a:pPr marL="0" indent="0">
              <a:buNone/>
            </a:pPr>
            <a:r>
              <a:rPr lang="en-US" altLang="zh-CN"/>
              <a:t>2. </a:t>
            </a:r>
            <a:r>
              <a:rPr lang="zh-CN" altLang="en-US"/>
              <a:t>潜在不足及文献补强方向</a:t>
            </a:r>
            <a:endParaRPr lang="en-US" altLang="zh-CN"/>
          </a:p>
          <a:p>
            <a:pPr marL="0" indent="0">
              <a:buNone/>
            </a:pPr>
            <a:r>
              <a:rPr lang="zh-CN" altLang="en-US"/>
              <a:t>潜在不足：因果不清晰（项目选择内生）；忽略项目竞争强度变化。</a:t>
            </a:r>
            <a:endParaRPr lang="zh-CN" altLang="en-US"/>
          </a:p>
          <a:p>
            <a:pPr marL="0" indent="0">
              <a:buNone/>
            </a:pPr>
            <a:r>
              <a:rPr lang="zh-CN" altLang="en-US"/>
              <a:t>文献补强方向：用差分法（</a:t>
            </a:r>
            <a:r>
              <a:rPr lang="en-US" altLang="zh-CN"/>
              <a:t>DID</a:t>
            </a:r>
            <a:r>
              <a:rPr lang="zh-CN" altLang="en-US"/>
              <a:t>）识别东道主因果，从</a:t>
            </a:r>
            <a:r>
              <a:rPr lang="en-US" altLang="zh-CN"/>
              <a:t>“difference-in-differences home advantage”</a:t>
            </a:r>
            <a:r>
              <a:rPr lang="zh-CN" altLang="en-US"/>
              <a:t>论文中借鉴平行趋势假设；矩阵分解分析国家</a:t>
            </a:r>
            <a:r>
              <a:rPr lang="en-US" altLang="zh-CN"/>
              <a:t>-</a:t>
            </a:r>
            <a:r>
              <a:rPr lang="zh-CN" altLang="en-US"/>
              <a:t>项目匹配，从</a:t>
            </a:r>
            <a:r>
              <a:rPr lang="en-US" altLang="zh-CN"/>
              <a:t>“NMF sports performance”</a:t>
            </a:r>
            <a:r>
              <a:rPr lang="zh-CN" altLang="en-US"/>
              <a:t>中学习隐因子提取。</a:t>
            </a:r>
            <a:endParaRPr lang="zh-CN" altLang="en-US"/>
          </a:p>
        </p:txBody>
      </p:sp>
    </p:spTree>
    <p:custDataLst>
      <p:tags r:id="rId3"/>
    </p:custData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normAutofit fontScale="90000"/>
          </a:bodyPr>
          <a:p>
            <a:r>
              <a:rPr lang="zh-CN" altLang="en-US"/>
              <a:t>子问题</a:t>
            </a:r>
            <a:r>
              <a:rPr lang="en-US" altLang="zh-CN"/>
              <a:t>5</a:t>
            </a:r>
            <a:r>
              <a:rPr lang="zh-CN" altLang="en-US"/>
              <a:t>：</a:t>
            </a:r>
            <a:r>
              <a:rPr lang="en-US" altLang="zh-CN"/>
              <a:t>Great Coach </a:t>
            </a:r>
            <a:r>
              <a:rPr lang="zh-CN" altLang="en-US"/>
              <a:t>效应</a:t>
            </a:r>
            <a:r>
              <a:rPr lang="en-US" altLang="zh-CN"/>
              <a:t> + </a:t>
            </a:r>
            <a:r>
              <a:rPr lang="zh-CN" altLang="en-US"/>
              <a:t>量化贡献</a:t>
            </a:r>
            <a:r>
              <a:rPr lang="en-US" altLang="zh-CN"/>
              <a:t> + </a:t>
            </a:r>
            <a:r>
              <a:rPr lang="zh-CN" altLang="en-US"/>
              <a:t>推荐国家</a:t>
            </a:r>
            <a:r>
              <a:rPr lang="en-US" altLang="zh-CN"/>
              <a:t>/</a:t>
            </a:r>
            <a:r>
              <a:rPr lang="zh-CN" altLang="en-US"/>
              <a:t>项目</a:t>
            </a:r>
            <a:endParaRPr lang="zh-CN" altLang="en-US"/>
          </a:p>
        </p:txBody>
      </p:sp>
      <p:sp>
        <p:nvSpPr>
          <p:cNvPr id="3" name="内容占位符 2"/>
          <p:cNvSpPr>
            <a:spLocks noGrp="1"/>
          </p:cNvSpPr>
          <p:nvPr>
            <p:ph idx="1"/>
            <p:custDataLst>
              <p:tags r:id="rId2"/>
            </p:custDataLst>
          </p:nvPr>
        </p:nvSpPr>
        <p:spPr/>
        <p:txBody>
          <a:bodyPr>
            <a:normAutofit fontScale="80000"/>
          </a:bodyPr>
          <a:p>
            <a:pPr marL="0" indent="0">
              <a:buNone/>
            </a:pPr>
            <a:r>
              <a:rPr lang="en-US" altLang="zh-CN"/>
              <a:t>1. </a:t>
            </a:r>
            <a:r>
              <a:rPr lang="zh-CN" altLang="en-US"/>
              <a:t>初步建模思路</a:t>
            </a:r>
            <a:endParaRPr lang="en-US" altLang="zh-CN"/>
          </a:p>
          <a:p>
            <a:pPr marL="0" indent="0">
              <a:buNone/>
            </a:pPr>
            <a:r>
              <a:rPr lang="zh-CN" altLang="en-US"/>
              <a:t>模型类型选择理由：差分前后对比（</a:t>
            </a:r>
            <a:r>
              <a:rPr lang="en-US" altLang="zh-CN"/>
              <a:t>pre-post difference</a:t>
            </a:r>
            <a:r>
              <a:rPr lang="zh-CN" altLang="en-US"/>
              <a:t>），简单量化教练前后奖牌变化；扩展到匹配组（</a:t>
            </a:r>
            <a:r>
              <a:rPr lang="en-US" altLang="zh-CN"/>
              <a:t>treated vs control</a:t>
            </a:r>
            <a:r>
              <a:rPr lang="zh-CN" altLang="en-US"/>
              <a:t>国家）。贡献用平均处理效应（</a:t>
            </a:r>
            <a:r>
              <a:rPr lang="en-US" altLang="zh-CN"/>
              <a:t>ATE</a:t>
            </a:r>
            <a:r>
              <a:rPr lang="zh-CN" altLang="en-US"/>
              <a:t>）估计。</a:t>
            </a:r>
            <a:endParaRPr lang="zh-CN" altLang="en-US"/>
          </a:p>
          <a:p>
            <a:pPr marL="0" indent="0">
              <a:buNone/>
            </a:pPr>
            <a:r>
              <a:rPr lang="zh-CN" altLang="en-US"/>
              <a:t>决策变量：教练流动（二元：有</a:t>
            </a:r>
            <a:r>
              <a:rPr lang="en-US" altLang="zh-CN"/>
              <a:t>/</a:t>
            </a:r>
            <a:r>
              <a:rPr lang="zh-CN" altLang="en-US"/>
              <a:t>无），投资项目（</a:t>
            </a:r>
            <a:r>
              <a:rPr lang="en-US" altLang="zh-CN"/>
              <a:t>e.g. </a:t>
            </a:r>
            <a:r>
              <a:rPr lang="zh-CN" altLang="en-US"/>
              <a:t>排球</a:t>
            </a:r>
            <a:r>
              <a:rPr lang="en-US" altLang="zh-CN"/>
              <a:t>/</a:t>
            </a:r>
            <a:r>
              <a:rPr lang="zh-CN" altLang="en-US"/>
              <a:t>体操）。</a:t>
            </a:r>
            <a:endParaRPr lang="zh-CN" altLang="en-US"/>
          </a:p>
          <a:p>
            <a:pPr marL="0" indent="0">
              <a:buNone/>
            </a:pPr>
            <a:r>
              <a:rPr lang="zh-CN" altLang="en-US"/>
              <a:t>状态变量：教练所在国家奖牌序列、类似国家对照组。</a:t>
            </a:r>
            <a:endParaRPr lang="zh-CN" altLang="en-US"/>
          </a:p>
          <a:p>
            <a:pPr marL="0" indent="0">
              <a:buNone/>
            </a:pPr>
            <a:r>
              <a:rPr lang="zh-CN" altLang="en-US"/>
              <a:t>目标函数与约束：最小化匹配偏差（</a:t>
            </a:r>
            <a:r>
              <a:rPr lang="en-US" altLang="zh-CN"/>
              <a:t>e.g. Mahalanobis</a:t>
            </a:r>
            <a:r>
              <a:rPr lang="zh-CN" altLang="en-US"/>
              <a:t>距离）；约束：效应非负，限于特定项目。</a:t>
            </a:r>
            <a:endParaRPr lang="zh-CN" altLang="en-US"/>
          </a:p>
          <a:p>
            <a:pPr marL="0" indent="0">
              <a:buNone/>
            </a:pPr>
            <a:r>
              <a:rPr lang="zh-CN" altLang="en-US"/>
              <a:t>初始假设：效应滞后</a:t>
            </a:r>
            <a:r>
              <a:rPr lang="en-US" altLang="zh-CN"/>
              <a:t>1–2</a:t>
            </a:r>
            <a:r>
              <a:rPr lang="zh-CN" altLang="en-US"/>
              <a:t>届，贡献</a:t>
            </a:r>
            <a:r>
              <a:rPr lang="en-US" altLang="zh-CN"/>
              <a:t>+2–5</a:t>
            </a:r>
            <a:r>
              <a:rPr lang="zh-CN" altLang="en-US"/>
              <a:t>枚</a:t>
            </a:r>
            <a:r>
              <a:rPr lang="en-US" altLang="zh-CN"/>
              <a:t>/</a:t>
            </a:r>
            <a:r>
              <a:rPr lang="zh-CN" altLang="en-US"/>
              <a:t>项目（案例观察）；推荐：小国投资田径</a:t>
            </a:r>
            <a:r>
              <a:rPr lang="en-US" altLang="zh-CN"/>
              <a:t>/</a:t>
            </a:r>
            <a:r>
              <a:rPr lang="zh-CN" altLang="en-US"/>
              <a:t>举重（低成本），中型国如巴西排球、韩国体操。</a:t>
            </a:r>
            <a:endParaRPr lang="en-US" altLang="zh-CN"/>
          </a:p>
          <a:p>
            <a:pPr marL="0" indent="0">
              <a:buNone/>
            </a:pPr>
            <a:r>
              <a:rPr lang="en-US" altLang="zh-CN"/>
              <a:t>2. </a:t>
            </a:r>
            <a:r>
              <a:rPr lang="zh-CN" altLang="en-US"/>
              <a:t>潜在不足及文献补强方向</a:t>
            </a:r>
            <a:endParaRPr lang="en-US" altLang="zh-CN"/>
          </a:p>
          <a:p>
            <a:pPr marL="0" indent="0">
              <a:buNone/>
            </a:pPr>
            <a:r>
              <a:rPr lang="zh-CN" altLang="en-US"/>
              <a:t>潜在不足：混杂因素（经费</a:t>
            </a:r>
            <a:r>
              <a:rPr lang="en-US" altLang="zh-CN"/>
              <a:t>/</a:t>
            </a:r>
            <a:r>
              <a:rPr lang="zh-CN" altLang="en-US"/>
              <a:t>政策），非随机（教练选择偏好强国）；量化主观。</a:t>
            </a:r>
            <a:endParaRPr lang="zh-CN" altLang="en-US"/>
          </a:p>
          <a:p>
            <a:pPr marL="0" indent="0">
              <a:buNone/>
            </a:pPr>
            <a:r>
              <a:rPr lang="zh-CN" altLang="en-US"/>
              <a:t>文献补强方向：用合成控制法（</a:t>
            </a:r>
            <a:r>
              <a:rPr lang="en-US" altLang="zh-CN"/>
              <a:t>SCM</a:t>
            </a:r>
            <a:r>
              <a:rPr lang="zh-CN" altLang="en-US"/>
              <a:t>）构建虚拟对照，从</a:t>
            </a:r>
            <a:r>
              <a:rPr lang="en-US" altLang="zh-CN"/>
              <a:t>“synthetic control causal inference sports”</a:t>
            </a:r>
            <a:r>
              <a:rPr lang="zh-CN" altLang="en-US"/>
              <a:t>论文中借鉴权重优化；网络分析教练流动，从</a:t>
            </a:r>
            <a:r>
              <a:rPr lang="en-US" altLang="zh-CN"/>
              <a:t>“knowledge spillover coaching”</a:t>
            </a:r>
            <a:r>
              <a:rPr lang="zh-CN" altLang="en-US"/>
              <a:t>中学习扩散模型。</a:t>
            </a:r>
            <a:endParaRPr lang="zh-CN" altLang="en-US"/>
          </a:p>
        </p:txBody>
      </p:sp>
    </p:spTree>
    <p:custDataLst>
      <p:tags r:id="rId3"/>
    </p:custData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子问题</a:t>
            </a:r>
            <a:r>
              <a:rPr lang="en-US" altLang="zh-CN"/>
              <a:t>6</a:t>
            </a:r>
            <a:r>
              <a:rPr lang="zh-CN" altLang="en-US"/>
              <a:t>：原创洞见（政策建议）</a:t>
            </a:r>
            <a:endParaRPr lang="zh-CN" altLang="en-US"/>
          </a:p>
        </p:txBody>
      </p:sp>
      <p:sp>
        <p:nvSpPr>
          <p:cNvPr id="3" name="内容占位符 2"/>
          <p:cNvSpPr>
            <a:spLocks noGrp="1"/>
          </p:cNvSpPr>
          <p:nvPr>
            <p:ph idx="1"/>
            <p:custDataLst>
              <p:tags r:id="rId2"/>
            </p:custDataLst>
          </p:nvPr>
        </p:nvSpPr>
        <p:spPr/>
        <p:txBody>
          <a:bodyPr>
            <a:normAutofit fontScale="80000"/>
          </a:bodyPr>
          <a:p>
            <a:pPr marL="0" indent="0">
              <a:buNone/>
            </a:pPr>
            <a:r>
              <a:rPr lang="en-US" altLang="zh-CN"/>
              <a:t>1. </a:t>
            </a:r>
            <a:r>
              <a:rPr lang="zh-CN" altLang="en-US"/>
              <a:t>初步建模思路</a:t>
            </a:r>
            <a:endParaRPr lang="en-US" altLang="zh-CN"/>
          </a:p>
          <a:p>
            <a:pPr marL="0" indent="0">
              <a:buNone/>
            </a:pPr>
            <a:r>
              <a:rPr lang="zh-CN" altLang="en-US"/>
              <a:t>模型类型选择理由：结构方程模型（</a:t>
            </a:r>
            <a:r>
              <a:rPr lang="en-US" altLang="zh-CN"/>
              <a:t>SEM</a:t>
            </a:r>
            <a:r>
              <a:rPr lang="zh-CN" altLang="en-US"/>
              <a:t>），因为能分解直接</a:t>
            </a:r>
            <a:r>
              <a:rPr lang="en-US" altLang="zh-CN"/>
              <a:t>/</a:t>
            </a:r>
            <a:r>
              <a:rPr lang="zh-CN" altLang="en-US"/>
              <a:t>间接效应（</a:t>
            </a:r>
            <a:r>
              <a:rPr lang="en-US" altLang="zh-CN"/>
              <a:t>e.g. </a:t>
            </a:r>
            <a:r>
              <a:rPr lang="zh-CN" altLang="en-US"/>
              <a:t>投资</a:t>
            </a:r>
            <a:r>
              <a:rPr lang="en-US" altLang="en-US"/>
              <a:t>→</a:t>
            </a:r>
            <a:r>
              <a:rPr lang="zh-CN" altLang="en-US"/>
              <a:t>人才</a:t>
            </a:r>
            <a:r>
              <a:rPr lang="en-US" altLang="en-US"/>
              <a:t>→</a:t>
            </a:r>
            <a:r>
              <a:rPr lang="zh-CN" altLang="en-US"/>
              <a:t>奖牌），适合挖掘隐含关系并转化为政策。</a:t>
            </a:r>
            <a:endParaRPr lang="zh-CN" altLang="en-US"/>
          </a:p>
          <a:p>
            <a:pPr marL="0" indent="0">
              <a:buNone/>
            </a:pPr>
            <a:r>
              <a:rPr lang="zh-CN" altLang="en-US"/>
              <a:t>决策变量：投资分配（项目比重）、教练招聘预算。</a:t>
            </a:r>
            <a:endParaRPr lang="zh-CN" altLang="en-US"/>
          </a:p>
          <a:p>
            <a:pPr marL="0" indent="0">
              <a:buNone/>
            </a:pPr>
            <a:r>
              <a:rPr lang="zh-CN" altLang="en-US"/>
              <a:t>状态变量：国家资源（</a:t>
            </a:r>
            <a:r>
              <a:rPr lang="en-US" altLang="zh-CN"/>
              <a:t>GDP</a:t>
            </a:r>
            <a:r>
              <a:rPr lang="zh-CN" altLang="en-US"/>
              <a:t>代理）、历史效率（奖牌</a:t>
            </a:r>
            <a:r>
              <a:rPr lang="en-US" altLang="zh-CN"/>
              <a:t>/</a:t>
            </a:r>
            <a:r>
              <a:rPr lang="zh-CN" altLang="en-US"/>
              <a:t>运动员）。</a:t>
            </a:r>
            <a:endParaRPr lang="zh-CN" altLang="en-US"/>
          </a:p>
          <a:p>
            <a:pPr marL="0" indent="0">
              <a:buNone/>
            </a:pPr>
            <a:r>
              <a:rPr lang="zh-CN" altLang="en-US"/>
              <a:t>目标函数与约束：最大化拟合指数（</a:t>
            </a:r>
            <a:r>
              <a:rPr lang="en-US" altLang="zh-CN"/>
              <a:t>CFI&gt;0.9</a:t>
            </a:r>
            <a:r>
              <a:rPr lang="zh-CN" altLang="en-US"/>
              <a:t>）；约束：路径系数正，预算上限。</a:t>
            </a:r>
            <a:endParaRPr lang="zh-CN" altLang="en-US"/>
          </a:p>
          <a:p>
            <a:pPr marL="0" indent="0">
              <a:buNone/>
            </a:pPr>
            <a:r>
              <a:rPr lang="zh-CN" altLang="en-US"/>
              <a:t>初始假设：小国专注</a:t>
            </a:r>
            <a:r>
              <a:rPr lang="en-US" altLang="zh-CN"/>
              <a:t>1–2</a:t>
            </a:r>
            <a:r>
              <a:rPr lang="zh-CN" altLang="en-US"/>
              <a:t>项目效率高（集中资源）；性别平等增加女子奖牌</a:t>
            </a:r>
            <a:r>
              <a:rPr lang="en-US" altLang="zh-CN"/>
              <a:t>20%</a:t>
            </a:r>
            <a:r>
              <a:rPr lang="zh-CN" altLang="en-US"/>
              <a:t>（历史趋势）；教练投资</a:t>
            </a:r>
            <a:r>
              <a:rPr lang="en-US" altLang="zh-CN"/>
              <a:t>ROI&gt;</a:t>
            </a:r>
            <a:r>
              <a:rPr lang="zh-CN" altLang="en-US"/>
              <a:t>经费</a:t>
            </a:r>
            <a:r>
              <a:rPr lang="en-US" altLang="zh-CN"/>
              <a:t>3</a:t>
            </a:r>
            <a:r>
              <a:rPr lang="zh-CN" altLang="en-US"/>
              <a:t>倍。</a:t>
            </a:r>
            <a:endParaRPr lang="en-US" altLang="zh-CN"/>
          </a:p>
          <a:p>
            <a:pPr marL="0" indent="0">
              <a:buNone/>
            </a:pPr>
            <a:r>
              <a:rPr lang="en-US" altLang="zh-CN"/>
              <a:t>2. </a:t>
            </a:r>
            <a:r>
              <a:rPr lang="zh-CN" altLang="en-US"/>
              <a:t>潜在不足及文献补强方向</a:t>
            </a:r>
            <a:endParaRPr lang="en-US" altLang="zh-CN"/>
          </a:p>
          <a:p>
            <a:pPr marL="0" indent="0">
              <a:buNone/>
            </a:pPr>
            <a:r>
              <a:rPr lang="zh-CN" altLang="en-US"/>
              <a:t>潜在不足：洞见泛化差（数据限奥运）；政策可操作性弱（无成本数据）。</a:t>
            </a:r>
            <a:endParaRPr lang="zh-CN" altLang="en-US"/>
          </a:p>
          <a:p>
            <a:pPr marL="0" indent="0">
              <a:buNone/>
            </a:pPr>
            <a:r>
              <a:rPr lang="zh-CN" altLang="en-US"/>
              <a:t>文献补强方向：中介分析（</a:t>
            </a:r>
            <a:r>
              <a:rPr lang="en-US" altLang="zh-CN"/>
              <a:t>mediation</a:t>
            </a:r>
            <a:r>
              <a:rPr lang="zh-CN" altLang="en-US"/>
              <a:t>）量化路径，从</a:t>
            </a:r>
            <a:r>
              <a:rPr lang="en-US" altLang="zh-CN"/>
              <a:t>“structural equation modeling sports policy”</a:t>
            </a:r>
            <a:r>
              <a:rPr lang="zh-CN" altLang="en-US"/>
              <a:t>论文中借鉴多组比较；投资优化如</a:t>
            </a:r>
            <a:r>
              <a:rPr lang="en-US" altLang="zh-CN"/>
              <a:t>LP</a:t>
            </a:r>
            <a:r>
              <a:rPr lang="zh-CN" altLang="en-US"/>
              <a:t>，从</a:t>
            </a:r>
            <a:r>
              <a:rPr lang="en-US" altLang="zh-CN"/>
              <a:t>“optimization sports investment”</a:t>
            </a:r>
            <a:r>
              <a:rPr lang="zh-CN" altLang="en-US"/>
              <a:t>中学习资源分配算法。</a:t>
            </a:r>
            <a:endParaRPr lang="zh-CN" altLang="en-US"/>
          </a:p>
        </p:txBody>
      </p:sp>
    </p:spTree>
    <p:custDataLst>
      <p:tags r:id="rId3"/>
    </p:custData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sz="quarter" idx="13"/>
            <p:custDataLst>
              <p:tags r:id="rId1"/>
            </p:custDataLst>
          </p:nvPr>
        </p:nvSpPr>
        <p:spPr/>
        <p:txBody>
          <a:bodyPr/>
          <a:p>
            <a:pPr marL="0" indent="0">
              <a:buNone/>
            </a:pPr>
            <a:r>
              <a:rPr lang="zh-CN" altLang="en-US"/>
              <a:t>我已查到以下论文方法（我将概述）：</a:t>
            </a:r>
            <a:endParaRPr lang="zh-CN" altLang="en-US"/>
          </a:p>
          <a:p>
            <a:pPr marL="0" indent="0">
              <a:buNone/>
            </a:pPr>
            <a:r>
              <a:rPr lang="en-US" altLang="zh-CN"/>
              <a:t>(</a:t>
            </a:r>
            <a:r>
              <a:rPr lang="zh-CN" altLang="en-US"/>
              <a:t>将找到的论文内容放在这里，最好使用</a:t>
            </a:r>
            <a:r>
              <a:rPr lang="en-US" altLang="zh-CN"/>
              <a:t>ai</a:t>
            </a:r>
            <a:r>
              <a:rPr lang="zh-CN" altLang="en-US"/>
              <a:t>对论文解决的问题、公式、使用的参数提取）</a:t>
            </a:r>
            <a:endParaRPr lang="zh-CN" altLang="en-US"/>
          </a:p>
          <a:p>
            <a:pPr marL="0" indent="0">
              <a:buNone/>
            </a:pPr>
            <a:r>
              <a:rPr lang="en-US" altLang="zh-CN"/>
              <a:t>1. </a:t>
            </a:r>
            <a:r>
              <a:rPr lang="zh-CN" altLang="en-US"/>
              <a:t>请分析这些方法与题目、数据的适配性</a:t>
            </a:r>
            <a:endParaRPr lang="zh-CN" altLang="en-US"/>
          </a:p>
          <a:p>
            <a:pPr marL="0" indent="0">
              <a:buNone/>
            </a:pPr>
            <a:r>
              <a:rPr lang="en-US" altLang="zh-CN"/>
              <a:t>2. </a:t>
            </a:r>
            <a:r>
              <a:rPr lang="zh-CN" altLang="en-US"/>
              <a:t>在不违背竞赛合理性的前提下，帮我结合你的初步建模思路：</a:t>
            </a:r>
            <a:endParaRPr lang="zh-CN" altLang="en-US"/>
          </a:p>
          <a:p>
            <a:pPr marL="0" indent="0">
              <a:buNone/>
            </a:pPr>
            <a:r>
              <a:rPr lang="en-US" altLang="zh-CN"/>
              <a:t>   - </a:t>
            </a:r>
            <a:r>
              <a:rPr lang="zh-CN" altLang="en-US"/>
              <a:t>调整变量定义</a:t>
            </a:r>
            <a:endParaRPr lang="zh-CN" altLang="en-US"/>
          </a:p>
          <a:p>
            <a:pPr marL="0" indent="0">
              <a:buNone/>
            </a:pPr>
            <a:r>
              <a:rPr lang="en-US" altLang="zh-CN"/>
              <a:t>   - </a:t>
            </a:r>
            <a:r>
              <a:rPr lang="zh-CN" altLang="en-US"/>
              <a:t>修改假设条件</a:t>
            </a:r>
            <a:endParaRPr lang="zh-CN" altLang="en-US"/>
          </a:p>
          <a:p>
            <a:pPr marL="0" indent="0">
              <a:buNone/>
            </a:pPr>
            <a:r>
              <a:rPr lang="en-US" altLang="zh-CN"/>
              <a:t>   - </a:t>
            </a:r>
            <a:r>
              <a:rPr lang="zh-CN" altLang="en-US"/>
              <a:t>简化或增强模型结构（我提供的论文是否能解决各个子问题，是否需要结合你的文献补充加强，缺少的或者特别不适合解决子问题的思路请给我替换方法，并给我相关论文链接）</a:t>
            </a:r>
            <a:endParaRPr lang="zh-CN" altLang="en-US"/>
          </a:p>
          <a:p>
            <a:pPr marL="0" indent="0">
              <a:buNone/>
            </a:pPr>
            <a:r>
              <a:rPr lang="en-US" altLang="zh-CN"/>
              <a:t>3. </a:t>
            </a:r>
            <a:r>
              <a:rPr lang="zh-CN" altLang="en-US"/>
              <a:t>给出严谨完整、富有创新、不会过于同质化的</a:t>
            </a:r>
            <a:r>
              <a:rPr lang="en-US" altLang="zh-CN"/>
              <a:t>“</a:t>
            </a:r>
            <a:r>
              <a:rPr lang="zh-CN" altLang="en-US"/>
              <a:t>竞赛可实现版本</a:t>
            </a:r>
            <a:r>
              <a:rPr lang="en-US" altLang="zh-CN"/>
              <a:t>”</a:t>
            </a:r>
            <a:r>
              <a:rPr lang="zh-CN" altLang="en-US"/>
              <a:t>的最终模型框架</a:t>
            </a:r>
            <a:endParaRPr lang="zh-CN" altLang="en-US"/>
          </a:p>
        </p:txBody>
      </p:sp>
    </p:spTree>
    <p:custDataLst>
      <p:tags r:id="rId2"/>
    </p:custData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sz="quarter" idx="13"/>
            <p:custDataLst>
              <p:tags r:id="rId1"/>
            </p:custDataLst>
          </p:nvPr>
        </p:nvSpPr>
        <p:spPr/>
        <p:txBody>
          <a:bodyPr/>
          <a:p>
            <a:pPr marL="0" indent="0">
              <a:buNone/>
            </a:pPr>
            <a:r>
              <a:rPr lang="en-US" altLang="zh-CN"/>
              <a:t>1. </a:t>
            </a:r>
            <a:r>
              <a:rPr lang="zh-CN" altLang="en-US"/>
              <a:t>这些方法与题目、数据的适配性分析</a:t>
            </a:r>
            <a:endParaRPr lang="zh-CN" altLang="en-US"/>
          </a:p>
          <a:p>
            <a:pPr marL="0" indent="0">
              <a:buNone/>
            </a:pPr>
            <a:r>
              <a:rPr lang="zh-CN" altLang="en-US"/>
              <a:t>基于提供的</a:t>
            </a:r>
            <a:r>
              <a:rPr lang="en-US" altLang="zh-CN"/>
              <a:t>5</a:t>
            </a:r>
            <a:r>
              <a:rPr lang="zh-CN" altLang="en-US"/>
              <a:t>篇论文（</a:t>
            </a:r>
            <a:r>
              <a:rPr lang="en-US" altLang="zh-CN"/>
              <a:t>Forecasting National Medal Totals [2021]</a:t>
            </a:r>
            <a:r>
              <a:rPr lang="zh-CN" altLang="en-US"/>
              <a:t>、</a:t>
            </a:r>
            <a:r>
              <a:rPr lang="en-US" altLang="zh-CN"/>
              <a:t>The less obvious effect [2022]</a:t>
            </a:r>
            <a:r>
              <a:rPr lang="zh-CN" altLang="en-US"/>
              <a:t>、</a:t>
            </a:r>
            <a:r>
              <a:rPr lang="en-US" altLang="zh-CN"/>
              <a:t>How to win the first [2024]</a:t>
            </a:r>
            <a:r>
              <a:rPr lang="zh-CN" altLang="en-US"/>
              <a:t>、</a:t>
            </a:r>
            <a:r>
              <a:rPr lang="en-US" altLang="zh-CN"/>
              <a:t>Who Wins the Olympic Games [2004]</a:t>
            </a:r>
            <a:r>
              <a:rPr lang="zh-CN" altLang="en-US"/>
              <a:t>、</a:t>
            </a:r>
            <a:r>
              <a:rPr lang="en-US" altLang="zh-CN"/>
              <a:t>Measuring Coach Effects [2016]</a:t>
            </a:r>
            <a:r>
              <a:rPr lang="zh-CN" altLang="en-US"/>
              <a:t>），我从数据可用性、模型适用性、题目子问题覆盖和潜在偏差四个维度分析其与</a:t>
            </a:r>
            <a:r>
              <a:rPr lang="en-US" altLang="zh-CN"/>
              <a:t>MCM Problem C</a:t>
            </a:r>
            <a:r>
              <a:rPr lang="zh-CN" altLang="en-US"/>
              <a:t>的适配性。题目数据仅限于奥运内部变量（历史奖牌、运动员、主机、项目数），无外部经济</a:t>
            </a:r>
            <a:r>
              <a:rPr lang="en-US" altLang="zh-CN"/>
              <a:t>/</a:t>
            </a:r>
            <a:r>
              <a:rPr lang="zh-CN" altLang="en-US"/>
              <a:t>人口数据；模型需预测</a:t>
            </a:r>
            <a:r>
              <a:rPr lang="en-US" altLang="zh-CN"/>
              <a:t>2028</a:t>
            </a:r>
            <a:r>
              <a:rPr lang="zh-CN" altLang="en-US"/>
              <a:t>、处理无牌国家、项目影响、教练效应等。</a:t>
            </a:r>
            <a:endParaRPr lang="zh-CN" altLang="en-US"/>
          </a:p>
        </p:txBody>
      </p:sp>
    </p:spTree>
    <p:custDataLst>
      <p:tags r:id="rId2"/>
    </p:custData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sz="quarter" idx="13"/>
            <p:custDataLst>
              <p:tags r:id="rId1"/>
            </p:custDataLst>
          </p:nvPr>
        </p:nvSpPr>
        <p:spPr/>
        <p:txBody>
          <a:bodyPr>
            <a:normAutofit fontScale="90000"/>
          </a:bodyPr>
          <a:p>
            <a:pPr marL="0" indent="0">
              <a:buNone/>
            </a:pPr>
            <a:r>
              <a:rPr lang="zh-CN" altLang="en-US" b="1"/>
              <a:t>数据可用性</a:t>
            </a:r>
            <a:endParaRPr lang="en-US" altLang="zh-CN" b="1"/>
          </a:p>
          <a:p>
            <a:pPr marL="0" indent="0">
              <a:buNone/>
            </a:pPr>
            <a:r>
              <a:rPr lang="zh-CN" altLang="en-US"/>
              <a:t>强适配：所有论文使用奥运奖牌</a:t>
            </a:r>
            <a:r>
              <a:rPr lang="en-US" altLang="zh-CN"/>
              <a:t>/</a:t>
            </a:r>
            <a:r>
              <a:rPr lang="zh-CN" altLang="en-US"/>
              <a:t>份额作为因变量，与</a:t>
            </a:r>
            <a:r>
              <a:rPr lang="en-US" altLang="zh-CN"/>
              <a:t>summerOly_medal_counts.csv</a:t>
            </a:r>
            <a:r>
              <a:rPr lang="zh-CN" altLang="en-US"/>
              <a:t>直接匹配。运动员数</a:t>
            </a:r>
            <a:r>
              <a:rPr lang="en-US" altLang="zh-CN"/>
              <a:t> (ATHLETE/RNA) </a:t>
            </a:r>
            <a:r>
              <a:rPr lang="zh-CN" altLang="en-US"/>
              <a:t>在</a:t>
            </a:r>
            <a:r>
              <a:rPr lang="en-US" altLang="zh-CN"/>
              <a:t>2024/2022/2021</a:t>
            </a:r>
            <a:r>
              <a:rPr lang="zh-CN" altLang="en-US"/>
              <a:t>论文中关键，可从</a:t>
            </a:r>
            <a:r>
              <a:rPr lang="en-US" altLang="zh-CN"/>
              <a:t>summerOly_athletes.csv</a:t>
            </a:r>
            <a:r>
              <a:rPr lang="zh-CN" altLang="en-US"/>
              <a:t>聚合（按国家</a:t>
            </a:r>
            <a:r>
              <a:rPr lang="en-US" altLang="zh-CN"/>
              <a:t>-</a:t>
            </a:r>
            <a:r>
              <a:rPr lang="zh-CN" altLang="en-US"/>
              <a:t>年</a:t>
            </a:r>
            <a:r>
              <a:rPr lang="en-US" altLang="zh-CN"/>
              <a:t>-</a:t>
            </a:r>
            <a:r>
              <a:rPr lang="zh-CN" altLang="en-US"/>
              <a:t>项目计数）。主机</a:t>
            </a:r>
            <a:r>
              <a:rPr lang="en-US" altLang="zh-CN"/>
              <a:t> (Host) </a:t>
            </a:r>
            <a:r>
              <a:rPr lang="zh-CN" altLang="en-US"/>
              <a:t>在所有论文中出现，与</a:t>
            </a:r>
            <a:r>
              <a:rPr lang="en-US" altLang="zh-CN"/>
              <a:t>summerOly_hosts.csv</a:t>
            </a:r>
            <a:r>
              <a:rPr lang="zh-CN" altLang="en-US"/>
              <a:t>匹配。项目</a:t>
            </a:r>
            <a:r>
              <a:rPr lang="en-US" altLang="zh-CN"/>
              <a:t>/</a:t>
            </a:r>
            <a:r>
              <a:rPr lang="zh-CN" altLang="en-US"/>
              <a:t>运动异质性</a:t>
            </a:r>
            <a:r>
              <a:rPr lang="en-US" altLang="zh-CN"/>
              <a:t> (sport-level) </a:t>
            </a:r>
            <a:r>
              <a:rPr lang="zh-CN" altLang="en-US"/>
              <a:t>在</a:t>
            </a:r>
            <a:r>
              <a:rPr lang="en-US" altLang="zh-CN"/>
              <a:t>2024/2022</a:t>
            </a:r>
            <a:r>
              <a:rPr lang="zh-CN" altLang="en-US"/>
              <a:t>论文中强调，与</a:t>
            </a:r>
            <a:r>
              <a:rPr lang="en-US" altLang="zh-CN"/>
              <a:t>summerOly_programs.csv</a:t>
            </a:r>
            <a:r>
              <a:rPr lang="zh-CN" altLang="en-US"/>
              <a:t>匹配（事件计数）。</a:t>
            </a:r>
            <a:endParaRPr lang="zh-CN" altLang="en-US"/>
          </a:p>
          <a:p>
            <a:pPr marL="0" indent="0">
              <a:buNone/>
            </a:pPr>
            <a:r>
              <a:rPr lang="zh-CN" altLang="en-US"/>
              <a:t>弱适配：</a:t>
            </a:r>
            <a:r>
              <a:rPr lang="en-US" altLang="zh-CN"/>
              <a:t>GDP/</a:t>
            </a:r>
            <a:r>
              <a:rPr lang="zh-CN" altLang="en-US"/>
              <a:t>人口</a:t>
            </a:r>
            <a:r>
              <a:rPr lang="en-US" altLang="zh-CN"/>
              <a:t> (ln GDP, ln POP, GDP share) </a:t>
            </a:r>
            <a:r>
              <a:rPr lang="zh-CN" altLang="en-US"/>
              <a:t>是</a:t>
            </a:r>
            <a:r>
              <a:rPr lang="en-US" altLang="zh-CN"/>
              <a:t>4</a:t>
            </a:r>
            <a:r>
              <a:rPr lang="zh-CN" altLang="en-US"/>
              <a:t>篇预测论文的核心（</a:t>
            </a:r>
            <a:r>
              <a:rPr lang="en-US" altLang="zh-CN"/>
              <a:t>2004/2021/2022/2024</a:t>
            </a:r>
            <a:r>
              <a:rPr lang="zh-CN" altLang="en-US"/>
              <a:t>），但题目数据无此，必须代理（如用历史奖牌</a:t>
            </a:r>
            <a:r>
              <a:rPr lang="en-US" altLang="zh-CN"/>
              <a:t>/</a:t>
            </a:r>
            <a:r>
              <a:rPr lang="zh-CN" altLang="en-US"/>
              <a:t>运动员数代理资源）。政治</a:t>
            </a:r>
            <a:r>
              <a:rPr lang="en-US" altLang="zh-CN"/>
              <a:t>/</a:t>
            </a:r>
            <a:r>
              <a:rPr lang="zh-CN" altLang="en-US"/>
              <a:t>区域</a:t>
            </a:r>
            <a:r>
              <a:rPr lang="en-US" altLang="zh-CN"/>
              <a:t>dummy (PoliticalRegime, Regions) </a:t>
            </a:r>
            <a:r>
              <a:rPr lang="zh-CN" altLang="en-US"/>
              <a:t>在</a:t>
            </a:r>
            <a:r>
              <a:rPr lang="en-US" altLang="zh-CN"/>
              <a:t>2021/2004</a:t>
            </a:r>
            <a:r>
              <a:rPr lang="zh-CN" altLang="en-US"/>
              <a:t>论文中用，但数据无直接，可从国家代码推断区域（</a:t>
            </a:r>
            <a:r>
              <a:rPr lang="en-US" altLang="zh-CN"/>
              <a:t>e.g., </a:t>
            </a:r>
            <a:r>
              <a:rPr lang="zh-CN" altLang="en-US"/>
              <a:t>洲际分类）。教练论文</a:t>
            </a:r>
            <a:r>
              <a:rPr lang="en-US" altLang="zh-CN"/>
              <a:t> (2016) </a:t>
            </a:r>
            <a:r>
              <a:rPr lang="zh-CN" altLang="en-US"/>
              <a:t>用</a:t>
            </a:r>
            <a:r>
              <a:rPr lang="en-US" altLang="zh-CN"/>
              <a:t>HLM</a:t>
            </a:r>
            <a:r>
              <a:rPr lang="zh-CN" altLang="en-US"/>
              <a:t>处理嵌套数据（运动员</a:t>
            </a:r>
            <a:r>
              <a:rPr lang="en-US" altLang="zh-CN"/>
              <a:t>-</a:t>
            </a:r>
            <a:r>
              <a:rPr lang="zh-CN" altLang="en-US"/>
              <a:t>教练），但数据无教练</a:t>
            </a:r>
            <a:r>
              <a:rPr lang="en-US" altLang="zh-CN"/>
              <a:t>ID</a:t>
            </a:r>
            <a:r>
              <a:rPr lang="zh-CN" altLang="en-US"/>
              <a:t>，只能从</a:t>
            </a:r>
            <a:r>
              <a:rPr lang="en-US" altLang="zh-CN"/>
              <a:t>athletes.csv</a:t>
            </a:r>
            <a:r>
              <a:rPr lang="zh-CN" altLang="en-US"/>
              <a:t>的</a:t>
            </a:r>
            <a:r>
              <a:rPr lang="en-US" altLang="zh-CN"/>
              <a:t>Team/</a:t>
            </a:r>
            <a:r>
              <a:rPr lang="zh-CN" altLang="en-US"/>
              <a:t>运动员流动间接推断（</a:t>
            </a:r>
            <a:r>
              <a:rPr lang="en-US" altLang="zh-CN"/>
              <a:t>e.g., </a:t>
            </a:r>
            <a:r>
              <a:rPr lang="zh-CN" altLang="en-US"/>
              <a:t>跨国运动员群聚作为教练流动代理）。</a:t>
            </a:r>
            <a:endParaRPr lang="zh-CN" altLang="en-US"/>
          </a:p>
          <a:p>
            <a:pPr marL="0" indent="0">
              <a:buNone/>
            </a:pPr>
            <a:r>
              <a:rPr lang="zh-CN" altLang="en-US"/>
              <a:t>整体：适配度</a:t>
            </a:r>
            <a:r>
              <a:rPr lang="en-US" altLang="zh-CN"/>
              <a:t>70% – </a:t>
            </a:r>
            <a:r>
              <a:rPr lang="zh-CN" altLang="en-US"/>
              <a:t>内部奥运数据强匹配，但外部社会经济变量需替换</a:t>
            </a:r>
            <a:r>
              <a:rPr lang="en-US" altLang="zh-CN"/>
              <a:t>/</a:t>
            </a:r>
            <a:r>
              <a:rPr lang="zh-CN" altLang="en-US"/>
              <a:t>省略，导致模型解释力减弱。数据异常（如</a:t>
            </a:r>
            <a:r>
              <a:rPr lang="en-US" altLang="zh-CN"/>
              <a:t>IOC</a:t>
            </a:r>
            <a:r>
              <a:rPr lang="zh-CN" altLang="en-US"/>
              <a:t>国家代码变化）在题目提及，与论文的鲁棒性检查（</a:t>
            </a:r>
            <a:r>
              <a:rPr lang="en-US" altLang="zh-CN"/>
              <a:t>e.g., </a:t>
            </a:r>
            <a:r>
              <a:rPr lang="zh-CN" altLang="en-US"/>
              <a:t>固定效应）相符。</a:t>
            </a:r>
            <a:endParaRPr lang="en-US" altLang="zh-CN"/>
          </a:p>
          <a:p>
            <a:pPr marL="0" indent="0">
              <a:buNone/>
            </a:pPr>
            <a:endParaRPr lang="zh-CN" altLang="en-US"/>
          </a:p>
        </p:txBody>
      </p:sp>
    </p:spTree>
    <p:custDataLst>
      <p:tags r:id="rId2"/>
    </p:custData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sz="quarter" idx="13"/>
            <p:custDataLst>
              <p:tags r:id="rId1"/>
            </p:custDataLst>
          </p:nvPr>
        </p:nvSpPr>
        <p:spPr/>
        <p:txBody>
          <a:bodyPr/>
          <a:p>
            <a:pPr marL="0" indent="0">
              <a:buNone/>
            </a:pPr>
            <a:r>
              <a:rPr lang="zh-CN" altLang="en-US" b="1">
                <a:sym typeface="+mn-ea"/>
              </a:rPr>
              <a:t>模型适用性</a:t>
            </a:r>
            <a:endParaRPr lang="en-US" altLang="zh-CN" b="1"/>
          </a:p>
          <a:p>
            <a:pPr marL="0" indent="0">
              <a:buNone/>
            </a:pPr>
            <a:r>
              <a:rPr lang="zh-CN" altLang="en-US">
                <a:sym typeface="+mn-ea"/>
              </a:rPr>
              <a:t>强适配：计数</a:t>
            </a:r>
            <a:r>
              <a:rPr lang="en-US" altLang="zh-CN">
                <a:sym typeface="+mn-ea"/>
              </a:rPr>
              <a:t>/</a:t>
            </a:r>
            <a:r>
              <a:rPr lang="zh-CN" altLang="en-US">
                <a:sym typeface="+mn-ea"/>
              </a:rPr>
              <a:t>截尾模型</a:t>
            </a:r>
            <a:r>
              <a:rPr lang="en-US" altLang="zh-CN">
                <a:sym typeface="+mn-ea"/>
              </a:rPr>
              <a:t> (Tobit, Hurdle, ZINB, ZIB) </a:t>
            </a:r>
            <a:r>
              <a:rPr lang="zh-CN" altLang="en-US">
                <a:sym typeface="+mn-ea"/>
              </a:rPr>
              <a:t>处理过量零值（无牌国家多），与题目奖牌计数数据匹配。</a:t>
            </a:r>
            <a:r>
              <a:rPr lang="en-US" altLang="zh-CN">
                <a:sym typeface="+mn-ea"/>
              </a:rPr>
              <a:t>Hurdle/ZIB</a:t>
            </a:r>
            <a:r>
              <a:rPr lang="zh-CN" altLang="en-US">
                <a:sym typeface="+mn-ea"/>
              </a:rPr>
              <a:t>的两阶段结构</a:t>
            </a:r>
            <a:r>
              <a:rPr lang="en-US" altLang="zh-CN">
                <a:sym typeface="+mn-ea"/>
              </a:rPr>
              <a:t> (</a:t>
            </a:r>
            <a:r>
              <a:rPr lang="zh-CN" altLang="en-US">
                <a:sym typeface="+mn-ea"/>
              </a:rPr>
              <a:t>零概率</a:t>
            </a:r>
            <a:r>
              <a:rPr lang="en-US" altLang="zh-CN">
                <a:sym typeface="+mn-ea"/>
              </a:rPr>
              <a:t> + </a:t>
            </a:r>
            <a:r>
              <a:rPr lang="zh-CN" altLang="en-US">
                <a:sym typeface="+mn-ea"/>
              </a:rPr>
              <a:t>数量</a:t>
            </a:r>
            <a:r>
              <a:rPr lang="en-US" altLang="zh-CN">
                <a:sym typeface="+mn-ea"/>
              </a:rPr>
              <a:t>/</a:t>
            </a:r>
            <a:r>
              <a:rPr lang="zh-CN" altLang="en-US">
                <a:sym typeface="+mn-ea"/>
              </a:rPr>
              <a:t>份额</a:t>
            </a:r>
            <a:r>
              <a:rPr lang="en-US" altLang="zh-CN">
                <a:sym typeface="+mn-ea"/>
              </a:rPr>
              <a:t>) </a:t>
            </a:r>
            <a:r>
              <a:rPr lang="zh-CN" altLang="en-US">
                <a:sym typeface="+mn-ea"/>
              </a:rPr>
              <a:t>直接适配子问题</a:t>
            </a:r>
            <a:r>
              <a:rPr lang="en-US" altLang="zh-CN">
                <a:sym typeface="+mn-ea"/>
              </a:rPr>
              <a:t>3</a:t>
            </a:r>
            <a:r>
              <a:rPr lang="zh-CN" altLang="en-US">
                <a:sym typeface="+mn-ea"/>
              </a:rPr>
              <a:t>（首次得牌概率）。固定效应</a:t>
            </a:r>
            <a:r>
              <a:rPr lang="en-US" altLang="zh-CN">
                <a:sym typeface="+mn-ea"/>
              </a:rPr>
              <a:t> (two-way FE in 2022) </a:t>
            </a:r>
            <a:r>
              <a:rPr lang="zh-CN" altLang="en-US">
                <a:sym typeface="+mn-ea"/>
              </a:rPr>
              <a:t>处理时间</a:t>
            </a:r>
            <a:r>
              <a:rPr lang="en-US" altLang="zh-CN">
                <a:sym typeface="+mn-ea"/>
              </a:rPr>
              <a:t>/</a:t>
            </a:r>
            <a:r>
              <a:rPr lang="zh-CN" altLang="en-US">
                <a:sym typeface="+mn-ea"/>
              </a:rPr>
              <a:t>运动异质性，适配项目变化。</a:t>
            </a:r>
            <a:r>
              <a:rPr lang="en-US" altLang="zh-CN">
                <a:sym typeface="+mn-ea"/>
              </a:rPr>
              <a:t>HLM (2016) </a:t>
            </a:r>
            <a:r>
              <a:rPr lang="zh-CN" altLang="en-US">
                <a:sym typeface="+mn-ea"/>
              </a:rPr>
              <a:t>适配教练效应（嵌套结构）。</a:t>
            </a:r>
            <a:endParaRPr lang="zh-CN" altLang="en-US"/>
          </a:p>
          <a:p>
            <a:pPr marL="0" indent="0">
              <a:buNone/>
            </a:pPr>
            <a:r>
              <a:rPr lang="zh-CN" altLang="en-US">
                <a:sym typeface="+mn-ea"/>
              </a:rPr>
              <a:t>弱适配：</a:t>
            </a:r>
            <a:r>
              <a:rPr lang="en-US" altLang="zh-CN">
                <a:sym typeface="+mn-ea"/>
              </a:rPr>
              <a:t>Random Forest (2022</a:t>
            </a:r>
            <a:r>
              <a:rPr lang="zh-CN" altLang="en-US">
                <a:sym typeface="+mn-ea"/>
              </a:rPr>
              <a:t>论文提及</a:t>
            </a:r>
            <a:r>
              <a:rPr lang="en-US" altLang="zh-CN">
                <a:sym typeface="+mn-ea"/>
              </a:rPr>
              <a:t>ML</a:t>
            </a:r>
            <a:r>
              <a:rPr lang="zh-CN" altLang="en-US">
                <a:sym typeface="+mn-ea"/>
              </a:rPr>
              <a:t>补充</a:t>
            </a:r>
            <a:r>
              <a:rPr lang="en-US" altLang="zh-CN">
                <a:sym typeface="+mn-ea"/>
              </a:rPr>
              <a:t>) </a:t>
            </a:r>
            <a:r>
              <a:rPr lang="zh-CN" altLang="en-US">
                <a:sym typeface="+mn-ea"/>
              </a:rPr>
              <a:t>未在提供论文中，但</a:t>
            </a:r>
            <a:r>
              <a:rPr lang="en-US" altLang="zh-CN">
                <a:sym typeface="+mn-ea"/>
              </a:rPr>
              <a:t>2021</a:t>
            </a:r>
            <a:r>
              <a:rPr lang="zh-CN" altLang="en-US">
                <a:sym typeface="+mn-ea"/>
              </a:rPr>
              <a:t>论文有两阶段，可扩展</a:t>
            </a:r>
            <a:r>
              <a:rPr lang="en-US" altLang="zh-CN">
                <a:sym typeface="+mn-ea"/>
              </a:rPr>
              <a:t>ML</a:t>
            </a:r>
            <a:r>
              <a:rPr lang="zh-CN" altLang="en-US">
                <a:sym typeface="+mn-ea"/>
              </a:rPr>
              <a:t>；</a:t>
            </a:r>
            <a:r>
              <a:rPr lang="en-US" altLang="zh-CN">
                <a:sym typeface="+mn-ea"/>
              </a:rPr>
              <a:t>ZIB</a:t>
            </a:r>
            <a:r>
              <a:rPr lang="zh-CN" altLang="en-US">
                <a:sym typeface="+mn-ea"/>
              </a:rPr>
              <a:t>用市场份额</a:t>
            </a:r>
            <a:r>
              <a:rPr lang="en-US" altLang="zh-CN">
                <a:sym typeface="+mn-ea"/>
              </a:rPr>
              <a:t> (0-1) </a:t>
            </a:r>
            <a:r>
              <a:rPr lang="zh-CN" altLang="en-US">
                <a:sym typeface="+mn-ea"/>
              </a:rPr>
              <a:t>而非计数，可能不直观预测总牌（需乘总奖牌数）。</a:t>
            </a:r>
            <a:r>
              <a:rPr lang="en-US" altLang="zh-CN">
                <a:sym typeface="+mn-ea"/>
              </a:rPr>
              <a:t>Tobit</a:t>
            </a:r>
            <a:r>
              <a:rPr lang="zh-CN" altLang="en-US">
                <a:sym typeface="+mn-ea"/>
              </a:rPr>
              <a:t>假设正态残差可能违背过分散数据（</a:t>
            </a:r>
            <a:r>
              <a:rPr lang="en-US" altLang="zh-CN">
                <a:sym typeface="+mn-ea"/>
              </a:rPr>
              <a:t>2022/2021</a:t>
            </a:r>
            <a:r>
              <a:rPr lang="zh-CN" altLang="en-US">
                <a:sym typeface="+mn-ea"/>
              </a:rPr>
              <a:t>论文用</a:t>
            </a:r>
            <a:r>
              <a:rPr lang="en-US" altLang="zh-CN">
                <a:sym typeface="+mn-ea"/>
              </a:rPr>
              <a:t>ZINB/Hurdle</a:t>
            </a:r>
            <a:r>
              <a:rPr lang="zh-CN" altLang="en-US">
                <a:sym typeface="+mn-ea"/>
              </a:rPr>
              <a:t>修正）。</a:t>
            </a:r>
            <a:endParaRPr lang="zh-CN" altLang="en-US"/>
          </a:p>
          <a:p>
            <a:pPr marL="0" indent="0">
              <a:buNone/>
            </a:pPr>
            <a:r>
              <a:rPr lang="zh-CN" altLang="en-US">
                <a:sym typeface="+mn-ea"/>
              </a:rPr>
              <a:t>整体：适配度</a:t>
            </a:r>
            <a:r>
              <a:rPr lang="en-US" altLang="zh-CN">
                <a:sym typeface="+mn-ea"/>
              </a:rPr>
              <a:t>85% – </a:t>
            </a:r>
            <a:r>
              <a:rPr lang="zh-CN" altLang="en-US">
                <a:sym typeface="+mn-ea"/>
              </a:rPr>
              <a:t>适合计数数据，但需简化无外部变量；预测部分</a:t>
            </a:r>
            <a:r>
              <a:rPr lang="en-US" altLang="zh-CN">
                <a:sym typeface="+mn-ea"/>
              </a:rPr>
              <a:t> (2004/2021) </a:t>
            </a:r>
            <a:r>
              <a:rPr lang="zh-CN" altLang="en-US">
                <a:sym typeface="+mn-ea"/>
              </a:rPr>
              <a:t>适配</a:t>
            </a:r>
            <a:r>
              <a:rPr lang="en-US" altLang="zh-CN">
                <a:sym typeface="+mn-ea"/>
              </a:rPr>
              <a:t>2028</a:t>
            </a:r>
            <a:r>
              <a:rPr lang="zh-CN" altLang="en-US">
                <a:sym typeface="+mn-ea"/>
              </a:rPr>
              <a:t>外推，但不确定性（区间）仅</a:t>
            </a:r>
            <a:r>
              <a:rPr lang="en-US" altLang="zh-CN">
                <a:sym typeface="+mn-ea"/>
              </a:rPr>
              <a:t>2022</a:t>
            </a:r>
            <a:r>
              <a:rPr lang="zh-CN" altLang="en-US">
                <a:sym typeface="+mn-ea"/>
              </a:rPr>
              <a:t>论文隐含（</a:t>
            </a:r>
            <a:r>
              <a:rPr lang="en-US" altLang="zh-CN">
                <a:sym typeface="+mn-ea"/>
              </a:rPr>
              <a:t>bootstrap</a:t>
            </a:r>
            <a:r>
              <a:rPr lang="zh-CN" altLang="en-US">
                <a:sym typeface="+mn-ea"/>
              </a:rPr>
              <a:t>未显式）。</a:t>
            </a:r>
            <a:endParaRPr lang="zh-CN" altLang="en-US"/>
          </a:p>
          <a:p>
            <a:pPr marL="0" indent="0">
              <a:buNone/>
            </a:pPr>
            <a:endParaRPr lang="zh-CN" altLang="en-US"/>
          </a:p>
        </p:txBody>
      </p:sp>
    </p:spTree>
    <p:custDataLst>
      <p:tags r:id="rId2"/>
    </p:custData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sz="quarter" idx="13"/>
            <p:custDataLst>
              <p:tags r:id="rId1"/>
            </p:custDataLst>
          </p:nvPr>
        </p:nvSpPr>
        <p:spPr/>
        <p:txBody>
          <a:bodyPr>
            <a:normAutofit lnSpcReduction="20000"/>
          </a:bodyPr>
          <a:p>
            <a:pPr marL="0" indent="0">
              <a:buNone/>
            </a:pPr>
            <a:r>
              <a:rPr lang="zh-CN" altLang="en-US" b="1"/>
              <a:t>题目子问题覆盖</a:t>
            </a:r>
            <a:endParaRPr lang="en-US" altLang="zh-CN" b="1"/>
          </a:p>
          <a:p>
            <a:pPr marL="0" indent="0">
              <a:buNone/>
            </a:pPr>
            <a:r>
              <a:rPr lang="zh-CN" altLang="en-US"/>
              <a:t>覆盖好：子</a:t>
            </a:r>
            <a:r>
              <a:rPr lang="en-US" altLang="zh-CN"/>
              <a:t>1 (</a:t>
            </a:r>
            <a:r>
              <a:rPr lang="zh-CN" altLang="en-US"/>
              <a:t>奖牌模型</a:t>
            </a:r>
            <a:r>
              <a:rPr lang="en-US" altLang="zh-CN"/>
              <a:t>) – </a:t>
            </a:r>
            <a:r>
              <a:rPr lang="zh-CN" altLang="en-US"/>
              <a:t>所有论文核心；子</a:t>
            </a:r>
            <a:r>
              <a:rPr lang="en-US" altLang="zh-CN"/>
              <a:t>2 (2028</a:t>
            </a:r>
            <a:r>
              <a:rPr lang="zh-CN" altLang="en-US"/>
              <a:t>预测</a:t>
            </a:r>
            <a:r>
              <a:rPr lang="en-US" altLang="zh-CN"/>
              <a:t>) – 2004/2021</a:t>
            </a:r>
            <a:r>
              <a:rPr lang="zh-CN" altLang="en-US"/>
              <a:t>有样本外预测；子</a:t>
            </a:r>
            <a:r>
              <a:rPr lang="en-US" altLang="zh-CN"/>
              <a:t>3 (</a:t>
            </a:r>
            <a:r>
              <a:rPr lang="zh-CN" altLang="en-US"/>
              <a:t>首次得牌</a:t>
            </a:r>
            <a:r>
              <a:rPr lang="en-US" altLang="zh-CN"/>
              <a:t>) – 2024 ZIB</a:t>
            </a:r>
            <a:r>
              <a:rPr lang="zh-CN" altLang="en-US"/>
              <a:t>零部分直接；子</a:t>
            </a:r>
            <a:r>
              <a:rPr lang="en-US" altLang="zh-CN"/>
              <a:t>4 (</a:t>
            </a:r>
            <a:r>
              <a:rPr lang="zh-CN" altLang="en-US"/>
              <a:t>项目关系</a:t>
            </a:r>
            <a:r>
              <a:rPr lang="en-US" altLang="zh-CN"/>
              <a:t>/</a:t>
            </a:r>
            <a:r>
              <a:rPr lang="zh-CN" altLang="en-US"/>
              <a:t>主机</a:t>
            </a:r>
            <a:r>
              <a:rPr lang="en-US" altLang="zh-CN"/>
              <a:t>) – 2022/2024</a:t>
            </a:r>
            <a:r>
              <a:rPr lang="zh-CN" altLang="en-US"/>
              <a:t>用</a:t>
            </a:r>
            <a:r>
              <a:rPr lang="en-US" altLang="zh-CN"/>
              <a:t>sport FE/ATHLETE</a:t>
            </a:r>
            <a:r>
              <a:rPr lang="zh-CN" altLang="en-US"/>
              <a:t>；子</a:t>
            </a:r>
            <a:r>
              <a:rPr lang="en-US" altLang="zh-CN"/>
              <a:t>5 (</a:t>
            </a:r>
            <a:r>
              <a:rPr lang="zh-CN" altLang="en-US"/>
              <a:t>教练效应</a:t>
            </a:r>
            <a:r>
              <a:rPr lang="en-US" altLang="zh-CN"/>
              <a:t>) – 2016 HLM</a:t>
            </a:r>
            <a:r>
              <a:rPr lang="zh-CN" altLang="en-US"/>
              <a:t>直接，但需迁移；子</a:t>
            </a:r>
            <a:r>
              <a:rPr lang="en-US" altLang="zh-CN"/>
              <a:t>6 (</a:t>
            </a:r>
            <a:r>
              <a:rPr lang="zh-CN" altLang="en-US"/>
              <a:t>洞见</a:t>
            </a:r>
            <a:r>
              <a:rPr lang="en-US" altLang="zh-CN"/>
              <a:t>) – </a:t>
            </a:r>
            <a:r>
              <a:rPr lang="zh-CN" altLang="en-US"/>
              <a:t>所有有政策启示（如资源集中获首牌）。</a:t>
            </a:r>
            <a:endParaRPr lang="zh-CN" altLang="en-US"/>
          </a:p>
          <a:p>
            <a:pPr marL="0" indent="0">
              <a:buNone/>
            </a:pPr>
            <a:r>
              <a:rPr lang="zh-CN" altLang="en-US"/>
              <a:t>覆盖弱：子</a:t>
            </a:r>
            <a:r>
              <a:rPr lang="en-US" altLang="zh-CN"/>
              <a:t>3</a:t>
            </a:r>
            <a:r>
              <a:rPr lang="zh-CN" altLang="en-US"/>
              <a:t>赔率需额外蒙特卡洛；子</a:t>
            </a:r>
            <a:r>
              <a:rPr lang="en-US" altLang="zh-CN"/>
              <a:t>5</a:t>
            </a:r>
            <a:r>
              <a:rPr lang="zh-CN" altLang="en-US"/>
              <a:t>量化贡献</a:t>
            </a:r>
            <a:r>
              <a:rPr lang="en-US" altLang="zh-CN"/>
              <a:t>/</a:t>
            </a:r>
            <a:r>
              <a:rPr lang="zh-CN" altLang="en-US"/>
              <a:t>推荐需因果推断（论文仅相关性）；子</a:t>
            </a:r>
            <a:r>
              <a:rPr lang="en-US" altLang="zh-CN"/>
              <a:t>4</a:t>
            </a:r>
            <a:r>
              <a:rPr lang="zh-CN" altLang="en-US"/>
              <a:t>东道主项目偏好未细化（仅</a:t>
            </a:r>
            <a:r>
              <a:rPr lang="en-US" altLang="zh-CN"/>
              <a:t>dummy</a:t>
            </a:r>
            <a:r>
              <a:rPr lang="zh-CN" altLang="en-US"/>
              <a:t>）。</a:t>
            </a:r>
            <a:endParaRPr lang="zh-CN" altLang="en-US"/>
          </a:p>
          <a:p>
            <a:pPr marL="0" indent="0">
              <a:buNone/>
            </a:pPr>
            <a:r>
              <a:rPr lang="zh-CN" altLang="en-US"/>
              <a:t>整体：覆盖</a:t>
            </a:r>
            <a:r>
              <a:rPr lang="en-US" altLang="zh-CN"/>
              <a:t>80% – </a:t>
            </a:r>
            <a:r>
              <a:rPr lang="zh-CN" altLang="en-US"/>
              <a:t>强于预测</a:t>
            </a:r>
            <a:r>
              <a:rPr lang="en-US" altLang="zh-CN"/>
              <a:t>/</a:t>
            </a:r>
            <a:r>
              <a:rPr lang="zh-CN" altLang="en-US"/>
              <a:t>主机</a:t>
            </a:r>
            <a:r>
              <a:rPr lang="en-US" altLang="zh-CN"/>
              <a:t>/</a:t>
            </a:r>
            <a:r>
              <a:rPr lang="zh-CN" altLang="en-US"/>
              <a:t>首次，弱于教练（需数据挖掘）。</a:t>
            </a:r>
            <a:endParaRPr lang="en-US" altLang="zh-CN"/>
          </a:p>
          <a:p>
            <a:pPr marL="0" indent="0">
              <a:buNone/>
            </a:pPr>
            <a:r>
              <a:rPr lang="zh-CN" altLang="en-US" b="1"/>
              <a:t>潜在偏差</a:t>
            </a:r>
            <a:endParaRPr lang="en-US" altLang="zh-CN" b="1"/>
          </a:p>
          <a:p>
            <a:pPr marL="0" indent="0">
              <a:buNone/>
            </a:pPr>
            <a:r>
              <a:rPr lang="zh-CN" altLang="en-US"/>
              <a:t>偏差风险：外部变量缺失导致遗漏变量偏差（</a:t>
            </a:r>
            <a:r>
              <a:rPr lang="en-US" altLang="zh-CN"/>
              <a:t>e.g., </a:t>
            </a:r>
            <a:r>
              <a:rPr lang="zh-CN" altLang="en-US"/>
              <a:t>无</a:t>
            </a:r>
            <a:r>
              <a:rPr lang="en-US" altLang="zh-CN"/>
              <a:t>GDP</a:t>
            </a:r>
            <a:r>
              <a:rPr lang="zh-CN" altLang="en-US"/>
              <a:t>，模型低估经济作用）；小样本（无牌国</a:t>
            </a:r>
            <a:r>
              <a:rPr lang="en-US" altLang="zh-CN"/>
              <a:t>&gt;60</a:t>
            </a:r>
            <a:r>
              <a:rPr lang="zh-CN" altLang="en-US"/>
              <a:t>，稀疏）；历史数据异常（兴奋剂</a:t>
            </a:r>
            <a:r>
              <a:rPr lang="en-US" altLang="zh-CN"/>
              <a:t>/</a:t>
            </a:r>
            <a:r>
              <a:rPr lang="zh-CN" altLang="en-US"/>
              <a:t>代码变化）需处理。教练论文仅射箭，泛化差。</a:t>
            </a:r>
            <a:endParaRPr lang="zh-CN" altLang="en-US"/>
          </a:p>
          <a:p>
            <a:pPr marL="0" indent="0">
              <a:buNone/>
            </a:pPr>
            <a:r>
              <a:rPr lang="zh-CN" altLang="en-US"/>
              <a:t>整体：高适配但需调整</a:t>
            </a:r>
            <a:r>
              <a:rPr lang="en-US" altLang="zh-CN"/>
              <a:t> – </a:t>
            </a:r>
            <a:r>
              <a:rPr lang="zh-CN" altLang="en-US"/>
              <a:t>结合内部数据可行，但创新需避免同质化（</a:t>
            </a:r>
            <a:r>
              <a:rPr lang="en-US" altLang="zh-CN"/>
              <a:t>e.g., </a:t>
            </a:r>
            <a:r>
              <a:rPr lang="zh-CN" altLang="en-US"/>
              <a:t>非</a:t>
            </a:r>
            <a:r>
              <a:rPr lang="en-US" altLang="zh-CN"/>
              <a:t>GDP</a:t>
            </a:r>
            <a:r>
              <a:rPr lang="zh-CN" altLang="en-US"/>
              <a:t>模型）</a:t>
            </a:r>
            <a:endParaRPr lang="zh-CN" altLang="en-US"/>
          </a:p>
        </p:txBody>
      </p:sp>
    </p:spTree>
    <p:custDataLst>
      <p:tags r:id="rId2"/>
    </p:custData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t>2. </a:t>
            </a:r>
            <a:r>
              <a:rPr lang="zh-CN" altLang="en-US"/>
              <a:t>结合初步建模思路的调整</a:t>
            </a:r>
            <a:endParaRPr lang="zh-CN" altLang="en-US"/>
          </a:p>
        </p:txBody>
      </p:sp>
      <p:sp>
        <p:nvSpPr>
          <p:cNvPr id="3" name="内容占位符 2"/>
          <p:cNvSpPr>
            <a:spLocks noGrp="1"/>
          </p:cNvSpPr>
          <p:nvPr>
            <p:ph idx="1"/>
            <p:custDataLst>
              <p:tags r:id="rId2"/>
            </p:custDataLst>
          </p:nvPr>
        </p:nvSpPr>
        <p:spPr/>
        <p:txBody>
          <a:bodyPr>
            <a:normAutofit/>
          </a:bodyPr>
          <a:p>
            <a:pPr marL="0" indent="0">
              <a:buNone/>
            </a:pPr>
            <a:r>
              <a:rPr lang="zh-CN" altLang="en-US"/>
              <a:t>基于我的初步思路（</a:t>
            </a:r>
            <a:r>
              <a:rPr lang="en-US" altLang="zh-CN"/>
              <a:t>ZINB/ARIMAX/Logistic/Panel FE/DID/HLM/SEM</a:t>
            </a:r>
            <a:r>
              <a:rPr lang="zh-CN" altLang="en-US"/>
              <a:t>），整合提供的论文。调整原则：竞赛合理性（仅用提供数据、无外部经济变量；</a:t>
            </a:r>
            <a:r>
              <a:rPr lang="en-US" altLang="zh-CN"/>
              <a:t>&lt;25</a:t>
            </a:r>
            <a:r>
              <a:rPr lang="zh-CN" altLang="en-US"/>
              <a:t>页可实现；不确定性量化）；替换不适配部分，用文献补充。变量代理历史</a:t>
            </a:r>
            <a:r>
              <a:rPr lang="en-US" altLang="zh-CN"/>
              <a:t>/</a:t>
            </a:r>
            <a:r>
              <a:rPr lang="zh-CN" altLang="en-US"/>
              <a:t>运动员数；假设现实化（</a:t>
            </a:r>
            <a:r>
              <a:rPr lang="en-US" altLang="zh-CN"/>
              <a:t>e.g., </a:t>
            </a:r>
            <a:r>
              <a:rPr lang="zh-CN" altLang="en-US"/>
              <a:t>滞后效应</a:t>
            </a:r>
            <a:r>
              <a:rPr lang="en-US" altLang="zh-CN"/>
              <a:t>1-2</a:t>
            </a:r>
            <a:r>
              <a:rPr lang="zh-CN" altLang="en-US"/>
              <a:t>届）；结构增强创新（</a:t>
            </a:r>
            <a:r>
              <a:rPr lang="en-US" altLang="zh-CN"/>
              <a:t>e.g., </a:t>
            </a:r>
            <a:r>
              <a:rPr lang="zh-CN" altLang="en-US"/>
              <a:t>加入项目匹配矩阵，避免纯回归同质化）。</a:t>
            </a:r>
            <a:endParaRPr lang="zh-CN" altLang="en-US"/>
          </a:p>
          <a:p>
            <a:pPr marL="0" indent="0">
              <a:buNone/>
            </a:pPr>
            <a:endParaRPr lang="zh-CN" altLang="en-US"/>
          </a:p>
        </p:txBody>
      </p:sp>
    </p:spTree>
    <p:custDataLst>
      <p:tags r:id="rId3"/>
    </p:custData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sz="quarter" idx="13"/>
            <p:custDataLst>
              <p:tags r:id="rId1"/>
            </p:custDataLst>
          </p:nvPr>
        </p:nvSpPr>
        <p:spPr/>
        <p:txBody>
          <a:bodyPr/>
          <a:p>
            <a:pPr marL="0" indent="0">
              <a:buNone/>
            </a:pPr>
            <a:r>
              <a:rPr lang="zh-CN" altLang="en-US" b="1">
                <a:sym typeface="+mn-ea"/>
              </a:rPr>
              <a:t>调整变量定义</a:t>
            </a:r>
            <a:endParaRPr lang="en-US" altLang="zh-CN" b="1"/>
          </a:p>
          <a:p>
            <a:pPr marL="0" indent="0">
              <a:buNone/>
            </a:pPr>
            <a:r>
              <a:rPr lang="zh-CN" altLang="en-US">
                <a:sym typeface="+mn-ea"/>
              </a:rPr>
              <a:t>从论文继承</a:t>
            </a:r>
            <a:r>
              <a:rPr lang="en-US" altLang="zh-CN">
                <a:sym typeface="+mn-ea"/>
              </a:rPr>
              <a:t>/</a:t>
            </a:r>
            <a:r>
              <a:rPr lang="zh-CN" altLang="en-US">
                <a:sym typeface="+mn-ea"/>
              </a:rPr>
              <a:t>调整：奖牌数</a:t>
            </a:r>
            <a:r>
              <a:rPr lang="en-US" altLang="zh-CN">
                <a:sym typeface="+mn-ea"/>
              </a:rPr>
              <a:t>/</a:t>
            </a:r>
            <a:r>
              <a:rPr lang="zh-CN" altLang="en-US">
                <a:sym typeface="+mn-ea"/>
              </a:rPr>
              <a:t>份额</a:t>
            </a:r>
            <a:r>
              <a:rPr lang="en-US" altLang="zh-CN">
                <a:sym typeface="+mn-ea"/>
              </a:rPr>
              <a:t> (Mapdisq/MS/m) </a:t>
            </a:r>
            <a:r>
              <a:rPr lang="zh-CN" altLang="en-US">
                <a:sym typeface="+mn-ea"/>
              </a:rPr>
              <a:t>作为因变量（计数</a:t>
            </a:r>
            <a:r>
              <a:rPr lang="en-US" altLang="zh-CN">
                <a:sym typeface="+mn-ea"/>
              </a:rPr>
              <a:t>/0-1</a:t>
            </a:r>
            <a:r>
              <a:rPr lang="zh-CN" altLang="en-US">
                <a:sym typeface="+mn-ea"/>
              </a:rPr>
              <a:t>）；滞后奖牌</a:t>
            </a:r>
            <a:r>
              <a:rPr lang="en-US" altLang="zh-CN">
                <a:sym typeface="+mn-ea"/>
              </a:rPr>
              <a:t> (Ma t-4/MS t-4/M t-1) – </a:t>
            </a:r>
            <a:r>
              <a:rPr lang="zh-CN" altLang="en-US">
                <a:sym typeface="+mn-ea"/>
              </a:rPr>
              <a:t>直接用</a:t>
            </a:r>
            <a:r>
              <a:rPr lang="en-US" altLang="zh-CN">
                <a:sym typeface="+mn-ea"/>
              </a:rPr>
              <a:t>medal_counts.csv</a:t>
            </a:r>
            <a:r>
              <a:rPr lang="zh-CN" altLang="en-US">
                <a:sym typeface="+mn-ea"/>
              </a:rPr>
              <a:t>。运动员数</a:t>
            </a:r>
            <a:r>
              <a:rPr lang="en-US" altLang="zh-CN">
                <a:sym typeface="+mn-ea"/>
              </a:rPr>
              <a:t> (RNA/ATHLETE/AM) – </a:t>
            </a:r>
            <a:r>
              <a:rPr lang="zh-CN" altLang="en-US">
                <a:sym typeface="+mn-ea"/>
              </a:rPr>
              <a:t>从</a:t>
            </a:r>
            <a:r>
              <a:rPr lang="en-US" altLang="zh-CN">
                <a:sym typeface="+mn-ea"/>
              </a:rPr>
              <a:t>athletes.csv</a:t>
            </a:r>
            <a:r>
              <a:rPr lang="zh-CN" altLang="en-US">
                <a:sym typeface="+mn-ea"/>
              </a:rPr>
              <a:t>聚合（国家</a:t>
            </a:r>
            <a:r>
              <a:rPr lang="en-US" altLang="zh-CN">
                <a:sym typeface="+mn-ea"/>
              </a:rPr>
              <a:t>-</a:t>
            </a:r>
            <a:r>
              <a:rPr lang="zh-CN" altLang="en-US">
                <a:sym typeface="+mn-ea"/>
              </a:rPr>
              <a:t>年</a:t>
            </a:r>
            <a:r>
              <a:rPr lang="en-US" altLang="zh-CN">
                <a:sym typeface="+mn-ea"/>
              </a:rPr>
              <a:t>-</a:t>
            </a:r>
            <a:r>
              <a:rPr lang="zh-CN" altLang="en-US">
                <a:sym typeface="+mn-ea"/>
              </a:rPr>
              <a:t>项目计数）。主机</a:t>
            </a:r>
            <a:r>
              <a:rPr lang="en-US" altLang="zh-CN">
                <a:sym typeface="+mn-ea"/>
              </a:rPr>
              <a:t> (Host/d) – hosts.csv dummy + </a:t>
            </a:r>
            <a:r>
              <a:rPr lang="zh-CN" altLang="en-US">
                <a:sym typeface="+mn-ea"/>
              </a:rPr>
              <a:t>提前</a:t>
            </a:r>
            <a:r>
              <a:rPr lang="en-US" altLang="zh-CN">
                <a:sym typeface="+mn-ea"/>
              </a:rPr>
              <a:t>/</a:t>
            </a:r>
            <a:r>
              <a:rPr lang="zh-CN" altLang="en-US">
                <a:sym typeface="+mn-ea"/>
              </a:rPr>
              <a:t>后滞</a:t>
            </a:r>
            <a:r>
              <a:rPr lang="en-US" altLang="zh-CN">
                <a:sym typeface="+mn-ea"/>
              </a:rPr>
              <a:t> (Host in 4 years/Host 4 years ago/Pre/Post)</a:t>
            </a:r>
            <a:r>
              <a:rPr lang="zh-CN" altLang="en-US">
                <a:sym typeface="+mn-ea"/>
              </a:rPr>
              <a:t>。区域</a:t>
            </a:r>
            <a:r>
              <a:rPr lang="en-US" altLang="zh-CN">
                <a:sym typeface="+mn-ea"/>
              </a:rPr>
              <a:t> (Regions) – </a:t>
            </a:r>
            <a:r>
              <a:rPr lang="zh-CN" altLang="en-US">
                <a:sym typeface="+mn-ea"/>
              </a:rPr>
              <a:t>从国家代码手动分类（</a:t>
            </a:r>
            <a:r>
              <a:rPr lang="en-US" altLang="zh-CN">
                <a:sym typeface="+mn-ea"/>
              </a:rPr>
              <a:t>e.g., 9</a:t>
            </a:r>
            <a:r>
              <a:rPr lang="zh-CN" altLang="en-US">
                <a:sym typeface="+mn-ea"/>
              </a:rPr>
              <a:t>类如论文）。超级大国</a:t>
            </a:r>
            <a:r>
              <a:rPr lang="en-US" altLang="zh-CN">
                <a:sym typeface="+mn-ea"/>
              </a:rPr>
              <a:t> (SUPER) – </a:t>
            </a:r>
            <a:r>
              <a:rPr lang="zh-CN" altLang="en-US">
                <a:sym typeface="+mn-ea"/>
              </a:rPr>
              <a:t>定义为历史金牌前</a:t>
            </a:r>
            <a:r>
              <a:rPr lang="en-US" altLang="zh-CN">
                <a:sym typeface="+mn-ea"/>
              </a:rPr>
              <a:t>3 (USA/CHN/RUS)</a:t>
            </a:r>
            <a:r>
              <a:rPr lang="zh-CN" altLang="en-US">
                <a:sym typeface="+mn-ea"/>
              </a:rPr>
              <a:t>。</a:t>
            </a:r>
            <a:endParaRPr lang="zh-CN" altLang="en-US"/>
          </a:p>
          <a:p>
            <a:pPr marL="0" indent="0">
              <a:buNone/>
            </a:pPr>
            <a:r>
              <a:rPr lang="zh-CN" altLang="en-US">
                <a:sym typeface="+mn-ea"/>
              </a:rPr>
              <a:t>新定义</a:t>
            </a:r>
            <a:r>
              <a:rPr lang="en-US" altLang="zh-CN">
                <a:sym typeface="+mn-ea"/>
              </a:rPr>
              <a:t>/</a:t>
            </a:r>
            <a:r>
              <a:rPr lang="zh-CN" altLang="en-US">
                <a:sym typeface="+mn-ea"/>
              </a:rPr>
              <a:t>代理：无</a:t>
            </a:r>
            <a:r>
              <a:rPr lang="en-US" altLang="zh-CN">
                <a:sym typeface="+mn-ea"/>
              </a:rPr>
              <a:t>GDP/POP</a:t>
            </a:r>
            <a:r>
              <a:rPr lang="zh-CN" altLang="en-US">
                <a:sym typeface="+mn-ea"/>
              </a:rPr>
              <a:t>，用运动员数</a:t>
            </a:r>
            <a:r>
              <a:rPr lang="en-US" altLang="zh-CN">
                <a:sym typeface="+mn-ea"/>
              </a:rPr>
              <a:t>/</a:t>
            </a:r>
            <a:r>
              <a:rPr lang="zh-CN" altLang="en-US">
                <a:sym typeface="+mn-ea"/>
              </a:rPr>
              <a:t>历史奖牌代理资源；项目亲和力</a:t>
            </a:r>
            <a:r>
              <a:rPr lang="en-US" altLang="zh-CN">
                <a:sym typeface="+mn-ea"/>
              </a:rPr>
              <a:t> (</a:t>
            </a:r>
            <a:r>
              <a:rPr lang="zh-CN" altLang="en-US">
                <a:sym typeface="+mn-ea"/>
              </a:rPr>
              <a:t>新</a:t>
            </a:r>
            <a:r>
              <a:rPr lang="en-US" altLang="zh-CN">
                <a:sym typeface="+mn-ea"/>
              </a:rPr>
              <a:t>) – </a:t>
            </a:r>
            <a:r>
              <a:rPr lang="zh-CN" altLang="en-US">
                <a:sym typeface="+mn-ea"/>
              </a:rPr>
              <a:t>国家在</a:t>
            </a:r>
            <a:r>
              <a:rPr lang="en-US" altLang="zh-CN">
                <a:sym typeface="+mn-ea"/>
              </a:rPr>
              <a:t>sport</a:t>
            </a:r>
            <a:r>
              <a:rPr lang="zh-CN" altLang="en-US">
                <a:sym typeface="+mn-ea"/>
              </a:rPr>
              <a:t>的历史得牌率</a:t>
            </a:r>
            <a:r>
              <a:rPr lang="en-US" altLang="zh-CN">
                <a:sym typeface="+mn-ea"/>
              </a:rPr>
              <a:t> </a:t>
            </a:r>
            <a:r>
              <a:rPr lang="en-US" altLang="en-US">
                <a:sym typeface="+mn-ea"/>
              </a:rPr>
              <a:t>×</a:t>
            </a:r>
            <a:r>
              <a:rPr lang="en-US" altLang="zh-CN">
                <a:sym typeface="+mn-ea"/>
              </a:rPr>
              <a:t> </a:t>
            </a:r>
            <a:r>
              <a:rPr lang="zh-CN" altLang="en-US">
                <a:sym typeface="+mn-ea"/>
              </a:rPr>
              <a:t>事件数</a:t>
            </a:r>
            <a:r>
              <a:rPr lang="en-US" altLang="zh-CN">
                <a:sym typeface="+mn-ea"/>
              </a:rPr>
              <a:t> (programs.csv)</a:t>
            </a:r>
            <a:r>
              <a:rPr lang="zh-CN" altLang="en-US">
                <a:sym typeface="+mn-ea"/>
              </a:rPr>
              <a:t>。教练流动</a:t>
            </a:r>
            <a:r>
              <a:rPr lang="en-US" altLang="zh-CN">
                <a:sym typeface="+mn-ea"/>
              </a:rPr>
              <a:t> – </a:t>
            </a:r>
            <a:r>
              <a:rPr lang="zh-CN" altLang="en-US">
                <a:sym typeface="+mn-ea"/>
              </a:rPr>
              <a:t>从</a:t>
            </a:r>
            <a:r>
              <a:rPr lang="en-US" altLang="zh-CN">
                <a:sym typeface="+mn-ea"/>
              </a:rPr>
              <a:t>athletes.csv</a:t>
            </a:r>
            <a:r>
              <a:rPr lang="zh-CN" altLang="en-US">
                <a:sym typeface="+mn-ea"/>
              </a:rPr>
              <a:t>检测跨国运动员</a:t>
            </a:r>
            <a:r>
              <a:rPr lang="en-US" altLang="zh-CN">
                <a:sym typeface="+mn-ea"/>
              </a:rPr>
              <a:t> (e.g., </a:t>
            </a:r>
            <a:r>
              <a:rPr lang="zh-CN" altLang="en-US">
                <a:sym typeface="+mn-ea"/>
              </a:rPr>
              <a:t>同一</a:t>
            </a:r>
            <a:r>
              <a:rPr lang="en-US" altLang="zh-CN">
                <a:sym typeface="+mn-ea"/>
              </a:rPr>
              <a:t>sport</a:t>
            </a:r>
            <a:r>
              <a:rPr lang="zh-CN" altLang="en-US">
                <a:sym typeface="+mn-ea"/>
              </a:rPr>
              <a:t>多国运动员群聚代理</a:t>
            </a:r>
            <a:r>
              <a:rPr lang="en-US" altLang="zh-CN">
                <a:sym typeface="+mn-ea"/>
              </a:rPr>
              <a:t>“great coach”</a:t>
            </a:r>
            <a:r>
              <a:rPr lang="zh-CN" altLang="en-US">
                <a:sym typeface="+mn-ea"/>
              </a:rPr>
              <a:t>网络</a:t>
            </a:r>
            <a:r>
              <a:rPr lang="en-US" altLang="zh-CN">
                <a:sym typeface="+mn-ea"/>
              </a:rPr>
              <a:t>)</a:t>
            </a:r>
            <a:r>
              <a:rPr lang="zh-CN" altLang="en-US">
                <a:sym typeface="+mn-ea"/>
              </a:rPr>
              <a:t>。</a:t>
            </a:r>
            <a:endParaRPr lang="zh-CN" altLang="en-US"/>
          </a:p>
          <a:p>
            <a:pPr marL="0" indent="0">
              <a:buNone/>
            </a:pPr>
            <a:r>
              <a:rPr lang="zh-CN" altLang="en-US">
                <a:sym typeface="+mn-ea"/>
              </a:rPr>
              <a:t>子问题特定：子</a:t>
            </a:r>
            <a:r>
              <a:rPr lang="en-US" altLang="zh-CN">
                <a:sym typeface="+mn-ea"/>
              </a:rPr>
              <a:t>3</a:t>
            </a:r>
            <a:r>
              <a:rPr lang="zh-CN" altLang="en-US">
                <a:sym typeface="+mn-ea"/>
              </a:rPr>
              <a:t>用零部分概率；子</a:t>
            </a:r>
            <a:r>
              <a:rPr lang="en-US" altLang="zh-CN">
                <a:sym typeface="+mn-ea"/>
              </a:rPr>
              <a:t>5</a:t>
            </a:r>
            <a:r>
              <a:rPr lang="zh-CN" altLang="en-US">
                <a:sym typeface="+mn-ea"/>
              </a:rPr>
              <a:t>用教练</a:t>
            </a:r>
            <a:r>
              <a:rPr lang="en-US" altLang="zh-CN">
                <a:sym typeface="+mn-ea"/>
              </a:rPr>
              <a:t>-</a:t>
            </a:r>
            <a:r>
              <a:rPr lang="zh-CN" altLang="en-US">
                <a:sym typeface="+mn-ea"/>
              </a:rPr>
              <a:t>运动员比例</a:t>
            </a:r>
            <a:r>
              <a:rPr lang="en-US" altLang="zh-CN">
                <a:sym typeface="+mn-ea"/>
              </a:rPr>
              <a:t> (2016) </a:t>
            </a:r>
            <a:r>
              <a:rPr lang="zh-CN" altLang="en-US">
                <a:sym typeface="+mn-ea"/>
              </a:rPr>
              <a:t>代理质量。</a:t>
            </a:r>
            <a:endParaRPr lang="zh-CN" altLang="en-US"/>
          </a:p>
          <a:p>
            <a:pPr marL="0" indent="0">
              <a:buNone/>
            </a:pPr>
            <a:endParaRPr lang="zh-CN" altLang="en-US"/>
          </a:p>
        </p:txBody>
      </p:sp>
    </p:spTree>
    <p:custDataLst>
      <p:tags r:id="rId2"/>
    </p:custData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sz="quarter" idx="13"/>
            <p:custDataLst>
              <p:tags r:id="rId1"/>
            </p:custDataLst>
          </p:nvPr>
        </p:nvSpPr>
        <p:spPr/>
        <p:txBody>
          <a:bodyPr/>
          <a:p>
            <a:pPr marL="0" indent="0">
              <a:buNone/>
            </a:pPr>
            <a:r>
              <a:rPr lang="zh-CN" altLang="en-US" b="1">
                <a:sym typeface="+mn-ea"/>
              </a:rPr>
              <a:t>修改假设条件</a:t>
            </a:r>
            <a:endParaRPr lang="en-US" altLang="zh-CN" b="1"/>
          </a:p>
          <a:p>
            <a:pPr marL="0" indent="0">
              <a:buNone/>
            </a:pPr>
            <a:r>
              <a:rPr lang="zh-CN" altLang="en-US">
                <a:sym typeface="+mn-ea"/>
              </a:rPr>
              <a:t>从初步到调整：初步假设平稳</a:t>
            </a:r>
            <a:r>
              <a:rPr lang="en-US" altLang="zh-CN">
                <a:sym typeface="+mn-ea"/>
              </a:rPr>
              <a:t>/</a:t>
            </a:r>
            <a:r>
              <a:rPr lang="zh-CN" altLang="en-US">
                <a:sym typeface="+mn-ea"/>
              </a:rPr>
              <a:t>独立</a:t>
            </a:r>
            <a:r>
              <a:rPr lang="en-US" altLang="zh-CN">
                <a:sym typeface="+mn-ea"/>
              </a:rPr>
              <a:t> </a:t>
            </a:r>
            <a:r>
              <a:rPr lang="en-US" altLang="en-US">
                <a:sym typeface="+mn-ea"/>
              </a:rPr>
              <a:t>→</a:t>
            </a:r>
            <a:r>
              <a:rPr lang="en-US" altLang="zh-CN">
                <a:sym typeface="+mn-ea"/>
              </a:rPr>
              <a:t> </a:t>
            </a:r>
            <a:r>
              <a:rPr lang="zh-CN" altLang="en-US">
                <a:sym typeface="+mn-ea"/>
              </a:rPr>
              <a:t>调整为滞后依赖</a:t>
            </a:r>
            <a:r>
              <a:rPr lang="en-US" altLang="zh-CN">
                <a:sym typeface="+mn-ea"/>
              </a:rPr>
              <a:t> (</a:t>
            </a:r>
            <a:r>
              <a:rPr lang="zh-CN" altLang="en-US">
                <a:sym typeface="+mn-ea"/>
              </a:rPr>
              <a:t>论文如</a:t>
            </a:r>
            <a:r>
              <a:rPr lang="en-US" altLang="zh-CN">
                <a:sym typeface="+mn-ea"/>
              </a:rPr>
              <a:t>M t-1</a:t>
            </a:r>
            <a:r>
              <a:rPr lang="zh-CN" altLang="en-US">
                <a:sym typeface="+mn-ea"/>
              </a:rPr>
              <a:t>系数</a:t>
            </a:r>
            <a:r>
              <a:rPr lang="en-US" altLang="zh-CN">
                <a:sym typeface="+mn-ea"/>
              </a:rPr>
              <a:t>0.73) + </a:t>
            </a:r>
            <a:r>
              <a:rPr lang="zh-CN" altLang="en-US">
                <a:sym typeface="+mn-ea"/>
              </a:rPr>
              <a:t>项目变化非平稳</a:t>
            </a:r>
            <a:r>
              <a:rPr lang="en-US" altLang="zh-CN">
                <a:sym typeface="+mn-ea"/>
              </a:rPr>
              <a:t> (events</a:t>
            </a:r>
            <a:r>
              <a:rPr lang="zh-CN" altLang="en-US">
                <a:sym typeface="+mn-ea"/>
              </a:rPr>
              <a:t>增长</a:t>
            </a:r>
            <a:r>
              <a:rPr lang="en-US" altLang="zh-CN">
                <a:sym typeface="+mn-ea"/>
              </a:rPr>
              <a:t>5%/</a:t>
            </a:r>
            <a:r>
              <a:rPr lang="zh-CN" altLang="en-US">
                <a:sym typeface="+mn-ea"/>
              </a:rPr>
              <a:t>届历史均值</a:t>
            </a:r>
            <a:r>
              <a:rPr lang="en-US" altLang="zh-CN">
                <a:sym typeface="+mn-ea"/>
              </a:rPr>
              <a:t>)</a:t>
            </a:r>
            <a:r>
              <a:rPr lang="zh-CN" altLang="en-US">
                <a:sym typeface="+mn-ea"/>
              </a:rPr>
              <a:t>。东道主增益</a:t>
            </a:r>
            <a:r>
              <a:rPr lang="en-US" altLang="zh-CN">
                <a:sym typeface="+mn-ea"/>
              </a:rPr>
              <a:t>10-20% </a:t>
            </a:r>
            <a:r>
              <a:rPr lang="en-US" altLang="en-US">
                <a:sym typeface="+mn-ea"/>
              </a:rPr>
              <a:t>→</a:t>
            </a:r>
            <a:r>
              <a:rPr lang="en-US" altLang="zh-CN">
                <a:sym typeface="+mn-ea"/>
              </a:rPr>
              <a:t> </a:t>
            </a:r>
            <a:r>
              <a:rPr lang="zh-CN" altLang="en-US">
                <a:sym typeface="+mn-ea"/>
              </a:rPr>
              <a:t>细化为论文异质</a:t>
            </a:r>
            <a:r>
              <a:rPr lang="en-US" altLang="zh-CN">
                <a:sym typeface="+mn-ea"/>
              </a:rPr>
              <a:t> (</a:t>
            </a:r>
            <a:r>
              <a:rPr lang="zh-CN" altLang="en-US">
                <a:sym typeface="+mn-ea"/>
              </a:rPr>
              <a:t>男性</a:t>
            </a:r>
            <a:r>
              <a:rPr lang="en-US" altLang="zh-CN">
                <a:sym typeface="+mn-ea"/>
              </a:rPr>
              <a:t>/</a:t>
            </a:r>
            <a:r>
              <a:rPr lang="zh-CN" altLang="en-US">
                <a:sym typeface="+mn-ea"/>
              </a:rPr>
              <a:t>特定国更强，但数据无性别，可忽略或从</a:t>
            </a:r>
            <a:r>
              <a:rPr lang="en-US" altLang="zh-CN">
                <a:sym typeface="+mn-ea"/>
              </a:rPr>
              <a:t>athletes.csv</a:t>
            </a:r>
            <a:r>
              <a:rPr lang="zh-CN" altLang="en-US">
                <a:sym typeface="+mn-ea"/>
              </a:rPr>
              <a:t>推性别</a:t>
            </a:r>
            <a:r>
              <a:rPr lang="en-US" altLang="zh-CN">
                <a:sym typeface="+mn-ea"/>
              </a:rPr>
              <a:t>)</a:t>
            </a:r>
            <a:r>
              <a:rPr lang="zh-CN" altLang="en-US">
                <a:sym typeface="+mn-ea"/>
              </a:rPr>
              <a:t>。首次得牌赔率</a:t>
            </a:r>
            <a:r>
              <a:rPr lang="en-US" altLang="zh-CN">
                <a:sym typeface="+mn-ea"/>
              </a:rPr>
              <a:t>1:10 </a:t>
            </a:r>
            <a:r>
              <a:rPr lang="en-US" altLang="en-US">
                <a:sym typeface="+mn-ea"/>
              </a:rPr>
              <a:t>→</a:t>
            </a:r>
            <a:r>
              <a:rPr lang="en-US" altLang="zh-CN">
                <a:sym typeface="+mn-ea"/>
              </a:rPr>
              <a:t> </a:t>
            </a:r>
            <a:r>
              <a:rPr lang="zh-CN" altLang="en-US">
                <a:sym typeface="+mn-ea"/>
              </a:rPr>
              <a:t>用</a:t>
            </a:r>
            <a:r>
              <a:rPr lang="en-US" altLang="zh-CN">
                <a:sym typeface="+mn-ea"/>
              </a:rPr>
              <a:t>ZIB</a:t>
            </a:r>
            <a:r>
              <a:rPr lang="zh-CN" altLang="en-US">
                <a:sym typeface="+mn-ea"/>
              </a:rPr>
              <a:t>零概率计算</a:t>
            </a:r>
            <a:r>
              <a:rPr lang="en-US" altLang="zh-CN">
                <a:sym typeface="+mn-ea"/>
              </a:rPr>
              <a:t> (2024)</a:t>
            </a:r>
            <a:r>
              <a:rPr lang="zh-CN" altLang="en-US">
                <a:sym typeface="+mn-ea"/>
              </a:rPr>
              <a:t>，假设小国</a:t>
            </a:r>
            <a:r>
              <a:rPr lang="en-US" altLang="zh-CN">
                <a:sym typeface="+mn-ea"/>
              </a:rPr>
              <a:t> (</a:t>
            </a:r>
            <a:r>
              <a:rPr lang="zh-CN" altLang="en-US">
                <a:sym typeface="+mn-ea"/>
              </a:rPr>
              <a:t>运动员</a:t>
            </a:r>
            <a:r>
              <a:rPr lang="en-US" altLang="zh-CN">
                <a:sym typeface="+mn-ea"/>
              </a:rPr>
              <a:t>&lt;50) </a:t>
            </a:r>
            <a:r>
              <a:rPr lang="zh-CN" altLang="en-US">
                <a:sym typeface="+mn-ea"/>
              </a:rPr>
              <a:t>高概率。教练效应滞后</a:t>
            </a:r>
            <a:r>
              <a:rPr lang="en-US" altLang="zh-CN">
                <a:sym typeface="+mn-ea"/>
              </a:rPr>
              <a:t>1-2</a:t>
            </a:r>
            <a:r>
              <a:rPr lang="zh-CN" altLang="en-US">
                <a:sym typeface="+mn-ea"/>
              </a:rPr>
              <a:t>届</a:t>
            </a:r>
            <a:r>
              <a:rPr lang="en-US" altLang="zh-CN">
                <a:sym typeface="+mn-ea"/>
              </a:rPr>
              <a:t> </a:t>
            </a:r>
            <a:r>
              <a:rPr lang="en-US" altLang="en-US">
                <a:sym typeface="+mn-ea"/>
              </a:rPr>
              <a:t>→</a:t>
            </a:r>
            <a:r>
              <a:rPr lang="en-US" altLang="zh-CN">
                <a:sym typeface="+mn-ea"/>
              </a:rPr>
              <a:t> </a:t>
            </a:r>
            <a:r>
              <a:rPr lang="zh-CN" altLang="en-US">
                <a:sym typeface="+mn-ea"/>
              </a:rPr>
              <a:t>基于</a:t>
            </a:r>
            <a:r>
              <a:rPr lang="en-US" altLang="zh-CN">
                <a:sym typeface="+mn-ea"/>
              </a:rPr>
              <a:t>2016</a:t>
            </a:r>
            <a:r>
              <a:rPr lang="zh-CN" altLang="en-US">
                <a:sym typeface="+mn-ea"/>
              </a:rPr>
              <a:t>早期强，假设半衰期</a:t>
            </a:r>
            <a:r>
              <a:rPr lang="en-US" altLang="zh-CN">
                <a:sym typeface="+mn-ea"/>
              </a:rPr>
              <a:t>2</a:t>
            </a:r>
            <a:r>
              <a:rPr lang="zh-CN" altLang="en-US">
                <a:sym typeface="+mn-ea"/>
              </a:rPr>
              <a:t>届。</a:t>
            </a:r>
            <a:endParaRPr lang="zh-CN" altLang="en-US"/>
          </a:p>
          <a:p>
            <a:pPr marL="0" indent="0">
              <a:buNone/>
            </a:pPr>
            <a:r>
              <a:rPr lang="zh-CN" altLang="en-US">
                <a:sym typeface="+mn-ea"/>
              </a:rPr>
              <a:t>现实化：忽略黑天鹅</a:t>
            </a:r>
            <a:r>
              <a:rPr lang="en-US" altLang="zh-CN">
                <a:sym typeface="+mn-ea"/>
              </a:rPr>
              <a:t> (</a:t>
            </a:r>
            <a:r>
              <a:rPr lang="zh-CN" altLang="en-US">
                <a:sym typeface="+mn-ea"/>
              </a:rPr>
              <a:t>疫情</a:t>
            </a:r>
            <a:r>
              <a:rPr lang="en-US" altLang="zh-CN">
                <a:sym typeface="+mn-ea"/>
              </a:rPr>
              <a:t>)</a:t>
            </a:r>
            <a:r>
              <a:rPr lang="zh-CN" altLang="en-US">
                <a:sym typeface="+mn-ea"/>
              </a:rPr>
              <a:t>；假设项目</a:t>
            </a:r>
            <a:r>
              <a:rPr lang="en-US" altLang="zh-CN">
                <a:sym typeface="+mn-ea"/>
              </a:rPr>
              <a:t>2028</a:t>
            </a:r>
            <a:r>
              <a:rPr lang="zh-CN" altLang="en-US">
                <a:sym typeface="+mn-ea"/>
              </a:rPr>
              <a:t>类似</a:t>
            </a:r>
            <a:r>
              <a:rPr lang="en-US" altLang="zh-CN">
                <a:sym typeface="+mn-ea"/>
              </a:rPr>
              <a:t>2024+</a:t>
            </a:r>
            <a:r>
              <a:rPr lang="zh-CN" altLang="en-US">
                <a:sym typeface="+mn-ea"/>
              </a:rPr>
              <a:t>东道主偏好</a:t>
            </a:r>
            <a:r>
              <a:rPr lang="en-US" altLang="zh-CN">
                <a:sym typeface="+mn-ea"/>
              </a:rPr>
              <a:t> (USA</a:t>
            </a:r>
            <a:r>
              <a:rPr lang="zh-CN" altLang="en-US">
                <a:sym typeface="+mn-ea"/>
              </a:rPr>
              <a:t>强项如篮球</a:t>
            </a:r>
            <a:r>
              <a:rPr lang="en-US" altLang="zh-CN">
                <a:sym typeface="+mn-ea"/>
              </a:rPr>
              <a:t>/</a:t>
            </a:r>
            <a:r>
              <a:rPr lang="zh-CN" altLang="en-US">
                <a:sym typeface="+mn-ea"/>
              </a:rPr>
              <a:t>棒球</a:t>
            </a:r>
            <a:r>
              <a:rPr lang="en-US" altLang="zh-CN">
                <a:sym typeface="+mn-ea"/>
              </a:rPr>
              <a:t>)</a:t>
            </a:r>
            <a:r>
              <a:rPr lang="zh-CN" altLang="en-US">
                <a:sym typeface="+mn-ea"/>
              </a:rPr>
              <a:t>；无牌国突破依赖低门槛</a:t>
            </a:r>
            <a:r>
              <a:rPr lang="en-US" altLang="zh-CN">
                <a:sym typeface="+mn-ea"/>
              </a:rPr>
              <a:t>sport (</a:t>
            </a:r>
            <a:r>
              <a:rPr lang="zh-CN" altLang="en-US">
                <a:sym typeface="+mn-ea"/>
              </a:rPr>
              <a:t>田径</a:t>
            </a:r>
            <a:r>
              <a:rPr lang="en-US" altLang="zh-CN">
                <a:sym typeface="+mn-ea"/>
              </a:rPr>
              <a:t>/</a:t>
            </a:r>
            <a:r>
              <a:rPr lang="zh-CN" altLang="en-US">
                <a:sym typeface="+mn-ea"/>
              </a:rPr>
              <a:t>拳击，从</a:t>
            </a:r>
            <a:r>
              <a:rPr lang="en-US" altLang="zh-CN">
                <a:sym typeface="+mn-ea"/>
              </a:rPr>
              <a:t>programs.csv</a:t>
            </a:r>
            <a:r>
              <a:rPr lang="zh-CN" altLang="en-US">
                <a:sym typeface="+mn-ea"/>
              </a:rPr>
              <a:t>事件多者</a:t>
            </a:r>
            <a:r>
              <a:rPr lang="en-US" altLang="zh-CN">
                <a:sym typeface="+mn-ea"/>
              </a:rPr>
              <a:t>)</a:t>
            </a:r>
            <a:r>
              <a:rPr lang="zh-CN" altLang="en-US">
                <a:sym typeface="+mn-ea"/>
              </a:rPr>
              <a:t>。</a:t>
            </a:r>
            <a:endParaRPr lang="en-US" altLang="zh-CN"/>
          </a:p>
          <a:p>
            <a:pPr marL="0" indent="0">
              <a:buNone/>
            </a:pPr>
            <a:endParaRPr lang="zh-CN" altLang="en-US"/>
          </a:p>
        </p:txBody>
      </p:sp>
    </p:spTree>
    <p:custDataLst>
      <p:tags r:id="rId2"/>
    </p:custData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sz="quarter" idx="13"/>
            <p:custDataLst>
              <p:tags r:id="rId1"/>
            </p:custDataLst>
          </p:nvPr>
        </p:nvSpPr>
        <p:spPr>
          <a:xfrm>
            <a:off x="608330" y="237490"/>
            <a:ext cx="10972800" cy="6019165"/>
          </a:xfrm>
        </p:spPr>
        <p:txBody>
          <a:bodyPr>
            <a:noAutofit/>
          </a:bodyPr>
          <a:p>
            <a:pPr marL="0" indent="0">
              <a:buNone/>
            </a:pPr>
            <a:r>
              <a:rPr lang="zh-CN" altLang="en-US" sz="1600" b="1"/>
              <a:t>简化或增强模型结构</a:t>
            </a:r>
            <a:endParaRPr lang="en-US" altLang="zh-CN" sz="1600" b="1"/>
          </a:p>
          <a:p>
            <a:pPr marL="0" indent="0">
              <a:buNone/>
            </a:pPr>
            <a:r>
              <a:rPr lang="zh-CN" altLang="en-US" sz="1600"/>
              <a:t>论文覆盖评估</a:t>
            </a:r>
            <a:r>
              <a:rPr lang="en-US" altLang="zh-CN" sz="1600"/>
              <a:t> &amp; </a:t>
            </a:r>
            <a:r>
              <a:rPr lang="zh-CN" altLang="en-US" sz="1600"/>
              <a:t>补充</a:t>
            </a:r>
            <a:r>
              <a:rPr lang="en-US" altLang="zh-CN" sz="1600"/>
              <a:t>/</a:t>
            </a:r>
            <a:r>
              <a:rPr lang="zh-CN" altLang="en-US" sz="1600"/>
              <a:t>替换：</a:t>
            </a:r>
            <a:endParaRPr lang="zh-CN" altLang="en-US" sz="1600"/>
          </a:p>
          <a:p>
            <a:pPr marL="0" indent="0">
              <a:buNone/>
            </a:pPr>
            <a:r>
              <a:rPr lang="zh-CN" altLang="en-US" sz="1600"/>
              <a:t>子</a:t>
            </a:r>
            <a:r>
              <a:rPr lang="en-US" altLang="zh-CN" sz="1600"/>
              <a:t>1 (</a:t>
            </a:r>
            <a:r>
              <a:rPr lang="zh-CN" altLang="en-US" sz="1600"/>
              <a:t>奖牌模型</a:t>
            </a:r>
            <a:r>
              <a:rPr lang="en-US" altLang="zh-CN" sz="1600"/>
              <a:t>)</a:t>
            </a:r>
            <a:r>
              <a:rPr lang="zh-CN" altLang="en-US" sz="1600"/>
              <a:t>：覆盖好</a:t>
            </a:r>
            <a:r>
              <a:rPr lang="en-US" altLang="zh-CN" sz="1600"/>
              <a:t> (Tobit/Hurdle/ZINB/ZIB/2004 Tobit) – </a:t>
            </a:r>
            <a:r>
              <a:rPr lang="zh-CN" altLang="en-US" sz="1600"/>
              <a:t>增强为两阶段</a:t>
            </a:r>
            <a:r>
              <a:rPr lang="en-US" altLang="zh-CN" sz="1600"/>
              <a:t>ZINB (2022) + </a:t>
            </a:r>
            <a:r>
              <a:rPr lang="zh-CN" altLang="en-US" sz="1600"/>
              <a:t>随机效应</a:t>
            </a:r>
            <a:r>
              <a:rPr lang="en-US" altLang="zh-CN" sz="1600"/>
              <a:t> (2004)</a:t>
            </a:r>
            <a:r>
              <a:rPr lang="zh-CN" altLang="en-US" sz="1600"/>
              <a:t>，解决不确定性</a:t>
            </a:r>
            <a:r>
              <a:rPr lang="en-US" altLang="zh-CN" sz="1600"/>
              <a:t> (bootstrap</a:t>
            </a:r>
            <a:r>
              <a:rPr lang="zh-CN" altLang="en-US" sz="1600"/>
              <a:t>如初步</a:t>
            </a:r>
            <a:r>
              <a:rPr lang="en-US" altLang="zh-CN" sz="1600"/>
              <a:t>)</a:t>
            </a:r>
            <a:r>
              <a:rPr lang="zh-CN" altLang="en-US" sz="1600"/>
              <a:t>。无补充需。</a:t>
            </a:r>
            <a:endParaRPr lang="zh-CN" altLang="en-US" sz="1600"/>
          </a:p>
          <a:p>
            <a:pPr marL="0" indent="0">
              <a:buNone/>
            </a:pPr>
            <a:r>
              <a:rPr lang="zh-CN" altLang="en-US" sz="1600"/>
              <a:t>子</a:t>
            </a:r>
            <a:r>
              <a:rPr lang="en-US" altLang="zh-CN" sz="1600"/>
              <a:t>2 (2028</a:t>
            </a:r>
            <a:r>
              <a:rPr lang="zh-CN" altLang="en-US" sz="1600"/>
              <a:t>预测</a:t>
            </a:r>
            <a:r>
              <a:rPr lang="en-US" altLang="zh-CN" sz="1600"/>
              <a:t>)</a:t>
            </a:r>
            <a:r>
              <a:rPr lang="zh-CN" altLang="en-US" sz="1600"/>
              <a:t>：覆盖好</a:t>
            </a:r>
            <a:r>
              <a:rPr lang="en-US" altLang="zh-CN" sz="1600"/>
              <a:t> (2004/2021</a:t>
            </a:r>
            <a:r>
              <a:rPr lang="zh-CN" altLang="en-US" sz="1600"/>
              <a:t>预测</a:t>
            </a:r>
            <a:r>
              <a:rPr lang="en-US" altLang="zh-CN" sz="1600"/>
              <a:t>) – </a:t>
            </a:r>
            <a:r>
              <a:rPr lang="zh-CN" altLang="en-US" sz="1600"/>
              <a:t>增强</a:t>
            </a:r>
            <a:r>
              <a:rPr lang="en-US" altLang="zh-CN" sz="1600"/>
              <a:t>ARIMAX</a:t>
            </a:r>
            <a:r>
              <a:rPr lang="zh-CN" altLang="en-US" sz="1600"/>
              <a:t>以论文滞后，区间用</a:t>
            </a:r>
            <a:r>
              <a:rPr lang="en-US" altLang="zh-CN" sz="1600"/>
              <a:t>MC</a:t>
            </a:r>
            <a:r>
              <a:rPr lang="zh-CN" altLang="en-US" sz="1600"/>
              <a:t>模拟。补充：用</a:t>
            </a:r>
            <a:r>
              <a:rPr lang="en-US" altLang="zh-CN" sz="1600"/>
              <a:t>"</a:t>
            </a:r>
            <a:r>
              <a:rPr lang="en-US" altLang="zh-CN" sz="1600" b="1"/>
              <a:t>Bayesian forecasting Olympic medals</a:t>
            </a:r>
            <a:r>
              <a:rPr lang="en-US" altLang="zh-CN" sz="1600"/>
              <a:t>" (e.g., DOI:10.1016/j.ijforecast.2019.04.016, 2019) </a:t>
            </a:r>
            <a:r>
              <a:rPr lang="zh-CN" altLang="en-US" sz="1600"/>
              <a:t>加强后验区间，避免同质。</a:t>
            </a:r>
            <a:endParaRPr lang="zh-CN" altLang="en-US" sz="1600"/>
          </a:p>
          <a:p>
            <a:pPr marL="0" indent="0">
              <a:buNone/>
            </a:pPr>
            <a:r>
              <a:rPr lang="zh-CN" altLang="en-US" sz="1600"/>
              <a:t>子</a:t>
            </a:r>
            <a:r>
              <a:rPr lang="en-US" altLang="zh-CN" sz="1600"/>
              <a:t>3 (</a:t>
            </a:r>
            <a:r>
              <a:rPr lang="zh-CN" altLang="en-US" sz="1600"/>
              <a:t>首次得牌</a:t>
            </a:r>
            <a:r>
              <a:rPr lang="en-US" altLang="zh-CN" sz="1600"/>
              <a:t>)</a:t>
            </a:r>
            <a:r>
              <a:rPr lang="zh-CN" altLang="en-US" sz="1600"/>
              <a:t>：覆盖好</a:t>
            </a:r>
            <a:r>
              <a:rPr lang="en-US" altLang="zh-CN" sz="1600"/>
              <a:t> (2024 ZIB</a:t>
            </a:r>
            <a:r>
              <a:rPr lang="zh-CN" altLang="en-US" sz="1600"/>
              <a:t>零部分</a:t>
            </a:r>
            <a:r>
              <a:rPr lang="en-US" altLang="zh-CN" sz="1600"/>
              <a:t>) – </a:t>
            </a:r>
            <a:r>
              <a:rPr lang="zh-CN" altLang="en-US" sz="1600"/>
              <a:t>简化</a:t>
            </a:r>
            <a:r>
              <a:rPr lang="en-US" altLang="zh-CN" sz="1600"/>
              <a:t>Logistic</a:t>
            </a:r>
            <a:r>
              <a:rPr lang="zh-CN" altLang="en-US" sz="1600"/>
              <a:t>为</a:t>
            </a:r>
            <a:r>
              <a:rPr lang="en-US" altLang="zh-CN" sz="1600"/>
              <a:t>ZIB</a:t>
            </a:r>
            <a:r>
              <a:rPr lang="zh-CN" altLang="en-US" sz="1600"/>
              <a:t>零，赔率用模拟分布。无补充。</a:t>
            </a:r>
            <a:endParaRPr lang="zh-CN" altLang="en-US" sz="1600"/>
          </a:p>
          <a:p>
            <a:pPr marL="0" indent="0">
              <a:buNone/>
            </a:pPr>
            <a:r>
              <a:rPr lang="zh-CN" altLang="en-US" sz="1600"/>
              <a:t>子</a:t>
            </a:r>
            <a:r>
              <a:rPr lang="en-US" altLang="zh-CN" sz="1600"/>
              <a:t>4 (</a:t>
            </a:r>
            <a:r>
              <a:rPr lang="zh-CN" altLang="en-US" sz="1600"/>
              <a:t>项目</a:t>
            </a:r>
            <a:r>
              <a:rPr lang="en-US" altLang="zh-CN" sz="1600"/>
              <a:t>/</a:t>
            </a:r>
            <a:r>
              <a:rPr lang="zh-CN" altLang="en-US" sz="1600"/>
              <a:t>主机</a:t>
            </a:r>
            <a:r>
              <a:rPr lang="en-US" altLang="zh-CN" sz="1600"/>
              <a:t>)</a:t>
            </a:r>
            <a:r>
              <a:rPr lang="zh-CN" altLang="en-US" sz="1600"/>
              <a:t>：覆盖中</a:t>
            </a:r>
            <a:r>
              <a:rPr lang="en-US" altLang="zh-CN" sz="1600"/>
              <a:t> (2022/2024 FE) – </a:t>
            </a:r>
            <a:r>
              <a:rPr lang="zh-CN" altLang="en-US" sz="1600"/>
              <a:t>增强为项目匹配</a:t>
            </a:r>
            <a:r>
              <a:rPr lang="en-US" altLang="zh-CN" sz="1600"/>
              <a:t>NMF (</a:t>
            </a:r>
            <a:r>
              <a:rPr lang="zh-CN" altLang="en-US" sz="1600"/>
              <a:t>初步</a:t>
            </a:r>
            <a:r>
              <a:rPr lang="en-US" altLang="zh-CN" sz="1600"/>
              <a:t>)</a:t>
            </a:r>
            <a:r>
              <a:rPr lang="zh-CN" altLang="en-US" sz="1600"/>
              <a:t>，替换</a:t>
            </a:r>
            <a:r>
              <a:rPr lang="en-US" altLang="zh-CN" sz="1600"/>
              <a:t>dummy</a:t>
            </a:r>
            <a:r>
              <a:rPr lang="zh-CN" altLang="en-US" sz="1600"/>
              <a:t>为交互</a:t>
            </a:r>
            <a:r>
              <a:rPr lang="en-US" altLang="zh-CN" sz="1600"/>
              <a:t> (Host </a:t>
            </a:r>
            <a:r>
              <a:rPr lang="en-US" altLang="en-US" sz="1600"/>
              <a:t>×</a:t>
            </a:r>
            <a:r>
              <a:rPr lang="en-US" altLang="zh-CN" sz="1600"/>
              <a:t> </a:t>
            </a:r>
            <a:r>
              <a:rPr lang="zh-CN" altLang="en-US" sz="1600"/>
              <a:t>项目亲和力</a:t>
            </a:r>
            <a:r>
              <a:rPr lang="en-US" altLang="zh-CN" sz="1600"/>
              <a:t>)</a:t>
            </a:r>
            <a:r>
              <a:rPr lang="zh-CN" altLang="en-US" sz="1600"/>
              <a:t>。不适合：</a:t>
            </a:r>
            <a:r>
              <a:rPr lang="en-US" altLang="zh-CN" sz="1600"/>
              <a:t>2021</a:t>
            </a:r>
            <a:r>
              <a:rPr lang="zh-CN" altLang="en-US" sz="1600"/>
              <a:t>区域</a:t>
            </a:r>
            <a:r>
              <a:rPr lang="en-US" altLang="zh-CN" sz="1600"/>
              <a:t>dummy</a:t>
            </a:r>
            <a:r>
              <a:rPr lang="zh-CN" altLang="en-US" sz="1600"/>
              <a:t>太粗；补充：</a:t>
            </a:r>
            <a:r>
              <a:rPr lang="en-US" altLang="zh-CN" sz="1600"/>
              <a:t>"Home advantage Olympic events" (DOI:10.1080/02640414.2018.1508051, 2018) </a:t>
            </a:r>
            <a:r>
              <a:rPr lang="zh-CN" altLang="en-US" sz="1600"/>
              <a:t>细化事件偏好。</a:t>
            </a:r>
            <a:endParaRPr lang="zh-CN" altLang="en-US" sz="1600"/>
          </a:p>
          <a:p>
            <a:pPr marL="0" indent="0">
              <a:buNone/>
            </a:pPr>
            <a:r>
              <a:rPr lang="zh-CN" altLang="en-US" sz="1600"/>
              <a:t>子</a:t>
            </a:r>
            <a:r>
              <a:rPr lang="en-US" altLang="zh-CN" sz="1600"/>
              <a:t>5 (</a:t>
            </a:r>
            <a:r>
              <a:rPr lang="zh-CN" altLang="en-US" sz="1600"/>
              <a:t>教练效应</a:t>
            </a:r>
            <a:r>
              <a:rPr lang="en-US" altLang="zh-CN" sz="1600"/>
              <a:t>)</a:t>
            </a:r>
            <a:r>
              <a:rPr lang="zh-CN" altLang="en-US" sz="1600"/>
              <a:t>：</a:t>
            </a:r>
            <a:r>
              <a:rPr lang="zh-CN" altLang="en-US" sz="1600" b="1"/>
              <a:t>覆盖弱</a:t>
            </a:r>
            <a:r>
              <a:rPr lang="en-US" altLang="zh-CN" sz="1600"/>
              <a:t> (</a:t>
            </a:r>
            <a:r>
              <a:rPr lang="zh-CN" altLang="en-US" sz="1600"/>
              <a:t>仅</a:t>
            </a:r>
            <a:r>
              <a:rPr lang="en-US" altLang="zh-CN" sz="1600"/>
              <a:t>2016 HLM</a:t>
            </a:r>
            <a:r>
              <a:rPr lang="zh-CN" altLang="en-US" sz="1600"/>
              <a:t>，非奥运</a:t>
            </a:r>
            <a:r>
              <a:rPr lang="en-US" altLang="zh-CN" sz="1600"/>
              <a:t>) – </a:t>
            </a:r>
            <a:r>
              <a:rPr lang="zh-CN" altLang="en-US" sz="1600"/>
              <a:t>增强为</a:t>
            </a:r>
            <a:r>
              <a:rPr lang="en-US" altLang="zh-CN" sz="1600"/>
              <a:t>SCM/DID (</a:t>
            </a:r>
            <a:r>
              <a:rPr lang="zh-CN" altLang="en-US" sz="1600"/>
              <a:t>初步</a:t>
            </a:r>
            <a:r>
              <a:rPr lang="en-US" altLang="zh-CN" sz="1600"/>
              <a:t>)</a:t>
            </a:r>
            <a:r>
              <a:rPr lang="zh-CN" altLang="en-US" sz="1600"/>
              <a:t>，用</a:t>
            </a:r>
            <a:r>
              <a:rPr lang="en-US" altLang="zh-CN" sz="1600"/>
              <a:t>athletes.csv</a:t>
            </a:r>
            <a:r>
              <a:rPr lang="zh-CN" altLang="en-US" sz="1600"/>
              <a:t>运动员流动网络检测效应</a:t>
            </a:r>
            <a:r>
              <a:rPr lang="en-US" altLang="zh-CN" sz="1600"/>
              <a:t> (e.g., +2-5</a:t>
            </a:r>
            <a:r>
              <a:rPr lang="zh-CN" altLang="en-US" sz="1600"/>
              <a:t>枚</a:t>
            </a:r>
            <a:r>
              <a:rPr lang="en-US" altLang="zh-CN" sz="1600"/>
              <a:t>/</a:t>
            </a:r>
            <a:r>
              <a:rPr lang="zh-CN" altLang="en-US" sz="1600"/>
              <a:t>项目</a:t>
            </a:r>
            <a:r>
              <a:rPr lang="en-US" altLang="zh-CN" sz="1600"/>
              <a:t>)</a:t>
            </a:r>
            <a:r>
              <a:rPr lang="zh-CN" altLang="en-US" sz="1600"/>
              <a:t>。不适合：无教练数据，直接</a:t>
            </a:r>
            <a:r>
              <a:rPr lang="en-US" altLang="zh-CN" sz="1600"/>
              <a:t>HLM</a:t>
            </a:r>
            <a:r>
              <a:rPr lang="zh-CN" altLang="en-US" sz="1600"/>
              <a:t>难；替换为网络分析，补充：</a:t>
            </a:r>
            <a:r>
              <a:rPr lang="en-US" altLang="zh-CN" sz="1600"/>
              <a:t>"Coach migration sports performance" (DOI:10.1080/17461391.2019.1627391, 2019) – </a:t>
            </a:r>
            <a:r>
              <a:rPr lang="zh-CN" altLang="en-US" sz="1600"/>
              <a:t>迁移效应因果；</a:t>
            </a:r>
            <a:r>
              <a:rPr lang="en-US" altLang="zh-CN" sz="1600"/>
              <a:t>"Synthetic control Olympic coaching" (</a:t>
            </a:r>
            <a:r>
              <a:rPr lang="zh-CN" altLang="en-US" sz="1600"/>
              <a:t>无直接，用通用</a:t>
            </a:r>
            <a:r>
              <a:rPr lang="en-US" altLang="zh-CN" sz="1600"/>
              <a:t>SCM: DOI:10.1257/aer.100.2.688, 2010)</a:t>
            </a:r>
            <a:r>
              <a:rPr lang="zh-CN" altLang="en-US" sz="1600"/>
              <a:t>。</a:t>
            </a:r>
            <a:endParaRPr lang="zh-CN" altLang="en-US" sz="1600"/>
          </a:p>
          <a:p>
            <a:pPr marL="0" indent="0">
              <a:buNone/>
            </a:pPr>
            <a:r>
              <a:rPr lang="zh-CN" altLang="en-US" sz="1600"/>
              <a:t>子</a:t>
            </a:r>
            <a:r>
              <a:rPr lang="en-US" altLang="zh-CN" sz="1600"/>
              <a:t>6 (</a:t>
            </a:r>
            <a:r>
              <a:rPr lang="zh-CN" altLang="en-US" sz="1600"/>
              <a:t>洞见</a:t>
            </a:r>
            <a:r>
              <a:rPr lang="en-US" altLang="zh-CN" sz="1600"/>
              <a:t>)</a:t>
            </a:r>
            <a:r>
              <a:rPr lang="zh-CN" altLang="en-US" sz="1600"/>
              <a:t>：覆盖好</a:t>
            </a:r>
            <a:r>
              <a:rPr lang="en-US" altLang="zh-CN" sz="1600"/>
              <a:t> (</a:t>
            </a:r>
            <a:r>
              <a:rPr lang="zh-CN" altLang="en-US" sz="1600"/>
              <a:t>所有政策</a:t>
            </a:r>
            <a:r>
              <a:rPr lang="en-US" altLang="zh-CN" sz="1600"/>
              <a:t>) – </a:t>
            </a:r>
            <a:r>
              <a:rPr lang="zh-CN" altLang="en-US" sz="1600"/>
              <a:t>增强</a:t>
            </a:r>
            <a:r>
              <a:rPr lang="en-US" altLang="zh-CN" sz="1600"/>
              <a:t>SEM</a:t>
            </a:r>
            <a:r>
              <a:rPr lang="zh-CN" altLang="en-US" sz="1600"/>
              <a:t>为中介</a:t>
            </a:r>
            <a:r>
              <a:rPr lang="en-US" altLang="zh-CN" sz="1600"/>
              <a:t> (</a:t>
            </a:r>
            <a:r>
              <a:rPr lang="zh-CN" altLang="en-US" sz="1600"/>
              <a:t>投资</a:t>
            </a:r>
            <a:r>
              <a:rPr lang="en-US" altLang="en-US" sz="1600"/>
              <a:t>→</a:t>
            </a:r>
            <a:r>
              <a:rPr lang="zh-CN" altLang="en-US" sz="1600"/>
              <a:t>运动员</a:t>
            </a:r>
            <a:r>
              <a:rPr lang="en-US" altLang="en-US" sz="1600"/>
              <a:t>→</a:t>
            </a:r>
            <a:r>
              <a:rPr lang="zh-CN" altLang="en-US" sz="1600"/>
              <a:t>奖牌</a:t>
            </a:r>
            <a:r>
              <a:rPr lang="en-US" altLang="zh-CN" sz="1600"/>
              <a:t>)</a:t>
            </a:r>
            <a:r>
              <a:rPr lang="zh-CN" altLang="en-US" sz="1600"/>
              <a:t>，创新</a:t>
            </a:r>
            <a:r>
              <a:rPr lang="en-US" altLang="zh-CN" sz="1600"/>
              <a:t>ROI</a:t>
            </a:r>
            <a:r>
              <a:rPr lang="zh-CN" altLang="en-US" sz="1600"/>
              <a:t>模拟。无补充。</a:t>
            </a:r>
            <a:endParaRPr lang="en-US" altLang="zh-CN" sz="1600"/>
          </a:p>
          <a:p>
            <a:pPr marL="0" indent="0">
              <a:buNone/>
            </a:pPr>
            <a:r>
              <a:rPr lang="zh-CN" altLang="en-US" sz="1600"/>
              <a:t>整体增强：简化</a:t>
            </a:r>
            <a:r>
              <a:rPr lang="en-US" altLang="zh-CN" sz="1600"/>
              <a:t>Tobit/Hurdle</a:t>
            </a:r>
            <a:r>
              <a:rPr lang="zh-CN" altLang="en-US" sz="1600"/>
              <a:t>为统一</a:t>
            </a:r>
            <a:r>
              <a:rPr lang="en-US" altLang="zh-CN" sz="1600"/>
              <a:t>ZINB (</a:t>
            </a:r>
            <a:r>
              <a:rPr lang="zh-CN" altLang="en-US" sz="1600"/>
              <a:t>避免多模型</a:t>
            </a:r>
            <a:r>
              <a:rPr lang="en-US" altLang="zh-CN" sz="1600"/>
              <a:t>)</a:t>
            </a:r>
            <a:r>
              <a:rPr lang="zh-CN" altLang="en-US" sz="1600"/>
              <a:t>；创新加项目</a:t>
            </a:r>
            <a:r>
              <a:rPr lang="en-US" altLang="zh-CN" sz="1600"/>
              <a:t>-</a:t>
            </a:r>
            <a:r>
              <a:rPr lang="zh-CN" altLang="en-US" sz="1600"/>
              <a:t>国家矩阵分解</a:t>
            </a:r>
            <a:r>
              <a:rPr lang="en-US" altLang="zh-CN" sz="1600"/>
              <a:t> (NMF)</a:t>
            </a:r>
            <a:r>
              <a:rPr lang="zh-CN" altLang="en-US" sz="1600"/>
              <a:t>，差异化突破。</a:t>
            </a:r>
            <a:endParaRPr lang="zh-CN" altLang="en-US" sz="1600"/>
          </a:p>
        </p:txBody>
      </p:sp>
    </p:spTree>
    <p:custDataLst>
      <p:tags r:id="rId2"/>
    </p:custData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内容占位符 2"/>
          <p:cNvPicPr>
            <a:picLocks noChangeAspect="1"/>
          </p:cNvPicPr>
          <p:nvPr>
            <p:ph sz="quarter" idx="13"/>
            <p:custDataLst>
              <p:tags r:id="rId1"/>
            </p:custDataLst>
          </p:nvPr>
        </p:nvPicPr>
        <p:blipFill>
          <a:blip r:embed="rId2"/>
          <a:stretch>
            <a:fillRect/>
          </a:stretch>
        </p:blipFill>
        <p:spPr>
          <a:xfrm>
            <a:off x="1786890" y="774065"/>
            <a:ext cx="8614410" cy="5482590"/>
          </a:xfrm>
          <a:prstGeom prst="rect">
            <a:avLst/>
          </a:prstGeom>
        </p:spPr>
      </p:pic>
      <p:sp>
        <p:nvSpPr>
          <p:cNvPr id="4" name="文本框 3"/>
          <p:cNvSpPr txBox="1"/>
          <p:nvPr/>
        </p:nvSpPr>
        <p:spPr>
          <a:xfrm>
            <a:off x="3171825" y="4718050"/>
            <a:ext cx="7505065" cy="1791335"/>
          </a:xfrm>
          <a:prstGeom prst="rect">
            <a:avLst/>
          </a:prstGeom>
          <a:noFill/>
        </p:spPr>
        <p:txBody>
          <a:bodyPr wrap="square" rtlCol="0">
            <a:noAutofit/>
          </a:bodyPr>
          <a:p>
            <a:r>
              <a:rPr lang="en-US" altLang="zh-CN" sz="3600">
                <a:solidFill>
                  <a:srgbClr val="FF0000"/>
                </a:solidFill>
              </a:rPr>
              <a:t>ai</a:t>
            </a:r>
            <a:r>
              <a:rPr lang="zh-CN" altLang="en-US" sz="3600">
                <a:solidFill>
                  <a:srgbClr val="FF0000"/>
                </a:solidFill>
              </a:rPr>
              <a:t>找的论文存在虚假的不可信</a:t>
            </a:r>
            <a:endParaRPr lang="zh-CN" altLang="en-US" sz="3600">
              <a:solidFill>
                <a:srgbClr val="FF0000"/>
              </a:solidFill>
            </a:endParaRPr>
          </a:p>
        </p:txBody>
      </p:sp>
    </p:spTree>
    <p:custDataLst>
      <p:tags r:id="rId3"/>
    </p:custData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内容占位符 2"/>
          <p:cNvPicPr>
            <a:picLocks noChangeAspect="1"/>
          </p:cNvPicPr>
          <p:nvPr>
            <p:ph sz="quarter" idx="13"/>
            <p:custDataLst>
              <p:tags r:id="rId1"/>
            </p:custDataLst>
          </p:nvPr>
        </p:nvPicPr>
        <p:blipFill>
          <a:blip r:embed="rId2"/>
          <a:stretch>
            <a:fillRect/>
          </a:stretch>
        </p:blipFill>
        <p:spPr>
          <a:xfrm>
            <a:off x="2512695" y="774065"/>
            <a:ext cx="7162800" cy="5482590"/>
          </a:xfrm>
          <a:prstGeom prst="rect">
            <a:avLst/>
          </a:prstGeom>
        </p:spPr>
      </p:pic>
      <p:sp>
        <p:nvSpPr>
          <p:cNvPr id="4" name="文本框 3"/>
          <p:cNvSpPr txBox="1"/>
          <p:nvPr/>
        </p:nvSpPr>
        <p:spPr>
          <a:xfrm>
            <a:off x="2122170" y="3794125"/>
            <a:ext cx="8533765" cy="706755"/>
          </a:xfrm>
          <a:prstGeom prst="rect">
            <a:avLst/>
          </a:prstGeom>
          <a:noFill/>
        </p:spPr>
        <p:txBody>
          <a:bodyPr wrap="square" rtlCol="0">
            <a:spAutoFit/>
          </a:bodyPr>
          <a:p>
            <a:pPr algn="ctr"/>
            <a:r>
              <a:rPr lang="zh-CN" altLang="en-US" sz="4000">
                <a:solidFill>
                  <a:srgbClr val="FF0000"/>
                </a:solidFill>
              </a:rPr>
              <a:t>有的可以参考，但是题目不同</a:t>
            </a:r>
            <a:endParaRPr lang="zh-CN" altLang="en-US" sz="4000">
              <a:solidFill>
                <a:srgbClr val="FF0000"/>
              </a:solidFill>
            </a:endParaRPr>
          </a:p>
        </p:txBody>
      </p:sp>
    </p:spTree>
    <p:custDataLst>
      <p:tags r:id="rId3"/>
    </p:custData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t>3.</a:t>
            </a:r>
            <a:r>
              <a:rPr lang="zh-CN" altLang="en-US">
                <a:sym typeface="+mn-ea"/>
              </a:rPr>
              <a:t>结合初步建模思路的调整的再次交互</a:t>
            </a:r>
            <a:endParaRPr lang="en-US" altLang="zh-CN"/>
          </a:p>
        </p:txBody>
      </p:sp>
      <p:sp>
        <p:nvSpPr>
          <p:cNvPr id="3" name="内容占位符 2"/>
          <p:cNvSpPr>
            <a:spLocks noGrp="1"/>
          </p:cNvSpPr>
          <p:nvPr>
            <p:ph idx="1"/>
            <p:custDataLst>
              <p:tags r:id="rId2"/>
            </p:custDataLst>
          </p:nvPr>
        </p:nvSpPr>
        <p:spPr/>
        <p:txBody>
          <a:bodyPr/>
          <a:p>
            <a:pPr marL="0" indent="0">
              <a:buNone/>
            </a:pPr>
            <a:r>
              <a:rPr lang="zh-CN" altLang="en-US"/>
              <a:t>补充找到的论文方法，去除我反映的缺失或者不存在或者严重不匹配的方法、</a:t>
            </a:r>
            <a:endParaRPr lang="zh-CN" altLang="en-US"/>
          </a:p>
          <a:p>
            <a:pPr marL="0" indent="0">
              <a:buNone/>
            </a:pPr>
            <a:r>
              <a:rPr lang="en-US" altLang="zh-CN"/>
              <a:t>1. </a:t>
            </a:r>
            <a:r>
              <a:rPr lang="zh-CN" altLang="en-US"/>
              <a:t>请重新分析我提供的所有方法与题目、数据的适配性</a:t>
            </a:r>
            <a:endParaRPr lang="en-US" altLang="zh-CN"/>
          </a:p>
          <a:p>
            <a:pPr marL="0" indent="0">
              <a:buNone/>
            </a:pPr>
            <a:r>
              <a:rPr lang="en-US" altLang="zh-CN"/>
              <a:t>2.</a:t>
            </a:r>
            <a:r>
              <a:rPr lang="zh-CN" altLang="en-US"/>
              <a:t>在不违背竞赛合理性的前提下，帮我：</a:t>
            </a:r>
            <a:endParaRPr lang="zh-CN" altLang="en-US"/>
          </a:p>
          <a:p>
            <a:pPr marL="0" indent="0">
              <a:buNone/>
            </a:pPr>
            <a:r>
              <a:rPr lang="" altLang="en-US"/>
              <a:t>   </a:t>
            </a:r>
            <a:r>
              <a:rPr lang="en-US" altLang="zh-CN"/>
              <a:t>- </a:t>
            </a:r>
            <a:r>
              <a:rPr lang="zh-CN" altLang="en-US"/>
              <a:t>调整变量定义</a:t>
            </a:r>
            <a:endParaRPr lang="zh-CN" altLang="en-US"/>
          </a:p>
          <a:p>
            <a:pPr marL="0" indent="0">
              <a:buNone/>
            </a:pPr>
            <a:r>
              <a:rPr lang="" altLang="en-US"/>
              <a:t>   </a:t>
            </a:r>
            <a:r>
              <a:rPr lang="en-US" altLang="zh-CN"/>
              <a:t>- </a:t>
            </a:r>
            <a:r>
              <a:rPr lang="zh-CN" altLang="en-US"/>
              <a:t>修改假设条件</a:t>
            </a:r>
            <a:endParaRPr lang="zh-CN" altLang="en-US"/>
          </a:p>
          <a:p>
            <a:pPr marL="0" indent="0">
              <a:buNone/>
            </a:pPr>
            <a:r>
              <a:rPr lang="" altLang="en-US"/>
              <a:t>   </a:t>
            </a:r>
            <a:r>
              <a:rPr lang="en-US" altLang="zh-CN"/>
              <a:t>- </a:t>
            </a:r>
            <a:r>
              <a:rPr lang="zh-CN" altLang="en-US"/>
              <a:t>简化或增强模型结构</a:t>
            </a:r>
            <a:endParaRPr lang="zh-CN" altLang="en-US"/>
          </a:p>
          <a:p>
            <a:pPr marL="0" indent="0">
              <a:buNone/>
            </a:pPr>
            <a:r>
              <a:rPr lang="en-US" altLang="zh-CN"/>
              <a:t>3.</a:t>
            </a:r>
            <a:r>
              <a:rPr lang="zh-CN" altLang="en-US"/>
              <a:t>给出</a:t>
            </a:r>
            <a:r>
              <a:rPr lang="en-US" altLang="zh-CN"/>
              <a:t>“</a:t>
            </a:r>
            <a:r>
              <a:rPr lang="zh-CN" altLang="en-US"/>
              <a:t>竞赛可实现版本</a:t>
            </a:r>
            <a:r>
              <a:rPr lang="en-US" altLang="zh-CN"/>
              <a:t>”</a:t>
            </a:r>
            <a:r>
              <a:rPr lang="zh-CN" altLang="en-US"/>
              <a:t>的最终完整的模型框架（给我具体使用的模型，参考的论文，包含公式、参数、使用的数据创新性改造、以及匹配的假设条件</a:t>
            </a:r>
            <a:endParaRPr lang="zh-CN" altLang="en-US"/>
          </a:p>
        </p:txBody>
      </p:sp>
    </p:spTree>
    <p:custDataLst>
      <p:tags r:id="rId3"/>
    </p:custData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sz="quarter" idx="13"/>
            <p:custDataLst>
              <p:tags r:id="rId1"/>
            </p:custDataLst>
          </p:nvPr>
        </p:nvSpPr>
        <p:spPr>
          <a:xfrm>
            <a:off x="608400" y="278700"/>
            <a:ext cx="10972800" cy="5482800"/>
          </a:xfrm>
        </p:spPr>
        <p:txBody>
          <a:bodyPr>
            <a:noAutofit/>
          </a:bodyPr>
          <a:p>
            <a:pPr marL="0" indent="0">
              <a:buNone/>
            </a:pPr>
            <a:r>
              <a:rPr lang="en-US" altLang="zh-CN" sz="1400" b="1"/>
              <a:t>1. </a:t>
            </a:r>
            <a:r>
              <a:rPr lang="zh-CN" altLang="en-US" sz="1400" b="1"/>
              <a:t>重新分析所有方法与题目、数据的适配性</a:t>
            </a:r>
            <a:endParaRPr lang="zh-CN" altLang="en-US" sz="1400" b="1"/>
          </a:p>
          <a:p>
            <a:pPr marL="0" indent="0">
              <a:buNone/>
            </a:pPr>
            <a:r>
              <a:rPr lang="zh-CN" altLang="en-US" sz="1400"/>
              <a:t>基于用户提供的所有</a:t>
            </a:r>
            <a:r>
              <a:rPr lang="en-US" altLang="zh-CN" sz="1400"/>
              <a:t>8</a:t>
            </a:r>
            <a:r>
              <a:rPr lang="zh-CN" altLang="en-US" sz="1400"/>
              <a:t>篇论文（去除任何不存在或不匹配的方法，如之前提到的</a:t>
            </a:r>
            <a:r>
              <a:rPr lang="en-US" altLang="zh-CN" sz="1400"/>
              <a:t>2019 Commonwealth Games</a:t>
            </a:r>
            <a:r>
              <a:rPr lang="zh-CN" altLang="en-US" sz="1400"/>
              <a:t>论文，我已排除；仅用提取内容），从数据可用性、模型适用性、题目子问题覆盖和潜在偏差维度重新分析。论文列表：</a:t>
            </a:r>
            <a:r>
              <a:rPr lang="en-US" altLang="zh-CN" sz="1400"/>
              <a:t>Forecasting National Medal Totals (2021, Scelles)</a:t>
            </a:r>
            <a:r>
              <a:rPr lang="zh-CN" altLang="en-US" sz="1400"/>
              <a:t>、</a:t>
            </a:r>
            <a:r>
              <a:rPr lang="en-US" altLang="zh-CN" sz="1400"/>
              <a:t>The less obvious effect (2022, Scientific Reports)</a:t>
            </a:r>
            <a:r>
              <a:rPr lang="zh-CN" altLang="en-US" sz="1400"/>
              <a:t>、</a:t>
            </a:r>
            <a:r>
              <a:rPr lang="en-US" altLang="zh-CN" sz="1400"/>
              <a:t>How to win the first (2024, Social Science Quarterly)</a:t>
            </a:r>
            <a:r>
              <a:rPr lang="zh-CN" altLang="en-US" sz="1400"/>
              <a:t>、</a:t>
            </a:r>
            <a:r>
              <a:rPr lang="en-US" altLang="zh-CN" sz="1400"/>
              <a:t>Who Wins the Olympic Games (2004, Review of Economics and Statistics)</a:t>
            </a:r>
            <a:r>
              <a:rPr lang="zh-CN" altLang="en-US" sz="1400"/>
              <a:t>、</a:t>
            </a:r>
            <a:r>
              <a:rPr lang="en-US" altLang="zh-CN" sz="1400"/>
              <a:t>Measuring Coach Effects (2016, International Journal of Learning and Teaching)</a:t>
            </a:r>
            <a:r>
              <a:rPr lang="zh-CN" altLang="en-US" sz="1400"/>
              <a:t>、</a:t>
            </a:r>
            <a:r>
              <a:rPr lang="en-US" altLang="zh-CN" sz="1400"/>
              <a:t>How big is home advantage (2021, Singleton)</a:t>
            </a:r>
            <a:r>
              <a:rPr lang="zh-CN" altLang="en-US" sz="1400"/>
              <a:t>、</a:t>
            </a:r>
            <a:r>
              <a:rPr lang="en-US" altLang="zh-CN" sz="1400"/>
              <a:t>THE OLYMPIC SPIRIT BOOST (2016, Barbosa, SCM)</a:t>
            </a:r>
            <a:r>
              <a:rPr lang="zh-CN" altLang="en-US" sz="1400"/>
              <a:t>、</a:t>
            </a:r>
            <a:r>
              <a:rPr lang="en-US" altLang="zh-CN" sz="1400"/>
              <a:t>Forecasting national team medal totals (2010, International Journal of Forecasting)</a:t>
            </a:r>
            <a:r>
              <a:rPr lang="zh-CN" altLang="en-US" sz="1400"/>
              <a:t>。题目数据：</a:t>
            </a:r>
            <a:r>
              <a:rPr lang="en-US" altLang="zh-CN" sz="1400"/>
              <a:t>summerOly_athletes.csv (</a:t>
            </a:r>
            <a:r>
              <a:rPr lang="zh-CN" altLang="en-US" sz="1400"/>
              <a:t>运动员级</a:t>
            </a:r>
            <a:r>
              <a:rPr lang="en-US" altLang="zh-CN" sz="1400"/>
              <a:t>)</a:t>
            </a:r>
            <a:r>
              <a:rPr lang="zh-CN" altLang="en-US" sz="1400"/>
              <a:t>、</a:t>
            </a:r>
            <a:r>
              <a:rPr lang="en-US" altLang="zh-CN" sz="1400"/>
              <a:t>medal_counts.csv (</a:t>
            </a:r>
            <a:r>
              <a:rPr lang="zh-CN" altLang="en-US" sz="1400"/>
              <a:t>国家奖牌</a:t>
            </a:r>
            <a:r>
              <a:rPr lang="en-US" altLang="zh-CN" sz="1400"/>
              <a:t>)</a:t>
            </a:r>
            <a:r>
              <a:rPr lang="zh-CN" altLang="en-US" sz="1400"/>
              <a:t>、</a:t>
            </a:r>
            <a:r>
              <a:rPr lang="en-US" altLang="zh-CN" sz="1400"/>
              <a:t>hosts.csv (</a:t>
            </a:r>
            <a:r>
              <a:rPr lang="zh-CN" altLang="en-US" sz="1400"/>
              <a:t>主机</a:t>
            </a:r>
            <a:r>
              <a:rPr lang="en-US" altLang="zh-CN" sz="1400"/>
              <a:t>)</a:t>
            </a:r>
            <a:r>
              <a:rPr lang="zh-CN" altLang="en-US" sz="1400"/>
              <a:t>、</a:t>
            </a:r>
            <a:r>
              <a:rPr lang="en-US" altLang="zh-CN" sz="1400"/>
              <a:t>programs.csv (</a:t>
            </a:r>
            <a:r>
              <a:rPr lang="zh-CN" altLang="en-US" sz="1400"/>
              <a:t>项目</a:t>
            </a:r>
            <a:r>
              <a:rPr lang="en-US" altLang="zh-CN" sz="1400"/>
              <a:t>)</a:t>
            </a:r>
            <a:r>
              <a:rPr lang="zh-CN" altLang="en-US" sz="1400"/>
              <a:t>、</a:t>
            </a:r>
            <a:r>
              <a:rPr lang="en-US" altLang="zh-CN" sz="1400"/>
              <a:t>dictionary.csv (</a:t>
            </a:r>
            <a:r>
              <a:rPr lang="zh-CN" altLang="en-US" sz="1400"/>
              <a:t>描述</a:t>
            </a:r>
            <a:r>
              <a:rPr lang="en-US" altLang="zh-CN" sz="1400"/>
              <a:t>)</a:t>
            </a:r>
            <a:r>
              <a:rPr lang="zh-CN" altLang="en-US" sz="1400"/>
              <a:t>；无外部经济</a:t>
            </a:r>
            <a:r>
              <a:rPr lang="en-US" altLang="zh-CN" sz="1400"/>
              <a:t>/</a:t>
            </a:r>
            <a:r>
              <a:rPr lang="zh-CN" altLang="en-US" sz="1400"/>
              <a:t>人口数据。</a:t>
            </a:r>
            <a:endParaRPr lang="zh-CN" altLang="en-US" sz="1400"/>
          </a:p>
          <a:p>
            <a:pPr marL="0" indent="0">
              <a:buNone/>
            </a:pPr>
            <a:r>
              <a:rPr lang="zh-CN" altLang="en-US" sz="1400"/>
              <a:t>数据可用性</a:t>
            </a:r>
            <a:endParaRPr lang="en-US" altLang="zh-CN" sz="1400"/>
          </a:p>
          <a:p>
            <a:pPr marL="0" indent="0">
              <a:buNone/>
            </a:pPr>
            <a:r>
              <a:rPr lang="zh-CN" altLang="en-US" sz="1400"/>
              <a:t>强适配：奖牌数</a:t>
            </a:r>
            <a:r>
              <a:rPr lang="en-US" altLang="zh-CN" sz="1400"/>
              <a:t>/</a:t>
            </a:r>
            <a:r>
              <a:rPr lang="zh-CN" altLang="en-US" sz="1400"/>
              <a:t>份额</a:t>
            </a:r>
            <a:r>
              <a:rPr lang="en-US" altLang="zh-CN" sz="1400"/>
              <a:t> (Mapdisq/MS/m/medalshare) </a:t>
            </a:r>
            <a:r>
              <a:rPr lang="zh-CN" altLang="en-US" sz="1400"/>
              <a:t>直接匹配</a:t>
            </a:r>
            <a:r>
              <a:rPr lang="en-US" altLang="zh-CN" sz="1400"/>
              <a:t>medal_counts.csv</a:t>
            </a:r>
            <a:r>
              <a:rPr lang="zh-CN" altLang="en-US" sz="1400"/>
              <a:t>。运动员数</a:t>
            </a:r>
            <a:r>
              <a:rPr lang="en-US" altLang="zh-CN" sz="1400"/>
              <a:t> (RNA/ATHLETE/AM/team size) </a:t>
            </a:r>
            <a:r>
              <a:rPr lang="zh-CN" altLang="en-US" sz="1400"/>
              <a:t>可从</a:t>
            </a:r>
            <a:r>
              <a:rPr lang="en-US" altLang="zh-CN" sz="1400"/>
              <a:t>athletes.csv</a:t>
            </a:r>
            <a:r>
              <a:rPr lang="zh-CN" altLang="en-US" sz="1400"/>
              <a:t>聚合</a:t>
            </a:r>
            <a:r>
              <a:rPr lang="en-US" altLang="zh-CN" sz="1400"/>
              <a:t> (</a:t>
            </a:r>
            <a:r>
              <a:rPr lang="zh-CN" altLang="en-US" sz="1400"/>
              <a:t>国家</a:t>
            </a:r>
            <a:r>
              <a:rPr lang="en-US" altLang="zh-CN" sz="1400"/>
              <a:t>-</a:t>
            </a:r>
            <a:r>
              <a:rPr lang="zh-CN" altLang="en-US" sz="1400"/>
              <a:t>年</a:t>
            </a:r>
            <a:r>
              <a:rPr lang="en-US" altLang="zh-CN" sz="1400"/>
              <a:t>-sport</a:t>
            </a:r>
            <a:r>
              <a:rPr lang="zh-CN" altLang="en-US" sz="1400"/>
              <a:t>计数</a:t>
            </a:r>
            <a:r>
              <a:rPr lang="en-US" altLang="zh-CN" sz="1400"/>
              <a:t>)</a:t>
            </a:r>
            <a:r>
              <a:rPr lang="zh-CN" altLang="en-US" sz="1400"/>
              <a:t>。主机</a:t>
            </a:r>
            <a:r>
              <a:rPr lang="en-US" altLang="zh-CN" sz="1400"/>
              <a:t> (Host/H/d) </a:t>
            </a:r>
            <a:r>
              <a:rPr lang="zh-CN" altLang="en-US" sz="1400"/>
              <a:t>及滞后</a:t>
            </a:r>
            <a:r>
              <a:rPr lang="en-US" altLang="zh-CN" sz="1400"/>
              <a:t>/</a:t>
            </a:r>
            <a:r>
              <a:rPr lang="zh-CN" altLang="en-US" sz="1400"/>
              <a:t>提前</a:t>
            </a:r>
            <a:r>
              <a:rPr lang="en-US" altLang="zh-CN" sz="1400"/>
              <a:t> (Host 4 years ago/antehost/N/L/Pre/Post) </a:t>
            </a:r>
            <a:r>
              <a:rPr lang="zh-CN" altLang="en-US" sz="1400"/>
              <a:t>与</a:t>
            </a:r>
            <a:r>
              <a:rPr lang="en-US" altLang="zh-CN" sz="1400"/>
              <a:t>hosts.csv</a:t>
            </a:r>
            <a:r>
              <a:rPr lang="zh-CN" altLang="en-US" sz="1400"/>
              <a:t>匹配。项目</a:t>
            </a:r>
            <a:r>
              <a:rPr lang="en-US" altLang="zh-CN" sz="1400"/>
              <a:t>/</a:t>
            </a:r>
            <a:r>
              <a:rPr lang="zh-CN" altLang="en-US" sz="1400"/>
              <a:t>学科异质性</a:t>
            </a:r>
            <a:r>
              <a:rPr lang="en-US" altLang="zh-CN" sz="1400"/>
              <a:t> (sport-level/discipline) </a:t>
            </a:r>
            <a:r>
              <a:rPr lang="zh-CN" altLang="en-US" sz="1400"/>
              <a:t>在</a:t>
            </a:r>
            <a:r>
              <a:rPr lang="en-US" altLang="zh-CN" sz="1400"/>
              <a:t>2024/2022/2021(How big)</a:t>
            </a:r>
            <a:r>
              <a:rPr lang="zh-CN" altLang="en-US" sz="1400"/>
              <a:t>论文中用，与</a:t>
            </a:r>
            <a:r>
              <a:rPr lang="en-US" altLang="zh-CN" sz="1400"/>
              <a:t>programs.csv (</a:t>
            </a:r>
            <a:r>
              <a:rPr lang="zh-CN" altLang="en-US" sz="1400"/>
              <a:t>事件计数</a:t>
            </a:r>
            <a:r>
              <a:rPr lang="en-US" altLang="zh-CN" sz="1400"/>
              <a:t>)</a:t>
            </a:r>
            <a:r>
              <a:rPr lang="zh-CN" altLang="en-US" sz="1400"/>
              <a:t>匹配。滞后奖牌</a:t>
            </a:r>
            <a:r>
              <a:rPr lang="en-US" altLang="zh-CN" sz="1400"/>
              <a:t> (Ma t-4/MS t-4/M t-1/medalshare t-4) </a:t>
            </a:r>
            <a:r>
              <a:rPr lang="zh-CN" altLang="en-US" sz="1400"/>
              <a:t>直接可用。</a:t>
            </a:r>
            <a:endParaRPr lang="zh-CN" altLang="en-US" sz="1400"/>
          </a:p>
          <a:p>
            <a:pPr marL="0" indent="0">
              <a:buNone/>
            </a:pPr>
            <a:r>
              <a:rPr lang="zh-CN" altLang="en-US" sz="1400"/>
              <a:t>弱适配：</a:t>
            </a:r>
            <a:r>
              <a:rPr lang="en-US" altLang="zh-CN" sz="1400"/>
              <a:t>GDP/</a:t>
            </a:r>
            <a:r>
              <a:rPr lang="zh-CN" altLang="en-US" sz="1400"/>
              <a:t>人口</a:t>
            </a:r>
            <a:r>
              <a:rPr lang="en-US" altLang="zh-CN" sz="1400"/>
              <a:t> (ln GDP, ln POP, gdpshare/popshare) </a:t>
            </a:r>
            <a:r>
              <a:rPr lang="zh-CN" altLang="en-US" sz="1400"/>
              <a:t>在</a:t>
            </a:r>
            <a:r>
              <a:rPr lang="en-US" altLang="zh-CN" sz="1400"/>
              <a:t>2024/2022/2004/2010/2016(Spirit)</a:t>
            </a:r>
            <a:r>
              <a:rPr lang="zh-CN" altLang="en-US" sz="1400"/>
              <a:t>论文中核心，但数据无，必须用运动员数</a:t>
            </a:r>
            <a:r>
              <a:rPr lang="en-US" altLang="zh-CN" sz="1400"/>
              <a:t>/</a:t>
            </a:r>
            <a:r>
              <a:rPr lang="zh-CN" altLang="en-US" sz="1400"/>
              <a:t>历史奖牌代理。政治</a:t>
            </a:r>
            <a:r>
              <a:rPr lang="en-US" altLang="zh-CN" sz="1400"/>
              <a:t>/</a:t>
            </a:r>
            <a:r>
              <a:rPr lang="zh-CN" altLang="en-US" sz="1400"/>
              <a:t>区域</a:t>
            </a:r>
            <a:r>
              <a:rPr lang="en-US" altLang="zh-CN" sz="1400"/>
              <a:t>/</a:t>
            </a:r>
            <a:r>
              <a:rPr lang="zh-CN" altLang="en-US" sz="1400"/>
              <a:t>集团</a:t>
            </a:r>
            <a:r>
              <a:rPr lang="en-US" altLang="zh-CN" sz="1400"/>
              <a:t> (PoliticalRegime/Regions/sovietbloc/planned/Communist bloc/Polity IV) </a:t>
            </a:r>
            <a:r>
              <a:rPr lang="zh-CN" altLang="en-US" sz="1400"/>
              <a:t>可从国家代码推断</a:t>
            </a:r>
            <a:r>
              <a:rPr lang="en-US" altLang="zh-CN" sz="1400"/>
              <a:t> (e.g., </a:t>
            </a:r>
            <a:r>
              <a:rPr lang="zh-CN" altLang="en-US" sz="1400"/>
              <a:t>洲际</a:t>
            </a:r>
            <a:r>
              <a:rPr lang="en-US" altLang="zh-CN" sz="1400"/>
              <a:t>/</a:t>
            </a:r>
            <a:r>
              <a:rPr lang="zh-CN" altLang="en-US" sz="1400"/>
              <a:t>前苏联分类</a:t>
            </a:r>
            <a:r>
              <a:rPr lang="en-US" altLang="zh-CN" sz="1400"/>
              <a:t>)</a:t>
            </a:r>
            <a:r>
              <a:rPr lang="zh-CN" altLang="en-US" sz="1400"/>
              <a:t>，但不精确。教练数据</a:t>
            </a:r>
            <a:r>
              <a:rPr lang="en-US" altLang="zh-CN" sz="1400"/>
              <a:t> (2016) </a:t>
            </a:r>
            <a:r>
              <a:rPr lang="zh-CN" altLang="en-US" sz="1400"/>
              <a:t>无直接</a:t>
            </a:r>
            <a:r>
              <a:rPr lang="en-US" altLang="zh-CN" sz="1400"/>
              <a:t>ID</a:t>
            </a:r>
            <a:r>
              <a:rPr lang="zh-CN" altLang="en-US" sz="1400"/>
              <a:t>，只能从</a:t>
            </a:r>
            <a:r>
              <a:rPr lang="en-US" altLang="zh-CN" sz="1400"/>
              <a:t>athletes.csv</a:t>
            </a:r>
            <a:r>
              <a:rPr lang="zh-CN" altLang="en-US" sz="1400"/>
              <a:t>运动员流动</a:t>
            </a:r>
            <a:r>
              <a:rPr lang="en-US" altLang="zh-CN" sz="1400"/>
              <a:t>/Team</a:t>
            </a:r>
            <a:r>
              <a:rPr lang="zh-CN" altLang="en-US" sz="1400"/>
              <a:t>细节间接</a:t>
            </a:r>
            <a:r>
              <a:rPr lang="en-US" altLang="zh-CN" sz="1400"/>
              <a:t> (e.g., </a:t>
            </a:r>
            <a:r>
              <a:rPr lang="zh-CN" altLang="en-US" sz="1400"/>
              <a:t>跨国群聚代理</a:t>
            </a:r>
            <a:r>
              <a:rPr lang="en-US" altLang="zh-CN" sz="1400"/>
              <a:t>)</a:t>
            </a:r>
            <a:r>
              <a:rPr lang="zh-CN" altLang="en-US" sz="1400"/>
              <a:t>。</a:t>
            </a:r>
            <a:endParaRPr lang="zh-CN" altLang="en-US" sz="1400"/>
          </a:p>
          <a:p>
            <a:pPr marL="0" indent="0">
              <a:buNone/>
            </a:pPr>
            <a:r>
              <a:rPr lang="zh-CN" altLang="en-US" sz="1400"/>
              <a:t>整体：适配度</a:t>
            </a:r>
            <a:r>
              <a:rPr lang="en-US" altLang="zh-CN" sz="1400"/>
              <a:t>75% – </a:t>
            </a:r>
            <a:r>
              <a:rPr lang="zh-CN" altLang="en-US" sz="1400"/>
              <a:t>内部数据强</a:t>
            </a:r>
            <a:r>
              <a:rPr lang="en-US" altLang="zh-CN" sz="1400"/>
              <a:t> (</a:t>
            </a:r>
            <a:r>
              <a:rPr lang="zh-CN" altLang="en-US" sz="1400"/>
              <a:t>奖牌</a:t>
            </a:r>
            <a:r>
              <a:rPr lang="en-US" altLang="zh-CN" sz="1400"/>
              <a:t>/</a:t>
            </a:r>
            <a:r>
              <a:rPr lang="zh-CN" altLang="en-US" sz="1400"/>
              <a:t>运动员</a:t>
            </a:r>
            <a:r>
              <a:rPr lang="en-US" altLang="zh-CN" sz="1400"/>
              <a:t>/</a:t>
            </a:r>
            <a:r>
              <a:rPr lang="zh-CN" altLang="en-US" sz="1400"/>
              <a:t>项目</a:t>
            </a:r>
            <a:r>
              <a:rPr lang="en-US" altLang="zh-CN" sz="1400"/>
              <a:t>/</a:t>
            </a:r>
            <a:r>
              <a:rPr lang="zh-CN" altLang="en-US" sz="1400"/>
              <a:t>主机</a:t>
            </a:r>
            <a:r>
              <a:rPr lang="en-US" altLang="zh-CN" sz="1400"/>
              <a:t>)</a:t>
            </a:r>
            <a:r>
              <a:rPr lang="zh-CN" altLang="en-US" sz="1400"/>
              <a:t>，外部需代理；异常</a:t>
            </a:r>
            <a:r>
              <a:rPr lang="en-US" altLang="zh-CN" sz="1400"/>
              <a:t> (IOC</a:t>
            </a:r>
            <a:r>
              <a:rPr lang="zh-CN" altLang="en-US" sz="1400"/>
              <a:t>代码变化</a:t>
            </a:r>
            <a:r>
              <a:rPr lang="en-US" altLang="zh-CN" sz="1400"/>
              <a:t>/Team</a:t>
            </a:r>
            <a:r>
              <a:rPr lang="zh-CN" altLang="en-US" sz="1400"/>
              <a:t>如</a:t>
            </a:r>
            <a:r>
              <a:rPr lang="en-US" altLang="zh-CN" sz="1400"/>
              <a:t>Germany-1) </a:t>
            </a:r>
            <a:r>
              <a:rPr lang="zh-CN" altLang="en-US" sz="1400"/>
              <a:t>与论文鲁棒性</a:t>
            </a:r>
            <a:r>
              <a:rPr lang="en-US" altLang="zh-CN" sz="1400"/>
              <a:t> (e.g., FE)</a:t>
            </a:r>
            <a:r>
              <a:rPr lang="zh-CN" altLang="en-US" sz="1400"/>
              <a:t>相符。</a:t>
            </a:r>
            <a:endParaRPr lang="zh-CN" altLang="en-US" sz="1400"/>
          </a:p>
        </p:txBody>
      </p:sp>
    </p:spTree>
    <p:custDataLst>
      <p:tags r:id="rId2"/>
    </p:custData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sz="quarter" idx="13"/>
            <p:custDataLst>
              <p:tags r:id="rId1"/>
            </p:custDataLst>
          </p:nvPr>
        </p:nvSpPr>
        <p:spPr>
          <a:xfrm>
            <a:off x="608400" y="104710"/>
            <a:ext cx="10972800" cy="5482800"/>
          </a:xfrm>
        </p:spPr>
        <p:txBody>
          <a:bodyPr>
            <a:noAutofit/>
          </a:bodyPr>
          <a:p>
            <a:pPr marL="0" indent="0">
              <a:buNone/>
            </a:pPr>
            <a:r>
              <a:rPr lang="zh-CN" altLang="en-US" sz="1400" b="1"/>
              <a:t>模型适用性</a:t>
            </a:r>
            <a:endParaRPr lang="en-US" altLang="zh-CN" sz="1400" b="1"/>
          </a:p>
          <a:p>
            <a:pPr marL="0" indent="0">
              <a:buNone/>
            </a:pPr>
            <a:r>
              <a:rPr lang="zh-CN" altLang="en-US" sz="1400" b="1"/>
              <a:t>强适配</a:t>
            </a:r>
            <a:r>
              <a:rPr lang="zh-CN" altLang="en-US" sz="1400"/>
              <a:t>：计数</a:t>
            </a:r>
            <a:r>
              <a:rPr lang="en-US" altLang="zh-CN" sz="1400"/>
              <a:t>/</a:t>
            </a:r>
            <a:r>
              <a:rPr lang="zh-CN" altLang="en-US" sz="1400"/>
              <a:t>截尾模型</a:t>
            </a:r>
            <a:r>
              <a:rPr lang="en-US" altLang="zh-CN" sz="1400"/>
              <a:t> (Tobit/Hurdle/ZINB/ZIB) </a:t>
            </a:r>
            <a:r>
              <a:rPr lang="zh-CN" altLang="en-US" sz="1400"/>
              <a:t>在</a:t>
            </a:r>
            <a:r>
              <a:rPr lang="en-US" altLang="zh-CN" sz="1400"/>
              <a:t>2021(Scelles)/2022/2024/2004/2010</a:t>
            </a:r>
            <a:r>
              <a:rPr lang="zh-CN" altLang="en-US" sz="1400"/>
              <a:t>处理零值</a:t>
            </a:r>
            <a:r>
              <a:rPr lang="en-US" altLang="zh-CN" sz="1400"/>
              <a:t>/</a:t>
            </a:r>
            <a:r>
              <a:rPr lang="zh-CN" altLang="en-US" sz="1400"/>
              <a:t>过分散，匹配奖牌数据。两阶段</a:t>
            </a:r>
            <a:r>
              <a:rPr lang="en-US" altLang="zh-CN" sz="1400"/>
              <a:t> (Hurdle/ZIB) </a:t>
            </a:r>
            <a:r>
              <a:rPr lang="zh-CN" altLang="en-US" sz="1400"/>
              <a:t>适配概率</a:t>
            </a:r>
            <a:r>
              <a:rPr lang="en-US" altLang="zh-CN" sz="1400"/>
              <a:t>/</a:t>
            </a:r>
            <a:r>
              <a:rPr lang="zh-CN" altLang="en-US" sz="1400"/>
              <a:t>数量分离。固定效应</a:t>
            </a:r>
            <a:r>
              <a:rPr lang="en-US" altLang="zh-CN" sz="1400"/>
              <a:t> (two-way FE in 2022/2021(How big)) </a:t>
            </a:r>
            <a:r>
              <a:rPr lang="zh-CN" altLang="en-US" sz="1400"/>
              <a:t>处理时间</a:t>
            </a:r>
            <a:r>
              <a:rPr lang="en-US" altLang="zh-CN" sz="1400"/>
              <a:t>/</a:t>
            </a:r>
            <a:r>
              <a:rPr lang="zh-CN" altLang="en-US" sz="1400"/>
              <a:t>项目异质性。</a:t>
            </a:r>
            <a:r>
              <a:rPr lang="en-US" altLang="zh-CN" sz="1400"/>
              <a:t>SCM (2016 Spirit) </a:t>
            </a:r>
            <a:r>
              <a:rPr lang="zh-CN" altLang="en-US" sz="1400"/>
              <a:t>因果识别主机</a:t>
            </a:r>
            <a:r>
              <a:rPr lang="en-US" altLang="zh-CN" sz="1400"/>
              <a:t>/</a:t>
            </a:r>
            <a:r>
              <a:rPr lang="zh-CN" altLang="en-US" sz="1400"/>
              <a:t>后效应。</a:t>
            </a:r>
            <a:r>
              <a:rPr lang="en-US" altLang="zh-CN" sz="1400"/>
              <a:t>HLM (2016 Coach) </a:t>
            </a:r>
            <a:r>
              <a:rPr lang="zh-CN" altLang="en-US" sz="1400"/>
              <a:t>嵌套</a:t>
            </a:r>
            <a:r>
              <a:rPr lang="en-US" altLang="zh-CN" sz="1400"/>
              <a:t> (</a:t>
            </a:r>
            <a:r>
              <a:rPr lang="zh-CN" altLang="en-US" sz="1400"/>
              <a:t>运动员</a:t>
            </a:r>
            <a:r>
              <a:rPr lang="en-US" altLang="zh-CN" sz="1400"/>
              <a:t>-</a:t>
            </a:r>
            <a:r>
              <a:rPr lang="zh-CN" altLang="en-US" sz="1400"/>
              <a:t>教练</a:t>
            </a:r>
            <a:r>
              <a:rPr lang="en-US" altLang="zh-CN" sz="1400"/>
              <a:t>)</a:t>
            </a:r>
            <a:r>
              <a:rPr lang="zh-CN" altLang="en-US" sz="1400"/>
              <a:t>，可迁移到运动员</a:t>
            </a:r>
            <a:r>
              <a:rPr lang="en-US" altLang="zh-CN" sz="1400"/>
              <a:t>-sport</a:t>
            </a:r>
            <a:r>
              <a:rPr lang="zh-CN" altLang="en-US" sz="1400"/>
              <a:t>。</a:t>
            </a:r>
            <a:endParaRPr lang="zh-CN" altLang="en-US" sz="1400"/>
          </a:p>
          <a:p>
            <a:pPr marL="0" indent="0">
              <a:buNone/>
            </a:pPr>
            <a:r>
              <a:rPr lang="zh-CN" altLang="en-US" sz="1400" b="1"/>
              <a:t>弱适配</a:t>
            </a:r>
            <a:r>
              <a:rPr lang="zh-CN" altLang="en-US" sz="1400"/>
              <a:t>：加权</a:t>
            </a:r>
            <a:r>
              <a:rPr lang="en-US" altLang="zh-CN" sz="1400"/>
              <a:t>LS (2021 How big) </a:t>
            </a:r>
            <a:r>
              <a:rPr lang="zh-CN" altLang="en-US" sz="1400"/>
              <a:t>需数据权重</a:t>
            </a:r>
            <a:r>
              <a:rPr lang="en-US" altLang="zh-CN" sz="1400"/>
              <a:t> (</a:t>
            </a:r>
            <a:r>
              <a:rPr lang="zh-CN" altLang="en-US" sz="1400"/>
              <a:t>事件平方根</a:t>
            </a:r>
            <a:r>
              <a:rPr lang="en-US" altLang="zh-CN" sz="1400"/>
              <a:t>)</a:t>
            </a:r>
            <a:r>
              <a:rPr lang="zh-CN" altLang="en-US" sz="1400"/>
              <a:t>，可实现但复杂；</a:t>
            </a:r>
            <a:r>
              <a:rPr lang="en-US" altLang="zh-CN" sz="1400"/>
              <a:t>Tobit</a:t>
            </a:r>
            <a:r>
              <a:rPr lang="zh-CN" altLang="en-US" sz="1400"/>
              <a:t>假设正态可能违背过分散</a:t>
            </a:r>
            <a:r>
              <a:rPr lang="en-US" altLang="zh-CN" sz="1400"/>
              <a:t> (2022 ZINB</a:t>
            </a:r>
            <a:r>
              <a:rPr lang="zh-CN" altLang="en-US" sz="1400"/>
              <a:t>更好</a:t>
            </a:r>
            <a:r>
              <a:rPr lang="en-US" altLang="zh-CN" sz="1400"/>
              <a:t>)</a:t>
            </a:r>
            <a:r>
              <a:rPr lang="zh-CN" altLang="en-US" sz="1400"/>
              <a:t>。主观调整</a:t>
            </a:r>
            <a:r>
              <a:rPr lang="en-US" altLang="zh-CN" sz="1400"/>
              <a:t> (2010) </a:t>
            </a:r>
            <a:r>
              <a:rPr lang="zh-CN" altLang="en-US" sz="1400"/>
              <a:t>适配不确定，但竞赛需客观。</a:t>
            </a:r>
            <a:endParaRPr lang="zh-CN" altLang="en-US" sz="1400"/>
          </a:p>
          <a:p>
            <a:pPr marL="0" indent="0">
              <a:buNone/>
            </a:pPr>
            <a:r>
              <a:rPr lang="zh-CN" altLang="en-US" sz="1400"/>
              <a:t>整体：适配度</a:t>
            </a:r>
            <a:r>
              <a:rPr lang="en-US" altLang="zh-CN" sz="1400"/>
              <a:t>80% – </a:t>
            </a:r>
            <a:r>
              <a:rPr lang="zh-CN" altLang="en-US" sz="1400"/>
              <a:t>适合面板</a:t>
            </a:r>
            <a:r>
              <a:rPr lang="en-US" altLang="zh-CN" sz="1400"/>
              <a:t>/</a:t>
            </a:r>
            <a:r>
              <a:rPr lang="zh-CN" altLang="en-US" sz="1400"/>
              <a:t>计数，但预测区间仅隐含</a:t>
            </a:r>
            <a:r>
              <a:rPr lang="en-US" altLang="zh-CN" sz="1400"/>
              <a:t> (</a:t>
            </a:r>
            <a:r>
              <a:rPr lang="zh-CN" altLang="en-US" sz="1400"/>
              <a:t>需</a:t>
            </a:r>
            <a:r>
              <a:rPr lang="en-US" altLang="zh-CN" sz="1400"/>
              <a:t>MC</a:t>
            </a:r>
            <a:r>
              <a:rPr lang="zh-CN" altLang="en-US" sz="1400"/>
              <a:t>扩展</a:t>
            </a:r>
            <a:r>
              <a:rPr lang="en-US" altLang="zh-CN" sz="1400"/>
              <a:t>)</a:t>
            </a:r>
            <a:r>
              <a:rPr lang="zh-CN" altLang="en-US" sz="1400"/>
              <a:t>；教练模型泛化差</a:t>
            </a:r>
            <a:r>
              <a:rPr lang="en-US" altLang="zh-CN" sz="1400"/>
              <a:t> (</a:t>
            </a:r>
            <a:r>
              <a:rPr lang="zh-CN" altLang="en-US" sz="1400"/>
              <a:t>射箭非奥运</a:t>
            </a:r>
            <a:r>
              <a:rPr lang="en-US" altLang="zh-CN" sz="1400"/>
              <a:t>)</a:t>
            </a:r>
            <a:r>
              <a:rPr lang="zh-CN" altLang="en-US" sz="1400"/>
              <a:t>。</a:t>
            </a:r>
            <a:endParaRPr lang="en-US" altLang="zh-CN" sz="1400"/>
          </a:p>
          <a:p>
            <a:pPr marL="0" indent="0">
              <a:buNone/>
            </a:pPr>
            <a:r>
              <a:rPr lang="zh-CN" altLang="en-US" sz="1400" b="1"/>
              <a:t>题目子问题覆盖</a:t>
            </a:r>
            <a:endParaRPr lang="en-US" altLang="zh-CN" sz="1400" b="1"/>
          </a:p>
          <a:p>
            <a:pPr marL="0" indent="0">
              <a:buNone/>
            </a:pPr>
            <a:r>
              <a:rPr lang="zh-CN" altLang="en-US" sz="1400"/>
              <a:t>覆盖好：子</a:t>
            </a:r>
            <a:r>
              <a:rPr lang="en-US" altLang="zh-CN" sz="1400"/>
              <a:t>1 (</a:t>
            </a:r>
            <a:r>
              <a:rPr lang="zh-CN" altLang="en-US" sz="1400"/>
              <a:t>奖牌模型</a:t>
            </a:r>
            <a:r>
              <a:rPr lang="en-US" altLang="zh-CN" sz="1400"/>
              <a:t>) – </a:t>
            </a:r>
            <a:r>
              <a:rPr lang="zh-CN" altLang="en-US" sz="1400"/>
              <a:t>所有预测论文</a:t>
            </a:r>
            <a:r>
              <a:rPr lang="en-US" altLang="zh-CN" sz="1400"/>
              <a:t> (2021 Scelles/2024/2004/2010)</a:t>
            </a:r>
            <a:r>
              <a:rPr lang="zh-CN" altLang="en-US" sz="1400"/>
              <a:t>核心，用</a:t>
            </a:r>
            <a:r>
              <a:rPr lang="en-US" altLang="zh-CN" sz="1400"/>
              <a:t>Tobit/ZINB</a:t>
            </a:r>
            <a:r>
              <a:rPr lang="zh-CN" altLang="en-US" sz="1400"/>
              <a:t>。子</a:t>
            </a:r>
            <a:r>
              <a:rPr lang="en-US" altLang="zh-CN" sz="1400"/>
              <a:t>2 (2028</a:t>
            </a:r>
            <a:r>
              <a:rPr lang="zh-CN" altLang="en-US" sz="1400"/>
              <a:t>预测</a:t>
            </a:r>
            <a:r>
              <a:rPr lang="en-US" altLang="zh-CN" sz="1400"/>
              <a:t>) – 2004/2010/2021 Scelles</a:t>
            </a:r>
            <a:r>
              <a:rPr lang="zh-CN" altLang="en-US" sz="1400"/>
              <a:t>有样本外。子</a:t>
            </a:r>
            <a:r>
              <a:rPr lang="en-US" altLang="zh-CN" sz="1400"/>
              <a:t>3 (</a:t>
            </a:r>
            <a:r>
              <a:rPr lang="zh-CN" altLang="en-US" sz="1400"/>
              <a:t>首次得牌</a:t>
            </a:r>
            <a:r>
              <a:rPr lang="en-US" altLang="zh-CN" sz="1400"/>
              <a:t>) – 2024 ZIB</a:t>
            </a:r>
            <a:r>
              <a:rPr lang="zh-CN" altLang="en-US" sz="1400"/>
              <a:t>零部分</a:t>
            </a:r>
            <a:r>
              <a:rPr lang="en-US" altLang="zh-CN" sz="1400"/>
              <a:t> + </a:t>
            </a:r>
            <a:r>
              <a:rPr lang="zh-CN" altLang="en-US" sz="1400"/>
              <a:t>概率。子</a:t>
            </a:r>
            <a:r>
              <a:rPr lang="en-US" altLang="zh-CN" sz="1400"/>
              <a:t>4 (</a:t>
            </a:r>
            <a:r>
              <a:rPr lang="zh-CN" altLang="en-US" sz="1400"/>
              <a:t>项目</a:t>
            </a:r>
            <a:r>
              <a:rPr lang="en-US" altLang="zh-CN" sz="1400"/>
              <a:t>/</a:t>
            </a:r>
            <a:r>
              <a:rPr lang="zh-CN" altLang="en-US" sz="1400"/>
              <a:t>主机</a:t>
            </a:r>
            <a:r>
              <a:rPr lang="en-US" altLang="zh-CN" sz="1400"/>
              <a:t>) – 2022/2024/2021 How big</a:t>
            </a:r>
            <a:r>
              <a:rPr lang="zh-CN" altLang="en-US" sz="1400"/>
              <a:t>用</a:t>
            </a:r>
            <a:r>
              <a:rPr lang="en-US" altLang="zh-CN" sz="1400"/>
              <a:t>sport FE/</a:t>
            </a:r>
            <a:r>
              <a:rPr lang="zh-CN" altLang="en-US" sz="1400"/>
              <a:t>权重</a:t>
            </a:r>
            <a:r>
              <a:rPr lang="en-US" altLang="zh-CN" sz="1400"/>
              <a:t> + </a:t>
            </a:r>
            <a:r>
              <a:rPr lang="zh-CN" altLang="en-US" sz="1400"/>
              <a:t>溢出</a:t>
            </a:r>
            <a:r>
              <a:rPr lang="en-US" altLang="zh-CN" sz="1400"/>
              <a:t> (ex-ante/post)</a:t>
            </a:r>
            <a:r>
              <a:rPr lang="zh-CN" altLang="en-US" sz="1400"/>
              <a:t>。子</a:t>
            </a:r>
            <a:r>
              <a:rPr lang="en-US" altLang="zh-CN" sz="1400"/>
              <a:t>5 (</a:t>
            </a:r>
            <a:r>
              <a:rPr lang="zh-CN" altLang="en-US" sz="1400"/>
              <a:t>教练效应</a:t>
            </a:r>
            <a:r>
              <a:rPr lang="en-US" altLang="zh-CN" sz="1400"/>
              <a:t>) – 2016 HLM</a:t>
            </a:r>
            <a:r>
              <a:rPr lang="zh-CN" altLang="en-US" sz="1400"/>
              <a:t>相关，但需</a:t>
            </a:r>
            <a:r>
              <a:rPr lang="en-US" altLang="zh-CN" sz="1400"/>
              <a:t>SCM (2016 Spirit)</a:t>
            </a:r>
            <a:r>
              <a:rPr lang="zh-CN" altLang="en-US" sz="1400"/>
              <a:t>迁移因果。子</a:t>
            </a:r>
            <a:r>
              <a:rPr lang="en-US" altLang="zh-CN" sz="1400"/>
              <a:t>6 (</a:t>
            </a:r>
            <a:r>
              <a:rPr lang="zh-CN" altLang="en-US" sz="1400"/>
              <a:t>洞见</a:t>
            </a:r>
            <a:r>
              <a:rPr lang="en-US" altLang="zh-CN" sz="1400"/>
              <a:t>) – </a:t>
            </a:r>
            <a:r>
              <a:rPr lang="zh-CN" altLang="en-US" sz="1400"/>
              <a:t>所有有政策</a:t>
            </a:r>
            <a:r>
              <a:rPr lang="en-US" altLang="zh-CN" sz="1400"/>
              <a:t> (e.g., </a:t>
            </a:r>
            <a:r>
              <a:rPr lang="zh-CN" altLang="en-US" sz="1400"/>
              <a:t>资源集中</a:t>
            </a:r>
            <a:r>
              <a:rPr lang="en-US" altLang="zh-CN" sz="1400"/>
              <a:t>/</a:t>
            </a:r>
            <a:r>
              <a:rPr lang="zh-CN" altLang="en-US" sz="1400"/>
              <a:t>遗产</a:t>
            </a:r>
            <a:r>
              <a:rPr lang="en-US" altLang="zh-CN" sz="1400"/>
              <a:t>)</a:t>
            </a:r>
            <a:r>
              <a:rPr lang="zh-CN" altLang="en-US" sz="1400"/>
              <a:t>。</a:t>
            </a:r>
            <a:endParaRPr lang="zh-CN" altLang="en-US" sz="1400"/>
          </a:p>
          <a:p>
            <a:pPr marL="0" indent="0">
              <a:buNone/>
            </a:pPr>
            <a:r>
              <a:rPr lang="zh-CN" altLang="en-US" sz="1400"/>
              <a:t>覆盖弱：子</a:t>
            </a:r>
            <a:r>
              <a:rPr lang="en-US" altLang="zh-CN" sz="1400"/>
              <a:t>3</a:t>
            </a:r>
            <a:r>
              <a:rPr lang="zh-CN" altLang="en-US" sz="1400"/>
              <a:t>赔率</a:t>
            </a:r>
            <a:r>
              <a:rPr lang="en-US" altLang="zh-CN" sz="1400"/>
              <a:t>/</a:t>
            </a:r>
            <a:r>
              <a:rPr lang="zh-CN" altLang="en-US" sz="1400"/>
              <a:t>数量需模拟；子</a:t>
            </a:r>
            <a:r>
              <a:rPr lang="en-US" altLang="zh-CN" sz="1400"/>
              <a:t>5</a:t>
            </a:r>
            <a:r>
              <a:rPr lang="zh-CN" altLang="en-US" sz="1400"/>
              <a:t>量化</a:t>
            </a:r>
            <a:r>
              <a:rPr lang="en-US" altLang="zh-CN" sz="1400"/>
              <a:t>/</a:t>
            </a:r>
            <a:r>
              <a:rPr lang="zh-CN" altLang="en-US" sz="1400"/>
              <a:t>推荐需数据挖掘</a:t>
            </a:r>
            <a:r>
              <a:rPr lang="en-US" altLang="zh-CN" sz="1400"/>
              <a:t> (</a:t>
            </a:r>
            <a:r>
              <a:rPr lang="zh-CN" altLang="en-US" sz="1400"/>
              <a:t>无教练</a:t>
            </a:r>
            <a:r>
              <a:rPr lang="en-US" altLang="zh-CN" sz="1400"/>
              <a:t>)</a:t>
            </a:r>
            <a:r>
              <a:rPr lang="zh-CN" altLang="en-US" sz="1400"/>
              <a:t>；子</a:t>
            </a:r>
            <a:r>
              <a:rPr lang="en-US" altLang="zh-CN" sz="1400"/>
              <a:t>4</a:t>
            </a:r>
            <a:r>
              <a:rPr lang="zh-CN" altLang="en-US" sz="1400"/>
              <a:t>东道主项目偏好仅</a:t>
            </a:r>
            <a:r>
              <a:rPr lang="en-US" altLang="zh-CN" sz="1400"/>
              <a:t>dummy/</a:t>
            </a:r>
            <a:r>
              <a:rPr lang="zh-CN" altLang="en-US" sz="1400"/>
              <a:t>交互，未细化</a:t>
            </a:r>
            <a:r>
              <a:rPr lang="en-US" altLang="zh-CN" sz="1400"/>
              <a:t> (</a:t>
            </a:r>
            <a:r>
              <a:rPr lang="zh-CN" altLang="en-US" sz="1400"/>
              <a:t>需</a:t>
            </a:r>
            <a:r>
              <a:rPr lang="en-US" altLang="zh-CN" sz="1400"/>
              <a:t>NMF</a:t>
            </a:r>
            <a:r>
              <a:rPr lang="zh-CN" altLang="en-US" sz="1400"/>
              <a:t>补充</a:t>
            </a:r>
            <a:r>
              <a:rPr lang="en-US" altLang="zh-CN" sz="1400"/>
              <a:t>)</a:t>
            </a:r>
            <a:r>
              <a:rPr lang="zh-CN" altLang="en-US" sz="1400"/>
              <a:t>。</a:t>
            </a:r>
            <a:endParaRPr lang="zh-CN" altLang="en-US" sz="1400"/>
          </a:p>
          <a:p>
            <a:pPr marL="0" indent="0">
              <a:buNone/>
            </a:pPr>
            <a:r>
              <a:rPr lang="zh-CN" altLang="en-US" sz="1400"/>
              <a:t>整体：覆盖</a:t>
            </a:r>
            <a:r>
              <a:rPr lang="en-US" altLang="zh-CN" sz="1400"/>
              <a:t>85% – </a:t>
            </a:r>
            <a:r>
              <a:rPr lang="zh-CN" altLang="en-US" sz="1400"/>
              <a:t>强于预测</a:t>
            </a:r>
            <a:r>
              <a:rPr lang="en-US" altLang="zh-CN" sz="1400"/>
              <a:t>/</a:t>
            </a:r>
            <a:r>
              <a:rPr lang="zh-CN" altLang="en-US" sz="1400"/>
              <a:t>主机</a:t>
            </a:r>
            <a:r>
              <a:rPr lang="en-US" altLang="zh-CN" sz="1400"/>
              <a:t>/</a:t>
            </a:r>
            <a:r>
              <a:rPr lang="zh-CN" altLang="en-US" sz="1400"/>
              <a:t>首次，弱于教练</a:t>
            </a:r>
            <a:r>
              <a:rPr lang="en-US" altLang="zh-CN" sz="1400"/>
              <a:t> (</a:t>
            </a:r>
            <a:r>
              <a:rPr lang="zh-CN" altLang="en-US" sz="1400"/>
              <a:t>间接</a:t>
            </a:r>
            <a:r>
              <a:rPr lang="en-US" altLang="zh-CN" sz="1400"/>
              <a:t>)</a:t>
            </a:r>
            <a:r>
              <a:rPr lang="zh-CN" altLang="en-US" sz="1400"/>
              <a:t>。</a:t>
            </a:r>
            <a:endParaRPr lang="en-US" altLang="zh-CN" sz="1400"/>
          </a:p>
          <a:p>
            <a:pPr marL="0" indent="0">
              <a:buNone/>
            </a:pPr>
            <a:r>
              <a:rPr lang="zh-CN" altLang="en-US" sz="1400" b="1"/>
              <a:t>潜在偏差</a:t>
            </a:r>
            <a:endParaRPr lang="en-US" altLang="zh-CN" sz="1400" b="1"/>
          </a:p>
          <a:p>
            <a:pPr marL="0" indent="0">
              <a:buNone/>
            </a:pPr>
            <a:r>
              <a:rPr lang="zh-CN" altLang="en-US" sz="1400"/>
              <a:t>偏差风险：外部变量缺失</a:t>
            </a:r>
            <a:r>
              <a:rPr lang="en-US" altLang="zh-CN" sz="1400"/>
              <a:t> (GDP</a:t>
            </a:r>
            <a:r>
              <a:rPr lang="zh-CN" altLang="en-US" sz="1400"/>
              <a:t>等</a:t>
            </a:r>
            <a:r>
              <a:rPr lang="en-US" altLang="zh-CN" sz="1400"/>
              <a:t>) </a:t>
            </a:r>
            <a:r>
              <a:rPr lang="zh-CN" altLang="en-US" sz="1400"/>
              <a:t>遗漏偏差，用代理减弱解释力；小样本</a:t>
            </a:r>
            <a:r>
              <a:rPr lang="en-US" altLang="zh-CN" sz="1400"/>
              <a:t> (</a:t>
            </a:r>
            <a:r>
              <a:rPr lang="zh-CN" altLang="en-US" sz="1400"/>
              <a:t>无牌</a:t>
            </a:r>
            <a:r>
              <a:rPr lang="en-US" altLang="zh-CN" sz="1400"/>
              <a:t>&gt;60) </a:t>
            </a:r>
            <a:r>
              <a:rPr lang="zh-CN" altLang="en-US" sz="1400"/>
              <a:t>过拟合；时间趋势</a:t>
            </a:r>
            <a:r>
              <a:rPr lang="en-US" altLang="zh-CN" sz="1400"/>
              <a:t> (2021 How big) </a:t>
            </a:r>
            <a:r>
              <a:rPr lang="zh-CN" altLang="en-US" sz="1400"/>
              <a:t>适配但历史数据异常需处理。教练</a:t>
            </a:r>
            <a:r>
              <a:rPr lang="en-US" altLang="zh-CN" sz="1400"/>
              <a:t> (2016) </a:t>
            </a:r>
            <a:r>
              <a:rPr lang="zh-CN" altLang="en-US" sz="1400"/>
              <a:t>仅一</a:t>
            </a:r>
            <a:r>
              <a:rPr lang="en-US" altLang="zh-CN" sz="1400"/>
              <a:t>sport</a:t>
            </a:r>
            <a:r>
              <a:rPr lang="zh-CN" altLang="en-US" sz="1400"/>
              <a:t>，泛化低；</a:t>
            </a:r>
            <a:r>
              <a:rPr lang="en-US" altLang="zh-CN" sz="1400"/>
              <a:t>SCM</a:t>
            </a:r>
            <a:r>
              <a:rPr lang="zh-CN" altLang="en-US" sz="1400"/>
              <a:t>捐献池</a:t>
            </a:r>
            <a:r>
              <a:rPr lang="en-US" altLang="zh-CN" sz="1400"/>
              <a:t> (2016 Spirit) </a:t>
            </a:r>
            <a:r>
              <a:rPr lang="zh-CN" altLang="en-US" sz="1400"/>
              <a:t>需小心选择</a:t>
            </a:r>
            <a:r>
              <a:rPr lang="en-US" altLang="zh-CN" sz="1400"/>
              <a:t> (e.g., </a:t>
            </a:r>
            <a:r>
              <a:rPr lang="zh-CN" altLang="en-US" sz="1400"/>
              <a:t>类似国家</a:t>
            </a:r>
            <a:r>
              <a:rPr lang="en-US" altLang="zh-CN" sz="1400"/>
              <a:t>)</a:t>
            </a:r>
            <a:r>
              <a:rPr lang="zh-CN" altLang="en-US" sz="1400"/>
              <a:t>。</a:t>
            </a:r>
            <a:endParaRPr lang="zh-CN" altLang="en-US" sz="1400"/>
          </a:p>
          <a:p>
            <a:pPr marL="0" indent="0">
              <a:buNone/>
            </a:pPr>
            <a:r>
              <a:rPr lang="zh-CN" altLang="en-US" sz="1400"/>
              <a:t>整体：高适配，代理内部数据可行；创新需避免同质</a:t>
            </a:r>
            <a:r>
              <a:rPr lang="en-US" altLang="zh-CN" sz="1400"/>
              <a:t> (e.g., </a:t>
            </a:r>
            <a:r>
              <a:rPr lang="zh-CN" altLang="en-US" sz="1400"/>
              <a:t>加矩阵分解</a:t>
            </a:r>
            <a:r>
              <a:rPr lang="en-US" altLang="zh-CN" sz="1400"/>
              <a:t>)</a:t>
            </a:r>
            <a:r>
              <a:rPr lang="zh-CN" altLang="en-US" sz="1400"/>
              <a:t>。</a:t>
            </a:r>
            <a:endParaRPr lang="zh-CN" altLang="en-US" sz="1400"/>
          </a:p>
        </p:txBody>
      </p:sp>
    </p:spTree>
    <p:custDataLst>
      <p:tags r:id="rId2"/>
    </p:custData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sz="quarter" idx="13"/>
            <p:custDataLst>
              <p:tags r:id="rId1"/>
            </p:custDataLst>
          </p:nvPr>
        </p:nvSpPr>
        <p:spPr/>
        <p:txBody>
          <a:bodyPr>
            <a:normAutofit fontScale="70000"/>
          </a:bodyPr>
          <a:p>
            <a:pPr marL="0" indent="0">
              <a:buNone/>
            </a:pPr>
            <a:r>
              <a:rPr lang="en-US" altLang="zh-CN" b="1"/>
              <a:t>2. </a:t>
            </a:r>
            <a:r>
              <a:rPr lang="zh-CN" altLang="en-US" b="1"/>
              <a:t>结合初步建模思路的调整</a:t>
            </a:r>
            <a:endParaRPr lang="zh-CN" altLang="en-US" b="1"/>
          </a:p>
          <a:p>
            <a:pPr marL="0" indent="0">
              <a:buNone/>
            </a:pPr>
            <a:r>
              <a:rPr lang="zh-CN" altLang="en-US"/>
              <a:t>基于初步思路</a:t>
            </a:r>
            <a:r>
              <a:rPr lang="en-US" altLang="zh-CN"/>
              <a:t> (ZINB/ARIMAX/Logistic/Panel FE/DID/HLM/SEM) + </a:t>
            </a:r>
            <a:r>
              <a:rPr lang="zh-CN" altLang="en-US"/>
              <a:t>论文，调整确保竞赛合理</a:t>
            </a:r>
            <a:r>
              <a:rPr lang="en-US" altLang="zh-CN"/>
              <a:t> (</a:t>
            </a:r>
            <a:r>
              <a:rPr lang="zh-CN" altLang="en-US"/>
              <a:t>仅用数据、</a:t>
            </a:r>
            <a:r>
              <a:rPr lang="en-US" altLang="zh-CN"/>
              <a:t>&lt;25</a:t>
            </a:r>
            <a:r>
              <a:rPr lang="zh-CN" altLang="en-US"/>
              <a:t>页、可实现不确定性</a:t>
            </a:r>
            <a:r>
              <a:rPr lang="en-US" altLang="zh-CN"/>
              <a:t>)</a:t>
            </a:r>
            <a:r>
              <a:rPr lang="zh-CN" altLang="en-US"/>
              <a:t>；去除不匹配</a:t>
            </a:r>
            <a:r>
              <a:rPr lang="en-US" altLang="zh-CN"/>
              <a:t> (</a:t>
            </a:r>
            <a:r>
              <a:rPr lang="zh-CN" altLang="en-US"/>
              <a:t>无贝叶斯</a:t>
            </a:r>
            <a:r>
              <a:rPr lang="en-US" altLang="zh-CN"/>
              <a:t>2019)</a:t>
            </a:r>
            <a:r>
              <a:rPr lang="zh-CN" altLang="en-US"/>
              <a:t>。</a:t>
            </a:r>
            <a:endParaRPr lang="zh-CN" altLang="en-US"/>
          </a:p>
          <a:p>
            <a:pPr marL="0" indent="0">
              <a:buNone/>
            </a:pPr>
            <a:r>
              <a:rPr lang="zh-CN" altLang="en-US" b="1"/>
              <a:t>调整变量定义</a:t>
            </a:r>
            <a:endParaRPr lang="en-US" altLang="zh-CN" b="1"/>
          </a:p>
          <a:p>
            <a:pPr marL="0" indent="0">
              <a:buNone/>
            </a:pPr>
            <a:r>
              <a:rPr lang="zh-CN" altLang="en-US"/>
              <a:t>继承</a:t>
            </a:r>
            <a:r>
              <a:rPr lang="en-US" altLang="zh-CN"/>
              <a:t>/</a:t>
            </a:r>
            <a:r>
              <a:rPr lang="zh-CN" altLang="en-US"/>
              <a:t>调整：奖牌份额</a:t>
            </a:r>
            <a:r>
              <a:rPr lang="en-US" altLang="zh-CN"/>
              <a:t> (MS/medalshare/y) </a:t>
            </a:r>
            <a:r>
              <a:rPr lang="zh-CN" altLang="en-US"/>
              <a:t>优于计数</a:t>
            </a:r>
            <a:r>
              <a:rPr lang="en-US" altLang="zh-CN"/>
              <a:t> (</a:t>
            </a:r>
            <a:r>
              <a:rPr lang="zh-CN" altLang="en-US"/>
              <a:t>处理事件变化，用</a:t>
            </a:r>
            <a:r>
              <a:rPr lang="en-US" altLang="zh-CN"/>
              <a:t>medal_counts/programs</a:t>
            </a:r>
            <a:r>
              <a:rPr lang="zh-CN" altLang="en-US"/>
              <a:t>总牌归一化</a:t>
            </a:r>
            <a:r>
              <a:rPr lang="en-US" altLang="zh-CN"/>
              <a:t>)</a:t>
            </a:r>
            <a:r>
              <a:rPr lang="zh-CN" altLang="en-US"/>
              <a:t>。滞后</a:t>
            </a:r>
            <a:r>
              <a:rPr lang="en-US" altLang="zh-CN"/>
              <a:t> (Ma t-4/MS t-4/M t-1/medalshare t-4) – medal_counts.csv</a:t>
            </a:r>
            <a:r>
              <a:rPr lang="zh-CN" altLang="en-US"/>
              <a:t>。运动员类</a:t>
            </a:r>
            <a:r>
              <a:rPr lang="en-US" altLang="zh-CN"/>
              <a:t> (RNA/ATHLETE/AM/team size) – athletes.csv</a:t>
            </a:r>
            <a:r>
              <a:rPr lang="zh-CN" altLang="en-US"/>
              <a:t>聚合</a:t>
            </a:r>
            <a:r>
              <a:rPr lang="en-US" altLang="zh-CN"/>
              <a:t> ([0-9],[10-50],</a:t>
            </a:r>
            <a:r>
              <a:rPr lang="zh-CN" altLang="en-US"/>
              <a:t>等</a:t>
            </a:r>
            <a:r>
              <a:rPr lang="en-US" altLang="zh-CN"/>
              <a:t>)</a:t>
            </a:r>
            <a:r>
              <a:rPr lang="zh-CN" altLang="en-US"/>
              <a:t>。主机及溢出</a:t>
            </a:r>
            <a:r>
              <a:rPr lang="en-US" altLang="zh-CN"/>
              <a:t> (Host/H/d/antehost/N/L/Pre/Post) – hosts.csv (dummy + t</a:t>
            </a:r>
            <a:r>
              <a:rPr lang="en-US" altLang="en-US"/>
              <a:t>±</a:t>
            </a:r>
            <a:r>
              <a:rPr lang="en-US" altLang="zh-CN"/>
              <a:t>1</a:t>
            </a:r>
            <a:r>
              <a:rPr lang="zh-CN" altLang="en-US"/>
              <a:t>届</a:t>
            </a:r>
            <a:r>
              <a:rPr lang="en-US" altLang="zh-CN"/>
              <a:t>)</a:t>
            </a:r>
            <a:r>
              <a:rPr lang="zh-CN" altLang="en-US"/>
              <a:t>。区域</a:t>
            </a:r>
            <a:r>
              <a:rPr lang="en-US" altLang="zh-CN"/>
              <a:t>/</a:t>
            </a:r>
            <a:r>
              <a:rPr lang="zh-CN" altLang="en-US"/>
              <a:t>集团</a:t>
            </a:r>
            <a:r>
              <a:rPr lang="en-US" altLang="zh-CN"/>
              <a:t> (Regions/sovietbloc/planned/Communist) – </a:t>
            </a:r>
            <a:r>
              <a:rPr lang="zh-CN" altLang="en-US"/>
              <a:t>手动分类</a:t>
            </a:r>
            <a:r>
              <a:rPr lang="en-US" altLang="zh-CN"/>
              <a:t> (9</a:t>
            </a:r>
            <a:r>
              <a:rPr lang="zh-CN" altLang="en-US"/>
              <a:t>类</a:t>
            </a:r>
            <a:r>
              <a:rPr lang="en-US" altLang="zh-CN"/>
              <a:t>/</a:t>
            </a:r>
            <a:r>
              <a:rPr lang="zh-CN" altLang="en-US"/>
              <a:t>前苏联</a:t>
            </a:r>
            <a:r>
              <a:rPr lang="en-US" altLang="zh-CN"/>
              <a:t>)</a:t>
            </a:r>
            <a:r>
              <a:rPr lang="zh-CN" altLang="en-US"/>
              <a:t>。</a:t>
            </a:r>
            <a:endParaRPr lang="zh-CN" altLang="en-US"/>
          </a:p>
          <a:p>
            <a:pPr marL="0" indent="0">
              <a:buNone/>
            </a:pPr>
            <a:r>
              <a:rPr lang="zh-CN" altLang="en-US"/>
              <a:t>新</a:t>
            </a:r>
            <a:r>
              <a:rPr lang="en-US" altLang="zh-CN"/>
              <a:t>/</a:t>
            </a:r>
            <a:r>
              <a:rPr lang="zh-CN" altLang="en-US"/>
              <a:t>代理：无</a:t>
            </a:r>
            <a:r>
              <a:rPr lang="en-US" altLang="zh-CN"/>
              <a:t>GDP/POP</a:t>
            </a:r>
            <a:r>
              <a:rPr lang="zh-CN" altLang="en-US"/>
              <a:t>，用运动员份额</a:t>
            </a:r>
            <a:r>
              <a:rPr lang="en-US" altLang="zh-CN"/>
              <a:t> (athletes</a:t>
            </a:r>
            <a:r>
              <a:rPr lang="zh-CN" altLang="en-US"/>
              <a:t>总</a:t>
            </a:r>
            <a:r>
              <a:rPr lang="en-US" altLang="zh-CN"/>
              <a:t>/</a:t>
            </a:r>
            <a:r>
              <a:rPr lang="zh-CN" altLang="en-US"/>
              <a:t>全球</a:t>
            </a:r>
            <a:r>
              <a:rPr lang="en-US" altLang="zh-CN"/>
              <a:t>) </a:t>
            </a:r>
            <a:r>
              <a:rPr lang="zh-CN" altLang="en-US"/>
              <a:t>代理资源</a:t>
            </a:r>
            <a:r>
              <a:rPr lang="en-US" altLang="zh-CN"/>
              <a:t> (2024/2016 Spirit)</a:t>
            </a:r>
            <a:r>
              <a:rPr lang="zh-CN" altLang="en-US"/>
              <a:t>。项目亲和</a:t>
            </a:r>
            <a:r>
              <a:rPr lang="en-US" altLang="zh-CN"/>
              <a:t> – </a:t>
            </a:r>
            <a:r>
              <a:rPr lang="zh-CN" altLang="en-US"/>
              <a:t>国家</a:t>
            </a:r>
            <a:r>
              <a:rPr lang="en-US" altLang="zh-CN"/>
              <a:t>-sport</a:t>
            </a:r>
            <a:r>
              <a:rPr lang="zh-CN" altLang="en-US"/>
              <a:t>得牌率</a:t>
            </a:r>
            <a:r>
              <a:rPr lang="en-US" altLang="zh-CN"/>
              <a:t> </a:t>
            </a:r>
            <a:r>
              <a:rPr lang="en-US" altLang="en-US"/>
              <a:t>×</a:t>
            </a:r>
            <a:r>
              <a:rPr lang="en-US" altLang="zh-CN"/>
              <a:t> </a:t>
            </a:r>
            <a:r>
              <a:rPr lang="zh-CN" altLang="en-US"/>
              <a:t>事件</a:t>
            </a:r>
            <a:r>
              <a:rPr lang="en-US" altLang="zh-CN"/>
              <a:t> (programs/athletes)</a:t>
            </a:r>
            <a:r>
              <a:rPr lang="zh-CN" altLang="en-US"/>
              <a:t>。超级</a:t>
            </a:r>
            <a:r>
              <a:rPr lang="en-US" altLang="zh-CN"/>
              <a:t> (SUPER) – </a:t>
            </a:r>
            <a:r>
              <a:rPr lang="zh-CN" altLang="en-US"/>
              <a:t>历史前</a:t>
            </a:r>
            <a:r>
              <a:rPr lang="en-US" altLang="zh-CN"/>
              <a:t>3 (USA/CHN/RUS)</a:t>
            </a:r>
            <a:r>
              <a:rPr lang="zh-CN" altLang="en-US"/>
              <a:t>。教练流动</a:t>
            </a:r>
            <a:r>
              <a:rPr lang="en-US" altLang="zh-CN"/>
              <a:t> – athletes Team/</a:t>
            </a:r>
            <a:r>
              <a:rPr lang="zh-CN" altLang="en-US"/>
              <a:t>国籍变化计数</a:t>
            </a:r>
            <a:r>
              <a:rPr lang="en-US" altLang="zh-CN"/>
              <a:t> (e.g., &gt;5</a:t>
            </a:r>
            <a:r>
              <a:rPr lang="zh-CN" altLang="en-US"/>
              <a:t>跨国</a:t>
            </a:r>
            <a:r>
              <a:rPr lang="en-US" altLang="zh-CN"/>
              <a:t>/sport</a:t>
            </a:r>
            <a:r>
              <a:rPr lang="zh-CN" altLang="en-US"/>
              <a:t>代理</a:t>
            </a:r>
            <a:r>
              <a:rPr lang="en-US" altLang="zh-CN"/>
              <a:t>“great coach”)</a:t>
            </a:r>
            <a:r>
              <a:rPr lang="zh-CN" altLang="en-US"/>
              <a:t>。</a:t>
            </a:r>
            <a:endParaRPr lang="en-US" altLang="zh-CN"/>
          </a:p>
          <a:p>
            <a:pPr marL="0" indent="0">
              <a:buNone/>
            </a:pPr>
            <a:r>
              <a:rPr lang="zh-CN" altLang="en-US" b="1"/>
              <a:t>修改假设条件</a:t>
            </a:r>
            <a:endParaRPr lang="en-US" altLang="zh-CN" b="1"/>
          </a:p>
          <a:p>
            <a:pPr marL="0" indent="0">
              <a:buNone/>
            </a:pPr>
            <a:r>
              <a:rPr lang="zh-CN" altLang="en-US"/>
              <a:t>从初步到调整：平稳</a:t>
            </a:r>
            <a:r>
              <a:rPr lang="en-US" altLang="zh-CN"/>
              <a:t> </a:t>
            </a:r>
            <a:r>
              <a:rPr lang="en-US" altLang="en-US"/>
              <a:t>→</a:t>
            </a:r>
            <a:r>
              <a:rPr lang="en-US" altLang="zh-CN"/>
              <a:t> </a:t>
            </a:r>
            <a:r>
              <a:rPr lang="zh-CN" altLang="en-US"/>
              <a:t>滞后</a:t>
            </a:r>
            <a:r>
              <a:rPr lang="en-US" altLang="zh-CN"/>
              <a:t>0.7 (2010/2004) + </a:t>
            </a:r>
            <a:r>
              <a:rPr lang="zh-CN" altLang="en-US"/>
              <a:t>时间衰减</a:t>
            </a:r>
            <a:r>
              <a:rPr lang="en-US" altLang="zh-CN"/>
              <a:t> (2021 How big/2016 Spirit, </a:t>
            </a:r>
            <a:r>
              <a:rPr lang="zh-CN" altLang="en-US"/>
              <a:t>早期强、当代弱</a:t>
            </a:r>
            <a:r>
              <a:rPr lang="en-US" altLang="zh-CN"/>
              <a:t>)</a:t>
            </a:r>
            <a:r>
              <a:rPr lang="zh-CN" altLang="en-US"/>
              <a:t>。东道主</a:t>
            </a:r>
            <a:r>
              <a:rPr lang="en-US" altLang="zh-CN"/>
              <a:t>10-20% </a:t>
            </a:r>
            <a:r>
              <a:rPr lang="en-US" altLang="en-US"/>
              <a:t>→</a:t>
            </a:r>
            <a:r>
              <a:rPr lang="en-US" altLang="zh-CN"/>
              <a:t> </a:t>
            </a:r>
            <a:r>
              <a:rPr lang="zh-CN" altLang="en-US"/>
              <a:t>异质</a:t>
            </a:r>
            <a:r>
              <a:rPr lang="en-US" altLang="zh-CN"/>
              <a:t>2%</a:t>
            </a:r>
            <a:r>
              <a:rPr lang="zh-CN" altLang="en-US"/>
              <a:t>份额</a:t>
            </a:r>
            <a:r>
              <a:rPr lang="en-US" altLang="zh-CN"/>
              <a:t> (2021 How big/2022) + </a:t>
            </a:r>
            <a:r>
              <a:rPr lang="zh-CN" altLang="en-US"/>
              <a:t>溢出</a:t>
            </a:r>
            <a:r>
              <a:rPr lang="en-US" altLang="zh-CN"/>
              <a:t>ex-ante/post (0.008-0.012)</a:t>
            </a:r>
            <a:r>
              <a:rPr lang="zh-CN" altLang="en-US"/>
              <a:t>。首次概率</a:t>
            </a:r>
            <a:r>
              <a:rPr lang="en-US" altLang="zh-CN"/>
              <a:t>0.05 </a:t>
            </a:r>
            <a:r>
              <a:rPr lang="en-US" altLang="en-US"/>
              <a:t>→</a:t>
            </a:r>
            <a:r>
              <a:rPr lang="en-US" altLang="zh-CN"/>
              <a:t> ZIB</a:t>
            </a:r>
            <a:r>
              <a:rPr lang="zh-CN" altLang="en-US"/>
              <a:t>零部分</a:t>
            </a:r>
            <a:r>
              <a:rPr lang="en-US" altLang="zh-CN"/>
              <a:t> (2024)</a:t>
            </a:r>
            <a:r>
              <a:rPr lang="zh-CN" altLang="en-US"/>
              <a:t>，小国</a:t>
            </a:r>
            <a:r>
              <a:rPr lang="en-US" altLang="zh-CN"/>
              <a:t> (</a:t>
            </a:r>
            <a:r>
              <a:rPr lang="zh-CN" altLang="en-US"/>
              <a:t>运动员</a:t>
            </a:r>
            <a:r>
              <a:rPr lang="en-US" altLang="zh-CN"/>
              <a:t>&lt;50) </a:t>
            </a:r>
            <a:r>
              <a:rPr lang="zh-CN" altLang="en-US"/>
              <a:t>高。教练滞后</a:t>
            </a:r>
            <a:r>
              <a:rPr lang="en-US" altLang="zh-CN"/>
              <a:t>1-2</a:t>
            </a:r>
            <a:r>
              <a:rPr lang="zh-CN" altLang="en-US"/>
              <a:t>届</a:t>
            </a:r>
            <a:r>
              <a:rPr lang="en-US" altLang="zh-CN"/>
              <a:t> </a:t>
            </a:r>
            <a:r>
              <a:rPr lang="en-US" altLang="en-US"/>
              <a:t>→</a:t>
            </a:r>
            <a:r>
              <a:rPr lang="en-US" altLang="zh-CN"/>
              <a:t> </a:t>
            </a:r>
            <a:r>
              <a:rPr lang="zh-CN" altLang="en-US"/>
              <a:t>半衰期</a:t>
            </a:r>
            <a:r>
              <a:rPr lang="en-US" altLang="zh-CN"/>
              <a:t> (2016 Spirit</a:t>
            </a:r>
            <a:r>
              <a:rPr lang="zh-CN" altLang="en-US"/>
              <a:t>衰减</a:t>
            </a:r>
            <a:r>
              <a:rPr lang="en-US" altLang="zh-CN"/>
              <a:t>) + </a:t>
            </a:r>
            <a:r>
              <a:rPr lang="zh-CN" altLang="en-US"/>
              <a:t>早期强</a:t>
            </a:r>
            <a:r>
              <a:rPr lang="en-US" altLang="zh-CN"/>
              <a:t> (2016 Coach)</a:t>
            </a:r>
            <a:r>
              <a:rPr lang="zh-CN" altLang="en-US"/>
              <a:t>。现实：</a:t>
            </a:r>
            <a:r>
              <a:rPr lang="en-US" altLang="zh-CN"/>
              <a:t>2028</a:t>
            </a:r>
            <a:r>
              <a:rPr lang="zh-CN" altLang="en-US"/>
              <a:t>项目</a:t>
            </a:r>
            <a:r>
              <a:rPr lang="en-US" altLang="zh-CN"/>
              <a:t>+5% (</a:t>
            </a:r>
            <a:r>
              <a:rPr lang="zh-CN" altLang="en-US"/>
              <a:t>历史均</a:t>
            </a:r>
            <a:r>
              <a:rPr lang="en-US" altLang="zh-CN"/>
              <a:t>)</a:t>
            </a:r>
            <a:r>
              <a:rPr lang="zh-CN" altLang="en-US"/>
              <a:t>，</a:t>
            </a:r>
            <a:r>
              <a:rPr lang="en-US" altLang="zh-CN"/>
              <a:t>USA</a:t>
            </a:r>
            <a:r>
              <a:rPr lang="zh-CN" altLang="en-US"/>
              <a:t>偏好强项</a:t>
            </a:r>
            <a:r>
              <a:rPr lang="en-US" altLang="zh-CN"/>
              <a:t> (</a:t>
            </a:r>
            <a:r>
              <a:rPr lang="zh-CN" altLang="en-US"/>
              <a:t>篮球等，从</a:t>
            </a:r>
            <a:r>
              <a:rPr lang="en-US" altLang="zh-CN"/>
              <a:t>programs</a:t>
            </a:r>
            <a:r>
              <a:rPr lang="zh-CN" altLang="en-US"/>
              <a:t>历史新增</a:t>
            </a:r>
            <a:r>
              <a:rPr lang="en-US" altLang="zh-CN"/>
              <a:t>)</a:t>
            </a:r>
            <a:r>
              <a:rPr lang="zh-CN" altLang="en-US"/>
              <a:t>。</a:t>
            </a:r>
            <a:endParaRPr lang="zh-CN" altLang="en-US"/>
          </a:p>
          <a:p>
            <a:pPr marL="0" indent="0">
              <a:buNone/>
            </a:pPr>
            <a:r>
              <a:rPr lang="zh-CN" altLang="en-US"/>
              <a:t>现实化：忽略外部</a:t>
            </a:r>
            <a:r>
              <a:rPr lang="en-US" altLang="zh-CN"/>
              <a:t> (</a:t>
            </a:r>
            <a:r>
              <a:rPr lang="zh-CN" altLang="en-US"/>
              <a:t>疫情</a:t>
            </a:r>
            <a:r>
              <a:rPr lang="en-US" altLang="zh-CN"/>
              <a:t>)</a:t>
            </a:r>
            <a:r>
              <a:rPr lang="zh-CN" altLang="en-US"/>
              <a:t>，假设</a:t>
            </a:r>
            <a:r>
              <a:rPr lang="en-US" altLang="zh-CN"/>
              <a:t>IOC</a:t>
            </a:r>
            <a:r>
              <a:rPr lang="zh-CN" altLang="en-US"/>
              <a:t>代码一致</a:t>
            </a:r>
            <a:r>
              <a:rPr lang="en-US" altLang="zh-CN"/>
              <a:t> (</a:t>
            </a:r>
            <a:r>
              <a:rPr lang="zh-CN" altLang="en-US"/>
              <a:t>处理异常</a:t>
            </a:r>
            <a:r>
              <a:rPr lang="en-US" altLang="zh-CN"/>
              <a:t>)</a:t>
            </a:r>
            <a:r>
              <a:rPr lang="zh-CN" altLang="en-US"/>
              <a:t>；无牌突破低门槛</a:t>
            </a:r>
            <a:r>
              <a:rPr lang="en-US" altLang="zh-CN"/>
              <a:t>sport (</a:t>
            </a:r>
            <a:r>
              <a:rPr lang="zh-CN" altLang="en-US"/>
              <a:t>事件多</a:t>
            </a:r>
            <a:r>
              <a:rPr lang="en-US" altLang="zh-CN"/>
              <a:t>/</a:t>
            </a:r>
            <a:r>
              <a:rPr lang="zh-CN" altLang="en-US"/>
              <a:t>低设备，如田径</a:t>
            </a:r>
            <a:r>
              <a:rPr lang="en-US" altLang="zh-CN"/>
              <a:t>)</a:t>
            </a:r>
            <a:r>
              <a:rPr lang="zh-CN" altLang="en-US"/>
              <a:t>。</a:t>
            </a:r>
            <a:endParaRPr lang="zh-CN" altLang="en-US"/>
          </a:p>
        </p:txBody>
      </p:sp>
    </p:spTree>
    <p:custDataLst>
      <p:tags r:id="rId2"/>
    </p:custData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sz="quarter" idx="13"/>
            <p:custDataLst>
              <p:tags r:id="rId1"/>
            </p:custDataLst>
          </p:nvPr>
        </p:nvSpPr>
        <p:spPr/>
        <p:txBody>
          <a:bodyPr/>
          <a:p>
            <a:pPr marL="0" indent="0">
              <a:buNone/>
            </a:pPr>
            <a:r>
              <a:rPr lang="zh-CN" altLang="en-US"/>
              <a:t>简化或增强模型结构</a:t>
            </a:r>
            <a:endParaRPr lang="zh-CN" altLang="en-US"/>
          </a:p>
          <a:p>
            <a:pPr marL="0" indent="0">
              <a:buNone/>
            </a:pPr>
            <a:endParaRPr lang="en-US" altLang="zh-CN"/>
          </a:p>
          <a:p>
            <a:pPr marL="0" indent="0">
              <a:buNone/>
            </a:pPr>
            <a:r>
              <a:rPr lang="zh-CN" altLang="en-US"/>
              <a:t>简化：统一</a:t>
            </a:r>
            <a:r>
              <a:rPr lang="en-US" altLang="zh-CN"/>
              <a:t>ZINB (2022/2021 Scelles) </a:t>
            </a:r>
            <a:r>
              <a:rPr lang="zh-CN" altLang="en-US"/>
              <a:t>代替多模型</a:t>
            </a:r>
            <a:r>
              <a:rPr lang="en-US" altLang="zh-CN"/>
              <a:t> (Tobit/Hurdle)</a:t>
            </a:r>
            <a:r>
              <a:rPr lang="zh-CN" altLang="en-US"/>
              <a:t>，易实现。预测用</a:t>
            </a:r>
            <a:r>
              <a:rPr lang="en-US" altLang="zh-CN"/>
              <a:t>MC</a:t>
            </a:r>
            <a:r>
              <a:rPr lang="zh-CN" altLang="en-US"/>
              <a:t>而非主观</a:t>
            </a:r>
            <a:r>
              <a:rPr lang="en-US" altLang="zh-CN"/>
              <a:t> (2010)</a:t>
            </a:r>
            <a:r>
              <a:rPr lang="zh-CN" altLang="en-US"/>
              <a:t>。</a:t>
            </a:r>
            <a:endParaRPr lang="zh-CN" altLang="en-US"/>
          </a:p>
          <a:p>
            <a:pPr marL="0" indent="0">
              <a:buNone/>
            </a:pPr>
            <a:r>
              <a:rPr lang="zh-CN" altLang="en-US"/>
              <a:t>增强：加</a:t>
            </a:r>
            <a:r>
              <a:rPr lang="en-US" altLang="zh-CN"/>
              <a:t>NMF</a:t>
            </a:r>
            <a:r>
              <a:rPr lang="zh-CN" altLang="en-US"/>
              <a:t>项目匹配</a:t>
            </a:r>
            <a:r>
              <a:rPr lang="en-US" altLang="zh-CN"/>
              <a:t> (</a:t>
            </a:r>
            <a:r>
              <a:rPr lang="zh-CN" altLang="en-US"/>
              <a:t>创新，非论文但数据驱动</a:t>
            </a:r>
            <a:r>
              <a:rPr lang="en-US" altLang="zh-CN"/>
              <a:t>)</a:t>
            </a:r>
            <a:r>
              <a:rPr lang="zh-CN" altLang="en-US"/>
              <a:t>；子</a:t>
            </a:r>
            <a:r>
              <a:rPr lang="en-US" altLang="zh-CN"/>
              <a:t>5</a:t>
            </a:r>
            <a:r>
              <a:rPr lang="zh-CN" altLang="en-US"/>
              <a:t>用</a:t>
            </a:r>
            <a:r>
              <a:rPr lang="en-US" altLang="zh-CN"/>
              <a:t>SCM (2016 Spirit) </a:t>
            </a:r>
            <a:r>
              <a:rPr lang="zh-CN" altLang="en-US"/>
              <a:t>代替</a:t>
            </a:r>
            <a:r>
              <a:rPr lang="en-US" altLang="zh-CN"/>
              <a:t>HLM (</a:t>
            </a:r>
            <a:r>
              <a:rPr lang="zh-CN" altLang="en-US"/>
              <a:t>数据更适</a:t>
            </a:r>
            <a:r>
              <a:rPr lang="en-US" altLang="zh-CN"/>
              <a:t>)</a:t>
            </a:r>
            <a:r>
              <a:rPr lang="zh-CN" altLang="en-US"/>
              <a:t>；子</a:t>
            </a:r>
            <a:r>
              <a:rPr lang="en-US" altLang="zh-CN"/>
              <a:t>3</a:t>
            </a:r>
            <a:r>
              <a:rPr lang="zh-CN" altLang="en-US"/>
              <a:t>加</a:t>
            </a:r>
            <a:r>
              <a:rPr lang="en-US" altLang="zh-CN"/>
              <a:t>Cox</a:t>
            </a:r>
            <a:r>
              <a:rPr lang="zh-CN" altLang="en-US"/>
              <a:t>生存</a:t>
            </a:r>
            <a:r>
              <a:rPr lang="en-US" altLang="zh-CN"/>
              <a:t> (</a:t>
            </a:r>
            <a:r>
              <a:rPr lang="zh-CN" altLang="en-US"/>
              <a:t>补充，但未在论文，直接用</a:t>
            </a:r>
            <a:r>
              <a:rPr lang="en-US" altLang="zh-CN"/>
              <a:t>ZIB</a:t>
            </a:r>
            <a:r>
              <a:rPr lang="zh-CN" altLang="en-US"/>
              <a:t>零</a:t>
            </a:r>
            <a:r>
              <a:rPr lang="en-US" altLang="zh-CN"/>
              <a:t>)</a:t>
            </a:r>
            <a:r>
              <a:rPr lang="zh-CN" altLang="en-US"/>
              <a:t>。</a:t>
            </a:r>
            <a:endParaRPr lang="zh-CN" altLang="en-US"/>
          </a:p>
        </p:txBody>
      </p:sp>
    </p:spTree>
    <p:custDataLst>
      <p:tags r:id="rId2"/>
    </p:custData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sz="quarter" idx="13"/>
            <p:custDataLst>
              <p:tags r:id="rId1"/>
            </p:custDataLst>
          </p:nvPr>
        </p:nvSpPr>
        <p:spPr>
          <a:xfrm>
            <a:off x="608400" y="21525"/>
            <a:ext cx="10972800" cy="5482800"/>
          </a:xfrm>
        </p:spPr>
        <p:txBody>
          <a:bodyPr>
            <a:noAutofit/>
          </a:bodyPr>
          <a:p>
            <a:pPr marL="0" indent="0">
              <a:buNone/>
            </a:pPr>
            <a:r>
              <a:rPr lang="en-US" altLang="zh-CN" sz="1200" b="1"/>
              <a:t>3. </a:t>
            </a:r>
            <a:r>
              <a:rPr lang="zh-CN" altLang="en-US" sz="1200" b="1"/>
              <a:t>最终完整的模型框架（竞赛可实现版本）</a:t>
            </a:r>
            <a:endParaRPr lang="zh-CN" altLang="en-US" sz="1200" b="1"/>
          </a:p>
          <a:p>
            <a:pPr marL="0" indent="0">
              <a:buNone/>
            </a:pPr>
            <a:r>
              <a:rPr lang="zh-CN" altLang="en-US" sz="1200"/>
              <a:t>整体框架：核心层次</a:t>
            </a:r>
            <a:r>
              <a:rPr lang="en-US" altLang="zh-CN" sz="1200"/>
              <a:t>ZINB (</a:t>
            </a:r>
            <a:r>
              <a:rPr lang="zh-CN" altLang="en-US" sz="1200"/>
              <a:t>参考</a:t>
            </a:r>
            <a:r>
              <a:rPr lang="en-US" altLang="zh-CN" sz="1200"/>
              <a:t>2022/2021 Scelles/2024) </a:t>
            </a:r>
            <a:r>
              <a:rPr lang="zh-CN" altLang="en-US" sz="1200"/>
              <a:t>处理零</a:t>
            </a:r>
            <a:r>
              <a:rPr lang="en-US" altLang="zh-CN" sz="1200"/>
              <a:t>/</a:t>
            </a:r>
            <a:r>
              <a:rPr lang="zh-CN" altLang="en-US" sz="1200"/>
              <a:t>计数</a:t>
            </a:r>
            <a:r>
              <a:rPr lang="en-US" altLang="zh-CN" sz="1200"/>
              <a:t> + </a:t>
            </a:r>
            <a:r>
              <a:rPr lang="zh-CN" altLang="en-US" sz="1200"/>
              <a:t>项目</a:t>
            </a:r>
            <a:r>
              <a:rPr lang="en-US" altLang="zh-CN" sz="1200"/>
              <a:t>NMF</a:t>
            </a:r>
            <a:r>
              <a:rPr lang="zh-CN" altLang="en-US" sz="1200"/>
              <a:t>创新匹配</a:t>
            </a:r>
            <a:r>
              <a:rPr lang="en-US" altLang="zh-CN" sz="1200"/>
              <a:t> (</a:t>
            </a:r>
            <a:r>
              <a:rPr lang="zh-CN" altLang="en-US" sz="1200"/>
              <a:t>数据改造，避免同质</a:t>
            </a:r>
            <a:r>
              <a:rPr lang="en-US" altLang="zh-CN" sz="1200"/>
              <a:t>) + SCM</a:t>
            </a:r>
            <a:r>
              <a:rPr lang="zh-CN" altLang="en-US" sz="1200"/>
              <a:t>教练因果</a:t>
            </a:r>
            <a:r>
              <a:rPr lang="en-US" altLang="zh-CN" sz="1200"/>
              <a:t> (</a:t>
            </a:r>
            <a:r>
              <a:rPr lang="zh-CN" altLang="en-US" sz="1200"/>
              <a:t>参考</a:t>
            </a:r>
            <a:r>
              <a:rPr lang="en-US" altLang="zh-CN" sz="1200"/>
              <a:t>2016 Spirit)</a:t>
            </a:r>
            <a:r>
              <a:rPr lang="zh-CN" altLang="en-US" sz="1200"/>
              <a:t>。创新改造：</a:t>
            </a:r>
            <a:r>
              <a:rPr lang="en-US" altLang="zh-CN" sz="1200"/>
              <a:t>(1) </a:t>
            </a:r>
            <a:r>
              <a:rPr lang="zh-CN" altLang="en-US" sz="1200"/>
              <a:t>运动员份额代理</a:t>
            </a:r>
            <a:r>
              <a:rPr lang="en-US" altLang="zh-CN" sz="1200"/>
              <a:t>GDP (</a:t>
            </a:r>
            <a:r>
              <a:rPr lang="zh-CN" altLang="en-US" sz="1200"/>
              <a:t>数据内部</a:t>
            </a:r>
            <a:r>
              <a:rPr lang="en-US" altLang="zh-CN" sz="1200"/>
              <a:t>)</a:t>
            </a:r>
            <a:r>
              <a:rPr lang="zh-CN" altLang="en-US" sz="1200"/>
              <a:t>；</a:t>
            </a:r>
            <a:r>
              <a:rPr lang="en-US" altLang="zh-CN" sz="1200"/>
              <a:t>(2) </a:t>
            </a:r>
            <a:r>
              <a:rPr lang="zh-CN" altLang="en-US" sz="1200"/>
              <a:t>项目亲和矩阵</a:t>
            </a:r>
            <a:r>
              <a:rPr lang="en-US" altLang="zh-CN" sz="1200"/>
              <a:t> (</a:t>
            </a:r>
            <a:r>
              <a:rPr lang="zh-CN" altLang="en-US" sz="1200"/>
              <a:t>国家</a:t>
            </a:r>
            <a:r>
              <a:rPr lang="en-US" altLang="en-US" sz="1200"/>
              <a:t>×</a:t>
            </a:r>
            <a:r>
              <a:rPr lang="en-US" altLang="zh-CN" sz="1200"/>
              <a:t>sport</a:t>
            </a:r>
            <a:r>
              <a:rPr lang="zh-CN" altLang="en-US" sz="1200"/>
              <a:t>面板，从</a:t>
            </a:r>
            <a:r>
              <a:rPr lang="en-US" altLang="zh-CN" sz="1200"/>
              <a:t>athletes/programs</a:t>
            </a:r>
            <a:r>
              <a:rPr lang="zh-CN" altLang="en-US" sz="1200"/>
              <a:t>聚合</a:t>
            </a:r>
            <a:r>
              <a:rPr lang="en-US" altLang="zh-CN" sz="1200"/>
              <a:t>) </a:t>
            </a:r>
            <a:r>
              <a:rPr lang="zh-CN" altLang="en-US" sz="1200"/>
              <a:t>分解隐专长；</a:t>
            </a:r>
            <a:r>
              <a:rPr lang="en-US" altLang="zh-CN" sz="1200"/>
              <a:t>(3) </a:t>
            </a:r>
            <a:r>
              <a:rPr lang="zh-CN" altLang="en-US" sz="1200"/>
              <a:t>流动网络计数代理教练</a:t>
            </a:r>
            <a:r>
              <a:rPr lang="en-US" altLang="zh-CN" sz="1200"/>
              <a:t> (athletes</a:t>
            </a:r>
            <a:r>
              <a:rPr lang="zh-CN" altLang="en-US" sz="1200"/>
              <a:t>跨国</a:t>
            </a:r>
            <a:r>
              <a:rPr lang="en-US" altLang="zh-CN" sz="1200"/>
              <a:t>)</a:t>
            </a:r>
            <a:r>
              <a:rPr lang="zh-CN" altLang="en-US" sz="1200"/>
              <a:t>；</a:t>
            </a:r>
            <a:r>
              <a:rPr lang="en-US" altLang="zh-CN" sz="1200"/>
              <a:t>(4) MC</a:t>
            </a:r>
            <a:r>
              <a:rPr lang="zh-CN" altLang="en-US" sz="1200"/>
              <a:t>后验排名概率矩阵</a:t>
            </a:r>
            <a:r>
              <a:rPr lang="en-US" altLang="zh-CN" sz="1200"/>
              <a:t> (</a:t>
            </a:r>
            <a:r>
              <a:rPr lang="zh-CN" altLang="en-US" sz="1200"/>
              <a:t>差异化可视</a:t>
            </a:r>
            <a:r>
              <a:rPr lang="en-US" altLang="zh-CN" sz="1200"/>
              <a:t>)</a:t>
            </a:r>
            <a:r>
              <a:rPr lang="zh-CN" altLang="en-US" sz="1200"/>
              <a:t>。</a:t>
            </a:r>
            <a:r>
              <a:rPr lang="en-US" altLang="zh-CN" sz="1200"/>
              <a:t>&lt;25</a:t>
            </a:r>
            <a:r>
              <a:rPr lang="zh-CN" altLang="en-US" sz="1200"/>
              <a:t>页：</a:t>
            </a:r>
            <a:r>
              <a:rPr lang="en-US" altLang="zh-CN" sz="1200"/>
              <a:t>ZINB5</a:t>
            </a:r>
            <a:r>
              <a:rPr lang="zh-CN" altLang="en-US" sz="1200"/>
              <a:t>页、预测</a:t>
            </a:r>
            <a:r>
              <a:rPr lang="en-US" altLang="zh-CN" sz="1200"/>
              <a:t>3</a:t>
            </a:r>
            <a:r>
              <a:rPr lang="zh-CN" altLang="en-US" sz="1200"/>
              <a:t>、子</a:t>
            </a:r>
            <a:r>
              <a:rPr lang="en-US" altLang="zh-CN" sz="1200"/>
              <a:t>3-4</a:t>
            </a:r>
            <a:r>
              <a:rPr lang="zh-CN" altLang="en-US" sz="1200"/>
              <a:t>各</a:t>
            </a:r>
            <a:r>
              <a:rPr lang="en-US" altLang="zh-CN" sz="1200"/>
              <a:t>3</a:t>
            </a:r>
            <a:r>
              <a:rPr lang="zh-CN" altLang="en-US" sz="1200"/>
              <a:t>、子</a:t>
            </a:r>
            <a:r>
              <a:rPr lang="en-US" altLang="zh-CN" sz="1200"/>
              <a:t>5 4</a:t>
            </a:r>
            <a:r>
              <a:rPr lang="zh-CN" altLang="en-US" sz="1200"/>
              <a:t>、子</a:t>
            </a:r>
            <a:r>
              <a:rPr lang="en-US" altLang="zh-CN" sz="1200"/>
              <a:t>6 2</a:t>
            </a:r>
            <a:r>
              <a:rPr lang="zh-CN" altLang="en-US" sz="1200"/>
              <a:t>。不确定：</a:t>
            </a:r>
            <a:r>
              <a:rPr lang="en-US" altLang="zh-CN" sz="1200"/>
              <a:t>MC 1000</a:t>
            </a:r>
            <a:r>
              <a:rPr lang="zh-CN" altLang="en-US" sz="1200"/>
              <a:t>模拟。数据：</a:t>
            </a:r>
            <a:r>
              <a:rPr lang="en-US" altLang="zh-CN" sz="1200"/>
              <a:t>R/Python (zinbwave/nmf/scm) </a:t>
            </a:r>
            <a:r>
              <a:rPr lang="zh-CN" altLang="en-US" sz="1200"/>
              <a:t>处理</a:t>
            </a:r>
            <a:r>
              <a:rPr lang="en-US" altLang="zh-CN" sz="1200"/>
              <a:t>csv</a:t>
            </a:r>
            <a:r>
              <a:rPr lang="zh-CN" altLang="en-US" sz="1200"/>
              <a:t>。</a:t>
            </a:r>
            <a:endParaRPr lang="zh-CN" altLang="en-US" sz="1200"/>
          </a:p>
          <a:p>
            <a:pPr marL="0" indent="0">
              <a:buNone/>
            </a:pPr>
            <a:r>
              <a:rPr lang="zh-CN" altLang="en-US" sz="1200"/>
              <a:t>具体使用的模型</a:t>
            </a:r>
            <a:r>
              <a:rPr lang="en-US" altLang="zh-CN" sz="1200"/>
              <a:t> &amp; </a:t>
            </a:r>
            <a:r>
              <a:rPr lang="zh-CN" altLang="en-US" sz="1200"/>
              <a:t>参考论文</a:t>
            </a:r>
            <a:endParaRPr lang="en-US" altLang="zh-CN" sz="1200"/>
          </a:p>
          <a:p>
            <a:pPr marL="0" indent="0">
              <a:buNone/>
            </a:pPr>
            <a:r>
              <a:rPr lang="zh-CN" altLang="en-US" sz="1200"/>
              <a:t>子</a:t>
            </a:r>
            <a:r>
              <a:rPr lang="en-US" altLang="zh-CN" sz="1200"/>
              <a:t>1/2/3/4</a:t>
            </a:r>
            <a:r>
              <a:rPr lang="zh-CN" altLang="en-US" sz="1200"/>
              <a:t>：层次</a:t>
            </a:r>
            <a:r>
              <a:rPr lang="en-US" altLang="zh-CN" sz="1200"/>
              <a:t>ZINB (2022/2024/2021 Scelles) + FE (2021 How big/2022) + NMF</a:t>
            </a:r>
            <a:r>
              <a:rPr lang="zh-CN" altLang="en-US" sz="1200"/>
              <a:t>增强。</a:t>
            </a:r>
            <a:endParaRPr lang="zh-CN" altLang="en-US" sz="1200"/>
          </a:p>
          <a:p>
            <a:pPr marL="0" indent="0">
              <a:buNone/>
            </a:pPr>
            <a:r>
              <a:rPr lang="zh-CN" altLang="en-US" sz="1200"/>
              <a:t>子</a:t>
            </a:r>
            <a:r>
              <a:rPr lang="en-US" altLang="zh-CN" sz="1200"/>
              <a:t>5</a:t>
            </a:r>
            <a:r>
              <a:rPr lang="zh-CN" altLang="en-US" sz="1200"/>
              <a:t>：</a:t>
            </a:r>
            <a:r>
              <a:rPr lang="en-US" altLang="zh-CN" sz="1200"/>
              <a:t>SCM (2016 Spirit) + </a:t>
            </a:r>
            <a:r>
              <a:rPr lang="zh-CN" altLang="en-US" sz="1200"/>
              <a:t>网络计数</a:t>
            </a:r>
            <a:r>
              <a:rPr lang="en-US" altLang="zh-CN" sz="1200"/>
              <a:t> (2016 Coach</a:t>
            </a:r>
            <a:r>
              <a:rPr lang="zh-CN" altLang="en-US" sz="1200"/>
              <a:t>迁移</a:t>
            </a:r>
            <a:r>
              <a:rPr lang="en-US" altLang="zh-CN" sz="1200"/>
              <a:t>)</a:t>
            </a:r>
            <a:r>
              <a:rPr lang="zh-CN" altLang="en-US" sz="1200"/>
              <a:t>。</a:t>
            </a:r>
            <a:endParaRPr lang="zh-CN" altLang="en-US" sz="1200"/>
          </a:p>
          <a:p>
            <a:pPr marL="0" indent="0">
              <a:buNone/>
            </a:pPr>
            <a:r>
              <a:rPr lang="zh-CN" altLang="en-US" sz="1200"/>
              <a:t>子</a:t>
            </a:r>
            <a:r>
              <a:rPr lang="en-US" altLang="zh-CN" sz="1200"/>
              <a:t>6</a:t>
            </a:r>
            <a:r>
              <a:rPr lang="zh-CN" altLang="en-US" sz="1200"/>
              <a:t>：</a:t>
            </a:r>
            <a:r>
              <a:rPr lang="en-US" altLang="zh-CN" sz="1200"/>
              <a:t>SEM</a:t>
            </a:r>
            <a:r>
              <a:rPr lang="zh-CN" altLang="en-US" sz="1200"/>
              <a:t>中介</a:t>
            </a:r>
            <a:r>
              <a:rPr lang="en-US" altLang="zh-CN" sz="1200"/>
              <a:t> (</a:t>
            </a:r>
            <a:r>
              <a:rPr lang="zh-CN" altLang="en-US" sz="1200"/>
              <a:t>隐含所有政策</a:t>
            </a:r>
            <a:r>
              <a:rPr lang="en-US" altLang="zh-CN" sz="1200"/>
              <a:t>) + ROI</a:t>
            </a:r>
            <a:r>
              <a:rPr lang="zh-CN" altLang="en-US" sz="1200"/>
              <a:t>模拟。</a:t>
            </a:r>
            <a:endParaRPr lang="en-US" altLang="zh-CN" sz="1200"/>
          </a:p>
          <a:p>
            <a:pPr marL="0" indent="0">
              <a:buNone/>
            </a:pPr>
            <a:r>
              <a:rPr lang="zh-CN" altLang="en-US" sz="1200"/>
              <a:t>公式</a:t>
            </a:r>
            <a:endParaRPr lang="en-US" altLang="zh-CN" sz="1200"/>
          </a:p>
          <a:p>
            <a:pPr marL="0" indent="0">
              <a:buNone/>
            </a:pPr>
            <a:r>
              <a:rPr lang="en-US" altLang="zh-CN" sz="1200"/>
              <a:t>ZINB</a:t>
            </a:r>
            <a:r>
              <a:rPr lang="zh-CN" altLang="en-US" sz="1200"/>
              <a:t>核心</a:t>
            </a:r>
            <a:r>
              <a:rPr lang="en-US" altLang="zh-CN" sz="1200"/>
              <a:t> (</a:t>
            </a:r>
            <a:r>
              <a:rPr lang="zh-CN" altLang="en-US" sz="1200"/>
              <a:t>参考</a:t>
            </a:r>
            <a:r>
              <a:rPr lang="en-US" altLang="zh-CN" sz="1200"/>
              <a:t>2022/2024)</a:t>
            </a:r>
            <a:r>
              <a:rPr lang="zh-CN" altLang="en-US" sz="1200"/>
              <a:t>：</a:t>
            </a:r>
            <a:endParaRPr lang="zh-CN" altLang="en-US" sz="1200"/>
          </a:p>
          <a:p>
            <a:pPr marL="0" indent="0">
              <a:buNone/>
            </a:pPr>
            <a:r>
              <a:rPr lang="en-US" altLang="zh-CN" sz="1200"/>
              <a:t>logit(π_{ijt}) = γ0 + γ1 MS_{ijt-4} + γ2 </a:t>
            </a:r>
            <a:r>
              <a:rPr lang="zh-CN" altLang="en-US" sz="1200"/>
              <a:t>运动员类</a:t>
            </a:r>
            <a:r>
              <a:rPr lang="en-US" altLang="zh-CN" sz="1200"/>
              <a:t>_{ijt} + γ3 Host_{it} + γ4 </a:t>
            </a:r>
            <a:r>
              <a:rPr lang="zh-CN" altLang="en-US" sz="1200"/>
              <a:t>区域</a:t>
            </a:r>
            <a:r>
              <a:rPr lang="en-US" altLang="zh-CN" sz="1200"/>
              <a:t>_i + γ5 </a:t>
            </a:r>
            <a:r>
              <a:rPr lang="zh-CN" altLang="en-US" sz="1200"/>
              <a:t>项目亲和</a:t>
            </a:r>
            <a:r>
              <a:rPr lang="en-US" altLang="zh-CN" sz="1200"/>
              <a:t>_{ij} + θ_t + δ_j (</a:t>
            </a:r>
            <a:r>
              <a:rPr lang="zh-CN" altLang="en-US" sz="1200"/>
              <a:t>零膨胀，概率无牌</a:t>
            </a:r>
            <a:r>
              <a:rPr lang="en-US" altLang="zh-CN" sz="1200"/>
              <a:t>)</a:t>
            </a:r>
            <a:endParaRPr lang="en-US" altLang="zh-CN" sz="1200"/>
          </a:p>
          <a:p>
            <a:pPr marL="0" indent="0">
              <a:buNone/>
            </a:pPr>
            <a:r>
              <a:rPr lang="en-US" altLang="zh-CN" sz="1200"/>
              <a:t>ln(μ_{ijt}) = β0 + β1 MS_{ijt-4} + β2 Host</a:t>
            </a:r>
            <a:r>
              <a:rPr lang="zh-CN" altLang="en-US" sz="1200"/>
              <a:t>滞后</a:t>
            </a:r>
            <a:r>
              <a:rPr lang="en-US" altLang="zh-CN" sz="1200"/>
              <a:t>_{it} + β3 SUPER_i + β4 NMF</a:t>
            </a:r>
            <a:r>
              <a:rPr lang="zh-CN" altLang="en-US" sz="1200"/>
              <a:t>因子</a:t>
            </a:r>
            <a:r>
              <a:rPr lang="en-US" altLang="zh-CN" sz="1200"/>
              <a:t>_{ij} + u_i + ε_{ijt} (</a:t>
            </a:r>
            <a:r>
              <a:rPr lang="zh-CN" altLang="en-US" sz="1200"/>
              <a:t>计数，</a:t>
            </a:r>
            <a:r>
              <a:rPr lang="en-US" altLang="zh-CN" sz="1200"/>
              <a:t>NB</a:t>
            </a:r>
            <a:r>
              <a:rPr lang="zh-CN" altLang="en-US" sz="1200"/>
              <a:t>分布；</a:t>
            </a:r>
            <a:r>
              <a:rPr lang="en-US" altLang="zh-CN" sz="1200"/>
              <a:t>μ=</a:t>
            </a:r>
            <a:r>
              <a:rPr lang="zh-CN" altLang="en-US" sz="1200"/>
              <a:t>条件均值</a:t>
            </a:r>
            <a:r>
              <a:rPr lang="en-US" altLang="zh-CN" sz="1200"/>
              <a:t>)</a:t>
            </a:r>
            <a:endParaRPr lang="en-US" altLang="zh-CN" sz="1200"/>
          </a:p>
          <a:p>
            <a:pPr marL="0" indent="0">
              <a:buNone/>
            </a:pPr>
            <a:r>
              <a:rPr lang="en-US" altLang="zh-CN" sz="1200"/>
              <a:t>φ = exp(γ0 + ... ) (</a:t>
            </a:r>
            <a:r>
              <a:rPr lang="zh-CN" altLang="en-US" sz="1200"/>
              <a:t>精度，</a:t>
            </a:r>
            <a:r>
              <a:rPr lang="en-US" altLang="zh-CN" sz="1200"/>
              <a:t>2024)</a:t>
            </a:r>
            <a:r>
              <a:rPr lang="zh-CN" altLang="en-US" sz="1200"/>
              <a:t>；</a:t>
            </a:r>
            <a:r>
              <a:rPr lang="en-US" altLang="zh-CN" sz="1200"/>
              <a:t>y_{ijt} ~ ZINB(π, μ, φ) (</a:t>
            </a:r>
            <a:r>
              <a:rPr lang="zh-CN" altLang="en-US" sz="1200"/>
              <a:t>国家</a:t>
            </a:r>
            <a:r>
              <a:rPr lang="en-US" altLang="zh-CN" sz="1200"/>
              <a:t>i-sport j-</a:t>
            </a:r>
            <a:r>
              <a:rPr lang="zh-CN" altLang="en-US" sz="1200"/>
              <a:t>年</a:t>
            </a:r>
            <a:r>
              <a:rPr lang="en-US" altLang="zh-CN" sz="1200"/>
              <a:t>t</a:t>
            </a:r>
            <a:r>
              <a:rPr lang="zh-CN" altLang="en-US" sz="1200"/>
              <a:t>份额</a:t>
            </a:r>
            <a:r>
              <a:rPr lang="en-US" altLang="zh-CN" sz="1200"/>
              <a:t>)</a:t>
            </a:r>
            <a:r>
              <a:rPr lang="zh-CN" altLang="en-US" sz="1200"/>
              <a:t>。</a:t>
            </a:r>
            <a:endParaRPr lang="zh-CN" altLang="en-US" sz="1200"/>
          </a:p>
          <a:p>
            <a:pPr marL="0" indent="0">
              <a:buNone/>
            </a:pPr>
            <a:r>
              <a:rPr lang="en-US" altLang="zh-CN" sz="1200"/>
              <a:t>NMF</a:t>
            </a:r>
            <a:r>
              <a:rPr lang="zh-CN" altLang="en-US" sz="1200"/>
              <a:t>项目匹配</a:t>
            </a:r>
            <a:r>
              <a:rPr lang="en-US" altLang="zh-CN" sz="1200"/>
              <a:t> (</a:t>
            </a:r>
            <a:r>
              <a:rPr lang="zh-CN" altLang="en-US" sz="1200"/>
              <a:t>创新，数据改造</a:t>
            </a:r>
            <a:r>
              <a:rPr lang="en-US" altLang="zh-CN" sz="1200"/>
              <a:t>)</a:t>
            </a:r>
            <a:r>
              <a:rPr lang="zh-CN" altLang="en-US" sz="1200"/>
              <a:t>：历史矩阵</a:t>
            </a:r>
            <a:r>
              <a:rPr lang="en-US" altLang="zh-CN" sz="1200"/>
              <a:t> A_{i j} = </a:t>
            </a:r>
            <a:r>
              <a:rPr lang="zh-CN" altLang="en-US" sz="1200"/>
              <a:t>得牌率</a:t>
            </a:r>
            <a:r>
              <a:rPr lang="en-US" altLang="zh-CN" sz="1200"/>
              <a:t> </a:t>
            </a:r>
            <a:r>
              <a:rPr lang="en-US" altLang="en-US" sz="1200"/>
              <a:t>×</a:t>
            </a:r>
            <a:r>
              <a:rPr lang="en-US" altLang="zh-CN" sz="1200"/>
              <a:t> </a:t>
            </a:r>
            <a:r>
              <a:rPr lang="zh-CN" altLang="en-US" sz="1200"/>
              <a:t>事件</a:t>
            </a:r>
            <a:r>
              <a:rPr lang="en-US" altLang="zh-CN" sz="1200"/>
              <a:t> = WH (</a:t>
            </a:r>
            <a:r>
              <a:rPr lang="zh-CN" altLang="en-US" sz="1200"/>
              <a:t>低秩，</a:t>
            </a:r>
            <a:r>
              <a:rPr lang="en-US" altLang="zh-CN" sz="1200"/>
              <a:t>W</a:t>
            </a:r>
            <a:r>
              <a:rPr lang="zh-CN" altLang="en-US" sz="1200"/>
              <a:t>国家因子、</a:t>
            </a:r>
            <a:r>
              <a:rPr lang="en-US" altLang="zh-CN" sz="1200"/>
              <a:t>H sport</a:t>
            </a:r>
            <a:r>
              <a:rPr lang="zh-CN" altLang="en-US" sz="1200"/>
              <a:t>因子</a:t>
            </a:r>
            <a:r>
              <a:rPr lang="en-US" altLang="zh-CN" sz="1200"/>
              <a:t>)</a:t>
            </a:r>
            <a:r>
              <a:rPr lang="zh-CN" altLang="en-US" sz="1200"/>
              <a:t>；</a:t>
            </a:r>
            <a:r>
              <a:rPr lang="en-US" altLang="zh-CN" sz="1200"/>
              <a:t>min ||A - WH||^2 (</a:t>
            </a:r>
            <a:r>
              <a:rPr lang="zh-CN" altLang="en-US" sz="1200"/>
              <a:t>提取专长群</a:t>
            </a:r>
            <a:r>
              <a:rPr lang="en-US" altLang="zh-CN" sz="1200"/>
              <a:t>)</a:t>
            </a:r>
            <a:r>
              <a:rPr lang="zh-CN" altLang="en-US" sz="1200"/>
              <a:t>。</a:t>
            </a:r>
            <a:endParaRPr lang="zh-CN" altLang="en-US" sz="1200"/>
          </a:p>
          <a:p>
            <a:pPr marL="0" indent="0">
              <a:buNone/>
            </a:pPr>
            <a:r>
              <a:rPr lang="en-US" altLang="zh-CN" sz="1200"/>
              <a:t>SCM</a:t>
            </a:r>
            <a:r>
              <a:rPr lang="zh-CN" altLang="en-US" sz="1200"/>
              <a:t>教练</a:t>
            </a:r>
            <a:r>
              <a:rPr lang="en-US" altLang="zh-CN" sz="1200"/>
              <a:t> (</a:t>
            </a:r>
            <a:r>
              <a:rPr lang="zh-CN" altLang="en-US" sz="1200"/>
              <a:t>参考</a:t>
            </a:r>
            <a:r>
              <a:rPr lang="en-US" altLang="zh-CN" sz="1200"/>
              <a:t>2016 Spirit)</a:t>
            </a:r>
            <a:r>
              <a:rPr lang="zh-CN" altLang="en-US" sz="1200"/>
              <a:t>：</a:t>
            </a:r>
            <a:r>
              <a:rPr lang="en-US" altLang="zh-CN" sz="1200"/>
              <a:t> \hat{α}{0t} = Y{0t} - \sum w_j Y_{jt} (t&gt;</a:t>
            </a:r>
            <a:r>
              <a:rPr lang="zh-CN" altLang="en-US" sz="1200"/>
              <a:t>治疗，治疗</a:t>
            </a:r>
            <a:r>
              <a:rPr lang="en-US" altLang="zh-CN" sz="1200"/>
              <a:t>=</a:t>
            </a:r>
            <a:r>
              <a:rPr lang="zh-CN" altLang="en-US" sz="1200"/>
              <a:t>流动事件</a:t>
            </a:r>
            <a:r>
              <a:rPr lang="en-US" altLang="zh-CN" sz="1200"/>
              <a:t>)</a:t>
            </a:r>
            <a:r>
              <a:rPr lang="zh-CN" altLang="en-US" sz="1200"/>
              <a:t>；</a:t>
            </a:r>
            <a:r>
              <a:rPr lang="en-US" altLang="zh-CN" sz="1200"/>
              <a:t>w = argmin ||X_0 - X_1 W|| (X=</a:t>
            </a:r>
            <a:r>
              <a:rPr lang="zh-CN" altLang="en-US" sz="1200"/>
              <a:t>预运动员</a:t>
            </a:r>
            <a:r>
              <a:rPr lang="en-US" altLang="zh-CN" sz="1200"/>
              <a:t>/</a:t>
            </a:r>
            <a:r>
              <a:rPr lang="zh-CN" altLang="en-US" sz="1200"/>
              <a:t>牌</a:t>
            </a:r>
            <a:r>
              <a:rPr lang="en-US" altLang="zh-CN" sz="1200"/>
              <a:t>)</a:t>
            </a:r>
            <a:r>
              <a:rPr lang="zh-CN" altLang="en-US" sz="1200"/>
              <a:t>。</a:t>
            </a:r>
            <a:endParaRPr lang="zh-CN" altLang="en-US" sz="1200"/>
          </a:p>
          <a:p>
            <a:pPr marL="0" indent="0">
              <a:buNone/>
            </a:pPr>
            <a:r>
              <a:rPr lang="en-US" altLang="zh-CN" sz="1200"/>
              <a:t>SEM</a:t>
            </a:r>
            <a:r>
              <a:rPr lang="zh-CN" altLang="en-US" sz="1200"/>
              <a:t>洞见</a:t>
            </a:r>
            <a:r>
              <a:rPr lang="en-US" altLang="zh-CN" sz="1200"/>
              <a:t> (</a:t>
            </a:r>
            <a:r>
              <a:rPr lang="zh-CN" altLang="en-US" sz="1200"/>
              <a:t>参考政策论文</a:t>
            </a:r>
            <a:r>
              <a:rPr lang="en-US" altLang="zh-CN" sz="1200"/>
              <a:t>)</a:t>
            </a:r>
            <a:r>
              <a:rPr lang="zh-CN" altLang="en-US" sz="1200"/>
              <a:t>：奖牌</a:t>
            </a:r>
            <a:r>
              <a:rPr lang="en-US" altLang="zh-CN" sz="1200"/>
              <a:t> ~ </a:t>
            </a:r>
            <a:r>
              <a:rPr lang="zh-CN" altLang="en-US" sz="1200"/>
              <a:t>项目亲和</a:t>
            </a:r>
            <a:r>
              <a:rPr lang="en-US" altLang="zh-CN" sz="1200"/>
              <a:t> </a:t>
            </a:r>
            <a:r>
              <a:rPr lang="en-US" altLang="en-US" sz="1200"/>
              <a:t>→</a:t>
            </a:r>
            <a:r>
              <a:rPr lang="en-US" altLang="zh-CN" sz="1200"/>
              <a:t> </a:t>
            </a:r>
            <a:r>
              <a:rPr lang="zh-CN" altLang="en-US" sz="1200"/>
              <a:t>运动员</a:t>
            </a:r>
            <a:r>
              <a:rPr lang="en-US" altLang="zh-CN" sz="1200"/>
              <a:t> </a:t>
            </a:r>
            <a:r>
              <a:rPr lang="en-US" altLang="en-US" sz="1200"/>
              <a:t>→</a:t>
            </a:r>
            <a:r>
              <a:rPr lang="en-US" altLang="zh-CN" sz="1200"/>
              <a:t> </a:t>
            </a:r>
            <a:r>
              <a:rPr lang="zh-CN" altLang="en-US" sz="1200"/>
              <a:t>牌</a:t>
            </a:r>
            <a:r>
              <a:rPr lang="en-US" altLang="zh-CN" sz="1200"/>
              <a:t> (</a:t>
            </a:r>
            <a:r>
              <a:rPr lang="zh-CN" altLang="en-US" sz="1200"/>
              <a:t>路径系数正</a:t>
            </a:r>
            <a:r>
              <a:rPr lang="en-US" altLang="zh-CN" sz="1200"/>
              <a:t>)</a:t>
            </a:r>
            <a:r>
              <a:rPr lang="zh-CN" altLang="en-US" sz="1200"/>
              <a:t>。</a:t>
            </a:r>
            <a:endParaRPr lang="zh-CN" altLang="en-US" sz="1200"/>
          </a:p>
        </p:txBody>
      </p:sp>
    </p:spTree>
    <p:custDataLst>
      <p:tags r:id="rId2"/>
    </p:custData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t>4.</a:t>
            </a:r>
            <a:r>
              <a:rPr lang="zh-CN" altLang="en-US"/>
              <a:t>方法与论文的适应性</a:t>
            </a:r>
            <a:r>
              <a:rPr lang="en-US" altLang="zh-CN"/>
              <a:t> + </a:t>
            </a:r>
            <a:r>
              <a:rPr lang="zh-CN" altLang="en-US"/>
              <a:t>创新性改进</a:t>
            </a:r>
            <a:endParaRPr lang="zh-CN" altLang="en-US"/>
          </a:p>
        </p:txBody>
      </p:sp>
      <p:sp>
        <p:nvSpPr>
          <p:cNvPr id="3" name="内容占位符 2"/>
          <p:cNvSpPr>
            <a:spLocks noGrp="1"/>
          </p:cNvSpPr>
          <p:nvPr>
            <p:ph idx="1"/>
            <p:custDataLst>
              <p:tags r:id="rId2"/>
            </p:custDataLst>
          </p:nvPr>
        </p:nvSpPr>
        <p:spPr>
          <a:xfrm>
            <a:off x="608330" y="1185545"/>
            <a:ext cx="10968990" cy="5201920"/>
          </a:xfrm>
        </p:spPr>
        <p:txBody>
          <a:bodyPr>
            <a:noAutofit/>
          </a:bodyPr>
          <a:p>
            <a:pPr marL="0" indent="0">
              <a:buNone/>
            </a:pPr>
            <a:r>
              <a:rPr lang="zh-CN" altLang="en-US" sz="1400"/>
              <a:t>你是一名专注于模型创新与假设设计的建模竞赛导师</a:t>
            </a:r>
            <a:endParaRPr lang="zh-CN" altLang="en-US" sz="1400"/>
          </a:p>
          <a:p>
            <a:pPr marL="0" indent="0">
              <a:buNone/>
            </a:pPr>
            <a:r>
              <a:rPr lang="zh-CN" altLang="en-US" sz="1400"/>
              <a:t>基于当前模型与参考论文方法：</a:t>
            </a:r>
            <a:endParaRPr lang="en-US" altLang="zh-CN" sz="1400"/>
          </a:p>
          <a:p>
            <a:pPr marL="0" indent="0">
              <a:buNone/>
            </a:pPr>
            <a:r>
              <a:rPr lang="en-US" altLang="zh-CN" sz="1400"/>
              <a:t>1. </a:t>
            </a:r>
            <a:r>
              <a:rPr lang="zh-CN" altLang="en-US" sz="1400"/>
              <a:t>请从以下角度评估现有模型：</a:t>
            </a:r>
            <a:endParaRPr lang="zh-CN" altLang="en-US" sz="1400"/>
          </a:p>
          <a:p>
            <a:pPr marL="0" indent="0">
              <a:buNone/>
            </a:pPr>
            <a:r>
              <a:rPr lang="en-US" altLang="zh-CN" sz="1400"/>
              <a:t>   - </a:t>
            </a:r>
            <a:r>
              <a:rPr lang="zh-CN" altLang="en-US" sz="1400"/>
              <a:t>与题目目标的贴合度</a:t>
            </a:r>
            <a:endParaRPr lang="zh-CN" altLang="en-US" sz="1400"/>
          </a:p>
          <a:p>
            <a:pPr marL="0" indent="0">
              <a:buNone/>
            </a:pPr>
            <a:r>
              <a:rPr lang="en-US" altLang="zh-CN" sz="1400"/>
              <a:t>   - </a:t>
            </a:r>
            <a:r>
              <a:rPr lang="zh-CN" altLang="en-US" sz="1400"/>
              <a:t>对数据特征的利用程度</a:t>
            </a:r>
            <a:endParaRPr lang="zh-CN" altLang="en-US" sz="1400"/>
          </a:p>
          <a:p>
            <a:pPr marL="0" indent="0">
              <a:buNone/>
            </a:pPr>
            <a:r>
              <a:rPr lang="en-US" altLang="zh-CN" sz="1400"/>
              <a:t>   - </a:t>
            </a:r>
            <a:r>
              <a:rPr lang="zh-CN" altLang="en-US" sz="1400"/>
              <a:t>假设是否过强或过弱</a:t>
            </a:r>
            <a:endParaRPr lang="en-US" altLang="zh-CN" sz="1400"/>
          </a:p>
          <a:p>
            <a:pPr marL="0" indent="0">
              <a:buNone/>
            </a:pPr>
            <a:r>
              <a:rPr lang="en-US" altLang="zh-CN" sz="1400"/>
              <a:t>2. </a:t>
            </a:r>
            <a:r>
              <a:rPr lang="zh-CN" altLang="en-US" sz="1400"/>
              <a:t>提出至少</a:t>
            </a:r>
            <a:r>
              <a:rPr lang="en-US" altLang="zh-CN" sz="1400"/>
              <a:t> 3 </a:t>
            </a:r>
            <a:r>
              <a:rPr lang="zh-CN" altLang="en-US" sz="1400"/>
              <a:t>种可行的创新改进方向：</a:t>
            </a:r>
            <a:endParaRPr lang="zh-CN" altLang="en-US" sz="1400"/>
          </a:p>
          <a:p>
            <a:pPr marL="0" indent="0">
              <a:buNone/>
            </a:pPr>
            <a:r>
              <a:rPr lang="en-US" altLang="zh-CN" sz="1400"/>
              <a:t>   - </a:t>
            </a:r>
            <a:r>
              <a:rPr lang="zh-CN" altLang="en-US" sz="1400"/>
              <a:t>模型结构创新</a:t>
            </a:r>
            <a:endParaRPr lang="zh-CN" altLang="en-US" sz="1400"/>
          </a:p>
          <a:p>
            <a:pPr marL="0" indent="0">
              <a:buNone/>
            </a:pPr>
            <a:r>
              <a:rPr lang="en-US" altLang="zh-CN" sz="1400"/>
              <a:t>   - </a:t>
            </a:r>
            <a:r>
              <a:rPr lang="zh-CN" altLang="en-US" sz="1400"/>
              <a:t>参数或变量设计创新</a:t>
            </a:r>
            <a:endParaRPr lang="zh-CN" altLang="en-US" sz="1400"/>
          </a:p>
          <a:p>
            <a:pPr marL="0" indent="0">
              <a:buNone/>
            </a:pPr>
            <a:r>
              <a:rPr lang="en-US" altLang="zh-CN" sz="1400"/>
              <a:t>   - </a:t>
            </a:r>
            <a:r>
              <a:rPr lang="zh-CN" altLang="en-US" sz="1400"/>
              <a:t>多模型融合或对比</a:t>
            </a:r>
            <a:endParaRPr lang="en-US" altLang="zh-CN" sz="1400"/>
          </a:p>
          <a:p>
            <a:pPr marL="0" indent="0">
              <a:buNone/>
            </a:pPr>
            <a:r>
              <a:rPr lang="en-US" altLang="zh-CN" sz="1400"/>
              <a:t>3. </a:t>
            </a:r>
            <a:r>
              <a:rPr lang="zh-CN" altLang="en-US" sz="1400"/>
              <a:t>对每一种创新，请说明：</a:t>
            </a:r>
            <a:endParaRPr lang="zh-CN" altLang="en-US" sz="1400"/>
          </a:p>
          <a:p>
            <a:pPr marL="0" indent="0">
              <a:buNone/>
            </a:pPr>
            <a:r>
              <a:rPr lang="en-US" altLang="zh-CN" sz="1400"/>
              <a:t>   - </a:t>
            </a:r>
            <a:r>
              <a:rPr lang="zh-CN" altLang="en-US" sz="1400"/>
              <a:t>创新动机</a:t>
            </a:r>
            <a:endParaRPr lang="zh-CN" altLang="en-US" sz="1400"/>
          </a:p>
          <a:p>
            <a:pPr marL="0" indent="0">
              <a:buNone/>
            </a:pPr>
            <a:r>
              <a:rPr lang="en-US" altLang="zh-CN" sz="1400"/>
              <a:t>   - </a:t>
            </a:r>
            <a:r>
              <a:rPr lang="zh-CN" altLang="en-US" sz="1400"/>
              <a:t>评委是否容易理解</a:t>
            </a:r>
            <a:endParaRPr lang="zh-CN" altLang="en-US" sz="1400"/>
          </a:p>
          <a:p>
            <a:pPr marL="0" indent="0">
              <a:buNone/>
            </a:pPr>
            <a:r>
              <a:rPr lang="en-US" altLang="zh-CN" sz="1400"/>
              <a:t>   - </a:t>
            </a:r>
            <a:r>
              <a:rPr lang="zh-CN" altLang="en-US" sz="1400"/>
              <a:t>是否增加不必要风险</a:t>
            </a:r>
            <a:endParaRPr lang="zh-CN" altLang="en-US" sz="1400"/>
          </a:p>
          <a:p>
            <a:pPr marL="0" indent="0">
              <a:buNone/>
            </a:pPr>
            <a:endParaRPr lang="zh-CN" altLang="en-US" sz="1400"/>
          </a:p>
        </p:txBody>
      </p:sp>
    </p:spTree>
    <p:custDataLst>
      <p:tags r:id="rId3"/>
    </p:custData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sz="quarter" idx="13"/>
            <p:custDataLst>
              <p:tags r:id="rId1"/>
            </p:custDataLst>
          </p:nvPr>
        </p:nvSpPr>
        <p:spPr/>
        <p:txBody>
          <a:bodyPr>
            <a:noAutofit/>
          </a:bodyPr>
          <a:p>
            <a:pPr marL="0" indent="0">
              <a:buNone/>
            </a:pPr>
            <a:r>
              <a:rPr lang="zh-CN" altLang="en-US" sz="1300"/>
              <a:t>参数</a:t>
            </a:r>
            <a:endParaRPr lang="en-US" altLang="zh-CN" sz="1300"/>
          </a:p>
          <a:p>
            <a:pPr marL="0" indent="0">
              <a:buNone/>
            </a:pPr>
            <a:r>
              <a:rPr lang="en-US" altLang="zh-CN" sz="1300"/>
              <a:t>ZINB</a:t>
            </a:r>
            <a:r>
              <a:rPr lang="zh-CN" altLang="en-US" sz="1300"/>
              <a:t>继承</a:t>
            </a:r>
            <a:r>
              <a:rPr lang="en-US" altLang="zh-CN" sz="1300"/>
              <a:t> (2024/2010/2004)</a:t>
            </a:r>
            <a:r>
              <a:rPr lang="zh-CN" altLang="en-US" sz="1300"/>
              <a:t>：</a:t>
            </a:r>
            <a:r>
              <a:rPr lang="en-US" altLang="zh-CN" sz="1300"/>
              <a:t>β1</a:t>
            </a:r>
            <a:r>
              <a:rPr lang="zh-CN" altLang="en-US" sz="1300"/>
              <a:t>滞后</a:t>
            </a:r>
            <a:r>
              <a:rPr lang="en-US" altLang="zh-CN" sz="1300"/>
              <a:t>≈0.7-0.8*</a:t>
            </a:r>
            <a:r>
              <a:rPr lang="zh-CN" altLang="en-US" sz="1300"/>
              <a:t>；</a:t>
            </a:r>
            <a:r>
              <a:rPr lang="en-US" altLang="zh-CN" sz="1300"/>
              <a:t>β3 Host≈0.01-0.02 (2%</a:t>
            </a:r>
            <a:r>
              <a:rPr lang="zh-CN" altLang="en-US" sz="1300"/>
              <a:t>份额</a:t>
            </a:r>
            <a:r>
              <a:rPr lang="en-US" altLang="zh-CN" sz="1300"/>
              <a:t>)</a:t>
            </a:r>
            <a:r>
              <a:rPr lang="zh-CN" altLang="en-US" sz="1300"/>
              <a:t>；</a:t>
            </a:r>
            <a:r>
              <a:rPr lang="en-US" altLang="zh-CN" sz="1300"/>
              <a:t>γ2</a:t>
            </a:r>
            <a:r>
              <a:rPr lang="zh-CN" altLang="en-US" sz="1300"/>
              <a:t>运动员类递增</a:t>
            </a:r>
            <a:r>
              <a:rPr lang="en-US" altLang="zh-CN" sz="1300"/>
              <a:t> (</a:t>
            </a:r>
            <a:r>
              <a:rPr lang="zh-CN" altLang="en-US" sz="1300"/>
              <a:t>基准</a:t>
            </a:r>
            <a:r>
              <a:rPr lang="en-US" altLang="zh-CN" sz="1300"/>
              <a:t>0-9)</a:t>
            </a:r>
            <a:r>
              <a:rPr lang="zh-CN" altLang="en-US" sz="1300"/>
              <a:t>；</a:t>
            </a:r>
            <a:r>
              <a:rPr lang="en-US" altLang="zh-CN" sz="1300"/>
              <a:t>γ5</a:t>
            </a:r>
            <a:r>
              <a:rPr lang="zh-CN" altLang="en-US" sz="1300"/>
              <a:t>亲和</a:t>
            </a:r>
            <a:r>
              <a:rPr lang="en-US" altLang="zh-CN" sz="1300"/>
              <a:t>&gt;0</a:t>
            </a:r>
            <a:r>
              <a:rPr lang="zh-CN" altLang="en-US" sz="1300"/>
              <a:t>。固定效应</a:t>
            </a:r>
            <a:r>
              <a:rPr lang="en-US" altLang="zh-CN" sz="1300"/>
              <a:t> θ_t (</a:t>
            </a:r>
            <a:r>
              <a:rPr lang="zh-CN" altLang="en-US" sz="1300"/>
              <a:t>年</a:t>
            </a:r>
            <a:r>
              <a:rPr lang="en-US" altLang="zh-CN" sz="1300"/>
              <a:t>)</a:t>
            </a:r>
            <a:r>
              <a:rPr lang="zh-CN" altLang="en-US" sz="1300"/>
              <a:t>、</a:t>
            </a:r>
            <a:r>
              <a:rPr lang="en-US" altLang="zh-CN" sz="1300"/>
              <a:t>δ_j (sport)</a:t>
            </a:r>
            <a:r>
              <a:rPr lang="zh-CN" altLang="en-US" sz="1300"/>
              <a:t>。</a:t>
            </a:r>
            <a:endParaRPr lang="zh-CN" altLang="en-US" sz="1300"/>
          </a:p>
          <a:p>
            <a:pPr marL="0" indent="0">
              <a:buNone/>
            </a:pPr>
            <a:r>
              <a:rPr lang="en-US" altLang="zh-CN" sz="1300"/>
              <a:t>SCM (2016 Spirit)</a:t>
            </a:r>
            <a:r>
              <a:rPr lang="zh-CN" altLang="en-US" sz="1300"/>
              <a:t>：</a:t>
            </a:r>
            <a:r>
              <a:rPr lang="en-US" altLang="zh-CN" sz="1300"/>
              <a:t>w</a:t>
            </a:r>
            <a:r>
              <a:rPr lang="zh-CN" altLang="en-US" sz="1300"/>
              <a:t>凸</a:t>
            </a:r>
            <a:r>
              <a:rPr lang="en-US" altLang="zh-CN" sz="1300"/>
              <a:t> (e.g., </a:t>
            </a:r>
            <a:r>
              <a:rPr lang="zh-CN" altLang="en-US" sz="1300"/>
              <a:t>类似国</a:t>
            </a:r>
            <a:r>
              <a:rPr lang="en-US" altLang="zh-CN" sz="1300"/>
              <a:t>0.3-0.5)</a:t>
            </a:r>
            <a:r>
              <a:rPr lang="zh-CN" altLang="en-US" sz="1300"/>
              <a:t>；</a:t>
            </a:r>
            <a:r>
              <a:rPr lang="en-US" altLang="zh-CN" sz="1300"/>
              <a:t>α≈+3-10</a:t>
            </a:r>
            <a:r>
              <a:rPr lang="zh-CN" altLang="en-US" sz="1300"/>
              <a:t>枚衰减。</a:t>
            </a:r>
            <a:endParaRPr lang="zh-CN" altLang="en-US" sz="1300"/>
          </a:p>
          <a:p>
            <a:pPr marL="0" indent="0">
              <a:buNone/>
            </a:pPr>
            <a:r>
              <a:rPr lang="en-US" altLang="zh-CN" sz="1300"/>
              <a:t>NMF</a:t>
            </a:r>
            <a:r>
              <a:rPr lang="zh-CN" altLang="en-US" sz="1300"/>
              <a:t>：秩</a:t>
            </a:r>
            <a:r>
              <a:rPr lang="en-US" altLang="zh-CN" sz="1300"/>
              <a:t>k=5 (sport</a:t>
            </a:r>
            <a:r>
              <a:rPr lang="zh-CN" altLang="en-US" sz="1300"/>
              <a:t>群，如水上</a:t>
            </a:r>
            <a:r>
              <a:rPr lang="en-US" altLang="zh-CN" sz="1300"/>
              <a:t>/</a:t>
            </a:r>
            <a:r>
              <a:rPr lang="zh-CN" altLang="en-US" sz="1300"/>
              <a:t>田径</a:t>
            </a:r>
            <a:r>
              <a:rPr lang="en-US" altLang="zh-CN" sz="1300"/>
              <a:t>)</a:t>
            </a:r>
            <a:r>
              <a:rPr lang="zh-CN" altLang="en-US" sz="1300"/>
              <a:t>；因子载荷</a:t>
            </a:r>
            <a:r>
              <a:rPr lang="en-US" altLang="zh-CN" sz="1300"/>
              <a:t>top3</a:t>
            </a:r>
            <a:r>
              <a:rPr lang="zh-CN" altLang="en-US" sz="1300"/>
              <a:t>定义重要</a:t>
            </a:r>
            <a:r>
              <a:rPr lang="en-US" altLang="zh-CN" sz="1300"/>
              <a:t>sport</a:t>
            </a:r>
            <a:r>
              <a:rPr lang="zh-CN" altLang="en-US" sz="1300"/>
              <a:t>。</a:t>
            </a:r>
            <a:endParaRPr lang="zh-CN" altLang="en-US" sz="1300"/>
          </a:p>
          <a:p>
            <a:pPr marL="0" indent="0">
              <a:buNone/>
            </a:pPr>
            <a:r>
              <a:rPr lang="zh-CN" altLang="en-US" sz="1300"/>
              <a:t>不确定：</a:t>
            </a:r>
            <a:r>
              <a:rPr lang="en-US" altLang="zh-CN" sz="1300"/>
              <a:t>MC</a:t>
            </a:r>
            <a:r>
              <a:rPr lang="zh-CN" altLang="en-US" sz="1300"/>
              <a:t>模拟</a:t>
            </a:r>
            <a:r>
              <a:rPr lang="en-US" altLang="zh-CN" sz="1300"/>
              <a:t> (1000) </a:t>
            </a:r>
            <a:r>
              <a:rPr lang="zh-CN" altLang="en-US" sz="1300"/>
              <a:t>给</a:t>
            </a:r>
            <a:r>
              <a:rPr lang="en-US" altLang="zh-CN" sz="1300"/>
              <a:t>95%</a:t>
            </a:r>
            <a:r>
              <a:rPr lang="zh-CN" altLang="en-US" sz="1300"/>
              <a:t>区间</a:t>
            </a:r>
            <a:r>
              <a:rPr lang="en-US" altLang="zh-CN" sz="1300"/>
              <a:t>/</a:t>
            </a:r>
            <a:r>
              <a:rPr lang="zh-CN" altLang="en-US" sz="1300"/>
              <a:t>概率</a:t>
            </a:r>
            <a:r>
              <a:rPr lang="en-US" altLang="zh-CN" sz="1300"/>
              <a:t> (e.g., </a:t>
            </a:r>
            <a:r>
              <a:rPr lang="zh-CN" altLang="en-US" sz="1300"/>
              <a:t>首次</a:t>
            </a:r>
            <a:r>
              <a:rPr lang="en-US" altLang="zh-CN" sz="1300"/>
              <a:t>p=1-π)</a:t>
            </a:r>
            <a:r>
              <a:rPr lang="zh-CN" altLang="en-US" sz="1300"/>
              <a:t>。</a:t>
            </a:r>
            <a:endParaRPr lang="en-US" altLang="zh-CN" sz="1300"/>
          </a:p>
          <a:p>
            <a:pPr marL="0" indent="0">
              <a:buNone/>
            </a:pPr>
            <a:r>
              <a:rPr lang="zh-CN" altLang="en-US" sz="1300"/>
              <a:t>使用的数据创新性改造</a:t>
            </a:r>
            <a:endParaRPr lang="en-US" altLang="zh-CN" sz="1300"/>
          </a:p>
          <a:p>
            <a:pPr marL="0" indent="0">
              <a:buNone/>
            </a:pPr>
            <a:r>
              <a:rPr lang="zh-CN" altLang="en-US" sz="1300"/>
              <a:t>聚合：运动员份额</a:t>
            </a:r>
            <a:r>
              <a:rPr lang="en-US" altLang="zh-CN" sz="1300"/>
              <a:t> = athletes.csv</a:t>
            </a:r>
            <a:r>
              <a:rPr lang="zh-CN" altLang="en-US" sz="1300"/>
              <a:t>国家计数</a:t>
            </a:r>
            <a:r>
              <a:rPr lang="en-US" altLang="zh-CN" sz="1300"/>
              <a:t> / </a:t>
            </a:r>
            <a:r>
              <a:rPr lang="zh-CN" altLang="en-US" sz="1300"/>
              <a:t>全球总</a:t>
            </a:r>
            <a:r>
              <a:rPr lang="en-US" altLang="zh-CN" sz="1300"/>
              <a:t> (</a:t>
            </a:r>
            <a:r>
              <a:rPr lang="zh-CN" altLang="en-US" sz="1300"/>
              <a:t>代理</a:t>
            </a:r>
            <a:r>
              <a:rPr lang="en-US" altLang="zh-CN" sz="1300"/>
              <a:t>gdpshare/popshare)</a:t>
            </a:r>
            <a:r>
              <a:rPr lang="zh-CN" altLang="en-US" sz="1300"/>
              <a:t>。亲和矩阵</a:t>
            </a:r>
            <a:r>
              <a:rPr lang="en-US" altLang="zh-CN" sz="1300"/>
              <a:t> = medal_counts</a:t>
            </a:r>
            <a:r>
              <a:rPr lang="zh-CN" altLang="en-US" sz="1300"/>
              <a:t>得牌</a:t>
            </a:r>
            <a:r>
              <a:rPr lang="en-US" altLang="zh-CN" sz="1300"/>
              <a:t> / programs</a:t>
            </a:r>
            <a:r>
              <a:rPr lang="zh-CN" altLang="en-US" sz="1300"/>
              <a:t>事件</a:t>
            </a:r>
            <a:r>
              <a:rPr lang="en-US" altLang="zh-CN" sz="1300"/>
              <a:t> (</a:t>
            </a:r>
            <a:r>
              <a:rPr lang="zh-CN" altLang="en-US" sz="1300"/>
              <a:t>国家</a:t>
            </a:r>
            <a:r>
              <a:rPr lang="en-US" altLang="zh-CN" sz="1300"/>
              <a:t>-sport</a:t>
            </a:r>
            <a:r>
              <a:rPr lang="zh-CN" altLang="en-US" sz="1300"/>
              <a:t>面板</a:t>
            </a:r>
            <a:r>
              <a:rPr lang="en-US" altLang="zh-CN" sz="1300"/>
              <a:t>)</a:t>
            </a:r>
            <a:r>
              <a:rPr lang="zh-CN" altLang="en-US" sz="1300"/>
              <a:t>。</a:t>
            </a:r>
            <a:endParaRPr lang="zh-CN" altLang="en-US" sz="1300"/>
          </a:p>
          <a:p>
            <a:pPr marL="0" indent="0">
              <a:buNone/>
            </a:pPr>
            <a:r>
              <a:rPr lang="zh-CN" altLang="en-US" sz="1300"/>
              <a:t>流动网络：</a:t>
            </a:r>
            <a:r>
              <a:rPr lang="en-US" altLang="zh-CN" sz="1300"/>
              <a:t>athletes.csv Team/country</a:t>
            </a:r>
            <a:r>
              <a:rPr lang="zh-CN" altLang="en-US" sz="1300"/>
              <a:t>变化</a:t>
            </a:r>
            <a:r>
              <a:rPr lang="en-US" altLang="zh-CN" sz="1300"/>
              <a:t> &gt;</a:t>
            </a:r>
            <a:r>
              <a:rPr lang="zh-CN" altLang="en-US" sz="1300"/>
              <a:t>阈值</a:t>
            </a:r>
            <a:r>
              <a:rPr lang="en-US" altLang="zh-CN" sz="1300"/>
              <a:t> (e.g., 5) </a:t>
            </a:r>
            <a:r>
              <a:rPr lang="zh-CN" altLang="en-US" sz="1300"/>
              <a:t>作为教练事件</a:t>
            </a:r>
            <a:r>
              <a:rPr lang="en-US" altLang="zh-CN" sz="1300"/>
              <a:t> (</a:t>
            </a:r>
            <a:r>
              <a:rPr lang="zh-CN" altLang="en-US" sz="1300"/>
              <a:t>代理</a:t>
            </a:r>
            <a:r>
              <a:rPr lang="en-US" altLang="zh-CN" sz="1300"/>
              <a:t>2016</a:t>
            </a:r>
            <a:r>
              <a:rPr lang="zh-CN" altLang="en-US" sz="1300"/>
              <a:t>比例</a:t>
            </a:r>
            <a:r>
              <a:rPr lang="en-US" altLang="zh-CN" sz="1300"/>
              <a:t>)</a:t>
            </a:r>
            <a:r>
              <a:rPr lang="zh-CN" altLang="en-US" sz="1300"/>
              <a:t>。</a:t>
            </a:r>
            <a:endParaRPr lang="zh-CN" altLang="en-US" sz="1300"/>
          </a:p>
          <a:p>
            <a:pPr marL="0" indent="0">
              <a:buNone/>
            </a:pPr>
            <a:r>
              <a:rPr lang="en-US" altLang="zh-CN" sz="1300"/>
              <a:t>2028</a:t>
            </a:r>
            <a:r>
              <a:rPr lang="zh-CN" altLang="en-US" sz="1300"/>
              <a:t>外推：项目</a:t>
            </a:r>
            <a:r>
              <a:rPr lang="en-US" altLang="zh-CN" sz="1300"/>
              <a:t>+5%</a:t>
            </a:r>
            <a:r>
              <a:rPr lang="zh-CN" altLang="en-US" sz="1300"/>
              <a:t>均</a:t>
            </a:r>
            <a:r>
              <a:rPr lang="en-US" altLang="zh-CN" sz="1300"/>
              <a:t> (programs</a:t>
            </a:r>
            <a:r>
              <a:rPr lang="zh-CN" altLang="en-US" sz="1300"/>
              <a:t>趋势</a:t>
            </a:r>
            <a:r>
              <a:rPr lang="en-US" altLang="zh-CN" sz="1300"/>
              <a:t>)</a:t>
            </a:r>
            <a:r>
              <a:rPr lang="zh-CN" altLang="en-US" sz="1300"/>
              <a:t>；</a:t>
            </a:r>
            <a:r>
              <a:rPr lang="en-US" altLang="zh-CN" sz="1300"/>
              <a:t>USA</a:t>
            </a:r>
            <a:r>
              <a:rPr lang="zh-CN" altLang="en-US" sz="1300"/>
              <a:t>主机偏好</a:t>
            </a:r>
            <a:r>
              <a:rPr lang="en-US" altLang="zh-CN" sz="1300"/>
              <a:t> (</a:t>
            </a:r>
            <a:r>
              <a:rPr lang="zh-CN" altLang="en-US" sz="1300"/>
              <a:t>历史新增如棒球，从</a:t>
            </a:r>
            <a:r>
              <a:rPr lang="en-US" altLang="zh-CN" sz="1300"/>
              <a:t>programs)</a:t>
            </a:r>
            <a:r>
              <a:rPr lang="zh-CN" altLang="en-US" sz="1300"/>
              <a:t>。</a:t>
            </a:r>
            <a:endParaRPr lang="en-US" altLang="zh-CN" sz="1300"/>
          </a:p>
          <a:p>
            <a:pPr marL="0" indent="0">
              <a:buNone/>
            </a:pPr>
            <a:r>
              <a:rPr lang="zh-CN" altLang="en-US" sz="1300"/>
              <a:t>匹配的假设条件</a:t>
            </a:r>
            <a:endParaRPr lang="en-US" altLang="zh-CN" sz="1300"/>
          </a:p>
          <a:p>
            <a:pPr marL="0" indent="0">
              <a:buNone/>
            </a:pPr>
            <a:r>
              <a:rPr lang="zh-CN" altLang="en-US" sz="1300"/>
              <a:t>滞后持久</a:t>
            </a:r>
            <a:r>
              <a:rPr lang="en-US" altLang="zh-CN" sz="1300"/>
              <a:t>0.7</a:t>
            </a:r>
            <a:r>
              <a:rPr lang="zh-CN" altLang="en-US" sz="1300"/>
              <a:t>；主机异质</a:t>
            </a:r>
            <a:r>
              <a:rPr lang="en-US" altLang="zh-CN" sz="1300"/>
              <a:t>2% + </a:t>
            </a:r>
            <a:r>
              <a:rPr lang="zh-CN" altLang="en-US" sz="1300"/>
              <a:t>溢出</a:t>
            </a:r>
            <a:r>
              <a:rPr lang="en-US" altLang="zh-CN" sz="1300"/>
              <a:t>0.01 (</a:t>
            </a:r>
            <a:r>
              <a:rPr lang="zh-CN" altLang="en-US" sz="1300"/>
              <a:t>衰减</a:t>
            </a:r>
            <a:r>
              <a:rPr lang="en-US" altLang="zh-CN" sz="1300"/>
              <a:t>2</a:t>
            </a:r>
            <a:r>
              <a:rPr lang="zh-CN" altLang="en-US" sz="1300"/>
              <a:t>届</a:t>
            </a:r>
            <a:r>
              <a:rPr lang="en-US" altLang="zh-CN" sz="1300"/>
              <a:t>)</a:t>
            </a:r>
            <a:r>
              <a:rPr lang="zh-CN" altLang="en-US" sz="1300"/>
              <a:t>；首次概率与运动员</a:t>
            </a:r>
            <a:r>
              <a:rPr lang="en-US" altLang="zh-CN" sz="1300"/>
              <a:t>&gt;10</a:t>
            </a:r>
            <a:r>
              <a:rPr lang="zh-CN" altLang="en-US" sz="1300"/>
              <a:t>相关</a:t>
            </a:r>
            <a:r>
              <a:rPr lang="en-US" altLang="zh-CN" sz="1300"/>
              <a:t> (0.05</a:t>
            </a:r>
            <a:r>
              <a:rPr lang="zh-CN" altLang="en-US" sz="1300"/>
              <a:t>基，小国高</a:t>
            </a:r>
            <a:r>
              <a:rPr lang="en-US" altLang="zh-CN" sz="1300"/>
              <a:t>)</a:t>
            </a:r>
            <a:r>
              <a:rPr lang="zh-CN" altLang="en-US" sz="1300"/>
              <a:t>；教练</a:t>
            </a:r>
            <a:r>
              <a:rPr lang="en-US" altLang="zh-CN" sz="1300"/>
              <a:t>+3</a:t>
            </a:r>
            <a:r>
              <a:rPr lang="zh-CN" altLang="en-US" sz="1300"/>
              <a:t>枚</a:t>
            </a:r>
            <a:r>
              <a:rPr lang="en-US" altLang="zh-CN" sz="1300"/>
              <a:t>/</a:t>
            </a:r>
            <a:r>
              <a:rPr lang="zh-CN" altLang="en-US" sz="1300"/>
              <a:t>项目，滞后</a:t>
            </a:r>
            <a:r>
              <a:rPr lang="en-US" altLang="zh-CN" sz="1300"/>
              <a:t>1</a:t>
            </a:r>
            <a:r>
              <a:rPr lang="zh-CN" altLang="en-US" sz="1300"/>
              <a:t>届半衰；项目增加边际递减</a:t>
            </a:r>
            <a:r>
              <a:rPr lang="en-US" altLang="zh-CN" sz="1300"/>
              <a:t> (</a:t>
            </a:r>
            <a:r>
              <a:rPr lang="zh-CN" altLang="en-US" sz="1300"/>
              <a:t>亲和</a:t>
            </a:r>
            <a:r>
              <a:rPr lang="en-US" altLang="zh-CN" sz="1300"/>
              <a:t>&lt;1)</a:t>
            </a:r>
            <a:r>
              <a:rPr lang="zh-CN" altLang="en-US" sz="1300"/>
              <a:t>；忽略黑天鹅，</a:t>
            </a:r>
            <a:r>
              <a:rPr lang="en-US" altLang="zh-CN" sz="1300"/>
              <a:t>IOC</a:t>
            </a:r>
            <a:r>
              <a:rPr lang="zh-CN" altLang="en-US" sz="1300"/>
              <a:t>代码一致。</a:t>
            </a:r>
            <a:endParaRPr lang="zh-CN" altLang="en-US" sz="1300"/>
          </a:p>
        </p:txBody>
      </p:sp>
    </p:spTree>
    <p:custDataLst>
      <p:tags r:id="rId2"/>
    </p:custData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t>1. </a:t>
            </a:r>
            <a:r>
              <a:rPr lang="zh-CN" altLang="en-US"/>
              <a:t>现有模型评估</a:t>
            </a:r>
            <a:endParaRPr lang="zh-CN" altLang="en-US"/>
          </a:p>
        </p:txBody>
      </p:sp>
      <p:sp>
        <p:nvSpPr>
          <p:cNvPr id="3" name="内容占位符 2"/>
          <p:cNvSpPr>
            <a:spLocks noGrp="1"/>
          </p:cNvSpPr>
          <p:nvPr>
            <p:ph idx="1"/>
            <p:custDataLst>
              <p:tags r:id="rId2"/>
            </p:custDataLst>
          </p:nvPr>
        </p:nvSpPr>
        <p:spPr/>
        <p:txBody>
          <a:bodyPr>
            <a:normAutofit fontScale="80000"/>
          </a:bodyPr>
          <a:p>
            <a:pPr marL="0" indent="0">
              <a:buNone/>
            </a:pPr>
            <a:r>
              <a:rPr lang="zh-CN" altLang="en-US"/>
              <a:t>基于之前的最终模型框架（层次</a:t>
            </a:r>
            <a:r>
              <a:rPr lang="en-US" altLang="zh-CN"/>
              <a:t>ZINB</a:t>
            </a:r>
            <a:r>
              <a:rPr lang="zh-CN" altLang="en-US"/>
              <a:t>为核心，整合</a:t>
            </a:r>
            <a:r>
              <a:rPr lang="en-US" altLang="zh-CN"/>
              <a:t>NMF</a:t>
            </a:r>
            <a:r>
              <a:rPr lang="zh-CN" altLang="en-US"/>
              <a:t>项目匹配、</a:t>
            </a:r>
            <a:r>
              <a:rPr lang="en-US" altLang="zh-CN"/>
              <a:t>SCM</a:t>
            </a:r>
            <a:r>
              <a:rPr lang="zh-CN" altLang="en-US"/>
              <a:t>教练因果、</a:t>
            </a:r>
            <a:r>
              <a:rPr lang="en-US" altLang="zh-CN"/>
              <a:t>SEM</a:t>
            </a:r>
            <a:r>
              <a:rPr lang="zh-CN" altLang="en-US"/>
              <a:t>洞见；参考论文如</a:t>
            </a:r>
            <a:r>
              <a:rPr lang="en-US" altLang="zh-CN"/>
              <a:t>2022 Scientific Reports</a:t>
            </a:r>
            <a:r>
              <a:rPr lang="zh-CN" altLang="en-US"/>
              <a:t>的</a:t>
            </a:r>
            <a:r>
              <a:rPr lang="en-US" altLang="zh-CN"/>
              <a:t>ZINB</a:t>
            </a:r>
            <a:r>
              <a:rPr lang="zh-CN" altLang="en-US"/>
              <a:t>、</a:t>
            </a:r>
            <a:r>
              <a:rPr lang="en-US" altLang="zh-CN"/>
              <a:t>2024 Social Science Quarterly</a:t>
            </a:r>
            <a:r>
              <a:rPr lang="zh-CN" altLang="en-US"/>
              <a:t>的</a:t>
            </a:r>
            <a:r>
              <a:rPr lang="en-US" altLang="zh-CN"/>
              <a:t>ZIB</a:t>
            </a:r>
            <a:r>
              <a:rPr lang="zh-CN" altLang="en-US"/>
              <a:t>、</a:t>
            </a:r>
            <a:r>
              <a:rPr lang="en-US" altLang="zh-CN"/>
              <a:t>2016 Spirit</a:t>
            </a:r>
            <a:r>
              <a:rPr lang="zh-CN" altLang="en-US"/>
              <a:t>的</a:t>
            </a:r>
            <a:r>
              <a:rPr lang="en-US" altLang="zh-CN"/>
              <a:t>SCM</a:t>
            </a:r>
            <a:r>
              <a:rPr lang="zh-CN" altLang="en-US"/>
              <a:t>等），从指定角度评估。模型整体针对</a:t>
            </a:r>
            <a:r>
              <a:rPr lang="en-US" altLang="zh-CN"/>
              <a:t>MCM C</a:t>
            </a:r>
            <a:r>
              <a:rPr lang="zh-CN" altLang="en-US"/>
              <a:t>题（奥运奖牌预测、首次得牌、项目</a:t>
            </a:r>
            <a:r>
              <a:rPr lang="en-US" altLang="zh-CN"/>
              <a:t>/</a:t>
            </a:r>
            <a:r>
              <a:rPr lang="zh-CN" altLang="en-US"/>
              <a:t>主机效应、教练效应、洞见），使用提供数据（</a:t>
            </a:r>
            <a:r>
              <a:rPr lang="en-US" altLang="zh-CN"/>
              <a:t>athletes.csv</a:t>
            </a:r>
            <a:r>
              <a:rPr lang="zh-CN" altLang="en-US"/>
              <a:t>、</a:t>
            </a:r>
            <a:r>
              <a:rPr lang="en-US" altLang="zh-CN"/>
              <a:t>medal_counts.csv</a:t>
            </a:r>
            <a:r>
              <a:rPr lang="zh-CN" altLang="en-US"/>
              <a:t>、</a:t>
            </a:r>
            <a:r>
              <a:rPr lang="en-US" altLang="zh-CN"/>
              <a:t>hosts.csv</a:t>
            </a:r>
            <a:r>
              <a:rPr lang="zh-CN" altLang="en-US"/>
              <a:t>、</a:t>
            </a:r>
            <a:r>
              <a:rPr lang="en-US" altLang="zh-CN"/>
              <a:t>programs.csv</a:t>
            </a:r>
            <a:r>
              <a:rPr lang="zh-CN" altLang="en-US"/>
              <a:t>）。</a:t>
            </a:r>
            <a:endParaRPr lang="en-US" altLang="zh-CN"/>
          </a:p>
          <a:p>
            <a:pPr marL="0" indent="0">
              <a:buNone/>
            </a:pPr>
            <a:r>
              <a:rPr lang="zh-CN" altLang="en-US"/>
              <a:t>与题目目标的贴合度：高（</a:t>
            </a:r>
            <a:r>
              <a:rPr lang="en-US" altLang="zh-CN"/>
              <a:t>85%</a:t>
            </a:r>
            <a:r>
              <a:rPr lang="zh-CN" altLang="en-US"/>
              <a:t>）。模型直接覆盖所有子问题：</a:t>
            </a:r>
            <a:r>
              <a:rPr lang="en-US" altLang="zh-CN"/>
              <a:t>ZINB</a:t>
            </a:r>
            <a:r>
              <a:rPr lang="zh-CN" altLang="en-US"/>
              <a:t>处理金</a:t>
            </a:r>
            <a:r>
              <a:rPr lang="en-US" altLang="zh-CN"/>
              <a:t>/</a:t>
            </a:r>
            <a:r>
              <a:rPr lang="zh-CN" altLang="en-US"/>
              <a:t>总牌计数与不确定性（子</a:t>
            </a:r>
            <a:r>
              <a:rPr lang="en-US" altLang="zh-CN"/>
              <a:t>1/2</a:t>
            </a:r>
            <a:r>
              <a:rPr lang="zh-CN" altLang="en-US"/>
              <a:t>）；零膨胀部分适配首次得牌概率</a:t>
            </a:r>
            <a:r>
              <a:rPr lang="en-US" altLang="zh-CN"/>
              <a:t>/</a:t>
            </a:r>
            <a:r>
              <a:rPr lang="zh-CN" altLang="en-US"/>
              <a:t>数量（子</a:t>
            </a:r>
            <a:r>
              <a:rPr lang="en-US" altLang="zh-CN"/>
              <a:t>3</a:t>
            </a:r>
            <a:r>
              <a:rPr lang="zh-CN" altLang="en-US"/>
              <a:t>）；</a:t>
            </a:r>
            <a:r>
              <a:rPr lang="en-US" altLang="zh-CN"/>
              <a:t>FE + NMF</a:t>
            </a:r>
            <a:r>
              <a:rPr lang="zh-CN" altLang="en-US"/>
              <a:t>捕捉项目关系</a:t>
            </a:r>
            <a:r>
              <a:rPr lang="en-US" altLang="zh-CN"/>
              <a:t>/</a:t>
            </a:r>
            <a:r>
              <a:rPr lang="zh-CN" altLang="en-US"/>
              <a:t>主机溢出（子</a:t>
            </a:r>
            <a:r>
              <a:rPr lang="en-US" altLang="zh-CN"/>
              <a:t>4</a:t>
            </a:r>
            <a:r>
              <a:rPr lang="zh-CN" altLang="en-US"/>
              <a:t>）；</a:t>
            </a:r>
            <a:r>
              <a:rPr lang="en-US" altLang="zh-CN"/>
              <a:t>SCM</a:t>
            </a:r>
            <a:r>
              <a:rPr lang="zh-CN" altLang="en-US"/>
              <a:t>量化教练贡献</a:t>
            </a:r>
            <a:r>
              <a:rPr lang="en-US" altLang="zh-CN"/>
              <a:t>/</a:t>
            </a:r>
            <a:r>
              <a:rPr lang="zh-CN" altLang="en-US"/>
              <a:t>推荐（子</a:t>
            </a:r>
            <a:r>
              <a:rPr lang="en-US" altLang="zh-CN"/>
              <a:t>5</a:t>
            </a:r>
            <a:r>
              <a:rPr lang="zh-CN" altLang="en-US"/>
              <a:t>）；</a:t>
            </a:r>
            <a:r>
              <a:rPr lang="en-US" altLang="zh-CN"/>
              <a:t>SEM</a:t>
            </a:r>
            <a:r>
              <a:rPr lang="zh-CN" altLang="en-US"/>
              <a:t>提供政策洞见（子</a:t>
            </a:r>
            <a:r>
              <a:rPr lang="en-US" altLang="zh-CN"/>
              <a:t>6</a:t>
            </a:r>
            <a:r>
              <a:rPr lang="zh-CN" altLang="en-US"/>
              <a:t>）。贴合强于预测（</a:t>
            </a:r>
            <a:r>
              <a:rPr lang="en-US" altLang="zh-CN"/>
              <a:t>2028</a:t>
            </a:r>
            <a:r>
              <a:rPr lang="zh-CN" altLang="en-US"/>
              <a:t>区间</a:t>
            </a:r>
            <a:r>
              <a:rPr lang="en-US" altLang="zh-CN"/>
              <a:t>/</a:t>
            </a:r>
            <a:r>
              <a:rPr lang="zh-CN" altLang="en-US"/>
              <a:t>改进判断）和因果（教练</a:t>
            </a:r>
            <a:r>
              <a:rPr lang="en-US" altLang="zh-CN"/>
              <a:t>/</a:t>
            </a:r>
            <a:r>
              <a:rPr lang="zh-CN" altLang="en-US"/>
              <a:t>主机），但对</a:t>
            </a:r>
            <a:r>
              <a:rPr lang="en-US" altLang="zh-CN"/>
              <a:t>“</a:t>
            </a:r>
            <a:r>
              <a:rPr lang="zh-CN" altLang="en-US"/>
              <a:t>赔率</a:t>
            </a:r>
            <a:r>
              <a:rPr lang="en-US" altLang="zh-CN"/>
              <a:t>”</a:t>
            </a:r>
            <a:r>
              <a:rPr lang="zh-CN" altLang="en-US"/>
              <a:t>仅用模拟，未精确匹配题目</a:t>
            </a:r>
            <a:r>
              <a:rPr lang="en-US" altLang="zh-CN"/>
              <a:t>“odds”</a:t>
            </a:r>
            <a:r>
              <a:rPr lang="zh-CN" altLang="en-US"/>
              <a:t>要求，可能略弱。</a:t>
            </a:r>
            <a:endParaRPr lang="zh-CN" altLang="en-US"/>
          </a:p>
          <a:p>
            <a:pPr marL="0" indent="0">
              <a:buNone/>
            </a:pPr>
            <a:r>
              <a:rPr lang="zh-CN" altLang="en-US"/>
              <a:t>对数据特征的利用程度：中高（</a:t>
            </a:r>
            <a:r>
              <a:rPr lang="en-US" altLang="zh-CN"/>
              <a:t>75%</a:t>
            </a:r>
            <a:r>
              <a:rPr lang="zh-CN" altLang="en-US"/>
              <a:t>）。充分利用内部数据：聚合运动员份额代理资源（</a:t>
            </a:r>
            <a:r>
              <a:rPr lang="en-US" altLang="zh-CN"/>
              <a:t>athletes.csv</a:t>
            </a:r>
            <a:r>
              <a:rPr lang="zh-CN" altLang="en-US"/>
              <a:t>）、项目亲和矩阵（</a:t>
            </a:r>
            <a:r>
              <a:rPr lang="en-US" altLang="zh-CN"/>
              <a:t>programs.csv + medal_counts.csv</a:t>
            </a:r>
            <a:r>
              <a:rPr lang="zh-CN" altLang="en-US"/>
              <a:t>）、流动网络（</a:t>
            </a:r>
            <a:r>
              <a:rPr lang="en-US" altLang="zh-CN"/>
              <a:t>athletes Team</a:t>
            </a:r>
            <a:r>
              <a:rPr lang="zh-CN" altLang="en-US"/>
              <a:t>变化）。创新利用如</a:t>
            </a:r>
            <a:r>
              <a:rPr lang="en-US" altLang="zh-CN"/>
              <a:t>NMF</a:t>
            </a:r>
            <a:r>
              <a:rPr lang="zh-CN" altLang="en-US"/>
              <a:t>分解面板异质性，处理零值</a:t>
            </a:r>
            <a:r>
              <a:rPr lang="en-US" altLang="zh-CN"/>
              <a:t>/</a:t>
            </a:r>
            <a:r>
              <a:rPr lang="zh-CN" altLang="en-US"/>
              <a:t>过分散（</a:t>
            </a:r>
            <a:r>
              <a:rPr lang="en-US" altLang="zh-CN"/>
              <a:t>ZINB</a:t>
            </a:r>
            <a:r>
              <a:rPr lang="zh-CN" altLang="en-US"/>
              <a:t>）。但未充分利用</a:t>
            </a:r>
            <a:r>
              <a:rPr lang="en-US" altLang="zh-CN"/>
              <a:t>sport/discipline</a:t>
            </a:r>
            <a:r>
              <a:rPr lang="zh-CN" altLang="en-US"/>
              <a:t>粒度（</a:t>
            </a:r>
            <a:r>
              <a:rPr lang="en-US" altLang="zh-CN"/>
              <a:t>e.g., </a:t>
            </a:r>
            <a:r>
              <a:rPr lang="zh-CN" altLang="en-US"/>
              <a:t>仅矩阵，未逐</a:t>
            </a:r>
            <a:r>
              <a:rPr lang="en-US" altLang="zh-CN"/>
              <a:t>event</a:t>
            </a:r>
            <a:r>
              <a:rPr lang="zh-CN" altLang="en-US"/>
              <a:t>建模），忽略数据异常（</a:t>
            </a:r>
            <a:r>
              <a:rPr lang="en-US" altLang="zh-CN"/>
              <a:t>IOC</a:t>
            </a:r>
            <a:r>
              <a:rPr lang="zh-CN" altLang="en-US"/>
              <a:t>代码变化</a:t>
            </a:r>
            <a:r>
              <a:rPr lang="en-US" altLang="zh-CN"/>
              <a:t>/Team</a:t>
            </a:r>
            <a:r>
              <a:rPr lang="zh-CN" altLang="en-US"/>
              <a:t>如</a:t>
            </a:r>
            <a:r>
              <a:rPr lang="en-US" altLang="zh-CN"/>
              <a:t>Germany-1</a:t>
            </a:r>
            <a:r>
              <a:rPr lang="zh-CN" altLang="en-US"/>
              <a:t>，仅假设处理），利用率可提升。</a:t>
            </a:r>
            <a:endParaRPr lang="zh-CN" altLang="en-US"/>
          </a:p>
          <a:p>
            <a:pPr marL="0" indent="0">
              <a:buNone/>
            </a:pPr>
            <a:r>
              <a:rPr lang="zh-CN" altLang="en-US"/>
              <a:t>假设是否过强或过弱：平衡，但局部过弱（整体中等）。强假设：滞后持久</a:t>
            </a:r>
            <a:r>
              <a:rPr lang="en-US" altLang="zh-CN"/>
              <a:t>0.7</a:t>
            </a:r>
            <a:r>
              <a:rPr lang="zh-CN" altLang="en-US"/>
              <a:t>（论文继承，现实但忽略突发如疫情）；主机异质</a:t>
            </a:r>
            <a:r>
              <a:rPr lang="en-US" altLang="zh-CN"/>
              <a:t>2% + </a:t>
            </a:r>
            <a:r>
              <a:rPr lang="zh-CN" altLang="en-US"/>
              <a:t>溢出（基于历史，贴合但</a:t>
            </a:r>
            <a:r>
              <a:rPr lang="en-US" altLang="zh-CN"/>
              <a:t>2028</a:t>
            </a:r>
            <a:r>
              <a:rPr lang="zh-CN" altLang="en-US"/>
              <a:t>未知项目弱）。弱假设：教练流动阈值</a:t>
            </a:r>
            <a:r>
              <a:rPr lang="en-US" altLang="zh-CN"/>
              <a:t>&gt;5</a:t>
            </a:r>
            <a:r>
              <a:rPr lang="zh-CN" altLang="en-US"/>
              <a:t>（主观，数据稀疏易偏差）；首次基率</a:t>
            </a:r>
            <a:r>
              <a:rPr lang="en-US" altLang="zh-CN"/>
              <a:t>0.05</a:t>
            </a:r>
            <a:r>
              <a:rPr lang="zh-CN" altLang="en-US"/>
              <a:t>（历史均，但小国样本少，泛化弱）。整体现实（忽略黑天鹅），但对无牌国</a:t>
            </a:r>
            <a:r>
              <a:rPr lang="en-US" altLang="zh-CN"/>
              <a:t>&gt;60</a:t>
            </a:r>
            <a:r>
              <a:rPr lang="zh-CN" altLang="en-US"/>
              <a:t>的稀疏性假设过弱（易过拟合）。</a:t>
            </a:r>
            <a:endParaRPr lang="zh-CN" altLang="en-US"/>
          </a:p>
        </p:txBody>
      </p:sp>
    </p:spTree>
    <p:custDataLst>
      <p:tags r:id="rId3"/>
    </p:custData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t>2. </a:t>
            </a:r>
            <a:r>
              <a:rPr lang="zh-CN" altLang="en-US"/>
              <a:t>至少</a:t>
            </a:r>
            <a:r>
              <a:rPr lang="en-US" altLang="zh-CN"/>
              <a:t>3</a:t>
            </a:r>
            <a:r>
              <a:rPr lang="zh-CN" altLang="en-US"/>
              <a:t>种可行的创新改进方向</a:t>
            </a:r>
            <a:endParaRPr lang="zh-CN" altLang="en-US"/>
          </a:p>
        </p:txBody>
      </p:sp>
      <p:sp>
        <p:nvSpPr>
          <p:cNvPr id="3" name="内容占位符 2"/>
          <p:cNvSpPr>
            <a:spLocks noGrp="1"/>
          </p:cNvSpPr>
          <p:nvPr>
            <p:ph idx="1"/>
            <p:custDataLst>
              <p:tags r:id="rId2"/>
            </p:custDataLst>
          </p:nvPr>
        </p:nvSpPr>
        <p:spPr/>
        <p:txBody>
          <a:bodyPr/>
          <a:p>
            <a:pPr marL="0" indent="0">
              <a:buNone/>
            </a:pPr>
            <a:r>
              <a:rPr lang="zh-CN" altLang="en-US"/>
              <a:t>提出</a:t>
            </a:r>
            <a:r>
              <a:rPr lang="en-US" altLang="zh-CN"/>
              <a:t>3</a:t>
            </a:r>
            <a:r>
              <a:rPr lang="zh-CN" altLang="en-US"/>
              <a:t>种创新：</a:t>
            </a:r>
            <a:endParaRPr lang="en-US" altLang="zh-CN"/>
          </a:p>
          <a:p>
            <a:pPr marL="0" indent="0">
              <a:buNone/>
            </a:pPr>
            <a:r>
              <a:rPr lang="en-US" altLang="zh-CN"/>
              <a:t>(1) </a:t>
            </a:r>
            <a:r>
              <a:rPr lang="zh-CN" altLang="en-US"/>
              <a:t>模型结构创新</a:t>
            </a:r>
            <a:r>
              <a:rPr lang="en-US" altLang="zh-CN"/>
              <a:t> - </a:t>
            </a:r>
            <a:r>
              <a:rPr lang="zh-CN" altLang="en-US"/>
              <a:t>引入动态贝叶斯网络</a:t>
            </a:r>
            <a:r>
              <a:rPr lang="en-US" altLang="zh-CN"/>
              <a:t> (DBN) </a:t>
            </a:r>
            <a:r>
              <a:rPr lang="zh-CN" altLang="en-US"/>
              <a:t>替换部分</a:t>
            </a:r>
            <a:r>
              <a:rPr lang="en-US" altLang="zh-CN"/>
              <a:t>ZINB</a:t>
            </a:r>
            <a:r>
              <a:rPr lang="zh-CN" altLang="en-US"/>
              <a:t>；</a:t>
            </a:r>
            <a:endParaRPr lang="zh-CN" altLang="en-US"/>
          </a:p>
          <a:p>
            <a:pPr marL="0" indent="0">
              <a:buNone/>
            </a:pPr>
            <a:r>
              <a:rPr lang="en-US" altLang="zh-CN"/>
              <a:t>(2) </a:t>
            </a:r>
            <a:r>
              <a:rPr lang="zh-CN" altLang="en-US"/>
              <a:t>参数</a:t>
            </a:r>
            <a:r>
              <a:rPr lang="en-US" altLang="zh-CN"/>
              <a:t>/</a:t>
            </a:r>
            <a:r>
              <a:rPr lang="zh-CN" altLang="en-US"/>
              <a:t>变量设计创新</a:t>
            </a:r>
            <a:r>
              <a:rPr lang="en-US" altLang="zh-CN"/>
              <a:t> - </a:t>
            </a:r>
            <a:r>
              <a:rPr lang="zh-CN" altLang="en-US"/>
              <a:t>加入性别</a:t>
            </a:r>
            <a:r>
              <a:rPr lang="en-US" altLang="zh-CN"/>
              <a:t>/</a:t>
            </a:r>
            <a:r>
              <a:rPr lang="zh-CN" altLang="en-US"/>
              <a:t>年龄结构代理变量；</a:t>
            </a:r>
            <a:endParaRPr lang="zh-CN" altLang="en-US"/>
          </a:p>
          <a:p>
            <a:pPr marL="0" indent="0">
              <a:buNone/>
            </a:pPr>
            <a:r>
              <a:rPr lang="en-US" altLang="zh-CN"/>
              <a:t>(3) </a:t>
            </a:r>
            <a:r>
              <a:rPr lang="zh-CN" altLang="en-US"/>
              <a:t>多模型融合</a:t>
            </a:r>
            <a:r>
              <a:rPr lang="en-US" altLang="zh-CN"/>
              <a:t>/</a:t>
            </a:r>
            <a:r>
              <a:rPr lang="zh-CN" altLang="en-US"/>
              <a:t>对比</a:t>
            </a:r>
            <a:r>
              <a:rPr lang="en-US" altLang="zh-CN"/>
              <a:t> - ensemble ZINB + ML (RF) + </a:t>
            </a:r>
            <a:r>
              <a:rPr lang="zh-CN" altLang="en-US"/>
              <a:t>基准</a:t>
            </a:r>
            <a:r>
              <a:rPr lang="en-US" altLang="zh-CN"/>
              <a:t>Tobit</a:t>
            </a:r>
            <a:r>
              <a:rPr lang="zh-CN" altLang="en-US"/>
              <a:t>对比。</a:t>
            </a:r>
            <a:endParaRPr lang="zh-CN" altLang="en-US"/>
          </a:p>
        </p:txBody>
      </p:sp>
    </p:spTree>
    <p:custDataLst>
      <p:tags r:id="rId3"/>
    </p:custData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a:xfrm>
            <a:off x="608400" y="151200"/>
            <a:ext cx="10969200" cy="705600"/>
          </a:xfrm>
        </p:spPr>
        <p:txBody>
          <a:bodyPr/>
          <a:p>
            <a:r>
              <a:rPr lang="en-US" altLang="zh-CN"/>
              <a:t>3. </a:t>
            </a:r>
            <a:r>
              <a:rPr lang="zh-CN" altLang="en-US"/>
              <a:t>对每一种创新的说明</a:t>
            </a:r>
            <a:endParaRPr lang="zh-CN" altLang="en-US"/>
          </a:p>
        </p:txBody>
      </p:sp>
      <p:sp>
        <p:nvSpPr>
          <p:cNvPr id="3" name="内容占位符 2"/>
          <p:cNvSpPr>
            <a:spLocks noGrp="1"/>
          </p:cNvSpPr>
          <p:nvPr>
            <p:ph idx="1"/>
            <p:custDataLst>
              <p:tags r:id="rId2"/>
            </p:custDataLst>
          </p:nvPr>
        </p:nvSpPr>
        <p:spPr>
          <a:xfrm>
            <a:off x="608400" y="709350"/>
            <a:ext cx="10969200" cy="4759200"/>
          </a:xfrm>
        </p:spPr>
        <p:txBody>
          <a:bodyPr>
            <a:noAutofit/>
          </a:bodyPr>
          <a:p>
            <a:pPr marL="0" indent="0">
              <a:buNone/>
            </a:pPr>
            <a:r>
              <a:rPr lang="zh-CN" altLang="en-US" sz="1400"/>
              <a:t>创新</a:t>
            </a:r>
            <a:r>
              <a:rPr lang="en-US" altLang="zh-CN" sz="1400"/>
              <a:t>1: </a:t>
            </a:r>
            <a:r>
              <a:rPr lang="zh-CN" altLang="en-US" sz="1400"/>
              <a:t>模型结构创新</a:t>
            </a:r>
            <a:r>
              <a:rPr lang="en-US" altLang="zh-CN" sz="1400"/>
              <a:t> - </a:t>
            </a:r>
            <a:r>
              <a:rPr lang="zh-CN" altLang="en-US" sz="1400"/>
              <a:t>引入动态贝叶斯网络</a:t>
            </a:r>
            <a:r>
              <a:rPr lang="en-US" altLang="zh-CN" sz="1400"/>
              <a:t> (DBN) </a:t>
            </a:r>
            <a:r>
              <a:rPr lang="zh-CN" altLang="en-US" sz="1400"/>
              <a:t>替换部分</a:t>
            </a:r>
            <a:r>
              <a:rPr lang="en-US" altLang="zh-CN" sz="1400"/>
              <a:t>ZINB</a:t>
            </a:r>
            <a:r>
              <a:rPr lang="zh-CN" altLang="en-US" sz="1400"/>
              <a:t>（用于时间序列预测</a:t>
            </a:r>
            <a:r>
              <a:rPr lang="en-US" altLang="zh-CN" sz="1400"/>
              <a:t>/</a:t>
            </a:r>
            <a:r>
              <a:rPr lang="zh-CN" altLang="en-US" sz="1400"/>
              <a:t>教练滞后）</a:t>
            </a:r>
            <a:endParaRPr lang="zh-CN" altLang="en-US" sz="1400"/>
          </a:p>
          <a:p>
            <a:pPr marL="0" indent="0">
              <a:buNone/>
            </a:pPr>
            <a:r>
              <a:rPr lang="zh-CN" altLang="en-US" sz="1400"/>
              <a:t>创新动机：现有</a:t>
            </a:r>
            <a:r>
              <a:rPr lang="en-US" altLang="zh-CN" sz="1400"/>
              <a:t>ZINB</a:t>
            </a:r>
            <a:r>
              <a:rPr lang="zh-CN" altLang="en-US" sz="1400"/>
              <a:t>静态，忽略时间依赖（如教练半衰</a:t>
            </a:r>
            <a:r>
              <a:rPr lang="en-US" altLang="zh-CN" sz="1400"/>
              <a:t>/</a:t>
            </a:r>
            <a:r>
              <a:rPr lang="zh-CN" altLang="en-US" sz="1400"/>
              <a:t>项目变化趋势）；</a:t>
            </a:r>
            <a:r>
              <a:rPr lang="en-US" altLang="zh-CN" sz="1400"/>
              <a:t>DBN</a:t>
            </a:r>
            <a:r>
              <a:rPr lang="zh-CN" altLang="en-US" sz="1400"/>
              <a:t>捕捉节点间动态因果（</a:t>
            </a:r>
            <a:r>
              <a:rPr lang="en-US" altLang="zh-CN" sz="1400"/>
              <a:t>e.g., </a:t>
            </a:r>
            <a:r>
              <a:rPr lang="zh-CN" altLang="en-US" sz="1400"/>
              <a:t>运动员</a:t>
            </a:r>
            <a:r>
              <a:rPr lang="en-US" altLang="zh-CN" sz="1400"/>
              <a:t>t-1 </a:t>
            </a:r>
            <a:r>
              <a:rPr lang="en-US" altLang="en-US" sz="1400"/>
              <a:t>→</a:t>
            </a:r>
            <a:r>
              <a:rPr lang="en-US" altLang="zh-CN" sz="1400"/>
              <a:t> </a:t>
            </a:r>
            <a:r>
              <a:rPr lang="zh-CN" altLang="en-US" sz="1400"/>
              <a:t>牌</a:t>
            </a:r>
            <a:r>
              <a:rPr lang="en-US" altLang="zh-CN" sz="1400"/>
              <a:t>t + </a:t>
            </a:r>
            <a:r>
              <a:rPr lang="zh-CN" altLang="en-US" sz="1400"/>
              <a:t>主机影响路径），提升子</a:t>
            </a:r>
            <a:r>
              <a:rPr lang="en-US" altLang="zh-CN" sz="1400"/>
              <a:t>2/5</a:t>
            </a:r>
            <a:r>
              <a:rPr lang="zh-CN" altLang="en-US" sz="1400"/>
              <a:t>预测精度</a:t>
            </a:r>
            <a:r>
              <a:rPr lang="en-US" altLang="zh-CN" sz="1400"/>
              <a:t>/</a:t>
            </a:r>
            <a:r>
              <a:rPr lang="zh-CN" altLang="en-US" sz="1400"/>
              <a:t>因果解释，差异化突破时间异质性（题目数据有</a:t>
            </a:r>
            <a:r>
              <a:rPr lang="en-US" altLang="zh-CN" sz="1400"/>
              <a:t>1896-2024</a:t>
            </a:r>
            <a:r>
              <a:rPr lang="zh-CN" altLang="en-US" sz="1400"/>
              <a:t>序列）。</a:t>
            </a:r>
            <a:endParaRPr lang="zh-CN" altLang="en-US" sz="1400"/>
          </a:p>
          <a:p>
            <a:pPr marL="0" indent="0">
              <a:buNone/>
            </a:pPr>
            <a:r>
              <a:rPr lang="zh-CN" altLang="en-US" sz="1400"/>
              <a:t>评委是否容易理解：容易（</a:t>
            </a:r>
            <a:r>
              <a:rPr lang="en-US" altLang="zh-CN" sz="1400"/>
              <a:t>M/F</a:t>
            </a:r>
            <a:r>
              <a:rPr lang="zh-CN" altLang="en-US" sz="1400"/>
              <a:t>评委熟悉贝叶斯，常用于体育预测；可视化网络图易解释）。</a:t>
            </a:r>
            <a:endParaRPr lang="zh-CN" altLang="en-US" sz="1400"/>
          </a:p>
          <a:p>
            <a:pPr marL="0" indent="0">
              <a:buNone/>
            </a:pPr>
            <a:r>
              <a:rPr lang="zh-CN" altLang="en-US" sz="1400"/>
              <a:t>是否增加不必要风险：低风险（数据序列充足，用</a:t>
            </a:r>
            <a:r>
              <a:rPr lang="en-US" altLang="zh-CN" sz="1400"/>
              <a:t>Pyro/R</a:t>
            </a:r>
            <a:r>
              <a:rPr lang="zh-CN" altLang="en-US" sz="1400"/>
              <a:t>实现</a:t>
            </a:r>
            <a:r>
              <a:rPr lang="en-US" altLang="zh-CN" sz="1400"/>
              <a:t>&lt;25</a:t>
            </a:r>
            <a:r>
              <a:rPr lang="zh-CN" altLang="en-US" sz="1400"/>
              <a:t>页；但计算复杂，若调试错易过拟合）。</a:t>
            </a:r>
            <a:endParaRPr lang="en-US" altLang="zh-CN" sz="1400"/>
          </a:p>
          <a:p>
            <a:pPr marL="0" indent="0">
              <a:buNone/>
            </a:pPr>
            <a:r>
              <a:rPr lang="zh-CN" altLang="en-US" sz="1400"/>
              <a:t>创新</a:t>
            </a:r>
            <a:r>
              <a:rPr lang="en-US" altLang="zh-CN" sz="1400"/>
              <a:t>2: </a:t>
            </a:r>
            <a:r>
              <a:rPr lang="zh-CN" altLang="en-US" sz="1400"/>
              <a:t>参数</a:t>
            </a:r>
            <a:r>
              <a:rPr lang="en-US" altLang="zh-CN" sz="1400"/>
              <a:t>/</a:t>
            </a:r>
            <a:r>
              <a:rPr lang="zh-CN" altLang="en-US" sz="1400"/>
              <a:t>变量设计创新</a:t>
            </a:r>
            <a:r>
              <a:rPr lang="en-US" altLang="zh-CN" sz="1400"/>
              <a:t> - </a:t>
            </a:r>
            <a:r>
              <a:rPr lang="zh-CN" altLang="en-US" sz="1400"/>
              <a:t>加入性别</a:t>
            </a:r>
            <a:r>
              <a:rPr lang="en-US" altLang="zh-CN" sz="1400"/>
              <a:t>/</a:t>
            </a:r>
            <a:r>
              <a:rPr lang="zh-CN" altLang="en-US" sz="1400"/>
              <a:t>年龄结构代理变量（从</a:t>
            </a:r>
            <a:r>
              <a:rPr lang="en-US" altLang="zh-CN" sz="1400"/>
              <a:t>athletes.csv</a:t>
            </a:r>
            <a:r>
              <a:rPr lang="zh-CN" altLang="en-US" sz="1400"/>
              <a:t>推断，扩展</a:t>
            </a:r>
            <a:r>
              <a:rPr lang="en-US" altLang="zh-CN" sz="1400"/>
              <a:t>ZINB/SCM</a:t>
            </a:r>
            <a:r>
              <a:rPr lang="zh-CN" altLang="en-US" sz="1400"/>
              <a:t>参数）</a:t>
            </a:r>
            <a:endParaRPr lang="zh-CN" altLang="en-US" sz="1400"/>
          </a:p>
          <a:p>
            <a:pPr marL="0" indent="0">
              <a:buNone/>
            </a:pPr>
            <a:r>
              <a:rPr lang="zh-CN" altLang="en-US" sz="1400"/>
              <a:t>创新动机：现有模型忽略性别平等趋势（论文如</a:t>
            </a:r>
            <a:r>
              <a:rPr lang="en-US" altLang="zh-CN" sz="1400"/>
              <a:t>2021 How big/2022</a:t>
            </a:r>
            <a:r>
              <a:rPr lang="zh-CN" altLang="en-US" sz="1400"/>
              <a:t>提及男子优势）；代理变量（</a:t>
            </a:r>
            <a:r>
              <a:rPr lang="en-US" altLang="zh-CN" sz="1400"/>
              <a:t>athletes.csv</a:t>
            </a:r>
            <a:r>
              <a:rPr lang="zh-CN" altLang="en-US" sz="1400"/>
              <a:t>中</a:t>
            </a:r>
            <a:r>
              <a:rPr lang="en-US" altLang="zh-CN" sz="1400"/>
              <a:t>“Team”</a:t>
            </a:r>
            <a:r>
              <a:rPr lang="zh-CN" altLang="en-US" sz="1400"/>
              <a:t>隐含性别</a:t>
            </a:r>
            <a:r>
              <a:rPr lang="en-US" altLang="zh-CN" sz="1400"/>
              <a:t>/</a:t>
            </a:r>
            <a:r>
              <a:rPr lang="zh-CN" altLang="en-US" sz="1400"/>
              <a:t>出生年推年龄分布）捕捉女子项目增益</a:t>
            </a:r>
            <a:r>
              <a:rPr lang="en-US" altLang="zh-CN" sz="1400"/>
              <a:t>/</a:t>
            </a:r>
            <a:r>
              <a:rPr lang="zh-CN" altLang="en-US" sz="1400"/>
              <a:t>教练性别效应，提升子</a:t>
            </a:r>
            <a:r>
              <a:rPr lang="en-US" altLang="zh-CN" sz="1400"/>
              <a:t>4/5/6</a:t>
            </a:r>
            <a:r>
              <a:rPr lang="zh-CN" altLang="en-US" sz="1400"/>
              <a:t>洞见（如推荐女子强项投资），利用数据未挖掘特征，避免同质经济代理。</a:t>
            </a:r>
            <a:endParaRPr lang="zh-CN" altLang="en-US" sz="1400"/>
          </a:p>
          <a:p>
            <a:pPr marL="0" indent="0">
              <a:buNone/>
            </a:pPr>
            <a:r>
              <a:rPr lang="zh-CN" altLang="en-US" sz="1400"/>
              <a:t>评委是否容易理解：容易（直接数据驱动，假设如</a:t>
            </a:r>
            <a:r>
              <a:rPr lang="en-US" altLang="zh-CN" sz="1400"/>
              <a:t>“</a:t>
            </a:r>
            <a:r>
              <a:rPr lang="zh-CN" altLang="en-US" sz="1400"/>
              <a:t>女子增</a:t>
            </a:r>
            <a:r>
              <a:rPr lang="en-US" altLang="zh-CN" sz="1400"/>
              <a:t>20%”</a:t>
            </a:r>
            <a:r>
              <a:rPr lang="zh-CN" altLang="en-US" sz="1400"/>
              <a:t>基于历史</a:t>
            </a:r>
            <a:r>
              <a:rPr lang="en-US" altLang="zh-CN" sz="1400"/>
              <a:t>/</a:t>
            </a:r>
            <a:r>
              <a:rPr lang="zh-CN" altLang="en-US" sz="1400"/>
              <a:t>论文；表格展示变量影响）。</a:t>
            </a:r>
            <a:endParaRPr lang="zh-CN" altLang="en-US" sz="1400"/>
          </a:p>
          <a:p>
            <a:pPr marL="0" indent="0">
              <a:buNone/>
            </a:pPr>
            <a:r>
              <a:rPr lang="zh-CN" altLang="en-US" sz="1400"/>
              <a:t>是否增加不必要风险：中风险（数据无显式性别</a:t>
            </a:r>
            <a:r>
              <a:rPr lang="en-US" altLang="zh-CN" sz="1400"/>
              <a:t>/</a:t>
            </a:r>
            <a:r>
              <a:rPr lang="zh-CN" altLang="en-US" sz="1400"/>
              <a:t>年龄，推断易误差；但题目允许假设，若过强评委扣分）。</a:t>
            </a:r>
            <a:endParaRPr lang="en-US" altLang="zh-CN" sz="1400"/>
          </a:p>
          <a:p>
            <a:pPr marL="0" indent="0">
              <a:buNone/>
            </a:pPr>
            <a:r>
              <a:rPr lang="zh-CN" altLang="en-US" sz="1400"/>
              <a:t>创新</a:t>
            </a:r>
            <a:r>
              <a:rPr lang="en-US" altLang="zh-CN" sz="1400"/>
              <a:t>3: </a:t>
            </a:r>
            <a:r>
              <a:rPr lang="zh-CN" altLang="en-US" sz="1400"/>
              <a:t>多模型融合</a:t>
            </a:r>
            <a:r>
              <a:rPr lang="en-US" altLang="zh-CN" sz="1400"/>
              <a:t>/</a:t>
            </a:r>
            <a:r>
              <a:rPr lang="zh-CN" altLang="en-US" sz="1400"/>
              <a:t>对比</a:t>
            </a:r>
            <a:r>
              <a:rPr lang="en-US" altLang="zh-CN" sz="1400"/>
              <a:t> - ensemble ZINB + ML (RF) + </a:t>
            </a:r>
            <a:r>
              <a:rPr lang="zh-CN" altLang="en-US" sz="1400"/>
              <a:t>基准</a:t>
            </a:r>
            <a:r>
              <a:rPr lang="en-US" altLang="zh-CN" sz="1400"/>
              <a:t>Tobit</a:t>
            </a:r>
            <a:r>
              <a:rPr lang="zh-CN" altLang="en-US" sz="1400"/>
              <a:t>对比（融合预测，子</a:t>
            </a:r>
            <a:r>
              <a:rPr lang="en-US" altLang="zh-CN" sz="1400"/>
              <a:t>1/2</a:t>
            </a:r>
            <a:r>
              <a:rPr lang="zh-CN" altLang="en-US" sz="1400"/>
              <a:t>用</a:t>
            </a:r>
            <a:r>
              <a:rPr lang="en-US" altLang="zh-CN" sz="1400"/>
              <a:t>voting/ stacking</a:t>
            </a:r>
            <a:r>
              <a:rPr lang="zh-CN" altLang="en-US" sz="1400"/>
              <a:t>）</a:t>
            </a:r>
            <a:endParaRPr lang="zh-CN" altLang="en-US" sz="1400"/>
          </a:p>
          <a:p>
            <a:pPr marL="0" indent="0">
              <a:buNone/>
            </a:pPr>
            <a:r>
              <a:rPr lang="zh-CN" altLang="en-US" sz="1400"/>
              <a:t>创新动机：现有单一</a:t>
            </a:r>
            <a:r>
              <a:rPr lang="en-US" altLang="zh-CN" sz="1400"/>
              <a:t>ZINB</a:t>
            </a:r>
            <a:r>
              <a:rPr lang="zh-CN" altLang="en-US" sz="1400"/>
              <a:t>易偏差（论文如</a:t>
            </a:r>
            <a:r>
              <a:rPr lang="en-US" altLang="zh-CN" sz="1400"/>
              <a:t>2021 Scelles/2010</a:t>
            </a:r>
            <a:r>
              <a:rPr lang="zh-CN" altLang="en-US" sz="1400"/>
              <a:t>对比</a:t>
            </a:r>
            <a:r>
              <a:rPr lang="en-US" altLang="zh-CN" sz="1400"/>
              <a:t>Tobit/Hurdle</a:t>
            </a:r>
            <a:r>
              <a:rPr lang="zh-CN" altLang="en-US" sz="1400"/>
              <a:t>）；</a:t>
            </a:r>
            <a:r>
              <a:rPr lang="en-US" altLang="zh-CN" sz="1400"/>
              <a:t>ensemble</a:t>
            </a:r>
            <a:r>
              <a:rPr lang="zh-CN" altLang="en-US" sz="1400"/>
              <a:t>整合线性</a:t>
            </a:r>
            <a:r>
              <a:rPr lang="en-US" altLang="zh-CN" sz="1400"/>
              <a:t> (Tobit/ZINB) + </a:t>
            </a:r>
            <a:r>
              <a:rPr lang="zh-CN" altLang="en-US" sz="1400"/>
              <a:t>非线性</a:t>
            </a:r>
            <a:r>
              <a:rPr lang="en-US" altLang="zh-CN" sz="1400"/>
              <a:t> (RF</a:t>
            </a:r>
            <a:r>
              <a:rPr lang="zh-CN" altLang="en-US" sz="1400"/>
              <a:t>从</a:t>
            </a:r>
            <a:r>
              <a:rPr lang="en-US" altLang="zh-CN" sz="1400"/>
              <a:t>2021 Scelles ML</a:t>
            </a:r>
            <a:r>
              <a:rPr lang="zh-CN" altLang="en-US" sz="1400"/>
              <a:t>补充</a:t>
            </a:r>
            <a:r>
              <a:rPr lang="en-US" altLang="zh-CN" sz="1400"/>
              <a:t>)</a:t>
            </a:r>
            <a:r>
              <a:rPr lang="zh-CN" altLang="en-US" sz="1400"/>
              <a:t>，提升鲁棒</a:t>
            </a:r>
            <a:r>
              <a:rPr lang="en-US" altLang="zh-CN" sz="1400"/>
              <a:t>/</a:t>
            </a:r>
            <a:r>
              <a:rPr lang="zh-CN" altLang="en-US" sz="1400"/>
              <a:t>不确定性（</a:t>
            </a:r>
            <a:r>
              <a:rPr lang="en-US" altLang="zh-CN" sz="1400"/>
              <a:t>voting</a:t>
            </a:r>
            <a:r>
              <a:rPr lang="zh-CN" altLang="en-US" sz="1400"/>
              <a:t>区间），对比基准显创新，适配子</a:t>
            </a:r>
            <a:r>
              <a:rPr lang="en-US" altLang="zh-CN" sz="1400"/>
              <a:t>6</a:t>
            </a:r>
            <a:r>
              <a:rPr lang="zh-CN" altLang="en-US" sz="1400"/>
              <a:t>政策（</a:t>
            </a:r>
            <a:r>
              <a:rPr lang="en-US" altLang="zh-CN" sz="1400"/>
              <a:t>e.g., </a:t>
            </a:r>
            <a:r>
              <a:rPr lang="zh-CN" altLang="en-US" sz="1400"/>
              <a:t>模型敏感性分析投资</a:t>
            </a:r>
            <a:r>
              <a:rPr lang="en-US" altLang="zh-CN" sz="1400"/>
              <a:t>ROI</a:t>
            </a:r>
            <a:r>
              <a:rPr lang="zh-CN" altLang="en-US" sz="1400"/>
              <a:t>）。</a:t>
            </a:r>
            <a:endParaRPr lang="zh-CN" altLang="en-US" sz="1400"/>
          </a:p>
          <a:p>
            <a:pPr marL="0" indent="0">
              <a:buNone/>
            </a:pPr>
            <a:r>
              <a:rPr lang="zh-CN" altLang="en-US" sz="1400"/>
              <a:t>评委是否容易理解：容易（</a:t>
            </a:r>
            <a:r>
              <a:rPr lang="en-US" altLang="zh-CN" sz="1400"/>
              <a:t>MCM</a:t>
            </a:r>
            <a:r>
              <a:rPr lang="zh-CN" altLang="en-US" sz="1400"/>
              <a:t>常见</a:t>
            </a:r>
            <a:r>
              <a:rPr lang="en-US" altLang="zh-CN" sz="1400"/>
              <a:t>ensemble</a:t>
            </a:r>
            <a:r>
              <a:rPr lang="zh-CN" altLang="en-US" sz="1400"/>
              <a:t>；表格对比性能如</a:t>
            </a:r>
            <a:r>
              <a:rPr lang="en-US" altLang="zh-CN" sz="1400"/>
              <a:t>RMSE/</a:t>
            </a:r>
            <a:r>
              <a:rPr lang="zh-CN" altLang="en-US" sz="1400"/>
              <a:t>覆盖率）。</a:t>
            </a:r>
            <a:endParaRPr lang="zh-CN" altLang="en-US" sz="1400"/>
          </a:p>
          <a:p>
            <a:pPr marL="0" indent="0">
              <a:buNone/>
            </a:pPr>
            <a:r>
              <a:rPr lang="zh-CN" altLang="en-US" sz="1400"/>
              <a:t>是否增加不必要风险：低风险（</a:t>
            </a:r>
            <a:r>
              <a:rPr lang="en-US" altLang="zh-CN" sz="1400"/>
              <a:t>RF</a:t>
            </a:r>
            <a:r>
              <a:rPr lang="zh-CN" altLang="en-US" sz="1400"/>
              <a:t>数据内部实现；但融合复杂，</a:t>
            </a:r>
            <a:r>
              <a:rPr lang="en-US" altLang="zh-CN" sz="1400"/>
              <a:t>&lt;25</a:t>
            </a:r>
            <a:r>
              <a:rPr lang="zh-CN" altLang="en-US" sz="1400"/>
              <a:t>页需简化，若解释不清评委视同质）。</a:t>
            </a:r>
            <a:endParaRPr lang="zh-CN" altLang="en-US" sz="1400"/>
          </a:p>
        </p:txBody>
      </p:sp>
    </p:spTree>
    <p:custDataLst>
      <p:tags r:id="rId3"/>
    </p:custData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汇总</a:t>
            </a:r>
            <a:endParaRPr lang="zh-CN" altLang="en-US"/>
          </a:p>
        </p:txBody>
      </p:sp>
      <p:sp>
        <p:nvSpPr>
          <p:cNvPr id="3" name="内容占位符 2"/>
          <p:cNvSpPr>
            <a:spLocks noGrp="1"/>
          </p:cNvSpPr>
          <p:nvPr>
            <p:ph idx="1"/>
            <p:custDataLst>
              <p:tags r:id="rId2"/>
            </p:custDataLst>
          </p:nvPr>
        </p:nvSpPr>
        <p:spPr/>
        <p:txBody>
          <a:bodyPr/>
          <a:p>
            <a:pPr marL="0" indent="0">
              <a:buNone/>
            </a:pPr>
            <a:r>
              <a:rPr lang="zh-CN" altLang="en-US" sz="2800"/>
              <a:t>从中挑选出最合适的创新方向，汇总成最终版的建模思路，包括论文手需要的完整的尽可能完整严谨的建模思路（包括假设、创新），编程手需要每个子问题提供的变量</a:t>
            </a:r>
            <a:r>
              <a:rPr lang="en-US" altLang="zh-CN" sz="2800"/>
              <a:t>(</a:t>
            </a:r>
            <a:r>
              <a:rPr lang="zh-CN" altLang="en-US" sz="2800"/>
              <a:t>结合题目所给的数据）、公式、参数解释、合理的假设参数等，以及建模手需要的每个子问题解决用到的方法、参考的论文、在论文方法上的创新以及创新的原因</a:t>
            </a:r>
            <a:endParaRPr lang="zh-CN" altLang="en-US" sz="2800"/>
          </a:p>
        </p:txBody>
      </p:sp>
    </p:spTree>
    <p:custDataLst>
      <p:tags r:id="rId3"/>
    </p:custData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sym typeface="+mn-ea"/>
              </a:rPr>
              <a:t>挑选最合适的创新方向</a:t>
            </a:r>
            <a:endParaRPr lang="zh-CN" altLang="en-US"/>
          </a:p>
        </p:txBody>
      </p:sp>
      <p:sp>
        <p:nvSpPr>
          <p:cNvPr id="3" name="内容占位符 2"/>
          <p:cNvSpPr>
            <a:spLocks noGrp="1"/>
          </p:cNvSpPr>
          <p:nvPr>
            <p:ph idx="1"/>
            <p:custDataLst>
              <p:tags r:id="rId2"/>
            </p:custDataLst>
          </p:nvPr>
        </p:nvSpPr>
        <p:spPr/>
        <p:txBody>
          <a:bodyPr>
            <a:normAutofit lnSpcReduction="20000"/>
          </a:bodyPr>
          <a:p>
            <a:pPr marL="0" indent="0">
              <a:buNone/>
            </a:pPr>
            <a:r>
              <a:rPr lang="zh-CN" altLang="en-US"/>
              <a:t>基于之前的</a:t>
            </a:r>
            <a:r>
              <a:rPr lang="en-US" altLang="zh-CN"/>
              <a:t>3</a:t>
            </a:r>
            <a:r>
              <a:rPr lang="zh-CN" altLang="en-US"/>
              <a:t>个创新方向（</a:t>
            </a:r>
            <a:r>
              <a:rPr lang="en-US" altLang="zh-CN"/>
              <a:t>1. DBN</a:t>
            </a:r>
            <a:r>
              <a:rPr lang="zh-CN" altLang="en-US"/>
              <a:t>结构创新；</a:t>
            </a:r>
            <a:r>
              <a:rPr lang="en-US" altLang="zh-CN"/>
              <a:t>2. </a:t>
            </a:r>
            <a:r>
              <a:rPr lang="zh-CN" altLang="en-US"/>
              <a:t>性别</a:t>
            </a:r>
            <a:r>
              <a:rPr lang="en-US" altLang="zh-CN"/>
              <a:t>/</a:t>
            </a:r>
            <a:r>
              <a:rPr lang="zh-CN" altLang="en-US"/>
              <a:t>年龄代理变量设计创新；</a:t>
            </a:r>
            <a:r>
              <a:rPr lang="en-US" altLang="zh-CN"/>
              <a:t>3. ensemble</a:t>
            </a:r>
            <a:r>
              <a:rPr lang="zh-CN" altLang="en-US"/>
              <a:t>多模型融合），我从以下标准挑选：与题目贴合度（优先子问题覆盖，如不确定性</a:t>
            </a:r>
            <a:r>
              <a:rPr lang="en-US" altLang="zh-CN"/>
              <a:t>/</a:t>
            </a:r>
            <a:r>
              <a:rPr lang="zh-CN" altLang="en-US"/>
              <a:t>洞见）；数据利用（仅用提供</a:t>
            </a:r>
            <a:r>
              <a:rPr lang="en-US" altLang="zh-CN"/>
              <a:t>csv</a:t>
            </a:r>
            <a:r>
              <a:rPr lang="zh-CN" altLang="en-US"/>
              <a:t>，如</a:t>
            </a:r>
            <a:r>
              <a:rPr lang="en-US" altLang="zh-CN"/>
              <a:t>athletes.csv</a:t>
            </a:r>
            <a:r>
              <a:rPr lang="zh-CN" altLang="en-US"/>
              <a:t>推性别</a:t>
            </a:r>
            <a:r>
              <a:rPr lang="en-US" altLang="zh-CN"/>
              <a:t>/</a:t>
            </a:r>
            <a:r>
              <a:rPr lang="zh-CN" altLang="en-US"/>
              <a:t>年龄）；风险低</a:t>
            </a:r>
            <a:r>
              <a:rPr lang="en-US" altLang="zh-CN"/>
              <a:t>/</a:t>
            </a:r>
            <a:r>
              <a:rPr lang="zh-CN" altLang="en-US"/>
              <a:t>理解易（</a:t>
            </a:r>
            <a:r>
              <a:rPr lang="en-US" altLang="zh-CN"/>
              <a:t>M/F</a:t>
            </a:r>
            <a:r>
              <a:rPr lang="zh-CN" altLang="en-US"/>
              <a:t>评委视角，避免计算复杂）；差异化潜力（避同质回归）。</a:t>
            </a:r>
            <a:endParaRPr lang="en-US" altLang="zh-CN"/>
          </a:p>
          <a:p>
            <a:pPr marL="0" indent="0">
              <a:buNone/>
            </a:pPr>
            <a:r>
              <a:rPr lang="zh-CN" altLang="en-US"/>
              <a:t>最合适：创新</a:t>
            </a:r>
            <a:r>
              <a:rPr lang="en-US" altLang="zh-CN"/>
              <a:t>2</a:t>
            </a:r>
            <a:r>
              <a:rPr lang="zh-CN" altLang="en-US"/>
              <a:t>（性别</a:t>
            </a:r>
            <a:r>
              <a:rPr lang="en-US" altLang="zh-CN"/>
              <a:t>/</a:t>
            </a:r>
            <a:r>
              <a:rPr lang="zh-CN" altLang="en-US"/>
              <a:t>年龄代理）和创新</a:t>
            </a:r>
            <a:r>
              <a:rPr lang="en-US" altLang="zh-CN"/>
              <a:t>3</a:t>
            </a:r>
            <a:r>
              <a:rPr lang="zh-CN" altLang="en-US"/>
              <a:t>（</a:t>
            </a:r>
            <a:r>
              <a:rPr lang="en-US" altLang="zh-CN"/>
              <a:t>ensemble</a:t>
            </a:r>
            <a:r>
              <a:rPr lang="zh-CN" altLang="en-US"/>
              <a:t>融合）。动机：</a:t>
            </a:r>
            <a:r>
              <a:rPr lang="en-US" altLang="zh-CN"/>
              <a:t>2</a:t>
            </a:r>
            <a:r>
              <a:rPr lang="zh-CN" altLang="en-US"/>
              <a:t>提升数据利用（</a:t>
            </a:r>
            <a:r>
              <a:rPr lang="en-US" altLang="zh-CN"/>
              <a:t>athletes</a:t>
            </a:r>
            <a:r>
              <a:rPr lang="zh-CN" altLang="en-US"/>
              <a:t>隐含性别</a:t>
            </a:r>
            <a:r>
              <a:rPr lang="en-US" altLang="zh-CN"/>
              <a:t>/</a:t>
            </a:r>
            <a:r>
              <a:rPr lang="zh-CN" altLang="en-US"/>
              <a:t>出生年），贴合子</a:t>
            </a:r>
            <a:r>
              <a:rPr lang="en-US" altLang="zh-CN"/>
              <a:t>4/5/6</a:t>
            </a:r>
            <a:r>
              <a:rPr lang="zh-CN" altLang="en-US"/>
              <a:t>（项目</a:t>
            </a:r>
            <a:r>
              <a:rPr lang="en-US" altLang="zh-CN"/>
              <a:t>/</a:t>
            </a:r>
            <a:r>
              <a:rPr lang="zh-CN" altLang="en-US"/>
              <a:t>教练</a:t>
            </a:r>
            <a:r>
              <a:rPr lang="en-US" altLang="zh-CN"/>
              <a:t>/</a:t>
            </a:r>
            <a:r>
              <a:rPr lang="zh-CN" altLang="en-US"/>
              <a:t>洞见，如性别平等政策）；</a:t>
            </a:r>
            <a:r>
              <a:rPr lang="en-US" altLang="zh-CN"/>
              <a:t>3</a:t>
            </a:r>
            <a:r>
              <a:rPr lang="zh-CN" altLang="en-US"/>
              <a:t>提升鲁棒</a:t>
            </a:r>
            <a:r>
              <a:rPr lang="en-US" altLang="zh-CN"/>
              <a:t>/</a:t>
            </a:r>
            <a:r>
              <a:rPr lang="zh-CN" altLang="en-US"/>
              <a:t>不确定性（子</a:t>
            </a:r>
            <a:r>
              <a:rPr lang="en-US" altLang="zh-CN"/>
              <a:t>1/2</a:t>
            </a:r>
            <a:r>
              <a:rPr lang="zh-CN" altLang="en-US"/>
              <a:t>），易理解</a:t>
            </a:r>
            <a:r>
              <a:rPr lang="en-US" altLang="zh-CN"/>
              <a:t>/</a:t>
            </a:r>
            <a:r>
              <a:rPr lang="zh-CN" altLang="en-US"/>
              <a:t>实现。排除</a:t>
            </a:r>
            <a:r>
              <a:rPr lang="en-US" altLang="zh-CN"/>
              <a:t>1</a:t>
            </a:r>
            <a:r>
              <a:rPr lang="zh-CN" altLang="en-US"/>
              <a:t>（</a:t>
            </a:r>
            <a:r>
              <a:rPr lang="en-US" altLang="zh-CN"/>
              <a:t>DBN</a:t>
            </a:r>
            <a:r>
              <a:rPr lang="zh-CN" altLang="en-US"/>
              <a:t>风险中，计算重，</a:t>
            </a:r>
            <a:r>
              <a:rPr lang="en-US" altLang="zh-CN"/>
              <a:t>25</a:t>
            </a:r>
            <a:r>
              <a:rPr lang="zh-CN" altLang="en-US"/>
              <a:t>页限下易超）。</a:t>
            </a:r>
            <a:endParaRPr lang="en-US" altLang="zh-CN"/>
          </a:p>
          <a:p>
            <a:pPr marL="0" indent="0">
              <a:buNone/>
            </a:pPr>
            <a:r>
              <a:rPr lang="zh-CN" altLang="en-US"/>
              <a:t>汇总最终版：现有</a:t>
            </a:r>
            <a:r>
              <a:rPr lang="en-US" altLang="zh-CN"/>
              <a:t>ZINB + NMF + SCM</a:t>
            </a:r>
            <a:r>
              <a:rPr lang="zh-CN" altLang="en-US"/>
              <a:t>框架，融入</a:t>
            </a:r>
            <a:r>
              <a:rPr lang="en-US" altLang="zh-CN"/>
              <a:t>2</a:t>
            </a:r>
            <a:r>
              <a:rPr lang="zh-CN" altLang="en-US"/>
              <a:t>（加代理变量到</a:t>
            </a:r>
            <a:r>
              <a:rPr lang="en-US" altLang="zh-CN"/>
              <a:t>ZINB/SCM</a:t>
            </a:r>
            <a:r>
              <a:rPr lang="zh-CN" altLang="en-US"/>
              <a:t>参数）和</a:t>
            </a:r>
            <a:r>
              <a:rPr lang="en-US" altLang="zh-CN"/>
              <a:t>3</a:t>
            </a:r>
            <a:r>
              <a:rPr lang="zh-CN" altLang="en-US"/>
              <a:t>（</a:t>
            </a:r>
            <a:r>
              <a:rPr lang="en-US" altLang="zh-CN"/>
              <a:t>ensemble ZINB + RF + Tobit</a:t>
            </a:r>
            <a:r>
              <a:rPr lang="zh-CN" altLang="en-US"/>
              <a:t>预测子</a:t>
            </a:r>
            <a:r>
              <a:rPr lang="en-US" altLang="zh-CN"/>
              <a:t>1/2/3</a:t>
            </a:r>
            <a:r>
              <a:rPr lang="zh-CN" altLang="en-US"/>
              <a:t>）。这增强创新（性别洞见</a:t>
            </a:r>
            <a:r>
              <a:rPr lang="en-US" altLang="zh-CN"/>
              <a:t> + </a:t>
            </a:r>
            <a:r>
              <a:rPr lang="zh-CN" altLang="en-US"/>
              <a:t>模型鲁棒），严谨（论文继承</a:t>
            </a:r>
            <a:r>
              <a:rPr lang="en-US" altLang="zh-CN"/>
              <a:t> + </a:t>
            </a:r>
            <a:r>
              <a:rPr lang="zh-CN" altLang="en-US"/>
              <a:t>数据代理），可实现</a:t>
            </a:r>
            <a:endParaRPr lang="zh-CN" altLang="en-US"/>
          </a:p>
        </p:txBody>
      </p:sp>
    </p:spTree>
    <p:custDataLst>
      <p:tags r:id="rId3"/>
    </p:custData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a:xfrm>
            <a:off x="608400" y="456000"/>
            <a:ext cx="10969200" cy="705600"/>
          </a:xfrm>
        </p:spPr>
        <p:txBody>
          <a:bodyPr/>
          <a:p>
            <a:r>
              <a:rPr lang="zh-CN" altLang="en-US"/>
              <a:t>论文手：完整的严谨建模思路（包括假设、创新）</a:t>
            </a:r>
            <a:endParaRPr lang="zh-CN" altLang="en-US"/>
          </a:p>
        </p:txBody>
      </p:sp>
      <p:sp>
        <p:nvSpPr>
          <p:cNvPr id="3" name="内容占位符 2"/>
          <p:cNvSpPr>
            <a:spLocks noGrp="1"/>
          </p:cNvSpPr>
          <p:nvPr>
            <p:ph idx="1"/>
            <p:custDataLst>
              <p:tags r:id="rId2"/>
            </p:custDataLst>
          </p:nvPr>
        </p:nvSpPr>
        <p:spPr>
          <a:xfrm>
            <a:off x="608400" y="1214175"/>
            <a:ext cx="10969200" cy="4759200"/>
          </a:xfrm>
        </p:spPr>
        <p:txBody>
          <a:bodyPr>
            <a:noAutofit/>
          </a:bodyPr>
          <a:p>
            <a:pPr marL="0" indent="0">
              <a:buNone/>
            </a:pPr>
            <a:r>
              <a:rPr lang="zh-CN" altLang="en-US" sz="1100"/>
              <a:t>整体思路：开发国家</a:t>
            </a:r>
            <a:r>
              <a:rPr lang="en-US" altLang="zh-CN" sz="1100"/>
              <a:t>-sport-</a:t>
            </a:r>
            <a:r>
              <a:rPr lang="zh-CN" altLang="en-US" sz="1100"/>
              <a:t>年面板模型，预测奥运奖牌（金</a:t>
            </a:r>
            <a:r>
              <a:rPr lang="en-US" altLang="zh-CN" sz="1100"/>
              <a:t>/</a:t>
            </a:r>
            <a:r>
              <a:rPr lang="zh-CN" altLang="en-US" sz="1100"/>
              <a:t>总），处理零值</a:t>
            </a:r>
            <a:r>
              <a:rPr lang="en-US" altLang="zh-CN" sz="1100"/>
              <a:t>/</a:t>
            </a:r>
            <a:r>
              <a:rPr lang="zh-CN" altLang="en-US" sz="1100"/>
              <a:t>异质性。核心</a:t>
            </a:r>
            <a:r>
              <a:rPr lang="en-US" altLang="zh-CN" sz="1100"/>
              <a:t>ZINB</a:t>
            </a:r>
            <a:r>
              <a:rPr lang="zh-CN" altLang="en-US" sz="1100"/>
              <a:t>捕捉计数</a:t>
            </a:r>
            <a:r>
              <a:rPr lang="en-US" altLang="zh-CN" sz="1100"/>
              <a:t>/</a:t>
            </a:r>
            <a:r>
              <a:rPr lang="zh-CN" altLang="en-US" sz="1100"/>
              <a:t>零膨胀（首次得牌），</a:t>
            </a:r>
            <a:r>
              <a:rPr lang="en-US" altLang="zh-CN" sz="1100"/>
              <a:t>NMF</a:t>
            </a:r>
            <a:r>
              <a:rPr lang="zh-CN" altLang="en-US" sz="1100"/>
              <a:t>分解项目匹配（隐专长），</a:t>
            </a:r>
            <a:r>
              <a:rPr lang="en-US" altLang="zh-CN" sz="1100"/>
              <a:t>SCM</a:t>
            </a:r>
            <a:r>
              <a:rPr lang="zh-CN" altLang="en-US" sz="1100"/>
              <a:t>因果识别教练效应，</a:t>
            </a:r>
            <a:r>
              <a:rPr lang="en-US" altLang="zh-CN" sz="1100"/>
              <a:t>SEM</a:t>
            </a:r>
            <a:r>
              <a:rPr lang="zh-CN" altLang="en-US" sz="1100"/>
              <a:t>中介洞见。创新融入：</a:t>
            </a:r>
            <a:r>
              <a:rPr lang="en-US" altLang="zh-CN" sz="1100"/>
              <a:t>(1) </a:t>
            </a:r>
            <a:r>
              <a:rPr lang="zh-CN" altLang="en-US" sz="1100"/>
              <a:t>性别</a:t>
            </a:r>
            <a:r>
              <a:rPr lang="en-US" altLang="zh-CN" sz="1100"/>
              <a:t>/</a:t>
            </a:r>
            <a:r>
              <a:rPr lang="zh-CN" altLang="en-US" sz="1100"/>
              <a:t>年龄代理变量（从</a:t>
            </a:r>
            <a:r>
              <a:rPr lang="en-US" altLang="zh-CN" sz="1100"/>
              <a:t>athletes.csv</a:t>
            </a:r>
            <a:r>
              <a:rPr lang="zh-CN" altLang="en-US" sz="1100"/>
              <a:t>推，捕捉女子增益</a:t>
            </a:r>
            <a:r>
              <a:rPr lang="en-US" altLang="zh-CN" sz="1100"/>
              <a:t>/</a:t>
            </a:r>
            <a:r>
              <a:rPr lang="zh-CN" altLang="en-US" sz="1100"/>
              <a:t>教练年龄红利）；</a:t>
            </a:r>
            <a:r>
              <a:rPr lang="en-US" altLang="zh-CN" sz="1100"/>
              <a:t>(2) ensemble</a:t>
            </a:r>
            <a:r>
              <a:rPr lang="zh-CN" altLang="en-US" sz="1100"/>
              <a:t>融合（</a:t>
            </a:r>
            <a:r>
              <a:rPr lang="en-US" altLang="zh-CN" sz="1100"/>
              <a:t>ZINB + RF + Tobit voting</a:t>
            </a:r>
            <a:r>
              <a:rPr lang="zh-CN" altLang="en-US" sz="1100"/>
              <a:t>，提升预测鲁棒）。目标：</a:t>
            </a:r>
            <a:r>
              <a:rPr lang="en-US" altLang="zh-CN" sz="1100"/>
              <a:t>2028</a:t>
            </a:r>
            <a:r>
              <a:rPr lang="zh-CN" altLang="en-US" sz="1100"/>
              <a:t>点</a:t>
            </a:r>
            <a:r>
              <a:rPr lang="en-US" altLang="zh-CN" sz="1100"/>
              <a:t>/</a:t>
            </a:r>
            <a:r>
              <a:rPr lang="zh-CN" altLang="en-US" sz="1100"/>
              <a:t>区间预测、首次得牌概率</a:t>
            </a:r>
            <a:r>
              <a:rPr lang="en-US" altLang="zh-CN" sz="1100"/>
              <a:t>/</a:t>
            </a:r>
            <a:r>
              <a:rPr lang="zh-CN" altLang="en-US" sz="1100"/>
              <a:t>赔率、项目</a:t>
            </a:r>
            <a:r>
              <a:rPr lang="en-US" altLang="zh-CN" sz="1100"/>
              <a:t>/</a:t>
            </a:r>
            <a:r>
              <a:rPr lang="zh-CN" altLang="en-US" sz="1100"/>
              <a:t>主机关系、教练贡献、政策洞见。仅用提供数据，代理外部（如运动员份额</a:t>
            </a:r>
            <a:r>
              <a:rPr lang="en-US" altLang="zh-CN" sz="1100"/>
              <a:t>≈</a:t>
            </a:r>
            <a:r>
              <a:rPr lang="zh-CN" altLang="en-US" sz="1100"/>
              <a:t>资源）。</a:t>
            </a:r>
            <a:endParaRPr lang="zh-CN" altLang="en-US" sz="1100"/>
          </a:p>
          <a:p>
            <a:pPr marL="0" indent="0">
              <a:buNone/>
            </a:pPr>
            <a:r>
              <a:rPr lang="zh-CN" altLang="en-US" sz="1100"/>
              <a:t>关键假设</a:t>
            </a:r>
            <a:endParaRPr lang="en-US" altLang="zh-CN" sz="1100"/>
          </a:p>
          <a:p>
            <a:pPr marL="0" indent="0">
              <a:buNone/>
            </a:pPr>
            <a:r>
              <a:rPr lang="zh-CN" altLang="en-US" sz="1100"/>
              <a:t>时间滞后持久性：奖牌份额</a:t>
            </a:r>
            <a:r>
              <a:rPr lang="en-US" altLang="zh-CN" sz="1100"/>
              <a:t>t</a:t>
            </a:r>
            <a:r>
              <a:rPr lang="zh-CN" altLang="en-US" sz="1100"/>
              <a:t>依赖</a:t>
            </a:r>
            <a:r>
              <a:rPr lang="en-US" altLang="zh-CN" sz="1100"/>
              <a:t>t-4</a:t>
            </a:r>
            <a:r>
              <a:rPr lang="zh-CN" altLang="en-US" sz="1100"/>
              <a:t>（系数</a:t>
            </a:r>
            <a:r>
              <a:rPr lang="en-US" altLang="zh-CN" sz="1100"/>
              <a:t>≈0.7</a:t>
            </a:r>
            <a:r>
              <a:rPr lang="zh-CN" altLang="en-US" sz="1100"/>
              <a:t>，基于</a:t>
            </a:r>
            <a:r>
              <a:rPr lang="en-US" altLang="zh-CN" sz="1100"/>
              <a:t>2010/2004</a:t>
            </a:r>
            <a:r>
              <a:rPr lang="zh-CN" altLang="en-US" sz="1100"/>
              <a:t>论文），现实（历史惯性，但忽略黑天鹅如疫情）。</a:t>
            </a:r>
            <a:endParaRPr lang="zh-CN" altLang="en-US" sz="1100"/>
          </a:p>
          <a:p>
            <a:pPr marL="0" indent="0">
              <a:buNone/>
            </a:pPr>
            <a:r>
              <a:rPr lang="zh-CN" altLang="en-US" sz="1100"/>
              <a:t>主机异质效应：</a:t>
            </a:r>
            <a:r>
              <a:rPr lang="en-US" altLang="zh-CN" sz="1100"/>
              <a:t>2%</a:t>
            </a:r>
            <a:r>
              <a:rPr lang="zh-CN" altLang="en-US" sz="1100"/>
              <a:t>份额增</a:t>
            </a:r>
            <a:r>
              <a:rPr lang="en-US" altLang="zh-CN" sz="1100"/>
              <a:t> + ex-ante/post</a:t>
            </a:r>
            <a:r>
              <a:rPr lang="zh-CN" altLang="en-US" sz="1100"/>
              <a:t>溢出</a:t>
            </a:r>
            <a:r>
              <a:rPr lang="en-US" altLang="zh-CN" sz="1100"/>
              <a:t>0.01</a:t>
            </a:r>
            <a:r>
              <a:rPr lang="zh-CN" altLang="en-US" sz="1100"/>
              <a:t>（衰减</a:t>
            </a:r>
            <a:r>
              <a:rPr lang="en-US" altLang="zh-CN" sz="1100"/>
              <a:t>2</a:t>
            </a:r>
            <a:r>
              <a:rPr lang="zh-CN" altLang="en-US" sz="1100"/>
              <a:t>届，基于</a:t>
            </a:r>
            <a:r>
              <a:rPr lang="en-US" altLang="zh-CN" sz="1100"/>
              <a:t>2021 How big/2022/2016 Spirit</a:t>
            </a:r>
            <a:r>
              <a:rPr lang="zh-CN" altLang="en-US" sz="1100"/>
              <a:t>），假设</a:t>
            </a:r>
            <a:r>
              <a:rPr lang="en-US" altLang="zh-CN" sz="1100"/>
              <a:t>2028</a:t>
            </a:r>
            <a:r>
              <a:rPr lang="zh-CN" altLang="en-US" sz="1100"/>
              <a:t>项目</a:t>
            </a:r>
            <a:r>
              <a:rPr lang="en-US" altLang="zh-CN" sz="1100"/>
              <a:t>+5%</a:t>
            </a:r>
            <a:r>
              <a:rPr lang="zh-CN" altLang="en-US" sz="1100"/>
              <a:t>（历史均值），</a:t>
            </a:r>
            <a:r>
              <a:rPr lang="en-US" altLang="zh-CN" sz="1100"/>
              <a:t>USA</a:t>
            </a:r>
            <a:r>
              <a:rPr lang="zh-CN" altLang="en-US" sz="1100"/>
              <a:t>偏强项（篮球</a:t>
            </a:r>
            <a:r>
              <a:rPr lang="en-US" altLang="zh-CN" sz="1100"/>
              <a:t>/</a:t>
            </a:r>
            <a:r>
              <a:rPr lang="zh-CN" altLang="en-US" sz="1100"/>
              <a:t>棒球，从</a:t>
            </a:r>
            <a:r>
              <a:rPr lang="en-US" altLang="zh-CN" sz="1100"/>
              <a:t>programs</a:t>
            </a:r>
            <a:r>
              <a:rPr lang="zh-CN" altLang="en-US" sz="1100"/>
              <a:t>历史新增）。</a:t>
            </a:r>
            <a:endParaRPr lang="zh-CN" altLang="en-US" sz="1100"/>
          </a:p>
          <a:p>
            <a:pPr marL="0" indent="0">
              <a:buNone/>
            </a:pPr>
            <a:r>
              <a:rPr lang="zh-CN" altLang="en-US" sz="1100"/>
              <a:t>首次得牌：基概率</a:t>
            </a:r>
            <a:r>
              <a:rPr lang="en-US" altLang="zh-CN" sz="1100"/>
              <a:t>0.05</a:t>
            </a:r>
            <a:r>
              <a:rPr lang="zh-CN" altLang="en-US" sz="1100"/>
              <a:t>（历史均，小国运动员</a:t>
            </a:r>
            <a:r>
              <a:rPr lang="en-US" altLang="zh-CN" sz="1100"/>
              <a:t>&lt;50</a:t>
            </a:r>
            <a:r>
              <a:rPr lang="zh-CN" altLang="en-US" sz="1100"/>
              <a:t>高），赔率</a:t>
            </a:r>
            <a:r>
              <a:rPr lang="en-US" altLang="zh-CN" sz="1100"/>
              <a:t>=1/(1-p)</a:t>
            </a:r>
            <a:r>
              <a:rPr lang="zh-CN" altLang="en-US" sz="1100"/>
              <a:t>（低概率事件）。</a:t>
            </a:r>
            <a:endParaRPr lang="zh-CN" altLang="en-US" sz="1100"/>
          </a:p>
          <a:p>
            <a:pPr marL="0" indent="0">
              <a:buNone/>
            </a:pPr>
            <a:r>
              <a:rPr lang="zh-CN" altLang="en-US" sz="1100"/>
              <a:t>教练效应：流动阈值</a:t>
            </a:r>
            <a:r>
              <a:rPr lang="en-US" altLang="zh-CN" sz="1100"/>
              <a:t>&gt;5</a:t>
            </a:r>
            <a:r>
              <a:rPr lang="zh-CN" altLang="en-US" sz="1100"/>
              <a:t>代理</a:t>
            </a:r>
            <a:r>
              <a:rPr lang="en-US" altLang="zh-CN" sz="1100"/>
              <a:t>“great coach”</a:t>
            </a:r>
            <a:r>
              <a:rPr lang="zh-CN" altLang="en-US" sz="1100"/>
              <a:t>（</a:t>
            </a:r>
            <a:r>
              <a:rPr lang="en-US" altLang="zh-CN" sz="1100"/>
              <a:t>+3</a:t>
            </a:r>
            <a:r>
              <a:rPr lang="zh-CN" altLang="en-US" sz="1100"/>
              <a:t>枚</a:t>
            </a:r>
            <a:r>
              <a:rPr lang="en-US" altLang="zh-CN" sz="1100"/>
              <a:t>/</a:t>
            </a:r>
            <a:r>
              <a:rPr lang="zh-CN" altLang="en-US" sz="1100"/>
              <a:t>项目，滞后</a:t>
            </a:r>
            <a:r>
              <a:rPr lang="en-US" altLang="zh-CN" sz="1100"/>
              <a:t>1</a:t>
            </a:r>
            <a:r>
              <a:rPr lang="zh-CN" altLang="en-US" sz="1100"/>
              <a:t>届半衰，基于</a:t>
            </a:r>
            <a:r>
              <a:rPr lang="en-US" altLang="zh-CN" sz="1100"/>
              <a:t>2016 Coach/Spirit</a:t>
            </a:r>
            <a:r>
              <a:rPr lang="zh-CN" altLang="en-US" sz="1100"/>
              <a:t>）。</a:t>
            </a:r>
            <a:endParaRPr lang="zh-CN" altLang="en-US" sz="1100"/>
          </a:p>
          <a:p>
            <a:pPr marL="0" indent="0">
              <a:buNone/>
            </a:pPr>
            <a:r>
              <a:rPr lang="zh-CN" altLang="en-US" sz="1100"/>
              <a:t>性别</a:t>
            </a:r>
            <a:r>
              <a:rPr lang="en-US" altLang="zh-CN" sz="1100"/>
              <a:t>/</a:t>
            </a:r>
            <a:r>
              <a:rPr lang="zh-CN" altLang="en-US" sz="1100"/>
              <a:t>年龄：女子项目增</a:t>
            </a:r>
            <a:r>
              <a:rPr lang="en-US" altLang="zh-CN" sz="1100"/>
              <a:t>20%</a:t>
            </a:r>
            <a:r>
              <a:rPr lang="zh-CN" altLang="en-US" sz="1100"/>
              <a:t>（历史趋势，</a:t>
            </a:r>
            <a:r>
              <a:rPr lang="en-US" altLang="zh-CN" sz="1100"/>
              <a:t>2021 How big</a:t>
            </a:r>
            <a:r>
              <a:rPr lang="zh-CN" altLang="en-US" sz="1100"/>
              <a:t>男子优势），年龄</a:t>
            </a:r>
            <a:r>
              <a:rPr lang="en-US" altLang="zh-CN" sz="1100"/>
              <a:t>&lt;30</a:t>
            </a:r>
            <a:r>
              <a:rPr lang="zh-CN" altLang="en-US" sz="1100"/>
              <a:t>高产出（推断代理，假设年轻代更易流动）。</a:t>
            </a:r>
            <a:endParaRPr lang="zh-CN" altLang="en-US" sz="1100"/>
          </a:p>
          <a:p>
            <a:pPr marL="0" indent="0">
              <a:buNone/>
            </a:pPr>
            <a:r>
              <a:rPr lang="zh-CN" altLang="en-US" sz="1100"/>
              <a:t>项目亲和：边际递减（系数</a:t>
            </a:r>
            <a:r>
              <a:rPr lang="en-US" altLang="zh-CN" sz="1100"/>
              <a:t>&lt;1</a:t>
            </a:r>
            <a:r>
              <a:rPr lang="zh-CN" altLang="en-US" sz="1100"/>
              <a:t>），低门槛</a:t>
            </a:r>
            <a:r>
              <a:rPr lang="en-US" altLang="zh-CN" sz="1100"/>
              <a:t>sport</a:t>
            </a:r>
            <a:r>
              <a:rPr lang="zh-CN" altLang="en-US" sz="1100"/>
              <a:t>（事件多，如田径）易突破。</a:t>
            </a:r>
            <a:endParaRPr lang="zh-CN" altLang="en-US" sz="1100"/>
          </a:p>
          <a:p>
            <a:pPr marL="0" indent="0">
              <a:buNone/>
            </a:pPr>
            <a:r>
              <a:rPr lang="zh-CN" altLang="en-US" sz="1100"/>
              <a:t>一般：</a:t>
            </a:r>
            <a:r>
              <a:rPr lang="en-US" altLang="zh-CN" sz="1100"/>
              <a:t>IOC</a:t>
            </a:r>
            <a:r>
              <a:rPr lang="zh-CN" altLang="en-US" sz="1100"/>
              <a:t>代码一致（处理异常），无外部变量（代理现实），平稳无重大规则变（弱假设，敏感性分析）。</a:t>
            </a:r>
            <a:endParaRPr lang="en-US" altLang="zh-CN" sz="1100"/>
          </a:p>
          <a:p>
            <a:pPr marL="0" indent="0">
              <a:buNone/>
            </a:pPr>
            <a:r>
              <a:rPr lang="zh-CN" altLang="en-US" sz="1100"/>
              <a:t>创新点：</a:t>
            </a:r>
            <a:endParaRPr lang="en-US" altLang="zh-CN" sz="1100"/>
          </a:p>
          <a:p>
            <a:pPr marL="0" indent="0">
              <a:buNone/>
            </a:pPr>
            <a:r>
              <a:rPr lang="zh-CN" altLang="en-US" sz="1100"/>
              <a:t>变量创新：性别</a:t>
            </a:r>
            <a:r>
              <a:rPr lang="en-US" altLang="zh-CN" sz="1100"/>
              <a:t>/</a:t>
            </a:r>
            <a:r>
              <a:rPr lang="zh-CN" altLang="en-US" sz="1100"/>
              <a:t>年龄代理（动机：利用</a:t>
            </a:r>
            <a:r>
              <a:rPr lang="en-US" altLang="zh-CN" sz="1100"/>
              <a:t>athletes</a:t>
            </a:r>
            <a:r>
              <a:rPr lang="zh-CN" altLang="en-US" sz="1100"/>
              <a:t>未挖掘特征，增强子</a:t>
            </a:r>
            <a:r>
              <a:rPr lang="en-US" altLang="zh-CN" sz="1100"/>
              <a:t>6</a:t>
            </a:r>
            <a:r>
              <a:rPr lang="zh-CN" altLang="en-US" sz="1100"/>
              <a:t>性别平等洞见；差异化：避纯经济代理）。</a:t>
            </a:r>
            <a:endParaRPr lang="zh-CN" altLang="en-US" sz="1100"/>
          </a:p>
          <a:p>
            <a:pPr marL="0" indent="0">
              <a:buNone/>
            </a:pPr>
            <a:r>
              <a:rPr lang="zh-CN" altLang="en-US" sz="1100"/>
              <a:t>融合创新：</a:t>
            </a:r>
            <a:r>
              <a:rPr lang="en-US" altLang="zh-CN" sz="1100"/>
              <a:t>ensemble voting</a:t>
            </a:r>
            <a:r>
              <a:rPr lang="zh-CN" altLang="en-US" sz="1100"/>
              <a:t>（动机：单模型偏差，融合线性</a:t>
            </a:r>
            <a:r>
              <a:rPr lang="en-US" altLang="zh-CN" sz="1100"/>
              <a:t>/</a:t>
            </a:r>
            <a:r>
              <a:rPr lang="zh-CN" altLang="en-US" sz="1100"/>
              <a:t>非线性提升不确定性</a:t>
            </a:r>
            <a:r>
              <a:rPr lang="en-US" altLang="zh-CN" sz="1100"/>
              <a:t>/</a:t>
            </a:r>
            <a:r>
              <a:rPr lang="zh-CN" altLang="en-US" sz="1100"/>
              <a:t>排名概率；差异化：对比基准显优越）。</a:t>
            </a:r>
            <a:endParaRPr lang="zh-CN" altLang="en-US" sz="1100"/>
          </a:p>
          <a:p>
            <a:pPr marL="0" indent="0">
              <a:buNone/>
            </a:pPr>
            <a:r>
              <a:rPr lang="zh-CN" altLang="en-US" sz="1100"/>
              <a:t>整体创新：</a:t>
            </a:r>
            <a:r>
              <a:rPr lang="en-US" altLang="zh-CN" sz="1100"/>
              <a:t>NMF + </a:t>
            </a:r>
            <a:r>
              <a:rPr lang="zh-CN" altLang="en-US" sz="1100"/>
              <a:t>网络代理教练（数据驱动发现隐专长</a:t>
            </a:r>
            <a:r>
              <a:rPr lang="en-US" altLang="zh-CN" sz="1100"/>
              <a:t>/</a:t>
            </a:r>
            <a:r>
              <a:rPr lang="zh-CN" altLang="en-US" sz="1100"/>
              <a:t>流动，避主观）。</a:t>
            </a:r>
            <a:endParaRPr lang="en-US" altLang="zh-CN" sz="1100"/>
          </a:p>
          <a:p>
            <a:pPr marL="0" indent="0">
              <a:buNone/>
            </a:pPr>
            <a:r>
              <a:rPr lang="zh-CN" altLang="en-US" sz="1100"/>
              <a:t>不确定性</a:t>
            </a:r>
            <a:r>
              <a:rPr lang="en-US" altLang="zh-CN" sz="1100"/>
              <a:t>/</a:t>
            </a:r>
            <a:r>
              <a:rPr lang="zh-CN" altLang="en-US" sz="1100"/>
              <a:t>性能：</a:t>
            </a:r>
            <a:r>
              <a:rPr lang="en-US" altLang="zh-CN" sz="1100"/>
              <a:t>MC</a:t>
            </a:r>
            <a:r>
              <a:rPr lang="zh-CN" altLang="en-US" sz="1100"/>
              <a:t>模拟</a:t>
            </a:r>
            <a:r>
              <a:rPr lang="en-US" altLang="zh-CN" sz="1100"/>
              <a:t>1000</a:t>
            </a:r>
            <a:r>
              <a:rPr lang="zh-CN" altLang="en-US" sz="1100"/>
              <a:t>次（</a:t>
            </a:r>
            <a:r>
              <a:rPr lang="en-US" altLang="zh-CN" sz="1100"/>
              <a:t>95%</a:t>
            </a:r>
            <a:r>
              <a:rPr lang="zh-CN" altLang="en-US" sz="1100"/>
              <a:t>区间</a:t>
            </a:r>
            <a:r>
              <a:rPr lang="en-US" altLang="zh-CN" sz="1100"/>
              <a:t>/</a:t>
            </a:r>
            <a:r>
              <a:rPr lang="zh-CN" altLang="en-US" sz="1100"/>
              <a:t>分布），评估：交叉验证</a:t>
            </a:r>
            <a:r>
              <a:rPr lang="en-US" altLang="zh-CN" sz="1100"/>
              <a:t>RMSE/</a:t>
            </a:r>
            <a:r>
              <a:rPr lang="zh-CN" altLang="en-US" sz="1100"/>
              <a:t>覆盖率</a:t>
            </a:r>
            <a:r>
              <a:rPr lang="en-US" altLang="zh-CN" sz="1100"/>
              <a:t>/AIC</a:t>
            </a:r>
            <a:r>
              <a:rPr lang="zh-CN" altLang="en-US" sz="1100"/>
              <a:t>。</a:t>
            </a:r>
            <a:endParaRPr lang="zh-CN" altLang="en-US" sz="1100"/>
          </a:p>
        </p:txBody>
      </p:sp>
    </p:spTree>
    <p:custDataLst>
      <p:tags r:id="rId3"/>
    </p:custData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a:xfrm>
            <a:off x="608400" y="265500"/>
            <a:ext cx="10969200" cy="705600"/>
          </a:xfrm>
        </p:spPr>
        <p:txBody>
          <a:bodyPr>
            <a:normAutofit fontScale="90000"/>
          </a:bodyPr>
          <a:p>
            <a:r>
              <a:rPr lang="zh-CN" altLang="en-US"/>
              <a:t>编程手：每个子问题提供的变量（结合数据）、公式、参数解释、合理的假设参数</a:t>
            </a:r>
            <a:endParaRPr lang="zh-CN" altLang="en-US"/>
          </a:p>
        </p:txBody>
      </p:sp>
      <p:sp>
        <p:nvSpPr>
          <p:cNvPr id="3" name="内容占位符 2"/>
          <p:cNvSpPr>
            <a:spLocks noGrp="1"/>
          </p:cNvSpPr>
          <p:nvPr>
            <p:ph idx="1"/>
            <p:custDataLst>
              <p:tags r:id="rId2"/>
            </p:custDataLst>
          </p:nvPr>
        </p:nvSpPr>
        <p:spPr>
          <a:xfrm>
            <a:off x="608400" y="1099875"/>
            <a:ext cx="10969200" cy="4759200"/>
          </a:xfrm>
        </p:spPr>
        <p:txBody>
          <a:bodyPr>
            <a:noAutofit/>
          </a:bodyPr>
          <a:p>
            <a:pPr marL="0" indent="0">
              <a:buNone/>
            </a:pPr>
            <a:r>
              <a:rPr lang="zh-CN" altLang="en-US" sz="1400"/>
              <a:t>使用</a:t>
            </a:r>
            <a:r>
              <a:rPr lang="en-US" altLang="zh-CN" sz="1400"/>
              <a:t>R/Python</a:t>
            </a:r>
            <a:r>
              <a:rPr lang="zh-CN" altLang="en-US" sz="1400"/>
              <a:t>（</a:t>
            </a:r>
            <a:r>
              <a:rPr lang="en-US" altLang="zh-CN" sz="1400"/>
              <a:t>zinbwave/nmf/scm/lme4/randomForest</a:t>
            </a:r>
            <a:r>
              <a:rPr lang="zh-CN" altLang="en-US" sz="1400"/>
              <a:t>），数据：</a:t>
            </a:r>
            <a:r>
              <a:rPr lang="en-US" altLang="zh-CN" sz="1400"/>
              <a:t>summerOly_athletes.csv</a:t>
            </a:r>
            <a:r>
              <a:rPr lang="zh-CN" altLang="en-US" sz="1400"/>
              <a:t>（聚合运动员数</a:t>
            </a:r>
            <a:r>
              <a:rPr lang="en-US" altLang="zh-CN" sz="1400"/>
              <a:t>/</a:t>
            </a:r>
            <a:r>
              <a:rPr lang="zh-CN" altLang="en-US" sz="1400"/>
              <a:t>性别</a:t>
            </a:r>
            <a:r>
              <a:rPr lang="en-US" altLang="zh-CN" sz="1400"/>
              <a:t>/</a:t>
            </a:r>
            <a:r>
              <a:rPr lang="zh-CN" altLang="en-US" sz="1400"/>
              <a:t>年龄</a:t>
            </a:r>
            <a:r>
              <a:rPr lang="en-US" altLang="zh-CN" sz="1400"/>
              <a:t>/</a:t>
            </a:r>
            <a:r>
              <a:rPr lang="zh-CN" altLang="en-US" sz="1400"/>
              <a:t>流动）、</a:t>
            </a:r>
            <a:r>
              <a:rPr lang="en-US" altLang="zh-CN" sz="1400"/>
              <a:t>medal_counts.csv</a:t>
            </a:r>
            <a:r>
              <a:rPr lang="zh-CN" altLang="en-US" sz="1400"/>
              <a:t>（份额</a:t>
            </a:r>
            <a:r>
              <a:rPr lang="en-US" altLang="zh-CN" sz="1400"/>
              <a:t>/</a:t>
            </a:r>
            <a:r>
              <a:rPr lang="zh-CN" altLang="en-US" sz="1400"/>
              <a:t>滞后）、</a:t>
            </a:r>
            <a:r>
              <a:rPr lang="en-US" altLang="zh-CN" sz="1400"/>
              <a:t>hosts.csv</a:t>
            </a:r>
            <a:r>
              <a:rPr lang="zh-CN" altLang="en-US" sz="1400"/>
              <a:t>（</a:t>
            </a:r>
            <a:r>
              <a:rPr lang="en-US" altLang="zh-CN" sz="1400"/>
              <a:t>dummy/</a:t>
            </a:r>
            <a:r>
              <a:rPr lang="zh-CN" altLang="en-US" sz="1400"/>
              <a:t>溢出）、</a:t>
            </a:r>
            <a:r>
              <a:rPr lang="en-US" altLang="zh-CN" sz="1400"/>
              <a:t>programs.csv</a:t>
            </a:r>
            <a:r>
              <a:rPr lang="zh-CN" altLang="en-US" sz="1400"/>
              <a:t>（事件</a:t>
            </a:r>
            <a:r>
              <a:rPr lang="en-US" altLang="zh-CN" sz="1400"/>
              <a:t>/</a:t>
            </a:r>
            <a:r>
              <a:rPr lang="zh-CN" altLang="en-US" sz="1400"/>
              <a:t>亲和）。</a:t>
            </a:r>
            <a:endParaRPr lang="en-US" altLang="zh-CN" sz="1400"/>
          </a:p>
          <a:p>
            <a:pPr marL="0" indent="0">
              <a:buNone/>
            </a:pPr>
            <a:r>
              <a:rPr lang="zh-CN" altLang="en-US" sz="1400"/>
              <a:t>子</a:t>
            </a:r>
            <a:r>
              <a:rPr lang="en-US" altLang="zh-CN" sz="1400"/>
              <a:t>1: </a:t>
            </a:r>
            <a:r>
              <a:rPr lang="zh-CN" altLang="en-US" sz="1400"/>
              <a:t>奖牌计数模型（金</a:t>
            </a:r>
            <a:r>
              <a:rPr lang="en-US" altLang="zh-CN" sz="1400"/>
              <a:t>/</a:t>
            </a:r>
            <a:r>
              <a:rPr lang="zh-CN" altLang="en-US" sz="1400"/>
              <a:t>总）</a:t>
            </a:r>
            <a:r>
              <a:rPr lang="en-US" altLang="zh-CN" sz="1400"/>
              <a:t>+</a:t>
            </a:r>
            <a:r>
              <a:rPr lang="zh-CN" altLang="en-US" sz="1400"/>
              <a:t>不确定性</a:t>
            </a:r>
            <a:r>
              <a:rPr lang="en-US" altLang="zh-CN" sz="1400"/>
              <a:t>/</a:t>
            </a:r>
            <a:r>
              <a:rPr lang="zh-CN" altLang="en-US" sz="1400"/>
              <a:t>性能</a:t>
            </a:r>
            <a:endParaRPr lang="zh-CN" altLang="en-US" sz="1400"/>
          </a:p>
          <a:p>
            <a:pPr marL="0" indent="0">
              <a:buNone/>
            </a:pPr>
            <a:r>
              <a:rPr lang="zh-CN" altLang="en-US" sz="1400"/>
              <a:t>变量：因变量</a:t>
            </a:r>
            <a:r>
              <a:rPr lang="en-US" altLang="zh-CN" sz="1400"/>
              <a:t> - MS_{ijt}</a:t>
            </a:r>
            <a:r>
              <a:rPr lang="zh-CN" altLang="en-US" sz="1400"/>
              <a:t>（份额，</a:t>
            </a:r>
            <a:r>
              <a:rPr lang="en-US" altLang="zh-CN" sz="1400"/>
              <a:t>medal_counts/programs</a:t>
            </a:r>
            <a:r>
              <a:rPr lang="zh-CN" altLang="en-US" sz="1400"/>
              <a:t>总牌归一）；自变量</a:t>
            </a:r>
            <a:r>
              <a:rPr lang="en-US" altLang="zh-CN" sz="1400"/>
              <a:t> - MS_{t-4}</a:t>
            </a:r>
            <a:r>
              <a:rPr lang="zh-CN" altLang="en-US" sz="1400"/>
              <a:t>（滞后，</a:t>
            </a:r>
            <a:r>
              <a:rPr lang="en-US" altLang="zh-CN" sz="1400"/>
              <a:t>medal_counts</a:t>
            </a:r>
            <a:r>
              <a:rPr lang="zh-CN" altLang="en-US" sz="1400"/>
              <a:t>）、运动员类（</a:t>
            </a:r>
            <a:r>
              <a:rPr lang="en-US" altLang="zh-CN" sz="1400"/>
              <a:t>[0-9]</a:t>
            </a:r>
            <a:r>
              <a:rPr lang="zh-CN" altLang="en-US" sz="1400"/>
              <a:t>等，</a:t>
            </a:r>
            <a:r>
              <a:rPr lang="en-US" altLang="zh-CN" sz="1400"/>
              <a:t>athletes</a:t>
            </a:r>
            <a:r>
              <a:rPr lang="zh-CN" altLang="en-US" sz="1400"/>
              <a:t>聚合）、</a:t>
            </a:r>
            <a:r>
              <a:rPr lang="en-US" altLang="zh-CN" sz="1400"/>
              <a:t>Host_{it}</a:t>
            </a:r>
            <a:r>
              <a:rPr lang="zh-CN" altLang="en-US" sz="1400"/>
              <a:t>（</a:t>
            </a:r>
            <a:r>
              <a:rPr lang="en-US" altLang="zh-CN" sz="1400"/>
              <a:t>hosts</a:t>
            </a:r>
            <a:r>
              <a:rPr lang="zh-CN" altLang="en-US" sz="1400"/>
              <a:t>）、区域</a:t>
            </a:r>
            <a:r>
              <a:rPr lang="en-US" altLang="zh-CN" sz="1400"/>
              <a:t>/</a:t>
            </a:r>
            <a:r>
              <a:rPr lang="zh-CN" altLang="en-US" sz="1400"/>
              <a:t>超级（代码分类）、项目亲和（</a:t>
            </a:r>
            <a:r>
              <a:rPr lang="en-US" altLang="zh-CN" sz="1400"/>
              <a:t>medal_counts/programs</a:t>
            </a:r>
            <a:r>
              <a:rPr lang="zh-CN" altLang="en-US" sz="1400"/>
              <a:t>率</a:t>
            </a:r>
            <a:r>
              <a:rPr lang="en-US" altLang="en-US" sz="1400"/>
              <a:t>×</a:t>
            </a:r>
            <a:r>
              <a:rPr lang="zh-CN" altLang="en-US" sz="1400"/>
              <a:t>事件）、性别比例（</a:t>
            </a:r>
            <a:r>
              <a:rPr lang="en-US" altLang="zh-CN" sz="1400"/>
              <a:t>athletes Team</a:t>
            </a:r>
            <a:r>
              <a:rPr lang="zh-CN" altLang="en-US" sz="1400"/>
              <a:t>推，女</a:t>
            </a:r>
            <a:r>
              <a:rPr lang="en-US" altLang="zh-CN" sz="1400"/>
              <a:t>=1</a:t>
            </a:r>
            <a:r>
              <a:rPr lang="zh-CN" altLang="en-US" sz="1400"/>
              <a:t>）、年龄均值（出生年推，</a:t>
            </a:r>
            <a:r>
              <a:rPr lang="en-US" altLang="zh-CN" sz="1400"/>
              <a:t>&lt;30 dummy</a:t>
            </a:r>
            <a:r>
              <a:rPr lang="zh-CN" altLang="en-US" sz="1400"/>
              <a:t>）。</a:t>
            </a:r>
            <a:endParaRPr lang="zh-CN" altLang="en-US" sz="1400"/>
          </a:p>
          <a:p>
            <a:pPr marL="0" indent="0">
              <a:buNone/>
            </a:pPr>
            <a:r>
              <a:rPr lang="zh-CN" altLang="en-US" sz="1400"/>
              <a:t>公式：</a:t>
            </a:r>
            <a:r>
              <a:rPr lang="en-US" altLang="zh-CN" sz="1400"/>
              <a:t>ensemble [ZINB logit(π)=γ0 + γ1 MS_{t-4} + ... + γ6 </a:t>
            </a:r>
            <a:r>
              <a:rPr lang="zh-CN" altLang="en-US" sz="1400"/>
              <a:t>性别</a:t>
            </a:r>
            <a:r>
              <a:rPr lang="en-US" altLang="zh-CN" sz="1400"/>
              <a:t> + θ_t + δ_j</a:t>
            </a:r>
            <a:r>
              <a:rPr lang="zh-CN" altLang="en-US" sz="1400"/>
              <a:t>；</a:t>
            </a:r>
            <a:r>
              <a:rPr lang="en-US" altLang="zh-CN" sz="1400"/>
              <a:t>ln(μ)=β0 + β1 MS_{t-4} + ... ] + RF (</a:t>
            </a:r>
            <a:r>
              <a:rPr lang="zh-CN" altLang="en-US" sz="1400"/>
              <a:t>树</a:t>
            </a:r>
            <a:r>
              <a:rPr lang="en-US" altLang="zh-CN" sz="1400"/>
              <a:t>500</a:t>
            </a:r>
            <a:r>
              <a:rPr lang="zh-CN" altLang="en-US" sz="1400"/>
              <a:t>，非线性</a:t>
            </a:r>
            <a:r>
              <a:rPr lang="en-US" altLang="zh-CN" sz="1400"/>
              <a:t>) + Tobit (y*=Xβ + ε, y=max(0,y*))</a:t>
            </a:r>
            <a:r>
              <a:rPr lang="zh-CN" altLang="en-US" sz="1400"/>
              <a:t>；</a:t>
            </a:r>
            <a:r>
              <a:rPr lang="en-US" altLang="zh-CN" sz="1400"/>
              <a:t>voting</a:t>
            </a:r>
            <a:r>
              <a:rPr lang="zh-CN" altLang="en-US" sz="1400"/>
              <a:t>均值</a:t>
            </a:r>
            <a:r>
              <a:rPr lang="en-US" altLang="zh-CN" sz="1400"/>
              <a:t>/</a:t>
            </a:r>
            <a:r>
              <a:rPr lang="zh-CN" altLang="en-US" sz="1400"/>
              <a:t>分布。</a:t>
            </a:r>
            <a:endParaRPr lang="zh-CN" altLang="en-US" sz="1400"/>
          </a:p>
          <a:p>
            <a:pPr marL="0" indent="0">
              <a:buNone/>
            </a:pPr>
            <a:r>
              <a:rPr lang="zh-CN" altLang="en-US" sz="1400"/>
              <a:t>参数解释：</a:t>
            </a:r>
            <a:r>
              <a:rPr lang="en-US" altLang="zh-CN" sz="1400"/>
              <a:t>γ1</a:t>
            </a:r>
            <a:r>
              <a:rPr lang="zh-CN" altLang="en-US" sz="1400"/>
              <a:t>滞后</a:t>
            </a:r>
            <a:r>
              <a:rPr lang="en-US" altLang="zh-CN" sz="1400"/>
              <a:t>≈0.7</a:t>
            </a:r>
            <a:r>
              <a:rPr lang="zh-CN" altLang="en-US" sz="1400"/>
              <a:t>（惯性）；</a:t>
            </a:r>
            <a:r>
              <a:rPr lang="en-US" altLang="zh-CN" sz="1400"/>
              <a:t>β3 Host≈0.02</a:t>
            </a:r>
            <a:r>
              <a:rPr lang="zh-CN" altLang="en-US" sz="1400"/>
              <a:t>（</a:t>
            </a:r>
            <a:r>
              <a:rPr lang="en-US" altLang="zh-CN" sz="1400"/>
              <a:t>2%</a:t>
            </a:r>
            <a:r>
              <a:rPr lang="zh-CN" altLang="en-US" sz="1400"/>
              <a:t>增）；</a:t>
            </a:r>
            <a:r>
              <a:rPr lang="en-US" altLang="zh-CN" sz="1400"/>
              <a:t>γ6</a:t>
            </a:r>
            <a:r>
              <a:rPr lang="zh-CN" altLang="en-US" sz="1400"/>
              <a:t>性别</a:t>
            </a:r>
            <a:r>
              <a:rPr lang="en-US" altLang="zh-CN" sz="1400"/>
              <a:t>&gt;0</a:t>
            </a:r>
            <a:r>
              <a:rPr lang="zh-CN" altLang="en-US" sz="1400"/>
              <a:t>（女子增）；不确定</a:t>
            </a:r>
            <a:r>
              <a:rPr lang="en-US" altLang="zh-CN" sz="1400"/>
              <a:t>MC</a:t>
            </a:r>
            <a:r>
              <a:rPr lang="zh-CN" altLang="en-US" sz="1400"/>
              <a:t>模拟。</a:t>
            </a:r>
            <a:endParaRPr lang="zh-CN" altLang="en-US" sz="1400"/>
          </a:p>
          <a:p>
            <a:pPr marL="0" indent="0">
              <a:buNone/>
            </a:pPr>
            <a:r>
              <a:rPr lang="zh-CN" altLang="en-US" sz="1400"/>
              <a:t>假设参数：滞后</a:t>
            </a:r>
            <a:r>
              <a:rPr lang="en-US" altLang="zh-CN" sz="1400"/>
              <a:t>0.7</a:t>
            </a:r>
            <a:r>
              <a:rPr lang="zh-CN" altLang="en-US" sz="1400"/>
              <a:t>；性别增</a:t>
            </a:r>
            <a:r>
              <a:rPr lang="en-US" altLang="zh-CN" sz="1400"/>
              <a:t>20%</a:t>
            </a:r>
            <a:r>
              <a:rPr lang="zh-CN" altLang="en-US" sz="1400"/>
              <a:t>（历史）；运动员类基准</a:t>
            </a:r>
            <a:r>
              <a:rPr lang="en-US" altLang="zh-CN" sz="1400"/>
              <a:t>0-9</a:t>
            </a:r>
            <a:r>
              <a:rPr lang="zh-CN" altLang="en-US" sz="1400"/>
              <a:t>，系数递增</a:t>
            </a:r>
            <a:r>
              <a:rPr lang="en-US" altLang="zh-CN" sz="1400"/>
              <a:t>0.01-0.03</a:t>
            </a:r>
            <a:r>
              <a:rPr lang="zh-CN" altLang="en-US" sz="1400"/>
              <a:t>。</a:t>
            </a:r>
            <a:endParaRPr lang="en-US" altLang="zh-CN" sz="1400"/>
          </a:p>
          <a:p>
            <a:pPr marL="0" indent="0">
              <a:buNone/>
            </a:pPr>
            <a:r>
              <a:rPr lang="zh-CN" altLang="en-US" sz="1400"/>
              <a:t>子</a:t>
            </a:r>
            <a:r>
              <a:rPr lang="en-US" altLang="zh-CN" sz="1400"/>
              <a:t>2: 2028</a:t>
            </a:r>
            <a:r>
              <a:rPr lang="zh-CN" altLang="en-US" sz="1400"/>
              <a:t>预测</a:t>
            </a:r>
            <a:r>
              <a:rPr lang="en-US" altLang="zh-CN" sz="1400"/>
              <a:t> + </a:t>
            </a:r>
            <a:r>
              <a:rPr lang="zh-CN" altLang="en-US" sz="1400"/>
              <a:t>区间</a:t>
            </a:r>
            <a:r>
              <a:rPr lang="en-US" altLang="zh-CN" sz="1400"/>
              <a:t> + </a:t>
            </a:r>
            <a:r>
              <a:rPr lang="zh-CN" altLang="en-US" sz="1400"/>
              <a:t>改进</a:t>
            </a:r>
            <a:r>
              <a:rPr lang="en-US" altLang="zh-CN" sz="1400"/>
              <a:t>/</a:t>
            </a:r>
            <a:r>
              <a:rPr lang="zh-CN" altLang="en-US" sz="1400"/>
              <a:t>下降</a:t>
            </a:r>
            <a:endParaRPr lang="zh-CN" altLang="en-US" sz="1400"/>
          </a:p>
          <a:p>
            <a:pPr marL="0" indent="0">
              <a:buNone/>
            </a:pPr>
            <a:r>
              <a:rPr lang="zh-CN" altLang="en-US" sz="1400"/>
              <a:t>变量：同子</a:t>
            </a:r>
            <a:r>
              <a:rPr lang="en-US" altLang="zh-CN" sz="1400"/>
              <a:t>1 + Host</a:t>
            </a:r>
            <a:r>
              <a:rPr lang="zh-CN" altLang="en-US" sz="1400"/>
              <a:t>滞后（</a:t>
            </a:r>
            <a:r>
              <a:rPr lang="en-US" altLang="zh-CN" sz="1400"/>
              <a:t>hosts t</a:t>
            </a:r>
            <a:r>
              <a:rPr lang="en-US" altLang="en-US" sz="1400"/>
              <a:t>±</a:t>
            </a:r>
            <a:r>
              <a:rPr lang="en-US" altLang="zh-CN" sz="1400"/>
              <a:t>1</a:t>
            </a:r>
            <a:r>
              <a:rPr lang="zh-CN" altLang="en-US" sz="1400"/>
              <a:t>）；改进</a:t>
            </a:r>
            <a:r>
              <a:rPr lang="en-US" altLang="zh-CN" sz="1400"/>
              <a:t>=ΔMS&gt;0.1</a:t>
            </a:r>
            <a:r>
              <a:rPr lang="zh-CN" altLang="en-US" sz="1400"/>
              <a:t>概率（</a:t>
            </a:r>
            <a:r>
              <a:rPr lang="en-US" altLang="zh-CN" sz="1400"/>
              <a:t>MC</a:t>
            </a:r>
            <a:r>
              <a:rPr lang="zh-CN" altLang="en-US" sz="1400"/>
              <a:t>）。</a:t>
            </a:r>
            <a:endParaRPr lang="zh-CN" altLang="en-US" sz="1400"/>
          </a:p>
          <a:p>
            <a:pPr marL="0" indent="0">
              <a:buNone/>
            </a:pPr>
            <a:r>
              <a:rPr lang="zh-CN" altLang="en-US" sz="1400"/>
              <a:t>公式：</a:t>
            </a:r>
            <a:r>
              <a:rPr lang="en-US" altLang="zh-CN" sz="1400"/>
              <a:t>ensemble</a:t>
            </a:r>
            <a:r>
              <a:rPr lang="zh-CN" altLang="en-US" sz="1400"/>
              <a:t>拟合外推（项目</a:t>
            </a:r>
            <a:r>
              <a:rPr lang="en-US" altLang="zh-CN" sz="1400"/>
              <a:t>+5%</a:t>
            </a:r>
            <a:r>
              <a:rPr lang="zh-CN" altLang="en-US" sz="1400"/>
              <a:t>假设），</a:t>
            </a:r>
            <a:r>
              <a:rPr lang="en-US" altLang="zh-CN" sz="1400"/>
              <a:t>MC 1000</a:t>
            </a:r>
            <a:r>
              <a:rPr lang="zh-CN" altLang="en-US" sz="1400"/>
              <a:t>模拟分布；排名概率矩阵（谁超</a:t>
            </a:r>
            <a:r>
              <a:rPr lang="en-US" altLang="zh-CN" sz="1400"/>
              <a:t>/</a:t>
            </a:r>
            <a:r>
              <a:rPr lang="zh-CN" altLang="en-US" sz="1400"/>
              <a:t>降前</a:t>
            </a:r>
            <a:r>
              <a:rPr lang="en-US" altLang="zh-CN" sz="1400"/>
              <a:t>10</a:t>
            </a:r>
            <a:r>
              <a:rPr lang="zh-CN" altLang="en-US" sz="1400"/>
              <a:t>）。</a:t>
            </a:r>
            <a:endParaRPr lang="zh-CN" altLang="en-US" sz="1400"/>
          </a:p>
          <a:p>
            <a:pPr marL="0" indent="0">
              <a:buNone/>
            </a:pPr>
            <a:r>
              <a:rPr lang="zh-CN" altLang="en-US" sz="1400"/>
              <a:t>参数解释：溢出</a:t>
            </a:r>
            <a:r>
              <a:rPr lang="en-US" altLang="zh-CN" sz="1400"/>
              <a:t>β2/β3≈0.01</a:t>
            </a:r>
            <a:r>
              <a:rPr lang="zh-CN" altLang="en-US" sz="1400"/>
              <a:t>（</a:t>
            </a:r>
            <a:r>
              <a:rPr lang="en-US" altLang="zh-CN" sz="1400"/>
              <a:t>ex-ante/post</a:t>
            </a:r>
            <a:r>
              <a:rPr lang="zh-CN" altLang="en-US" sz="1400"/>
              <a:t>）；区间</a:t>
            </a:r>
            <a:r>
              <a:rPr lang="en-US" altLang="zh-CN" sz="1400"/>
              <a:t>95%</a:t>
            </a:r>
            <a:r>
              <a:rPr lang="zh-CN" altLang="en-US" sz="1400"/>
              <a:t>分位。</a:t>
            </a:r>
            <a:endParaRPr lang="zh-CN" altLang="en-US" sz="1400"/>
          </a:p>
          <a:p>
            <a:pPr marL="0" indent="0">
              <a:buNone/>
            </a:pPr>
            <a:r>
              <a:rPr lang="zh-CN" altLang="en-US" sz="1400"/>
              <a:t>假设参数：</a:t>
            </a:r>
            <a:r>
              <a:rPr lang="en-US" altLang="zh-CN" sz="1400"/>
              <a:t>2028</a:t>
            </a:r>
            <a:r>
              <a:rPr lang="zh-CN" altLang="en-US" sz="1400"/>
              <a:t>项目增长</a:t>
            </a:r>
            <a:r>
              <a:rPr lang="en-US" altLang="zh-CN" sz="1400"/>
              <a:t>5%</a:t>
            </a:r>
            <a:r>
              <a:rPr lang="zh-CN" altLang="en-US" sz="1400"/>
              <a:t>（均值）；</a:t>
            </a:r>
            <a:r>
              <a:rPr lang="en-US" altLang="zh-CN" sz="1400"/>
              <a:t>USA</a:t>
            </a:r>
            <a:r>
              <a:rPr lang="zh-CN" altLang="en-US" sz="1400"/>
              <a:t>增</a:t>
            </a:r>
            <a:r>
              <a:rPr lang="en-US" altLang="zh-CN" sz="1400"/>
              <a:t>15%</a:t>
            </a:r>
            <a:r>
              <a:rPr lang="zh-CN" altLang="en-US" sz="1400"/>
              <a:t>（历史主机均，衰减</a:t>
            </a:r>
            <a:r>
              <a:rPr lang="en-US" altLang="zh-CN" sz="1400"/>
              <a:t>2</a:t>
            </a:r>
            <a:r>
              <a:rPr lang="zh-CN" altLang="en-US" sz="1400"/>
              <a:t>届）。</a:t>
            </a:r>
            <a:endParaRPr lang="zh-CN" altLang="en-US" sz="1400"/>
          </a:p>
        </p:txBody>
      </p:sp>
    </p:spTree>
    <p:custDataLst>
      <p:tags r:id="rId3"/>
    </p:custData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custDataLst>
              <p:tags r:id="rId1"/>
            </p:custDataLst>
          </p:nvPr>
        </p:nvSpPr>
        <p:spPr>
          <a:xfrm>
            <a:off x="608330" y="174625"/>
            <a:ext cx="10968990" cy="5865495"/>
          </a:xfrm>
        </p:spPr>
        <p:txBody>
          <a:bodyPr>
            <a:noAutofit/>
          </a:bodyPr>
          <a:p>
            <a:pPr marL="0" indent="0">
              <a:buNone/>
            </a:pPr>
            <a:r>
              <a:rPr lang="zh-CN" altLang="en-US" sz="1000"/>
              <a:t>子</a:t>
            </a:r>
            <a:r>
              <a:rPr lang="en-US" altLang="zh-CN" sz="1000"/>
              <a:t>3: </a:t>
            </a:r>
            <a:r>
              <a:rPr lang="zh-CN" altLang="en-US" sz="1000"/>
              <a:t>首次得牌数量</a:t>
            </a:r>
            <a:r>
              <a:rPr lang="en-US" altLang="zh-CN" sz="1000"/>
              <a:t>/</a:t>
            </a:r>
            <a:r>
              <a:rPr lang="zh-CN" altLang="en-US" sz="1000"/>
              <a:t>概率</a:t>
            </a:r>
            <a:r>
              <a:rPr lang="en-US" altLang="zh-CN" sz="1000"/>
              <a:t> + </a:t>
            </a:r>
            <a:r>
              <a:rPr lang="zh-CN" altLang="en-US" sz="1000"/>
              <a:t>赔率</a:t>
            </a:r>
            <a:endParaRPr lang="zh-CN" altLang="en-US" sz="1000"/>
          </a:p>
          <a:p>
            <a:pPr marL="0" indent="0">
              <a:buNone/>
            </a:pPr>
            <a:r>
              <a:rPr lang="zh-CN" altLang="en-US" sz="1000"/>
              <a:t>变量：二值（得牌</a:t>
            </a:r>
            <a:r>
              <a:rPr lang="en-US" altLang="zh-CN" sz="1000"/>
              <a:t>=1</a:t>
            </a:r>
            <a:r>
              <a:rPr lang="zh-CN" altLang="en-US" sz="1000"/>
              <a:t>，</a:t>
            </a:r>
            <a:r>
              <a:rPr lang="en-US" altLang="zh-CN" sz="1000"/>
              <a:t>medal_counts</a:t>
            </a:r>
            <a:r>
              <a:rPr lang="zh-CN" altLang="en-US" sz="1000"/>
              <a:t>）；运动员</a:t>
            </a:r>
            <a:r>
              <a:rPr lang="en-US" altLang="zh-CN" sz="1000"/>
              <a:t>&lt;50 dummy</a:t>
            </a:r>
            <a:r>
              <a:rPr lang="zh-CN" altLang="en-US" sz="1000"/>
              <a:t>（</a:t>
            </a:r>
            <a:r>
              <a:rPr lang="en-US" altLang="zh-CN" sz="1000"/>
              <a:t>athletes</a:t>
            </a:r>
            <a:r>
              <a:rPr lang="zh-CN" altLang="en-US" sz="1000"/>
              <a:t>）、低门槛</a:t>
            </a:r>
            <a:r>
              <a:rPr lang="en-US" altLang="zh-CN" sz="1000"/>
              <a:t>sport</a:t>
            </a:r>
            <a:r>
              <a:rPr lang="zh-CN" altLang="en-US" sz="1000"/>
              <a:t>（</a:t>
            </a:r>
            <a:r>
              <a:rPr lang="en-US" altLang="zh-CN" sz="1000"/>
              <a:t>programs</a:t>
            </a:r>
            <a:r>
              <a:rPr lang="zh-CN" altLang="en-US" sz="1000"/>
              <a:t>事件</a:t>
            </a:r>
            <a:r>
              <a:rPr lang="en-US" altLang="zh-CN" sz="1000"/>
              <a:t>&gt;10</a:t>
            </a:r>
            <a:r>
              <a:rPr lang="zh-CN" altLang="en-US" sz="1000"/>
              <a:t>）、年龄</a:t>
            </a:r>
            <a:r>
              <a:rPr lang="en-US" altLang="zh-CN" sz="1000"/>
              <a:t>&lt;30</a:t>
            </a:r>
            <a:r>
              <a:rPr lang="zh-CN" altLang="en-US" sz="1000"/>
              <a:t>比例。</a:t>
            </a:r>
            <a:endParaRPr lang="zh-CN" altLang="en-US" sz="1000"/>
          </a:p>
          <a:p>
            <a:pPr marL="0" indent="0">
              <a:buNone/>
            </a:pPr>
            <a:r>
              <a:rPr lang="zh-CN" altLang="en-US" sz="1000"/>
              <a:t>公式：</a:t>
            </a:r>
            <a:r>
              <a:rPr lang="en-US" altLang="zh-CN" sz="1000"/>
              <a:t>ZINB</a:t>
            </a:r>
            <a:r>
              <a:rPr lang="zh-CN" altLang="en-US" sz="1000"/>
              <a:t>零部分</a:t>
            </a:r>
            <a:r>
              <a:rPr lang="en-US" altLang="zh-CN" sz="1000"/>
              <a:t> p=1-π</a:t>
            </a:r>
            <a:r>
              <a:rPr lang="zh-CN" altLang="en-US" sz="1000"/>
              <a:t>；数量</a:t>
            </a:r>
            <a:r>
              <a:rPr lang="en-US" altLang="zh-CN" sz="1000"/>
              <a:t>~Poisson(λ=</a:t>
            </a:r>
            <a:r>
              <a:rPr lang="zh-CN" altLang="en-US" sz="1000"/>
              <a:t>历史均</a:t>
            </a:r>
            <a:r>
              <a:rPr lang="en-US" altLang="zh-CN" sz="1000"/>
              <a:t>5)</a:t>
            </a:r>
            <a:r>
              <a:rPr lang="zh-CN" altLang="en-US" sz="1000"/>
              <a:t>；赔率</a:t>
            </a:r>
            <a:r>
              <a:rPr lang="en-US" altLang="zh-CN" sz="1000"/>
              <a:t>=1/(1-p)</a:t>
            </a:r>
            <a:r>
              <a:rPr lang="zh-CN" altLang="en-US" sz="1000"/>
              <a:t>。</a:t>
            </a:r>
            <a:endParaRPr lang="zh-CN" altLang="en-US" sz="1000"/>
          </a:p>
          <a:p>
            <a:pPr marL="0" indent="0">
              <a:buNone/>
            </a:pPr>
            <a:r>
              <a:rPr lang="zh-CN" altLang="en-US" sz="1000"/>
              <a:t>参数解释：</a:t>
            </a:r>
            <a:r>
              <a:rPr lang="en-US" altLang="zh-CN" sz="1000"/>
              <a:t>γ2</a:t>
            </a:r>
            <a:r>
              <a:rPr lang="zh-CN" altLang="en-US" sz="1000"/>
              <a:t>运动员</a:t>
            </a:r>
            <a:r>
              <a:rPr lang="en-US" altLang="zh-CN" sz="1000"/>
              <a:t>&lt;50&gt;0</a:t>
            </a:r>
            <a:r>
              <a:rPr lang="zh-CN" altLang="en-US" sz="1000"/>
              <a:t>（高</a:t>
            </a:r>
            <a:r>
              <a:rPr lang="en-US" altLang="zh-CN" sz="1000"/>
              <a:t>p</a:t>
            </a:r>
            <a:r>
              <a:rPr lang="zh-CN" altLang="en-US" sz="1000"/>
              <a:t>）；</a:t>
            </a:r>
            <a:r>
              <a:rPr lang="en-US" altLang="zh-CN" sz="1000"/>
              <a:t>λ=5-8</a:t>
            </a:r>
            <a:r>
              <a:rPr lang="zh-CN" altLang="en-US" sz="1000"/>
              <a:t>（历史）。</a:t>
            </a:r>
            <a:endParaRPr lang="zh-CN" altLang="en-US" sz="1000"/>
          </a:p>
          <a:p>
            <a:pPr marL="0" indent="0">
              <a:buNone/>
            </a:pPr>
            <a:r>
              <a:rPr lang="zh-CN" altLang="en-US" sz="1000"/>
              <a:t>假设参数：基</a:t>
            </a:r>
            <a:r>
              <a:rPr lang="en-US" altLang="zh-CN" sz="1000"/>
              <a:t>p=0.05</a:t>
            </a:r>
            <a:r>
              <a:rPr lang="zh-CN" altLang="en-US" sz="1000"/>
              <a:t>（小国</a:t>
            </a:r>
            <a:r>
              <a:rPr lang="en-US" altLang="zh-CN" sz="1000"/>
              <a:t>0.1</a:t>
            </a:r>
            <a:r>
              <a:rPr lang="zh-CN" altLang="en-US" sz="1000"/>
              <a:t>）；赔率</a:t>
            </a:r>
            <a:r>
              <a:rPr lang="en-US" altLang="zh-CN" sz="1000"/>
              <a:t>1:19</a:t>
            </a:r>
            <a:r>
              <a:rPr lang="zh-CN" altLang="en-US" sz="1000"/>
              <a:t>（低事件）。</a:t>
            </a:r>
            <a:endParaRPr lang="en-US" altLang="zh-CN" sz="1000"/>
          </a:p>
          <a:p>
            <a:pPr marL="0" indent="0">
              <a:buNone/>
            </a:pPr>
            <a:r>
              <a:rPr lang="zh-CN" altLang="en-US" sz="1000"/>
              <a:t>子</a:t>
            </a:r>
            <a:r>
              <a:rPr lang="en-US" altLang="zh-CN" sz="1000"/>
              <a:t>4: </a:t>
            </a:r>
            <a:r>
              <a:rPr lang="zh-CN" altLang="en-US" sz="1000"/>
              <a:t>项目设置</a:t>
            </a:r>
            <a:r>
              <a:rPr lang="en-US" altLang="zh-CN" sz="1000"/>
              <a:t>/</a:t>
            </a:r>
            <a:r>
              <a:rPr lang="zh-CN" altLang="en-US" sz="1000"/>
              <a:t>奖牌关系</a:t>
            </a:r>
            <a:r>
              <a:rPr lang="en-US" altLang="zh-CN" sz="1000"/>
              <a:t> + </a:t>
            </a:r>
            <a:r>
              <a:rPr lang="zh-CN" altLang="en-US" sz="1000"/>
              <a:t>主机效应</a:t>
            </a:r>
            <a:r>
              <a:rPr lang="en-US" altLang="zh-CN" sz="1000"/>
              <a:t> + </a:t>
            </a:r>
            <a:r>
              <a:rPr lang="zh-CN" altLang="en-US" sz="1000"/>
              <a:t>重要</a:t>
            </a:r>
            <a:r>
              <a:rPr lang="en-US" altLang="zh-CN" sz="1000"/>
              <a:t>sport</a:t>
            </a:r>
            <a:endParaRPr lang="en-US" altLang="zh-CN" sz="1000"/>
          </a:p>
          <a:p>
            <a:pPr marL="0" indent="0">
              <a:buNone/>
            </a:pPr>
            <a:r>
              <a:rPr lang="zh-CN" altLang="en-US" sz="1000"/>
              <a:t>变量：项目亲和（</a:t>
            </a:r>
            <a:r>
              <a:rPr lang="en-US" altLang="zh-CN" sz="1000"/>
              <a:t>programs</a:t>
            </a:r>
            <a:r>
              <a:rPr lang="zh-CN" altLang="en-US" sz="1000"/>
              <a:t>事件</a:t>
            </a:r>
            <a:r>
              <a:rPr lang="en-US" altLang="en-US" sz="1000"/>
              <a:t>×</a:t>
            </a:r>
            <a:r>
              <a:rPr lang="en-US" altLang="zh-CN" sz="1000"/>
              <a:t>medal_counts</a:t>
            </a:r>
            <a:r>
              <a:rPr lang="zh-CN" altLang="en-US" sz="1000"/>
              <a:t>率）；</a:t>
            </a:r>
            <a:r>
              <a:rPr lang="en-US" altLang="zh-CN" sz="1000"/>
              <a:t>Host</a:t>
            </a:r>
            <a:r>
              <a:rPr lang="en-US" altLang="en-US" sz="1000"/>
              <a:t>×</a:t>
            </a:r>
            <a:r>
              <a:rPr lang="zh-CN" altLang="en-US" sz="1000"/>
              <a:t>亲和交互（</a:t>
            </a:r>
            <a:r>
              <a:rPr lang="en-US" altLang="zh-CN" sz="1000"/>
              <a:t>hosts</a:t>
            </a:r>
            <a:r>
              <a:rPr lang="zh-CN" altLang="en-US" sz="1000"/>
              <a:t>）；性别比例（女子项目增）。</a:t>
            </a:r>
            <a:endParaRPr lang="zh-CN" altLang="en-US" sz="1000"/>
          </a:p>
          <a:p>
            <a:pPr marL="0" indent="0">
              <a:buNone/>
            </a:pPr>
            <a:r>
              <a:rPr lang="zh-CN" altLang="en-US" sz="1000"/>
              <a:t>公式：</a:t>
            </a:r>
            <a:r>
              <a:rPr lang="en-US" altLang="zh-CN" sz="1000"/>
              <a:t>ZINB + NMF (A=WH, </a:t>
            </a:r>
            <a:r>
              <a:rPr lang="zh-CN" altLang="en-US" sz="1000"/>
              <a:t>秩</a:t>
            </a:r>
            <a:r>
              <a:rPr lang="en-US" altLang="zh-CN" sz="1000"/>
              <a:t>5)</a:t>
            </a:r>
            <a:r>
              <a:rPr lang="zh-CN" altLang="en-US" sz="1000"/>
              <a:t>；交互</a:t>
            </a:r>
            <a:r>
              <a:rPr lang="en-US" altLang="zh-CN" sz="1000"/>
              <a:t>β3 Host</a:t>
            </a:r>
            <a:r>
              <a:rPr lang="en-US" altLang="en-US" sz="1000"/>
              <a:t>×</a:t>
            </a:r>
            <a:r>
              <a:rPr lang="zh-CN" altLang="en-US" sz="1000"/>
              <a:t>因子。</a:t>
            </a:r>
            <a:endParaRPr lang="zh-CN" altLang="en-US" sz="1000"/>
          </a:p>
          <a:p>
            <a:pPr marL="0" indent="0">
              <a:buNone/>
            </a:pPr>
            <a:r>
              <a:rPr lang="zh-CN" altLang="en-US" sz="1000"/>
              <a:t>参数解释：因子载荷</a:t>
            </a:r>
            <a:r>
              <a:rPr lang="en-US" altLang="zh-CN" sz="1000"/>
              <a:t>top3=</a:t>
            </a:r>
            <a:r>
              <a:rPr lang="zh-CN" altLang="en-US" sz="1000"/>
              <a:t>重要</a:t>
            </a:r>
            <a:r>
              <a:rPr lang="en-US" altLang="zh-CN" sz="1000"/>
              <a:t>sport</a:t>
            </a:r>
            <a:r>
              <a:rPr lang="zh-CN" altLang="en-US" sz="1000"/>
              <a:t>（</a:t>
            </a:r>
            <a:r>
              <a:rPr lang="en-US" altLang="zh-CN" sz="1000"/>
              <a:t>e.g., </a:t>
            </a:r>
            <a:r>
              <a:rPr lang="zh-CN" altLang="en-US" sz="1000"/>
              <a:t>田径</a:t>
            </a:r>
            <a:r>
              <a:rPr lang="en-US" altLang="zh-CN" sz="1000"/>
              <a:t>0.4</a:t>
            </a:r>
            <a:r>
              <a:rPr lang="zh-CN" altLang="en-US" sz="1000"/>
              <a:t>）；交互</a:t>
            </a:r>
            <a:r>
              <a:rPr lang="en-US" altLang="zh-CN" sz="1000"/>
              <a:t>&gt;0</a:t>
            </a:r>
            <a:r>
              <a:rPr lang="zh-CN" altLang="en-US" sz="1000"/>
              <a:t>（偏好增）。</a:t>
            </a:r>
            <a:endParaRPr lang="zh-CN" altLang="en-US" sz="1000"/>
          </a:p>
          <a:p>
            <a:pPr marL="0" indent="0">
              <a:buNone/>
            </a:pPr>
            <a:r>
              <a:rPr lang="zh-CN" altLang="en-US" sz="1000"/>
              <a:t>假设参数：低门槛事件多易得牌（系数</a:t>
            </a:r>
            <a:r>
              <a:rPr lang="en-US" altLang="zh-CN" sz="1000"/>
              <a:t>0.2</a:t>
            </a:r>
            <a:r>
              <a:rPr lang="zh-CN" altLang="en-US" sz="1000"/>
              <a:t>）；主机偏强项</a:t>
            </a:r>
            <a:r>
              <a:rPr lang="en-US" altLang="zh-CN" sz="1000"/>
              <a:t>+10%</a:t>
            </a:r>
            <a:r>
              <a:rPr lang="zh-CN" altLang="en-US" sz="1000"/>
              <a:t>（历史）。</a:t>
            </a:r>
            <a:endParaRPr lang="en-US" altLang="zh-CN" sz="1000"/>
          </a:p>
          <a:p>
            <a:pPr marL="0" indent="0">
              <a:buNone/>
            </a:pPr>
            <a:r>
              <a:rPr lang="zh-CN" altLang="en-US" sz="1000"/>
              <a:t>子</a:t>
            </a:r>
            <a:r>
              <a:rPr lang="en-US" altLang="zh-CN" sz="1000"/>
              <a:t>5: </a:t>
            </a:r>
            <a:r>
              <a:rPr lang="zh-CN" altLang="en-US" sz="1000"/>
              <a:t>教练效应</a:t>
            </a:r>
            <a:r>
              <a:rPr lang="en-US" altLang="zh-CN" sz="1000"/>
              <a:t> + </a:t>
            </a:r>
            <a:r>
              <a:rPr lang="zh-CN" altLang="en-US" sz="1000"/>
              <a:t>贡献</a:t>
            </a:r>
            <a:r>
              <a:rPr lang="en-US" altLang="zh-CN" sz="1000"/>
              <a:t> + </a:t>
            </a:r>
            <a:r>
              <a:rPr lang="zh-CN" altLang="en-US" sz="1000"/>
              <a:t>推荐（</a:t>
            </a:r>
            <a:r>
              <a:rPr lang="en-US" altLang="zh-CN" sz="1000"/>
              <a:t>3</a:t>
            </a:r>
            <a:r>
              <a:rPr lang="zh-CN" altLang="en-US" sz="1000"/>
              <a:t>国</a:t>
            </a:r>
            <a:r>
              <a:rPr lang="en-US" altLang="zh-CN" sz="1000"/>
              <a:t>/sport</a:t>
            </a:r>
            <a:r>
              <a:rPr lang="zh-CN" altLang="en-US" sz="1000"/>
              <a:t>）</a:t>
            </a:r>
            <a:endParaRPr lang="zh-CN" altLang="en-US" sz="1000"/>
          </a:p>
          <a:p>
            <a:pPr marL="0" indent="0">
              <a:buNone/>
            </a:pPr>
            <a:r>
              <a:rPr lang="zh-CN" altLang="en-US" sz="1000"/>
              <a:t>变量：流动阈值</a:t>
            </a:r>
            <a:r>
              <a:rPr lang="en-US" altLang="zh-CN" sz="1000"/>
              <a:t>&gt;5</a:t>
            </a:r>
            <a:r>
              <a:rPr lang="zh-CN" altLang="en-US" sz="1000"/>
              <a:t>（</a:t>
            </a:r>
            <a:r>
              <a:rPr lang="en-US" altLang="zh-CN" sz="1000"/>
              <a:t>athletes</a:t>
            </a:r>
            <a:r>
              <a:rPr lang="zh-CN" altLang="en-US" sz="1000"/>
              <a:t>跨国计数）；年龄代理（年轻高红利）；推荐：</a:t>
            </a:r>
            <a:r>
              <a:rPr lang="en-US" altLang="zh-CN" sz="1000"/>
              <a:t>BRA</a:t>
            </a:r>
            <a:r>
              <a:rPr lang="zh-CN" altLang="en-US" sz="1000"/>
              <a:t>柔道、</a:t>
            </a:r>
            <a:r>
              <a:rPr lang="en-US" altLang="zh-CN" sz="1000"/>
              <a:t>KOR</a:t>
            </a:r>
            <a:r>
              <a:rPr lang="zh-CN" altLang="en-US" sz="1000"/>
              <a:t>射箭、</a:t>
            </a:r>
            <a:r>
              <a:rPr lang="en-US" altLang="zh-CN" sz="1000"/>
              <a:t>AUS</a:t>
            </a:r>
            <a:r>
              <a:rPr lang="zh-CN" altLang="en-US" sz="1000"/>
              <a:t>游泳（历史</a:t>
            </a:r>
            <a:r>
              <a:rPr lang="en-US" altLang="zh-CN" sz="1000"/>
              <a:t>+</a:t>
            </a:r>
            <a:r>
              <a:rPr lang="zh-CN" altLang="en-US" sz="1000"/>
              <a:t>流动高）。</a:t>
            </a:r>
            <a:endParaRPr lang="zh-CN" altLang="en-US" sz="1000"/>
          </a:p>
          <a:p>
            <a:pPr marL="0" indent="0">
              <a:buNone/>
            </a:pPr>
            <a:r>
              <a:rPr lang="zh-CN" altLang="en-US" sz="1000"/>
              <a:t>公式：</a:t>
            </a:r>
            <a:r>
              <a:rPr lang="en-US" altLang="zh-CN" sz="1000"/>
              <a:t>SCM α=Y_0 - ∑w Y_j</a:t>
            </a:r>
            <a:r>
              <a:rPr lang="zh-CN" altLang="en-US" sz="1000"/>
              <a:t>；贡献</a:t>
            </a:r>
            <a:r>
              <a:rPr lang="en-US" altLang="zh-CN" sz="1000"/>
              <a:t>+3</a:t>
            </a:r>
            <a:r>
              <a:rPr lang="zh-CN" altLang="en-US" sz="1000"/>
              <a:t>枚（衰减）。</a:t>
            </a:r>
            <a:endParaRPr lang="zh-CN" altLang="en-US" sz="1000"/>
          </a:p>
          <a:p>
            <a:pPr marL="0" indent="0">
              <a:buNone/>
            </a:pPr>
            <a:r>
              <a:rPr lang="zh-CN" altLang="en-US" sz="1000"/>
              <a:t>参数解释：</a:t>
            </a:r>
            <a:r>
              <a:rPr lang="en-US" altLang="zh-CN" sz="1000"/>
              <a:t>w</a:t>
            </a:r>
            <a:r>
              <a:rPr lang="zh-CN" altLang="en-US" sz="1000"/>
              <a:t>凸（类似国</a:t>
            </a:r>
            <a:r>
              <a:rPr lang="en-US" altLang="zh-CN" sz="1000"/>
              <a:t>0.3-0.5</a:t>
            </a:r>
            <a:r>
              <a:rPr lang="zh-CN" altLang="en-US" sz="1000"/>
              <a:t>）；</a:t>
            </a:r>
            <a:r>
              <a:rPr lang="en-US" altLang="zh-CN" sz="1000"/>
              <a:t>α≈+3-5</a:t>
            </a:r>
            <a:r>
              <a:rPr lang="zh-CN" altLang="en-US" sz="1000"/>
              <a:t>（项目）。</a:t>
            </a:r>
            <a:endParaRPr lang="zh-CN" altLang="en-US" sz="1000"/>
          </a:p>
          <a:p>
            <a:pPr marL="0" indent="0">
              <a:buNone/>
            </a:pPr>
            <a:r>
              <a:rPr lang="zh-CN" altLang="en-US" sz="1000"/>
              <a:t>假设参数：滞后</a:t>
            </a:r>
            <a:r>
              <a:rPr lang="en-US" altLang="zh-CN" sz="1000"/>
              <a:t>1</a:t>
            </a:r>
            <a:r>
              <a:rPr lang="zh-CN" altLang="en-US" sz="1000"/>
              <a:t>届半衰（</a:t>
            </a:r>
            <a:r>
              <a:rPr lang="en-US" altLang="zh-CN" sz="1000"/>
              <a:t>0.5</a:t>
            </a:r>
            <a:r>
              <a:rPr lang="zh-CN" altLang="en-US" sz="1000"/>
              <a:t>衰减率）；贡献</a:t>
            </a:r>
            <a:r>
              <a:rPr lang="en-US" altLang="zh-CN" sz="1000"/>
              <a:t>+15%</a:t>
            </a:r>
            <a:r>
              <a:rPr lang="zh-CN" altLang="en-US" sz="1000"/>
              <a:t>项目（低成本</a:t>
            </a:r>
            <a:r>
              <a:rPr lang="en-US" altLang="zh-CN" sz="1000"/>
              <a:t>sport</a:t>
            </a:r>
            <a:r>
              <a:rPr lang="zh-CN" altLang="en-US" sz="1000"/>
              <a:t>）。</a:t>
            </a:r>
            <a:endParaRPr lang="en-US" altLang="zh-CN" sz="1000"/>
          </a:p>
          <a:p>
            <a:pPr marL="0" indent="0">
              <a:buNone/>
            </a:pPr>
            <a:r>
              <a:rPr lang="zh-CN" altLang="en-US" sz="1000"/>
              <a:t>子</a:t>
            </a:r>
            <a:r>
              <a:rPr lang="en-US" altLang="zh-CN" sz="1000"/>
              <a:t>6: </a:t>
            </a:r>
            <a:r>
              <a:rPr lang="zh-CN" altLang="en-US" sz="1000"/>
              <a:t>原创洞见（政策建议）</a:t>
            </a:r>
            <a:endParaRPr lang="zh-CN" altLang="en-US" sz="1000"/>
          </a:p>
          <a:p>
            <a:pPr marL="0" indent="0">
              <a:buNone/>
            </a:pPr>
            <a:r>
              <a:rPr lang="zh-CN" altLang="en-US" sz="1000"/>
              <a:t>变量：中介（亲和</a:t>
            </a:r>
            <a:r>
              <a:rPr lang="en-US" altLang="en-US" sz="1000"/>
              <a:t>→</a:t>
            </a:r>
            <a:r>
              <a:rPr lang="zh-CN" altLang="en-US" sz="1000"/>
              <a:t>运动员</a:t>
            </a:r>
            <a:r>
              <a:rPr lang="en-US" altLang="en-US" sz="1000"/>
              <a:t>→</a:t>
            </a:r>
            <a:r>
              <a:rPr lang="zh-CN" altLang="en-US" sz="1000"/>
              <a:t>牌）；性别</a:t>
            </a:r>
            <a:r>
              <a:rPr lang="en-US" altLang="zh-CN" sz="1000"/>
              <a:t>/</a:t>
            </a:r>
            <a:r>
              <a:rPr lang="zh-CN" altLang="en-US" sz="1000"/>
              <a:t>年龄（女子</a:t>
            </a:r>
            <a:r>
              <a:rPr lang="en-US" altLang="zh-CN" sz="1000"/>
              <a:t>ROI&gt;3x</a:t>
            </a:r>
            <a:r>
              <a:rPr lang="zh-CN" altLang="en-US" sz="1000"/>
              <a:t>）。</a:t>
            </a:r>
            <a:endParaRPr lang="zh-CN" altLang="en-US" sz="1000"/>
          </a:p>
          <a:p>
            <a:pPr marL="0" indent="0">
              <a:buNone/>
            </a:pPr>
            <a:r>
              <a:rPr lang="zh-CN" altLang="en-US" sz="1000"/>
              <a:t>公式：</a:t>
            </a:r>
            <a:r>
              <a:rPr lang="en-US" altLang="zh-CN" sz="1000"/>
              <a:t>SEM</a:t>
            </a:r>
            <a:r>
              <a:rPr lang="zh-CN" altLang="en-US" sz="1000"/>
              <a:t>路径：牌</a:t>
            </a:r>
            <a:r>
              <a:rPr lang="en-US" altLang="zh-CN" sz="1000"/>
              <a:t> ~ β1</a:t>
            </a:r>
            <a:r>
              <a:rPr lang="zh-CN" altLang="en-US" sz="1000"/>
              <a:t>亲和</a:t>
            </a:r>
            <a:r>
              <a:rPr lang="en-US" altLang="zh-CN" sz="1000"/>
              <a:t> + β2</a:t>
            </a:r>
            <a:r>
              <a:rPr lang="zh-CN" altLang="en-US" sz="1000"/>
              <a:t>运动员</a:t>
            </a:r>
            <a:r>
              <a:rPr lang="en-US" altLang="zh-CN" sz="1000"/>
              <a:t> + ε</a:t>
            </a:r>
            <a:r>
              <a:rPr lang="zh-CN" altLang="en-US" sz="1000"/>
              <a:t>；</a:t>
            </a:r>
            <a:r>
              <a:rPr lang="en-US" altLang="zh-CN" sz="1000"/>
              <a:t>ROI=</a:t>
            </a:r>
            <a:r>
              <a:rPr lang="zh-CN" altLang="en-US" sz="1000"/>
              <a:t>增牌</a:t>
            </a:r>
            <a:r>
              <a:rPr lang="en-US" altLang="zh-CN" sz="1000"/>
              <a:t>/</a:t>
            </a:r>
            <a:r>
              <a:rPr lang="zh-CN" altLang="en-US" sz="1000"/>
              <a:t>模拟投资。</a:t>
            </a:r>
            <a:endParaRPr lang="zh-CN" altLang="en-US" sz="1000"/>
          </a:p>
          <a:p>
            <a:pPr marL="0" indent="0">
              <a:buNone/>
            </a:pPr>
            <a:r>
              <a:rPr lang="zh-CN" altLang="en-US" sz="1000"/>
              <a:t>参数解释：</a:t>
            </a:r>
            <a:r>
              <a:rPr lang="en-US" altLang="zh-CN" sz="1000"/>
              <a:t>β1/β2&gt;0</a:t>
            </a:r>
            <a:r>
              <a:rPr lang="zh-CN" altLang="en-US" sz="1000"/>
              <a:t>（互补）；洞见：小国专注</a:t>
            </a:r>
            <a:r>
              <a:rPr lang="en-US" altLang="zh-CN" sz="1000"/>
              <a:t>1-2</a:t>
            </a:r>
            <a:r>
              <a:rPr lang="zh-CN" altLang="en-US" sz="1000"/>
              <a:t>低门槛，</a:t>
            </a:r>
            <a:r>
              <a:rPr lang="en-US" altLang="zh-CN" sz="1000"/>
              <a:t>ROI&gt;3x</a:t>
            </a:r>
            <a:r>
              <a:rPr lang="zh-CN" altLang="en-US" sz="1000"/>
              <a:t>。</a:t>
            </a:r>
            <a:endParaRPr lang="zh-CN" altLang="en-US" sz="1000"/>
          </a:p>
          <a:p>
            <a:pPr marL="0" indent="0">
              <a:buNone/>
            </a:pPr>
            <a:r>
              <a:rPr lang="zh-CN" altLang="en-US" sz="1000"/>
              <a:t>假设参数：性别平等增</a:t>
            </a:r>
            <a:r>
              <a:rPr lang="en-US" altLang="zh-CN" sz="1000"/>
              <a:t>20%</a:t>
            </a:r>
            <a:r>
              <a:rPr lang="zh-CN" altLang="en-US" sz="1000"/>
              <a:t>（趋势）；投资半衰</a:t>
            </a:r>
            <a:r>
              <a:rPr lang="en-US" altLang="zh-CN" sz="1000"/>
              <a:t>2</a:t>
            </a:r>
            <a:r>
              <a:rPr lang="zh-CN" altLang="en-US" sz="1000"/>
              <a:t>届</a:t>
            </a:r>
            <a:endParaRPr lang="zh-CN" altLang="en-US" sz="1000"/>
          </a:p>
        </p:txBody>
      </p:sp>
    </p:spTree>
    <p:custDataLst>
      <p:tags r:id="rId2"/>
    </p:custData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normAutofit fontScale="90000"/>
          </a:bodyPr>
          <a:p>
            <a:r>
              <a:rPr lang="zh-CN" altLang="en-US"/>
              <a:t>建模手：每个子问题解决用到的方法、参考论文、在论文方法上的创新及原因</a:t>
            </a:r>
            <a:endParaRPr lang="zh-CN" altLang="en-US"/>
          </a:p>
        </p:txBody>
      </p:sp>
      <p:sp>
        <p:nvSpPr>
          <p:cNvPr id="3" name="内容占位符 2"/>
          <p:cNvSpPr>
            <a:spLocks noGrp="1"/>
          </p:cNvSpPr>
          <p:nvPr>
            <p:ph idx="1"/>
            <p:custDataLst>
              <p:tags r:id="rId2"/>
            </p:custDataLst>
          </p:nvPr>
        </p:nvSpPr>
        <p:spPr/>
        <p:txBody>
          <a:bodyPr>
            <a:normAutofit fontScale="90000" lnSpcReduction="20000"/>
          </a:bodyPr>
          <a:p>
            <a:pPr marL="0" indent="0">
              <a:buNone/>
            </a:pPr>
            <a:r>
              <a:rPr lang="zh-CN" altLang="en-US"/>
              <a:t>子</a:t>
            </a:r>
            <a:r>
              <a:rPr lang="en-US" altLang="zh-CN"/>
              <a:t>1</a:t>
            </a:r>
            <a:r>
              <a:rPr lang="zh-CN" altLang="en-US"/>
              <a:t>：方法</a:t>
            </a:r>
            <a:r>
              <a:rPr lang="en-US" altLang="zh-CN"/>
              <a:t> - ensemble ZINB/Tobit/RF</a:t>
            </a:r>
            <a:r>
              <a:rPr lang="zh-CN" altLang="en-US"/>
              <a:t>（计数</a:t>
            </a:r>
            <a:r>
              <a:rPr lang="en-US" altLang="zh-CN"/>
              <a:t>/</a:t>
            </a:r>
            <a:r>
              <a:rPr lang="zh-CN" altLang="en-US"/>
              <a:t>零</a:t>
            </a:r>
            <a:r>
              <a:rPr lang="en-US" altLang="zh-CN"/>
              <a:t>/</a:t>
            </a:r>
            <a:r>
              <a:rPr lang="zh-CN" altLang="en-US"/>
              <a:t>非线性）。参考</a:t>
            </a:r>
            <a:r>
              <a:rPr lang="en-US" altLang="zh-CN"/>
              <a:t> - 2022 Scientific Reports (ZINB)</a:t>
            </a:r>
            <a:r>
              <a:rPr lang="zh-CN" altLang="en-US"/>
              <a:t>、</a:t>
            </a:r>
            <a:r>
              <a:rPr lang="en-US" altLang="zh-CN"/>
              <a:t>2021 Scelles (Hurdle/Tobit)</a:t>
            </a:r>
            <a:r>
              <a:rPr lang="zh-CN" altLang="en-US"/>
              <a:t>、</a:t>
            </a:r>
            <a:r>
              <a:rPr lang="en-US" altLang="zh-CN"/>
              <a:t>2010 Forecasting (Tobit)</a:t>
            </a:r>
            <a:r>
              <a:rPr lang="zh-CN" altLang="en-US"/>
              <a:t>。创新</a:t>
            </a:r>
            <a:r>
              <a:rPr lang="en-US" altLang="zh-CN"/>
              <a:t> - ensemble voting</a:t>
            </a:r>
            <a:r>
              <a:rPr lang="zh-CN" altLang="en-US"/>
              <a:t>（原因：融合线性</a:t>
            </a:r>
            <a:r>
              <a:rPr lang="en-US" altLang="zh-CN"/>
              <a:t>/</a:t>
            </a:r>
            <a:r>
              <a:rPr lang="zh-CN" altLang="en-US"/>
              <a:t>非线性避单模型偏差，提升性能</a:t>
            </a:r>
            <a:r>
              <a:rPr lang="en-US" altLang="zh-CN"/>
              <a:t>/</a:t>
            </a:r>
            <a:r>
              <a:rPr lang="zh-CN" altLang="en-US"/>
              <a:t>不确定，避免同质回归）。</a:t>
            </a:r>
            <a:endParaRPr lang="zh-CN" altLang="en-US"/>
          </a:p>
          <a:p>
            <a:pPr marL="0" indent="0">
              <a:buNone/>
            </a:pPr>
            <a:r>
              <a:rPr lang="zh-CN" altLang="en-US"/>
              <a:t>子</a:t>
            </a:r>
            <a:r>
              <a:rPr lang="en-US" altLang="zh-CN"/>
              <a:t>2</a:t>
            </a:r>
            <a:r>
              <a:rPr lang="zh-CN" altLang="en-US"/>
              <a:t>：方法</a:t>
            </a:r>
            <a:r>
              <a:rPr lang="en-US" altLang="zh-CN"/>
              <a:t> - MC</a:t>
            </a:r>
            <a:r>
              <a:rPr lang="zh-CN" altLang="en-US"/>
              <a:t>外推</a:t>
            </a:r>
            <a:r>
              <a:rPr lang="en-US" altLang="zh-CN"/>
              <a:t> + </a:t>
            </a:r>
            <a:r>
              <a:rPr lang="zh-CN" altLang="en-US"/>
              <a:t>排名概率矩阵。参考</a:t>
            </a:r>
            <a:r>
              <a:rPr lang="en-US" altLang="zh-CN"/>
              <a:t> - 2004 Who Wins (Tobit</a:t>
            </a:r>
            <a:r>
              <a:rPr lang="zh-CN" altLang="en-US"/>
              <a:t>预测</a:t>
            </a:r>
            <a:r>
              <a:rPr lang="en-US" altLang="zh-CN"/>
              <a:t>)</a:t>
            </a:r>
            <a:r>
              <a:rPr lang="zh-CN" altLang="en-US"/>
              <a:t>、</a:t>
            </a:r>
            <a:r>
              <a:rPr lang="en-US" altLang="zh-CN"/>
              <a:t>2010 Forecasting (</a:t>
            </a:r>
            <a:r>
              <a:rPr lang="zh-CN" altLang="en-US"/>
              <a:t>样本外</a:t>
            </a:r>
            <a:r>
              <a:rPr lang="en-US" altLang="zh-CN"/>
              <a:t>)</a:t>
            </a:r>
            <a:r>
              <a:rPr lang="zh-CN" altLang="en-US"/>
              <a:t>。创新</a:t>
            </a:r>
            <a:r>
              <a:rPr lang="en-US" altLang="zh-CN"/>
              <a:t> - voting</a:t>
            </a:r>
            <a:r>
              <a:rPr lang="zh-CN" altLang="en-US"/>
              <a:t>分布云图（原因：可视化不确定</a:t>
            </a:r>
            <a:r>
              <a:rPr lang="en-US" altLang="zh-CN"/>
              <a:t>/</a:t>
            </a:r>
            <a:r>
              <a:rPr lang="zh-CN" altLang="en-US"/>
              <a:t>跃迁概率，差异化突破点预测，评委易懂）。</a:t>
            </a:r>
            <a:endParaRPr lang="zh-CN" altLang="en-US"/>
          </a:p>
          <a:p>
            <a:pPr marL="0" indent="0">
              <a:buNone/>
            </a:pPr>
            <a:r>
              <a:rPr lang="zh-CN" altLang="en-US"/>
              <a:t>子</a:t>
            </a:r>
            <a:r>
              <a:rPr lang="en-US" altLang="zh-CN"/>
              <a:t>3</a:t>
            </a:r>
            <a:r>
              <a:rPr lang="zh-CN" altLang="en-US"/>
              <a:t>：方法</a:t>
            </a:r>
            <a:r>
              <a:rPr lang="en-US" altLang="zh-CN"/>
              <a:t> - ZINB</a:t>
            </a:r>
            <a:r>
              <a:rPr lang="zh-CN" altLang="en-US"/>
              <a:t>零</a:t>
            </a:r>
            <a:r>
              <a:rPr lang="en-US" altLang="zh-CN"/>
              <a:t> + Poisson</a:t>
            </a:r>
            <a:r>
              <a:rPr lang="zh-CN" altLang="en-US"/>
              <a:t>数量。参考</a:t>
            </a:r>
            <a:r>
              <a:rPr lang="en-US" altLang="zh-CN"/>
              <a:t> - 2024 How to win (ZIB</a:t>
            </a:r>
            <a:r>
              <a:rPr lang="zh-CN" altLang="en-US"/>
              <a:t>零部分</a:t>
            </a:r>
            <a:r>
              <a:rPr lang="en-US" altLang="zh-CN"/>
              <a:t>)</a:t>
            </a:r>
            <a:r>
              <a:rPr lang="zh-CN" altLang="en-US"/>
              <a:t>。创新</a:t>
            </a:r>
            <a:r>
              <a:rPr lang="en-US" altLang="zh-CN"/>
              <a:t> - </a:t>
            </a:r>
            <a:r>
              <a:rPr lang="zh-CN" altLang="en-US"/>
              <a:t>加年龄代理（原因：利用数据推年轻突破高</a:t>
            </a:r>
            <a:r>
              <a:rPr lang="en-US" altLang="zh-CN"/>
              <a:t>p</a:t>
            </a:r>
            <a:r>
              <a:rPr lang="zh-CN" altLang="en-US"/>
              <a:t>，提升稀疏小国预测，避免主观基率）。</a:t>
            </a:r>
            <a:endParaRPr lang="zh-CN" altLang="en-US"/>
          </a:p>
          <a:p>
            <a:pPr marL="0" indent="0">
              <a:buNone/>
            </a:pPr>
            <a:r>
              <a:rPr lang="zh-CN" altLang="en-US"/>
              <a:t>子</a:t>
            </a:r>
            <a:r>
              <a:rPr lang="en-US" altLang="zh-CN"/>
              <a:t>4</a:t>
            </a:r>
            <a:r>
              <a:rPr lang="zh-CN" altLang="en-US"/>
              <a:t>：方法</a:t>
            </a:r>
            <a:r>
              <a:rPr lang="en-US" altLang="zh-CN"/>
              <a:t> - ZINB FE + NMF</a:t>
            </a:r>
            <a:r>
              <a:rPr lang="zh-CN" altLang="en-US"/>
              <a:t>分解。参考</a:t>
            </a:r>
            <a:r>
              <a:rPr lang="en-US" altLang="zh-CN"/>
              <a:t> - 2021 How big (FE/</a:t>
            </a:r>
            <a:r>
              <a:rPr lang="zh-CN" altLang="en-US"/>
              <a:t>溢出</a:t>
            </a:r>
            <a:r>
              <a:rPr lang="en-US" altLang="zh-CN"/>
              <a:t>)</a:t>
            </a:r>
            <a:r>
              <a:rPr lang="zh-CN" altLang="en-US"/>
              <a:t>、</a:t>
            </a:r>
            <a:r>
              <a:rPr lang="en-US" altLang="zh-CN"/>
              <a:t>2022 less obvious (ZINB sport-level)</a:t>
            </a:r>
            <a:r>
              <a:rPr lang="zh-CN" altLang="en-US"/>
              <a:t>。创新</a:t>
            </a:r>
            <a:r>
              <a:rPr lang="en-US" altLang="zh-CN"/>
              <a:t> - </a:t>
            </a:r>
            <a:r>
              <a:rPr lang="zh-CN" altLang="en-US"/>
              <a:t>亲和矩阵</a:t>
            </a:r>
            <a:r>
              <a:rPr lang="en-US" altLang="zh-CN"/>
              <a:t>NMF + </a:t>
            </a:r>
            <a:r>
              <a:rPr lang="zh-CN" altLang="en-US"/>
              <a:t>性别交互（原因：隐因子提取专长</a:t>
            </a:r>
            <a:r>
              <a:rPr lang="en-US" altLang="zh-CN"/>
              <a:t>/</a:t>
            </a:r>
            <a:r>
              <a:rPr lang="zh-CN" altLang="en-US"/>
              <a:t>女子偏好，数据驱动避</a:t>
            </a:r>
            <a:r>
              <a:rPr lang="en-US" altLang="zh-CN"/>
              <a:t>dummy</a:t>
            </a:r>
            <a:r>
              <a:rPr lang="zh-CN" altLang="en-US"/>
              <a:t>同质，增强东道主项目偏好分析）。</a:t>
            </a:r>
            <a:endParaRPr lang="zh-CN" altLang="en-US"/>
          </a:p>
          <a:p>
            <a:pPr marL="0" indent="0">
              <a:buNone/>
            </a:pPr>
            <a:r>
              <a:rPr lang="zh-CN" altLang="en-US"/>
              <a:t>子</a:t>
            </a:r>
            <a:r>
              <a:rPr lang="en-US" altLang="zh-CN"/>
              <a:t>5</a:t>
            </a:r>
            <a:r>
              <a:rPr lang="zh-CN" altLang="en-US"/>
              <a:t>：方法</a:t>
            </a:r>
            <a:r>
              <a:rPr lang="en-US" altLang="zh-CN"/>
              <a:t> - SCM ATE + </a:t>
            </a:r>
            <a:r>
              <a:rPr lang="zh-CN" altLang="en-US"/>
              <a:t>网络阈值。参考</a:t>
            </a:r>
            <a:r>
              <a:rPr lang="en-US" altLang="zh-CN"/>
              <a:t> - 2016 Spirit (SCM</a:t>
            </a:r>
            <a:r>
              <a:rPr lang="zh-CN" altLang="en-US"/>
              <a:t>主机</a:t>
            </a:r>
            <a:r>
              <a:rPr lang="en-US" altLang="zh-CN"/>
              <a:t>)</a:t>
            </a:r>
            <a:r>
              <a:rPr lang="zh-CN" altLang="en-US"/>
              <a:t>、</a:t>
            </a:r>
            <a:r>
              <a:rPr lang="en-US" altLang="zh-CN"/>
              <a:t>2016 Coach (HLM</a:t>
            </a:r>
            <a:r>
              <a:rPr lang="zh-CN" altLang="en-US"/>
              <a:t>效应</a:t>
            </a:r>
            <a:r>
              <a:rPr lang="en-US" altLang="zh-CN"/>
              <a:t>)</a:t>
            </a:r>
            <a:r>
              <a:rPr lang="zh-CN" altLang="en-US"/>
              <a:t>。创新</a:t>
            </a:r>
            <a:r>
              <a:rPr lang="en-US" altLang="zh-CN"/>
              <a:t> - </a:t>
            </a:r>
            <a:r>
              <a:rPr lang="zh-CN" altLang="en-US"/>
              <a:t>流动网络</a:t>
            </a:r>
            <a:r>
              <a:rPr lang="en-US" altLang="zh-CN"/>
              <a:t> + </a:t>
            </a:r>
            <a:r>
              <a:rPr lang="zh-CN" altLang="en-US"/>
              <a:t>年龄红利（原因：数据代理无</a:t>
            </a:r>
            <a:r>
              <a:rPr lang="en-US" altLang="zh-CN"/>
              <a:t>ID</a:t>
            </a:r>
            <a:r>
              <a:rPr lang="zh-CN" altLang="en-US"/>
              <a:t>教练，因果量化贡献</a:t>
            </a:r>
            <a:r>
              <a:rPr lang="en-US" altLang="zh-CN"/>
              <a:t>/</a:t>
            </a:r>
            <a:r>
              <a:rPr lang="zh-CN" altLang="en-US"/>
              <a:t>推荐，差异化发现未提案例如</a:t>
            </a:r>
            <a:r>
              <a:rPr lang="en-US" altLang="zh-CN"/>
              <a:t>Lang Ping</a:t>
            </a:r>
            <a:r>
              <a:rPr lang="zh-CN" altLang="en-US"/>
              <a:t>）。</a:t>
            </a:r>
            <a:endParaRPr lang="zh-CN" altLang="en-US"/>
          </a:p>
          <a:p>
            <a:pPr marL="0" indent="0">
              <a:buNone/>
            </a:pPr>
            <a:r>
              <a:rPr lang="zh-CN" altLang="en-US"/>
              <a:t>子</a:t>
            </a:r>
            <a:r>
              <a:rPr lang="en-US" altLang="zh-CN"/>
              <a:t>6</a:t>
            </a:r>
            <a:r>
              <a:rPr lang="zh-CN" altLang="en-US"/>
              <a:t>：方法</a:t>
            </a:r>
            <a:r>
              <a:rPr lang="en-US" altLang="zh-CN"/>
              <a:t> - SEM</a:t>
            </a:r>
            <a:r>
              <a:rPr lang="zh-CN" altLang="en-US"/>
              <a:t>中介</a:t>
            </a:r>
            <a:r>
              <a:rPr lang="en-US" altLang="zh-CN"/>
              <a:t> + ROI</a:t>
            </a:r>
            <a:r>
              <a:rPr lang="zh-CN" altLang="en-US"/>
              <a:t>模拟。参考</a:t>
            </a:r>
            <a:r>
              <a:rPr lang="en-US" altLang="zh-CN"/>
              <a:t> - </a:t>
            </a:r>
            <a:r>
              <a:rPr lang="zh-CN" altLang="en-US"/>
              <a:t>所有政策</a:t>
            </a:r>
            <a:r>
              <a:rPr lang="en-US" altLang="zh-CN"/>
              <a:t> (e.g., 2024/2010</a:t>
            </a:r>
            <a:r>
              <a:rPr lang="zh-CN" altLang="en-US"/>
              <a:t>投资启示</a:t>
            </a:r>
            <a:r>
              <a:rPr lang="en-US" altLang="zh-CN"/>
              <a:t>)</a:t>
            </a:r>
            <a:r>
              <a:rPr lang="zh-CN" altLang="en-US"/>
              <a:t>。创新</a:t>
            </a:r>
            <a:r>
              <a:rPr lang="en-US" altLang="zh-CN"/>
              <a:t> - </a:t>
            </a:r>
            <a:r>
              <a:rPr lang="zh-CN" altLang="en-US"/>
              <a:t>性别</a:t>
            </a:r>
            <a:r>
              <a:rPr lang="en-US" altLang="zh-CN"/>
              <a:t>ROI</a:t>
            </a:r>
            <a:r>
              <a:rPr lang="zh-CN" altLang="en-US"/>
              <a:t>路径（原因：原创洞见如</a:t>
            </a:r>
            <a:r>
              <a:rPr lang="en-US" altLang="zh-CN"/>
              <a:t>“</a:t>
            </a:r>
            <a:r>
              <a:rPr lang="zh-CN" altLang="en-US"/>
              <a:t>女子专注</a:t>
            </a:r>
            <a:r>
              <a:rPr lang="en-US" altLang="zh-CN"/>
              <a:t>ROI&gt;3x”</a:t>
            </a:r>
            <a:r>
              <a:rPr lang="zh-CN" altLang="en-US"/>
              <a:t>，可操作政策，避泛泛经济相关，提升</a:t>
            </a:r>
            <a:r>
              <a:rPr lang="en-US" altLang="zh-CN"/>
              <a:t>F</a:t>
            </a:r>
            <a:r>
              <a:rPr lang="zh-CN" altLang="en-US"/>
              <a:t>奖潜力）。</a:t>
            </a:r>
            <a:endParaRPr lang="zh-CN" altLang="en-US"/>
          </a:p>
        </p:txBody>
      </p:sp>
    </p:spTree>
    <p:custDataLst>
      <p:tags r:id="rId3"/>
    </p:custData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数据清洗（你只给</a:t>
            </a:r>
            <a:r>
              <a:rPr lang="en-US" altLang="zh-CN"/>
              <a:t> Excel </a:t>
            </a:r>
            <a:r>
              <a:rPr lang="zh-CN" altLang="en-US"/>
              <a:t>开头几行）</a:t>
            </a:r>
            <a:endParaRPr lang="zh-CN" altLang="en-US"/>
          </a:p>
        </p:txBody>
      </p:sp>
      <p:sp>
        <p:nvSpPr>
          <p:cNvPr id="3" name="内容占位符 2"/>
          <p:cNvSpPr>
            <a:spLocks noGrp="1"/>
          </p:cNvSpPr>
          <p:nvPr>
            <p:ph idx="1"/>
            <p:custDataLst>
              <p:tags r:id="rId2"/>
            </p:custDataLst>
          </p:nvPr>
        </p:nvSpPr>
        <p:spPr>
          <a:xfrm>
            <a:off x="608400" y="1242750"/>
            <a:ext cx="10969200" cy="4759200"/>
          </a:xfrm>
        </p:spPr>
        <p:txBody>
          <a:bodyPr>
            <a:noAutofit/>
          </a:bodyPr>
          <a:p>
            <a:pPr marL="0" indent="0">
              <a:buNone/>
            </a:pPr>
            <a:r>
              <a:rPr lang="zh-CN" altLang="en-US" sz="1200"/>
              <a:t>你是一名熟悉竞赛级数据清洗与特征理解的数据科学家。</a:t>
            </a:r>
            <a:endParaRPr lang="zh-CN" altLang="en-US" sz="1200"/>
          </a:p>
          <a:p>
            <a:pPr marL="0" indent="0">
              <a:buNone/>
            </a:pPr>
            <a:r>
              <a:rPr lang="zh-CN" altLang="en-US" sz="1200"/>
              <a:t>以下是几个</a:t>
            </a:r>
            <a:r>
              <a:rPr lang="en-US" altLang="zh-CN" sz="1200"/>
              <a:t> Excel </a:t>
            </a:r>
            <a:r>
              <a:rPr lang="zh-CN" altLang="en-US" sz="1200"/>
              <a:t>数据文件的：</a:t>
            </a:r>
            <a:endParaRPr lang="zh-CN" altLang="en-US" sz="1200"/>
          </a:p>
          <a:p>
            <a:pPr marL="0" indent="0">
              <a:buNone/>
            </a:pPr>
            <a:r>
              <a:rPr lang="en-US" altLang="zh-CN" sz="1200"/>
              <a:t>- </a:t>
            </a:r>
            <a:r>
              <a:rPr lang="zh-CN" altLang="en-US" sz="1200"/>
              <a:t>列名</a:t>
            </a:r>
            <a:endParaRPr lang="zh-CN" altLang="en-US" sz="1200"/>
          </a:p>
          <a:p>
            <a:pPr marL="0" indent="0">
              <a:buNone/>
            </a:pPr>
            <a:r>
              <a:rPr lang="en-US" altLang="zh-CN" sz="1200"/>
              <a:t>- </a:t>
            </a:r>
            <a:r>
              <a:rPr lang="zh-CN" altLang="en-US" sz="1200"/>
              <a:t>前</a:t>
            </a:r>
            <a:r>
              <a:rPr lang="en-US" altLang="zh-CN" sz="1200"/>
              <a:t> N </a:t>
            </a:r>
            <a:r>
              <a:rPr lang="zh-CN" altLang="en-US" sz="1200"/>
              <a:t>行样本数据（我将提供）</a:t>
            </a:r>
            <a:endParaRPr lang="en-US" altLang="zh-CN" sz="1200"/>
          </a:p>
          <a:p>
            <a:pPr marL="0" indent="0">
              <a:buNone/>
            </a:pPr>
            <a:r>
              <a:rPr lang="zh-CN" altLang="en-US" sz="1200"/>
              <a:t>请完成：</a:t>
            </a:r>
            <a:endParaRPr lang="zh-CN" altLang="en-US" sz="1200"/>
          </a:p>
          <a:p>
            <a:pPr marL="0" indent="0">
              <a:buNone/>
            </a:pPr>
            <a:r>
              <a:rPr lang="en-US" altLang="zh-CN" sz="1200"/>
              <a:t>1. </a:t>
            </a:r>
            <a:r>
              <a:rPr lang="zh-CN" altLang="en-US" sz="1200"/>
              <a:t>推断每一列的数据类型与现实含义</a:t>
            </a:r>
            <a:endParaRPr lang="zh-CN" altLang="en-US" sz="1200"/>
          </a:p>
          <a:p>
            <a:pPr marL="0" indent="0">
              <a:buNone/>
            </a:pPr>
            <a:r>
              <a:rPr lang="en-US" altLang="zh-CN" sz="1200"/>
              <a:t>2. </a:t>
            </a:r>
            <a:r>
              <a:rPr lang="zh-CN" altLang="en-US" sz="1200"/>
              <a:t>判断可能存在的问题：</a:t>
            </a:r>
            <a:endParaRPr lang="zh-CN" altLang="en-US" sz="1200"/>
          </a:p>
          <a:p>
            <a:pPr marL="0" indent="0">
              <a:buNone/>
            </a:pPr>
            <a:r>
              <a:rPr lang="en-US" altLang="zh-CN" sz="1200"/>
              <a:t>   - </a:t>
            </a:r>
            <a:r>
              <a:rPr lang="zh-CN" altLang="en-US" sz="1200"/>
              <a:t>缺失值</a:t>
            </a:r>
            <a:endParaRPr lang="zh-CN" altLang="en-US" sz="1200"/>
          </a:p>
          <a:p>
            <a:pPr marL="0" indent="0">
              <a:buNone/>
            </a:pPr>
            <a:r>
              <a:rPr lang="en-US" altLang="zh-CN" sz="1200"/>
              <a:t>   - </a:t>
            </a:r>
            <a:r>
              <a:rPr lang="zh-CN" altLang="en-US" sz="1200"/>
              <a:t>异常值</a:t>
            </a:r>
            <a:endParaRPr lang="zh-CN" altLang="en-US" sz="1200"/>
          </a:p>
          <a:p>
            <a:pPr marL="0" indent="0">
              <a:buNone/>
            </a:pPr>
            <a:r>
              <a:rPr lang="en-US" altLang="zh-CN" sz="1200"/>
              <a:t>   - </a:t>
            </a:r>
            <a:r>
              <a:rPr lang="zh-CN" altLang="en-US" sz="1200"/>
              <a:t>重复数据</a:t>
            </a:r>
            <a:endParaRPr lang="zh-CN" altLang="en-US" sz="1200"/>
          </a:p>
          <a:p>
            <a:pPr marL="0" indent="0">
              <a:buNone/>
            </a:pPr>
            <a:r>
              <a:rPr lang="en-US" altLang="zh-CN" sz="1200"/>
              <a:t>   - </a:t>
            </a:r>
            <a:r>
              <a:rPr lang="zh-CN" altLang="en-US" sz="1200"/>
              <a:t>不一致单位</a:t>
            </a:r>
            <a:endParaRPr lang="zh-CN" altLang="en-US" sz="1200"/>
          </a:p>
          <a:p>
            <a:pPr marL="0" indent="0">
              <a:buNone/>
            </a:pPr>
            <a:r>
              <a:rPr lang="en-US" altLang="zh-CN" sz="1200"/>
              <a:t>3. </a:t>
            </a:r>
            <a:r>
              <a:rPr lang="zh-CN" altLang="en-US" sz="1200"/>
              <a:t>给出通用、稳健的</a:t>
            </a:r>
            <a:r>
              <a:rPr lang="en-US" altLang="zh-CN" sz="1200"/>
              <a:t> Python </a:t>
            </a:r>
            <a:r>
              <a:rPr lang="zh-CN" altLang="en-US" sz="1200"/>
              <a:t>数据清洗代码：</a:t>
            </a:r>
            <a:endParaRPr lang="zh-CN" altLang="en-US" sz="1200"/>
          </a:p>
          <a:p>
            <a:pPr marL="0" indent="0">
              <a:buNone/>
            </a:pPr>
            <a:r>
              <a:rPr lang="en-US" altLang="zh-CN" sz="1200"/>
              <a:t>   - </a:t>
            </a:r>
            <a:r>
              <a:rPr lang="zh-CN" altLang="en-US" sz="1200"/>
              <a:t>使用</a:t>
            </a:r>
            <a:r>
              <a:rPr lang="en-US" altLang="zh-CN" sz="1200"/>
              <a:t> pandas</a:t>
            </a:r>
            <a:endParaRPr lang="en-US" altLang="zh-CN" sz="1200"/>
          </a:p>
          <a:p>
            <a:pPr marL="0" indent="0">
              <a:buNone/>
            </a:pPr>
            <a:r>
              <a:rPr lang="en-US" altLang="zh-CN" sz="1200"/>
              <a:t>   - </a:t>
            </a:r>
            <a:r>
              <a:rPr lang="zh-CN" altLang="en-US" sz="1200"/>
              <a:t>主函数中我会传入文件路径</a:t>
            </a:r>
            <a:endParaRPr lang="zh-CN" altLang="en-US" sz="1200"/>
          </a:p>
          <a:p>
            <a:pPr marL="0" indent="0">
              <a:buNone/>
            </a:pPr>
            <a:r>
              <a:rPr lang="en-US" altLang="zh-CN" sz="1200"/>
              <a:t>   - </a:t>
            </a:r>
            <a:r>
              <a:rPr lang="zh-CN" altLang="en-US" sz="1200"/>
              <a:t>包含日志式注释，便于论文说明</a:t>
            </a:r>
            <a:endParaRPr lang="zh-CN" altLang="en-US" sz="1200"/>
          </a:p>
          <a:p>
            <a:pPr marL="0" indent="0">
              <a:buNone/>
            </a:pPr>
            <a:endParaRPr lang="zh-CN" altLang="en-US" sz="1200"/>
          </a:p>
        </p:txBody>
      </p:sp>
    </p:spTree>
    <p:custDataLst>
      <p:tags r:id="rId3"/>
    </p:custData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sz="quarter" idx="13"/>
            <p:custDataLst>
              <p:tags r:id="rId1"/>
            </p:custDataLst>
          </p:nvPr>
        </p:nvSpPr>
        <p:spPr>
          <a:xfrm>
            <a:off x="608400" y="354900"/>
            <a:ext cx="10972800" cy="5482800"/>
          </a:xfrm>
        </p:spPr>
        <p:txBody>
          <a:bodyPr>
            <a:noAutofit/>
          </a:bodyPr>
          <a:p>
            <a:pPr marL="0" indent="0">
              <a:buNone/>
            </a:pPr>
            <a:r>
              <a:rPr lang="zh-CN" altLang="en-US" sz="1200"/>
              <a:t>（</a:t>
            </a:r>
            <a:r>
              <a:rPr lang="en-US" altLang="zh-CN" sz="1200"/>
              <a:t>summeroly_athletes Name Sex Team NOC Year City Sport Event Medal A Dijiang M China CHN 1992 Barcelona Basketball Basketball Men's Basketball No medal A Lamusi M China CHN 2012 London Judo Judo Men's Extra-Lightweight No medal Gunnar Aaby M Denmark DEN 1920 Antwerpen Football Football Men's Football No medal Edgar Aabye M Denmark/Sweden DEN 1900 Paris Tug-Of-War Tug-Of-War Men's Tug-Of-War Gold Cornelia (-strannood) F Netherlands NED 1932 Los Angeles Athletics Athletics Women's 100 metres No medal Cornelia (-strannood) F Netherlands NED 1932 Los Angeles Athletics Athletics Women's 4 x 100 metres Relay No medal</a:t>
            </a:r>
            <a:r>
              <a:rPr lang="zh-CN" altLang="en-US" sz="1200"/>
              <a:t>）</a:t>
            </a:r>
            <a:r>
              <a:rPr lang="en-US" altLang="zh-CN" sz="1200"/>
              <a:t>(summeroly_hosts Year Host 1896 </a:t>
            </a:r>
            <a:r>
              <a:rPr lang="" altLang="en-US" sz="1200"/>
              <a:t> </a:t>
            </a:r>
            <a:r>
              <a:rPr lang="en-US" altLang="zh-CN" sz="1200"/>
              <a:t>Athens,</a:t>
            </a:r>
            <a:r>
              <a:rPr lang="" altLang="en-US" sz="1200"/>
              <a:t> </a:t>
            </a:r>
            <a:r>
              <a:rPr lang="en-US" altLang="zh-CN" sz="1200"/>
              <a:t>Greece 1900 </a:t>
            </a:r>
            <a:r>
              <a:rPr lang="" altLang="en-US" sz="1200"/>
              <a:t> </a:t>
            </a:r>
            <a:r>
              <a:rPr lang="en-US" altLang="zh-CN" sz="1200"/>
              <a:t>Paris,</a:t>
            </a:r>
            <a:r>
              <a:rPr lang="" altLang="en-US" sz="1200"/>
              <a:t> </a:t>
            </a:r>
            <a:r>
              <a:rPr lang="en-US" altLang="zh-CN" sz="1200"/>
              <a:t>France 1904 </a:t>
            </a:r>
            <a:r>
              <a:rPr lang="" altLang="en-US" sz="1200"/>
              <a:t> </a:t>
            </a:r>
            <a:r>
              <a:rPr lang="en-US" altLang="zh-CN" sz="1200"/>
              <a:t>St. Louis,</a:t>
            </a:r>
            <a:r>
              <a:rPr lang="" altLang="en-US" sz="1200"/>
              <a:t> </a:t>
            </a:r>
            <a:r>
              <a:rPr lang="en-US" altLang="zh-CN" sz="1200"/>
              <a:t>United States 1908 </a:t>
            </a:r>
            <a:r>
              <a:rPr lang="" altLang="en-US" sz="1200"/>
              <a:t> </a:t>
            </a:r>
            <a:r>
              <a:rPr lang="en-US" altLang="zh-CN" sz="1200"/>
              <a:t>London,</a:t>
            </a:r>
            <a:r>
              <a:rPr lang="" altLang="en-US" sz="1200"/>
              <a:t> </a:t>
            </a:r>
            <a:r>
              <a:rPr lang="en-US" altLang="zh-CN" sz="1200"/>
              <a:t>United Kingdom 1912 </a:t>
            </a:r>
            <a:r>
              <a:rPr lang="" altLang="en-US" sz="1200"/>
              <a:t> </a:t>
            </a:r>
            <a:r>
              <a:rPr lang="en-US" altLang="zh-CN" sz="1200"/>
              <a:t>Stockholm,</a:t>
            </a:r>
            <a:r>
              <a:rPr lang="" altLang="en-US" sz="1200"/>
              <a:t> </a:t>
            </a:r>
            <a:r>
              <a:rPr lang="en-US" altLang="zh-CN" sz="1200"/>
              <a:t>Sweden 1916 </a:t>
            </a:r>
            <a:r>
              <a:rPr lang="" altLang="en-US" sz="1200"/>
              <a:t> </a:t>
            </a:r>
            <a:r>
              <a:rPr lang="en-US" altLang="zh-CN" sz="1200"/>
              <a:t>Cancelled (WWI – Berlin had been awarded) 1920 </a:t>
            </a:r>
            <a:r>
              <a:rPr lang="" altLang="en-US" sz="1200"/>
              <a:t> </a:t>
            </a:r>
            <a:r>
              <a:rPr lang="en-US" altLang="zh-CN" sz="1200"/>
              <a:t>Antwerp,</a:t>
            </a:r>
            <a:r>
              <a:rPr lang="" altLang="en-US" sz="1200"/>
              <a:t> </a:t>
            </a:r>
            <a:r>
              <a:rPr lang="en-US" altLang="zh-CN" sz="1200"/>
              <a:t>Belgium 1924 </a:t>
            </a:r>
            <a:r>
              <a:rPr lang="" altLang="en-US" sz="1200"/>
              <a:t> </a:t>
            </a:r>
            <a:r>
              <a:rPr lang="en-US" altLang="zh-CN" sz="1200"/>
              <a:t>Paris,</a:t>
            </a:r>
            <a:r>
              <a:rPr lang="" altLang="en-US" sz="1200"/>
              <a:t> </a:t>
            </a:r>
            <a:r>
              <a:rPr lang="en-US" altLang="zh-CN" sz="1200"/>
              <a:t>France 1928 </a:t>
            </a:r>
            <a:r>
              <a:rPr lang="" altLang="en-US" sz="1200"/>
              <a:t> </a:t>
            </a:r>
            <a:r>
              <a:rPr lang="en-US" altLang="zh-CN" sz="1200"/>
              <a:t>Amsterdam,</a:t>
            </a:r>
            <a:r>
              <a:rPr lang="" altLang="en-US" sz="1200"/>
              <a:t> </a:t>
            </a:r>
            <a:r>
              <a:rPr lang="en-US" altLang="zh-CN" sz="1200"/>
              <a:t>Netherlands 1932 </a:t>
            </a:r>
            <a:r>
              <a:rPr lang="" altLang="en-US" sz="1200"/>
              <a:t> </a:t>
            </a:r>
            <a:r>
              <a:rPr lang="en-US" altLang="zh-CN" sz="1200"/>
              <a:t>Los Angeles,</a:t>
            </a:r>
            <a:r>
              <a:rPr lang="" altLang="en-US" sz="1200"/>
              <a:t> </a:t>
            </a:r>
            <a:r>
              <a:rPr lang="en-US" altLang="zh-CN" sz="1200"/>
              <a:t>United States 1936 </a:t>
            </a:r>
            <a:r>
              <a:rPr lang="" altLang="en-US" sz="1200"/>
              <a:t> </a:t>
            </a:r>
            <a:r>
              <a:rPr lang="en-US" altLang="zh-CN" sz="1200"/>
              <a:t>Berlin,</a:t>
            </a:r>
            <a:r>
              <a:rPr lang="" altLang="en-US" sz="1200"/>
              <a:t> </a:t>
            </a:r>
            <a:r>
              <a:rPr lang="en-US" altLang="zh-CN" sz="1200"/>
              <a:t>Germany 1940 </a:t>
            </a:r>
            <a:r>
              <a:rPr lang="" altLang="en-US" sz="1200"/>
              <a:t> </a:t>
            </a:r>
            <a:r>
              <a:rPr lang="en-US" altLang="zh-CN" sz="1200"/>
              <a:t>Cancelled</a:t>
            </a:r>
            <a:r>
              <a:rPr lang="" altLang="en-US" sz="1200"/>
              <a:t> </a:t>
            </a:r>
            <a:r>
              <a:rPr lang="en-US" altLang="zh-CN" sz="1200"/>
              <a:t>(WWII – Tokyo had been awarded) 1944 </a:t>
            </a:r>
            <a:r>
              <a:rPr lang="" altLang="en-US" sz="1200"/>
              <a:t> </a:t>
            </a:r>
            <a:r>
              <a:rPr lang="en-US" altLang="zh-CN" sz="1200"/>
              <a:t>Cancelled</a:t>
            </a:r>
            <a:r>
              <a:rPr lang="" altLang="en-US" sz="1200"/>
              <a:t> </a:t>
            </a:r>
            <a:r>
              <a:rPr lang="en-US" altLang="zh-CN" sz="1200"/>
              <a:t>(WWII – London had been awarded) 1948 </a:t>
            </a:r>
            <a:r>
              <a:rPr lang="" altLang="en-US" sz="1200"/>
              <a:t> </a:t>
            </a:r>
            <a:r>
              <a:rPr lang="en-US" altLang="zh-CN" sz="1200"/>
              <a:t>London,</a:t>
            </a:r>
            <a:r>
              <a:rPr lang="" altLang="en-US" sz="1200"/>
              <a:t> </a:t>
            </a:r>
            <a:r>
              <a:rPr lang="en-US" altLang="zh-CN" sz="1200"/>
              <a:t>United Kingdom 1952 </a:t>
            </a:r>
            <a:r>
              <a:rPr lang="" altLang="en-US" sz="1200"/>
              <a:t> </a:t>
            </a:r>
            <a:r>
              <a:rPr lang="en-US" altLang="zh-CN" sz="1200"/>
              <a:t>Helsinki,</a:t>
            </a:r>
            <a:r>
              <a:rPr lang="" altLang="en-US" sz="1200"/>
              <a:t> </a:t>
            </a:r>
            <a:r>
              <a:rPr lang="en-US" altLang="zh-CN" sz="1200"/>
              <a:t>Finland 1956 </a:t>
            </a:r>
            <a:r>
              <a:rPr lang="" altLang="en-US" sz="1200"/>
              <a:t> </a:t>
            </a:r>
            <a:r>
              <a:rPr lang="en-US" altLang="zh-CN" sz="1200"/>
              <a:t>Melbourne,</a:t>
            </a:r>
            <a:r>
              <a:rPr lang="" altLang="en-US" sz="1200"/>
              <a:t> </a:t>
            </a:r>
            <a:r>
              <a:rPr lang="en-US" altLang="zh-CN" sz="1200"/>
              <a:t>Australia 1960 </a:t>
            </a:r>
            <a:r>
              <a:rPr lang="" altLang="en-US" sz="1200"/>
              <a:t> </a:t>
            </a:r>
            <a:r>
              <a:rPr lang="en-US" altLang="zh-CN" sz="1200"/>
              <a:t>Rome,</a:t>
            </a:r>
            <a:r>
              <a:rPr lang="" altLang="en-US" sz="1200"/>
              <a:t> </a:t>
            </a:r>
            <a:r>
              <a:rPr lang="en-US" altLang="zh-CN" sz="1200"/>
              <a:t>Italy 1964 </a:t>
            </a:r>
            <a:r>
              <a:rPr lang="" altLang="en-US" sz="1200"/>
              <a:t> </a:t>
            </a:r>
            <a:r>
              <a:rPr lang="en-US" altLang="zh-CN" sz="1200"/>
              <a:t>Tokyo,</a:t>
            </a:r>
            <a:r>
              <a:rPr lang="" altLang="en-US" sz="1200"/>
              <a:t> </a:t>
            </a:r>
            <a:r>
              <a:rPr lang="en-US" altLang="zh-CN" sz="1200"/>
              <a:t>Japan 1968 </a:t>
            </a:r>
            <a:r>
              <a:rPr lang="" altLang="en-US" sz="1200"/>
              <a:t> </a:t>
            </a:r>
            <a:r>
              <a:rPr lang="en-US" altLang="zh-CN" sz="1200"/>
              <a:t>Mexico City,</a:t>
            </a:r>
            <a:r>
              <a:rPr lang="" altLang="en-US" sz="1200"/>
              <a:t> </a:t>
            </a:r>
            <a:r>
              <a:rPr lang="en-US" altLang="zh-CN" sz="1200"/>
              <a:t>Mexico 1972 </a:t>
            </a:r>
            <a:r>
              <a:rPr lang="" altLang="en-US" sz="1200"/>
              <a:t> </a:t>
            </a:r>
            <a:r>
              <a:rPr lang="en-US" altLang="zh-CN" sz="1200"/>
              <a:t>Munich,</a:t>
            </a:r>
            <a:r>
              <a:rPr lang="" altLang="en-US" sz="1200"/>
              <a:t> </a:t>
            </a:r>
            <a:r>
              <a:rPr lang="en-US" altLang="zh-CN" sz="1200"/>
              <a:t>West Germany 1976 </a:t>
            </a:r>
            <a:r>
              <a:rPr lang="" altLang="en-US" sz="1200"/>
              <a:t> </a:t>
            </a:r>
            <a:r>
              <a:rPr lang="en-US" altLang="zh-CN" sz="1200"/>
              <a:t>Montreal,</a:t>
            </a:r>
            <a:r>
              <a:rPr lang="" altLang="en-US" sz="1200"/>
              <a:t> </a:t>
            </a:r>
            <a:r>
              <a:rPr lang="en-US" altLang="zh-CN" sz="1200"/>
              <a:t>Canada 1980 </a:t>
            </a:r>
            <a:r>
              <a:rPr lang="" altLang="en-US" sz="1200"/>
              <a:t> </a:t>
            </a:r>
            <a:r>
              <a:rPr lang="en-US" altLang="zh-CN" sz="1200"/>
              <a:t>Moscow,</a:t>
            </a:r>
            <a:r>
              <a:rPr lang="" altLang="en-US" sz="1200"/>
              <a:t> </a:t>
            </a:r>
            <a:r>
              <a:rPr lang="en-US" altLang="zh-CN" sz="1200"/>
              <a:t>Soviet Union 1984 </a:t>
            </a:r>
            <a:r>
              <a:rPr lang="" altLang="en-US" sz="1200"/>
              <a:t> </a:t>
            </a:r>
            <a:r>
              <a:rPr lang="en-US" altLang="zh-CN" sz="1200"/>
              <a:t>Los Angeles,</a:t>
            </a:r>
            <a:r>
              <a:rPr lang="" altLang="en-US" sz="1200"/>
              <a:t> </a:t>
            </a:r>
            <a:r>
              <a:rPr lang="en-US" altLang="zh-CN" sz="1200"/>
              <a:t>United States 1988 </a:t>
            </a:r>
            <a:r>
              <a:rPr lang="" altLang="en-US" sz="1200"/>
              <a:t> </a:t>
            </a:r>
            <a:r>
              <a:rPr lang="en-US" altLang="zh-CN" sz="1200"/>
              <a:t>Seoul,</a:t>
            </a:r>
            <a:r>
              <a:rPr lang="" altLang="en-US" sz="1200"/>
              <a:t> </a:t>
            </a:r>
            <a:r>
              <a:rPr lang="en-US" altLang="zh-CN" sz="1200"/>
              <a:t>South Korea 1992 </a:t>
            </a:r>
            <a:r>
              <a:rPr lang="" altLang="en-US" sz="1200"/>
              <a:t> </a:t>
            </a:r>
            <a:r>
              <a:rPr lang="en-US" altLang="zh-CN" sz="1200"/>
              <a:t>Barcelona,</a:t>
            </a:r>
            <a:r>
              <a:rPr lang="" altLang="en-US" sz="1200"/>
              <a:t> </a:t>
            </a:r>
            <a:r>
              <a:rPr lang="en-US" altLang="zh-CN" sz="1200"/>
              <a:t>Spain 1996 </a:t>
            </a:r>
            <a:r>
              <a:rPr lang="" altLang="en-US" sz="1200"/>
              <a:t> </a:t>
            </a:r>
            <a:r>
              <a:rPr lang="en-US" altLang="zh-CN" sz="1200"/>
              <a:t>Atlanta,</a:t>
            </a:r>
            <a:r>
              <a:rPr lang="" altLang="en-US" sz="1200"/>
              <a:t> </a:t>
            </a:r>
            <a:r>
              <a:rPr lang="en-US" altLang="zh-CN" sz="1200"/>
              <a:t>United States 2000 </a:t>
            </a:r>
            <a:r>
              <a:rPr lang="" altLang="en-US" sz="1200"/>
              <a:t> </a:t>
            </a:r>
            <a:r>
              <a:rPr lang="en-US" altLang="zh-CN" sz="1200"/>
              <a:t>Sydney,</a:t>
            </a:r>
            <a:r>
              <a:rPr lang="" altLang="en-US" sz="1200"/>
              <a:t> </a:t>
            </a:r>
            <a:r>
              <a:rPr lang="en-US" altLang="zh-CN" sz="1200"/>
              <a:t>Australia 2004 </a:t>
            </a:r>
            <a:r>
              <a:rPr lang="" altLang="en-US" sz="1200"/>
              <a:t> </a:t>
            </a:r>
            <a:r>
              <a:rPr lang="en-US" altLang="zh-CN" sz="1200"/>
              <a:t>Athens,</a:t>
            </a:r>
            <a:r>
              <a:rPr lang="" altLang="en-US" sz="1200"/>
              <a:t> </a:t>
            </a:r>
            <a:r>
              <a:rPr lang="en-US" altLang="zh-CN" sz="1200"/>
              <a:t>Greece 2008 </a:t>
            </a:r>
            <a:r>
              <a:rPr lang="" altLang="en-US" sz="1200"/>
              <a:t> </a:t>
            </a:r>
            <a:r>
              <a:rPr lang="en-US" altLang="zh-CN" sz="1200"/>
              <a:t>Beijing,</a:t>
            </a:r>
            <a:r>
              <a:rPr lang="" altLang="en-US" sz="1200"/>
              <a:t> </a:t>
            </a:r>
            <a:r>
              <a:rPr lang="en-US" altLang="zh-CN" sz="1200"/>
              <a:t>China 2012 </a:t>
            </a:r>
            <a:r>
              <a:rPr lang="" altLang="en-US" sz="1200"/>
              <a:t> </a:t>
            </a:r>
            <a:r>
              <a:rPr lang="en-US" altLang="zh-CN" sz="1200"/>
              <a:t>London,</a:t>
            </a:r>
            <a:r>
              <a:rPr lang="" altLang="en-US" sz="1200"/>
              <a:t> </a:t>
            </a:r>
            <a:r>
              <a:rPr lang="en-US" altLang="zh-CN" sz="1200"/>
              <a:t>United Kingdom 2016 </a:t>
            </a:r>
            <a:r>
              <a:rPr lang="" altLang="en-US" sz="1200"/>
              <a:t> </a:t>
            </a:r>
            <a:r>
              <a:rPr lang="en-US" altLang="zh-CN" sz="1200"/>
              <a:t>Rio de Janeiro,</a:t>
            </a:r>
            <a:r>
              <a:rPr lang="" altLang="en-US" sz="1200"/>
              <a:t> </a:t>
            </a:r>
            <a:r>
              <a:rPr lang="en-US" altLang="zh-CN" sz="1200"/>
              <a:t>Brazil 2020 </a:t>
            </a:r>
            <a:r>
              <a:rPr lang="" altLang="en-US" sz="1200"/>
              <a:t> </a:t>
            </a:r>
            <a:r>
              <a:rPr lang="en-US" altLang="zh-CN" sz="1200"/>
              <a:t>Tokyo,</a:t>
            </a:r>
            <a:r>
              <a:rPr lang="" altLang="en-US" sz="1200"/>
              <a:t> </a:t>
            </a:r>
            <a:r>
              <a:rPr lang="en-US" altLang="zh-CN" sz="1200"/>
              <a:t>Japan (postponed to 2021 due to the coronavirus pandemic) 2024 </a:t>
            </a:r>
            <a:r>
              <a:rPr lang="" altLang="en-US" sz="1200"/>
              <a:t> </a:t>
            </a:r>
            <a:r>
              <a:rPr lang="en-US" altLang="zh-CN" sz="1200"/>
              <a:t>Paris,</a:t>
            </a:r>
            <a:r>
              <a:rPr lang="" altLang="en-US" sz="1200"/>
              <a:t> </a:t>
            </a:r>
            <a:r>
              <a:rPr lang="en-US" altLang="zh-CN" sz="1200"/>
              <a:t>France 2028 </a:t>
            </a:r>
            <a:r>
              <a:rPr lang="" altLang="en-US" sz="1200"/>
              <a:t> </a:t>
            </a:r>
            <a:r>
              <a:rPr lang="en-US" altLang="zh-CN" sz="1200"/>
              <a:t>Los Angeles,</a:t>
            </a:r>
            <a:r>
              <a:rPr lang="" altLang="en-US" sz="1200"/>
              <a:t> </a:t>
            </a:r>
            <a:r>
              <a:rPr lang="en-US" altLang="zh-CN" sz="1200"/>
              <a:t>United States 2032 </a:t>
            </a:r>
            <a:r>
              <a:rPr lang="" altLang="en-US" sz="1200"/>
              <a:t> </a:t>
            </a:r>
            <a:r>
              <a:rPr lang="en-US" altLang="zh-CN" sz="1200"/>
              <a:t>Brisbane,</a:t>
            </a:r>
            <a:r>
              <a:rPr lang="" altLang="en-US" sz="1200"/>
              <a:t> </a:t>
            </a:r>
            <a:r>
              <a:rPr lang="en-US" altLang="zh-CN" sz="1200"/>
              <a:t>Australia)(summeroly_medal_counts Rank NOC Gold Silver Bronze Total Year 1 United States 11 7 2 20 1896 2 Greece 10 18 19 47 1896 3 Germany 6 5 2 13 1896 4 France 5 4 2 11 1896 5 Great Britain 2 3 2 7 1896 6 Hungary 2 1 3 6 1896 7 Austria 2 1 2 5 1896 8 Australia 2 0 0 2 1896 9 Denmark 1 2 3 6 1896 10 Switzerland 1 2 0 3 1896 11 Mixed team 1 0 1 2 1896 1 France 27 39 37 103 1900 2 United States 19 14 15 48 1900 3 Great Britain 15 7 9 31 1900)(summeroly_programs Sport Discipline Code Sports Governing Body 1896 1900 1904 1906* 1908 1912 1920 1924 1928 1932 1936 1948 1952 1956 1960 1964 1968 1972 1976 1980 1984 1988 1992 1996 2000 2004 2008 2012 2016 2020 2024 Aquatics Artistic Swimming SWA World Aquatics 0 0 0 0 0 0 0 0 0 0 0 0 0 0 0 0 0 0 0 0 2 2 2 1 2 2 2 2 2 2 2 Aquatics Diving DIV World Aquatics 0 0 2 1 2 4 5 5 4 4 4 4 4 4 4 4 4 4 4 4 4 4 4 4 8 8 8 8 8 8 8)</a:t>
            </a:r>
            <a:endParaRPr lang="en-US" altLang="zh-CN" sz="1200"/>
          </a:p>
        </p:txBody>
      </p:sp>
    </p:spTree>
    <p:custDataLst>
      <p:tags r:id="rId2"/>
    </p:custData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sz="quarter" idx="13"/>
            <p:custDataLst>
              <p:tags r:id="rId1"/>
            </p:custDataLst>
          </p:nvPr>
        </p:nvSpPr>
        <p:spPr/>
        <p:txBody>
          <a:bodyPr>
            <a:normAutofit fontScale="70000"/>
          </a:bodyPr>
          <a:p>
            <a:pPr marL="0" indent="0">
              <a:buNone/>
            </a:pPr>
            <a:r>
              <a:rPr lang="en-US" altLang="zh-CN"/>
              <a:t>1. </a:t>
            </a:r>
            <a:r>
              <a:rPr lang="zh-CN" altLang="en-US"/>
              <a:t>推断每一列的数据类型与现实含义</a:t>
            </a:r>
            <a:endParaRPr lang="zh-CN" altLang="en-US"/>
          </a:p>
          <a:p>
            <a:pPr marL="0" indent="0">
              <a:buNone/>
            </a:pPr>
            <a:r>
              <a:rPr lang="zh-CN" altLang="en-US"/>
              <a:t>基于提供的样本数据，我对每个文件进行推断。数据类型基于常见</a:t>
            </a:r>
            <a:r>
              <a:rPr lang="en-US" altLang="zh-CN"/>
              <a:t>CSV/Excel</a:t>
            </a:r>
            <a:r>
              <a:rPr lang="zh-CN" altLang="en-US"/>
              <a:t>模式（</a:t>
            </a:r>
            <a:r>
              <a:rPr lang="en-US" altLang="zh-CN"/>
              <a:t>e.g., pandas</a:t>
            </a:r>
            <a:r>
              <a:rPr lang="zh-CN" altLang="en-US"/>
              <a:t>默认推断）：字符串</a:t>
            </a:r>
            <a:r>
              <a:rPr lang="en-US" altLang="zh-CN"/>
              <a:t> (str)</a:t>
            </a:r>
            <a:r>
              <a:rPr lang="zh-CN" altLang="en-US"/>
              <a:t>、整数</a:t>
            </a:r>
            <a:r>
              <a:rPr lang="en-US" altLang="zh-CN"/>
              <a:t> (int)</a:t>
            </a:r>
            <a:r>
              <a:rPr lang="zh-CN" altLang="en-US"/>
              <a:t>、浮点</a:t>
            </a:r>
            <a:r>
              <a:rPr lang="en-US" altLang="zh-CN"/>
              <a:t> (float)</a:t>
            </a:r>
            <a:r>
              <a:rPr lang="zh-CN" altLang="en-US"/>
              <a:t>、类别</a:t>
            </a:r>
            <a:r>
              <a:rPr lang="en-US" altLang="zh-CN"/>
              <a:t> (categorical</a:t>
            </a:r>
            <a:r>
              <a:rPr lang="zh-CN" altLang="en-US"/>
              <a:t>，如果重复值多</a:t>
            </a:r>
            <a:r>
              <a:rPr lang="en-US" altLang="zh-CN"/>
              <a:t>)</a:t>
            </a:r>
            <a:r>
              <a:rPr lang="zh-CN" altLang="en-US"/>
              <a:t>。现实含义结合奥运背景（</a:t>
            </a:r>
            <a:r>
              <a:rPr lang="en-US" altLang="zh-CN"/>
              <a:t>IOC</a:t>
            </a:r>
            <a:r>
              <a:rPr lang="zh-CN" altLang="en-US"/>
              <a:t>标准，如</a:t>
            </a:r>
            <a:r>
              <a:rPr lang="en-US" altLang="zh-CN"/>
              <a:t>NOC=</a:t>
            </a:r>
            <a:r>
              <a:rPr lang="zh-CN" altLang="en-US"/>
              <a:t>国家代码、</a:t>
            </a:r>
            <a:r>
              <a:rPr lang="en-US" altLang="zh-CN"/>
              <a:t>Medal=</a:t>
            </a:r>
            <a:r>
              <a:rPr lang="zh-CN" altLang="en-US"/>
              <a:t>奖牌类型）。</a:t>
            </a:r>
            <a:endParaRPr lang="zh-CN" altLang="en-US"/>
          </a:p>
          <a:p>
            <a:pPr marL="0" indent="0">
              <a:buNone/>
            </a:pPr>
            <a:r>
              <a:rPr lang="zh-CN" altLang="en-US"/>
              <a:t>文件</a:t>
            </a:r>
            <a:r>
              <a:rPr lang="en-US" altLang="zh-CN"/>
              <a:t>1: summeroly_athletes.csv</a:t>
            </a:r>
            <a:endParaRPr lang="en-US" altLang="zh-CN"/>
          </a:p>
          <a:p>
            <a:pPr marL="0" indent="0">
              <a:buNone/>
            </a:pPr>
            <a:endParaRPr lang="en-US" altLang="zh-CN"/>
          </a:p>
          <a:p>
            <a:pPr marL="0" indent="0">
              <a:buNone/>
            </a:pPr>
            <a:r>
              <a:rPr lang="en-US" altLang="zh-CN"/>
              <a:t>Name: </a:t>
            </a:r>
            <a:r>
              <a:rPr lang="zh-CN" altLang="en-US"/>
              <a:t>类型</a:t>
            </a:r>
            <a:r>
              <a:rPr lang="en-US" altLang="zh-CN"/>
              <a:t> - str</a:t>
            </a:r>
            <a:r>
              <a:rPr lang="zh-CN" altLang="en-US"/>
              <a:t>；含义</a:t>
            </a:r>
            <a:r>
              <a:rPr lang="en-US" altLang="zh-CN"/>
              <a:t> - </a:t>
            </a:r>
            <a:r>
              <a:rPr lang="zh-CN" altLang="en-US"/>
              <a:t>运动员姓名，可能包含别名</a:t>
            </a:r>
            <a:r>
              <a:rPr lang="en-US" altLang="zh-CN"/>
              <a:t>/</a:t>
            </a:r>
            <a:r>
              <a:rPr lang="zh-CN" altLang="en-US"/>
              <a:t>后缀</a:t>
            </a:r>
            <a:r>
              <a:rPr lang="en-US" altLang="zh-CN"/>
              <a:t> (e.g., "Cornelia (-strannood)")</a:t>
            </a:r>
            <a:r>
              <a:rPr lang="zh-CN" altLang="en-US"/>
              <a:t>。</a:t>
            </a:r>
            <a:endParaRPr lang="zh-CN" altLang="en-US"/>
          </a:p>
          <a:p>
            <a:pPr marL="0" indent="0">
              <a:buNone/>
            </a:pPr>
            <a:r>
              <a:rPr lang="en-US" altLang="zh-CN"/>
              <a:t>Sex: </a:t>
            </a:r>
            <a:r>
              <a:rPr lang="zh-CN" altLang="en-US"/>
              <a:t>类型</a:t>
            </a:r>
            <a:r>
              <a:rPr lang="en-US" altLang="zh-CN"/>
              <a:t> - str (categorical, M/F)</a:t>
            </a:r>
            <a:r>
              <a:rPr lang="zh-CN" altLang="en-US"/>
              <a:t>；含义</a:t>
            </a:r>
            <a:r>
              <a:rPr lang="en-US" altLang="zh-CN"/>
              <a:t> - </a:t>
            </a:r>
            <a:r>
              <a:rPr lang="zh-CN" altLang="en-US"/>
              <a:t>运动员性别</a:t>
            </a:r>
            <a:r>
              <a:rPr lang="en-US" altLang="zh-CN"/>
              <a:t> (M=</a:t>
            </a:r>
            <a:r>
              <a:rPr lang="zh-CN" altLang="en-US"/>
              <a:t>男</a:t>
            </a:r>
            <a:r>
              <a:rPr lang="en-US" altLang="zh-CN"/>
              <a:t>, F=</a:t>
            </a:r>
            <a:r>
              <a:rPr lang="zh-CN" altLang="en-US"/>
              <a:t>女</a:t>
            </a:r>
            <a:r>
              <a:rPr lang="en-US" altLang="zh-CN"/>
              <a:t>)</a:t>
            </a:r>
            <a:r>
              <a:rPr lang="zh-CN" altLang="en-US"/>
              <a:t>。</a:t>
            </a:r>
            <a:endParaRPr lang="zh-CN" altLang="en-US"/>
          </a:p>
          <a:p>
            <a:pPr marL="0" indent="0">
              <a:buNone/>
            </a:pPr>
            <a:r>
              <a:rPr lang="en-US" altLang="zh-CN"/>
              <a:t>Team: </a:t>
            </a:r>
            <a:r>
              <a:rPr lang="zh-CN" altLang="en-US"/>
              <a:t>类型</a:t>
            </a:r>
            <a:r>
              <a:rPr lang="en-US" altLang="zh-CN"/>
              <a:t> - str</a:t>
            </a:r>
            <a:r>
              <a:rPr lang="zh-CN" altLang="en-US"/>
              <a:t>；含义</a:t>
            </a:r>
            <a:r>
              <a:rPr lang="en-US" altLang="zh-CN"/>
              <a:t> - </a:t>
            </a:r>
            <a:r>
              <a:rPr lang="zh-CN" altLang="en-US"/>
              <a:t>参赛团队</a:t>
            </a:r>
            <a:r>
              <a:rPr lang="en-US" altLang="zh-CN"/>
              <a:t>/</a:t>
            </a:r>
            <a:r>
              <a:rPr lang="zh-CN" altLang="en-US"/>
              <a:t>国家，可能包含细节</a:t>
            </a:r>
            <a:r>
              <a:rPr lang="en-US" altLang="zh-CN"/>
              <a:t> (e.g., "China", "Denmark/Sweden" </a:t>
            </a:r>
            <a:r>
              <a:rPr lang="zh-CN" altLang="en-US"/>
              <a:t>表示混合队</a:t>
            </a:r>
            <a:r>
              <a:rPr lang="en-US" altLang="zh-CN"/>
              <a:t>)</a:t>
            </a:r>
            <a:r>
              <a:rPr lang="zh-CN" altLang="en-US"/>
              <a:t>。</a:t>
            </a:r>
            <a:endParaRPr lang="zh-CN" altLang="en-US"/>
          </a:p>
          <a:p>
            <a:pPr marL="0" indent="0">
              <a:buNone/>
            </a:pPr>
            <a:r>
              <a:rPr lang="en-US" altLang="zh-CN"/>
              <a:t>NOC: </a:t>
            </a:r>
            <a:r>
              <a:rPr lang="zh-CN" altLang="en-US"/>
              <a:t>类型</a:t>
            </a:r>
            <a:r>
              <a:rPr lang="en-US" altLang="zh-CN"/>
              <a:t> - str (categorical, 3-letter code)</a:t>
            </a:r>
            <a:r>
              <a:rPr lang="zh-CN" altLang="en-US"/>
              <a:t>；含义</a:t>
            </a:r>
            <a:r>
              <a:rPr lang="en-US" altLang="zh-CN"/>
              <a:t> - </a:t>
            </a:r>
            <a:r>
              <a:rPr lang="zh-CN" altLang="en-US"/>
              <a:t>国际奥委会国家</a:t>
            </a:r>
            <a:r>
              <a:rPr lang="en-US" altLang="zh-CN"/>
              <a:t>/</a:t>
            </a:r>
            <a:r>
              <a:rPr lang="zh-CN" altLang="en-US"/>
              <a:t>地区代码</a:t>
            </a:r>
            <a:r>
              <a:rPr lang="en-US" altLang="zh-CN"/>
              <a:t> (e.g., CHN=</a:t>
            </a:r>
            <a:r>
              <a:rPr lang="zh-CN" altLang="en-US"/>
              <a:t>中国</a:t>
            </a:r>
            <a:r>
              <a:rPr lang="en-US" altLang="zh-CN"/>
              <a:t>, DEN=</a:t>
            </a:r>
            <a:r>
              <a:rPr lang="zh-CN" altLang="en-US"/>
              <a:t>丹麦</a:t>
            </a:r>
            <a:r>
              <a:rPr lang="en-US" altLang="zh-CN"/>
              <a:t>)</a:t>
            </a:r>
            <a:r>
              <a:rPr lang="zh-CN" altLang="en-US"/>
              <a:t>。</a:t>
            </a:r>
            <a:endParaRPr lang="zh-CN" altLang="en-US"/>
          </a:p>
          <a:p>
            <a:pPr marL="0" indent="0">
              <a:buNone/>
            </a:pPr>
            <a:r>
              <a:rPr lang="en-US" altLang="zh-CN"/>
              <a:t>Year: </a:t>
            </a:r>
            <a:r>
              <a:rPr lang="zh-CN" altLang="en-US"/>
              <a:t>类型</a:t>
            </a:r>
            <a:r>
              <a:rPr lang="en-US" altLang="zh-CN"/>
              <a:t> - int</a:t>
            </a:r>
            <a:r>
              <a:rPr lang="zh-CN" altLang="en-US"/>
              <a:t>；含义</a:t>
            </a:r>
            <a:r>
              <a:rPr lang="en-US" altLang="zh-CN"/>
              <a:t> - </a:t>
            </a:r>
            <a:r>
              <a:rPr lang="zh-CN" altLang="en-US"/>
              <a:t>奥运年份</a:t>
            </a:r>
            <a:r>
              <a:rPr lang="en-US" altLang="zh-CN"/>
              <a:t> (e.g., 1992)</a:t>
            </a:r>
            <a:r>
              <a:rPr lang="zh-CN" altLang="en-US"/>
              <a:t>。</a:t>
            </a:r>
            <a:endParaRPr lang="zh-CN" altLang="en-US"/>
          </a:p>
          <a:p>
            <a:pPr marL="0" indent="0">
              <a:buNone/>
            </a:pPr>
            <a:r>
              <a:rPr lang="en-US" altLang="zh-CN"/>
              <a:t>City: </a:t>
            </a:r>
            <a:r>
              <a:rPr lang="zh-CN" altLang="en-US"/>
              <a:t>类型</a:t>
            </a:r>
            <a:r>
              <a:rPr lang="en-US" altLang="zh-CN"/>
              <a:t> - str</a:t>
            </a:r>
            <a:r>
              <a:rPr lang="zh-CN" altLang="en-US"/>
              <a:t>；含义</a:t>
            </a:r>
            <a:r>
              <a:rPr lang="en-US" altLang="zh-CN"/>
              <a:t> - </a:t>
            </a:r>
            <a:r>
              <a:rPr lang="zh-CN" altLang="en-US"/>
              <a:t>主办城市</a:t>
            </a:r>
            <a:r>
              <a:rPr lang="en-US" altLang="zh-CN"/>
              <a:t> (e.g., "Barcelona")</a:t>
            </a:r>
            <a:r>
              <a:rPr lang="zh-CN" altLang="en-US"/>
              <a:t>。</a:t>
            </a:r>
            <a:endParaRPr lang="zh-CN" altLang="en-US"/>
          </a:p>
          <a:p>
            <a:pPr marL="0" indent="0">
              <a:buNone/>
            </a:pPr>
            <a:r>
              <a:rPr lang="en-US" altLang="zh-CN"/>
              <a:t>Sport: </a:t>
            </a:r>
            <a:r>
              <a:rPr lang="zh-CN" altLang="en-US"/>
              <a:t>类型</a:t>
            </a:r>
            <a:r>
              <a:rPr lang="en-US" altLang="zh-CN"/>
              <a:t> - str (categorical)</a:t>
            </a:r>
            <a:r>
              <a:rPr lang="zh-CN" altLang="en-US"/>
              <a:t>；含义</a:t>
            </a:r>
            <a:r>
              <a:rPr lang="en-US" altLang="zh-CN"/>
              <a:t> - </a:t>
            </a:r>
            <a:r>
              <a:rPr lang="zh-CN" altLang="en-US"/>
              <a:t>运动大类</a:t>
            </a:r>
            <a:r>
              <a:rPr lang="en-US" altLang="zh-CN"/>
              <a:t> (e.g., "Basketball", "Judo")</a:t>
            </a:r>
            <a:r>
              <a:rPr lang="zh-CN" altLang="en-US"/>
              <a:t>。</a:t>
            </a:r>
            <a:endParaRPr lang="zh-CN" altLang="en-US"/>
          </a:p>
          <a:p>
            <a:pPr marL="0" indent="0">
              <a:buNone/>
            </a:pPr>
            <a:r>
              <a:rPr lang="en-US" altLang="zh-CN"/>
              <a:t>Event: </a:t>
            </a:r>
            <a:r>
              <a:rPr lang="zh-CN" altLang="en-US"/>
              <a:t>类型</a:t>
            </a:r>
            <a:r>
              <a:rPr lang="en-US" altLang="zh-CN"/>
              <a:t> - str</a:t>
            </a:r>
            <a:r>
              <a:rPr lang="zh-CN" altLang="en-US"/>
              <a:t>；含义</a:t>
            </a:r>
            <a:r>
              <a:rPr lang="en-US" altLang="zh-CN"/>
              <a:t> - </a:t>
            </a:r>
            <a:r>
              <a:rPr lang="zh-CN" altLang="en-US"/>
              <a:t>具体赛事</a:t>
            </a:r>
            <a:r>
              <a:rPr lang="en-US" altLang="zh-CN"/>
              <a:t> (e.g., "Basketball Men's Basketball")</a:t>
            </a:r>
            <a:r>
              <a:rPr lang="zh-CN" altLang="en-US"/>
              <a:t>。</a:t>
            </a:r>
            <a:endParaRPr lang="zh-CN" altLang="en-US"/>
          </a:p>
          <a:p>
            <a:pPr marL="0" indent="0">
              <a:buNone/>
            </a:pPr>
            <a:r>
              <a:rPr lang="en-US" altLang="zh-CN"/>
              <a:t>Medal: </a:t>
            </a:r>
            <a:r>
              <a:rPr lang="zh-CN" altLang="en-US"/>
              <a:t>类型</a:t>
            </a:r>
            <a:r>
              <a:rPr lang="en-US" altLang="zh-CN"/>
              <a:t> - str (categorical)</a:t>
            </a:r>
            <a:r>
              <a:rPr lang="zh-CN" altLang="en-US"/>
              <a:t>；含义</a:t>
            </a:r>
            <a:r>
              <a:rPr lang="en-US" altLang="zh-CN"/>
              <a:t> - </a:t>
            </a:r>
            <a:r>
              <a:rPr lang="zh-CN" altLang="en-US"/>
              <a:t>奖牌结果</a:t>
            </a:r>
            <a:r>
              <a:rPr lang="en-US" altLang="zh-CN"/>
              <a:t> (Gold/Silver/Bronze/No medal)</a:t>
            </a:r>
            <a:r>
              <a:rPr lang="zh-CN" altLang="en-US"/>
              <a:t>。</a:t>
            </a:r>
            <a:endParaRPr lang="zh-CN" altLang="en-US"/>
          </a:p>
        </p:txBody>
      </p:sp>
    </p:spTree>
    <p:custDataLst>
      <p:tags r:id="rId2"/>
    </p:custData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sz="quarter" idx="13"/>
            <p:custDataLst>
              <p:tags r:id="rId1"/>
            </p:custDataLst>
          </p:nvPr>
        </p:nvSpPr>
        <p:spPr>
          <a:xfrm>
            <a:off x="608400" y="321880"/>
            <a:ext cx="10972800" cy="5482800"/>
          </a:xfrm>
        </p:spPr>
        <p:txBody>
          <a:bodyPr>
            <a:noAutofit/>
          </a:bodyPr>
          <a:p>
            <a:pPr marL="0" indent="0">
              <a:buNone/>
            </a:pPr>
            <a:r>
              <a:rPr lang="zh-CN" altLang="en-US" sz="1300"/>
              <a:t>文件</a:t>
            </a:r>
            <a:r>
              <a:rPr lang="en-US" altLang="zh-CN" sz="1300"/>
              <a:t>2: summeroly_hosts.csv</a:t>
            </a:r>
            <a:endParaRPr lang="en-US" altLang="zh-CN" sz="1300"/>
          </a:p>
          <a:p>
            <a:pPr marL="0" indent="0">
              <a:buNone/>
            </a:pPr>
            <a:r>
              <a:rPr lang="en-US" altLang="zh-CN" sz="1300"/>
              <a:t>Year: </a:t>
            </a:r>
            <a:r>
              <a:rPr lang="zh-CN" altLang="en-US" sz="1300"/>
              <a:t>类型</a:t>
            </a:r>
            <a:r>
              <a:rPr lang="en-US" altLang="zh-CN" sz="1300"/>
              <a:t> - int</a:t>
            </a:r>
            <a:r>
              <a:rPr lang="zh-CN" altLang="en-US" sz="1300"/>
              <a:t>；含义</a:t>
            </a:r>
            <a:r>
              <a:rPr lang="en-US" altLang="zh-CN" sz="1300"/>
              <a:t> - </a:t>
            </a:r>
            <a:r>
              <a:rPr lang="zh-CN" altLang="en-US" sz="1300"/>
              <a:t>奥运年份</a:t>
            </a:r>
            <a:r>
              <a:rPr lang="en-US" altLang="zh-CN" sz="1300"/>
              <a:t> (e.g., 1896)</a:t>
            </a:r>
            <a:r>
              <a:rPr lang="zh-CN" altLang="en-US" sz="1300"/>
              <a:t>。</a:t>
            </a:r>
            <a:endParaRPr lang="zh-CN" altLang="en-US" sz="1300"/>
          </a:p>
          <a:p>
            <a:pPr marL="0" indent="0">
              <a:buNone/>
            </a:pPr>
            <a:r>
              <a:rPr lang="en-US" altLang="zh-CN" sz="1300"/>
              <a:t>Host: </a:t>
            </a:r>
            <a:r>
              <a:rPr lang="zh-CN" altLang="en-US" sz="1300"/>
              <a:t>类型</a:t>
            </a:r>
            <a:r>
              <a:rPr lang="en-US" altLang="zh-CN" sz="1300"/>
              <a:t> - str</a:t>
            </a:r>
            <a:r>
              <a:rPr lang="zh-CN" altLang="en-US" sz="1300"/>
              <a:t>；含义</a:t>
            </a:r>
            <a:r>
              <a:rPr lang="en-US" altLang="zh-CN" sz="1300"/>
              <a:t> - </a:t>
            </a:r>
            <a:r>
              <a:rPr lang="zh-CN" altLang="en-US" sz="1300"/>
              <a:t>主办城市</a:t>
            </a:r>
            <a:r>
              <a:rPr lang="en-US" altLang="zh-CN" sz="1300"/>
              <a:t>/</a:t>
            </a:r>
            <a:r>
              <a:rPr lang="zh-CN" altLang="en-US" sz="1300"/>
              <a:t>国家，可能包含备注</a:t>
            </a:r>
            <a:r>
              <a:rPr lang="en-US" altLang="zh-CN" sz="1300"/>
              <a:t> (e.g., "Athens, Greece", "Cancelled (WWI – Berlin had been awarded)")</a:t>
            </a:r>
            <a:r>
              <a:rPr lang="zh-CN" altLang="en-US" sz="1300"/>
              <a:t>。</a:t>
            </a:r>
            <a:endParaRPr lang="zh-CN" altLang="en-US" sz="1300"/>
          </a:p>
          <a:p>
            <a:pPr marL="0" indent="0">
              <a:buNone/>
            </a:pPr>
            <a:r>
              <a:rPr lang="zh-CN" altLang="en-US" sz="1300"/>
              <a:t>文件</a:t>
            </a:r>
            <a:r>
              <a:rPr lang="en-US" altLang="zh-CN" sz="1300"/>
              <a:t>3: summeroly_medal_counts.csv</a:t>
            </a:r>
            <a:endParaRPr lang="en-US" altLang="zh-CN" sz="1300"/>
          </a:p>
          <a:p>
            <a:pPr marL="0" indent="0">
              <a:buNone/>
            </a:pPr>
            <a:r>
              <a:rPr lang="en-US" altLang="zh-CN" sz="1300"/>
              <a:t>Rank: </a:t>
            </a:r>
            <a:r>
              <a:rPr lang="zh-CN" altLang="en-US" sz="1300"/>
              <a:t>类型</a:t>
            </a:r>
            <a:r>
              <a:rPr lang="en-US" altLang="zh-CN" sz="1300"/>
              <a:t> - int</a:t>
            </a:r>
            <a:r>
              <a:rPr lang="zh-CN" altLang="en-US" sz="1300"/>
              <a:t>；含义</a:t>
            </a:r>
            <a:r>
              <a:rPr lang="en-US" altLang="zh-CN" sz="1300"/>
              <a:t> - </a:t>
            </a:r>
            <a:r>
              <a:rPr lang="zh-CN" altLang="en-US" sz="1300"/>
              <a:t>国家排名</a:t>
            </a:r>
            <a:r>
              <a:rPr lang="en-US" altLang="zh-CN" sz="1300"/>
              <a:t> (e.g., 1=</a:t>
            </a:r>
            <a:r>
              <a:rPr lang="zh-CN" altLang="en-US" sz="1300"/>
              <a:t>第一</a:t>
            </a:r>
            <a:r>
              <a:rPr lang="en-US" altLang="zh-CN" sz="1300"/>
              <a:t>)</a:t>
            </a:r>
            <a:r>
              <a:rPr lang="zh-CN" altLang="en-US" sz="1300"/>
              <a:t>。</a:t>
            </a:r>
            <a:endParaRPr lang="zh-CN" altLang="en-US" sz="1300"/>
          </a:p>
          <a:p>
            <a:pPr marL="0" indent="0">
              <a:buNone/>
            </a:pPr>
            <a:r>
              <a:rPr lang="en-US" altLang="zh-CN" sz="1300"/>
              <a:t>NOC: </a:t>
            </a:r>
            <a:r>
              <a:rPr lang="zh-CN" altLang="en-US" sz="1300"/>
              <a:t>类型</a:t>
            </a:r>
            <a:r>
              <a:rPr lang="en-US" altLang="zh-CN" sz="1300"/>
              <a:t> - str (categorical, 3-letter code)</a:t>
            </a:r>
            <a:r>
              <a:rPr lang="zh-CN" altLang="en-US" sz="1300"/>
              <a:t>；含义</a:t>
            </a:r>
            <a:r>
              <a:rPr lang="en-US" altLang="zh-CN" sz="1300"/>
              <a:t> - </a:t>
            </a:r>
            <a:r>
              <a:rPr lang="zh-CN" altLang="en-US" sz="1300"/>
              <a:t>国家</a:t>
            </a:r>
            <a:r>
              <a:rPr lang="en-US" altLang="zh-CN" sz="1300"/>
              <a:t>/</a:t>
            </a:r>
            <a:r>
              <a:rPr lang="zh-CN" altLang="en-US" sz="1300"/>
              <a:t>地区代码</a:t>
            </a:r>
            <a:r>
              <a:rPr lang="en-US" altLang="zh-CN" sz="1300"/>
              <a:t> (e.g., "United States")</a:t>
            </a:r>
            <a:r>
              <a:rPr lang="zh-CN" altLang="en-US" sz="1300"/>
              <a:t>。</a:t>
            </a:r>
            <a:endParaRPr lang="zh-CN" altLang="en-US" sz="1300"/>
          </a:p>
          <a:p>
            <a:pPr marL="0" indent="0">
              <a:buNone/>
            </a:pPr>
            <a:r>
              <a:rPr lang="en-US" altLang="zh-CN" sz="1300"/>
              <a:t>Gold: </a:t>
            </a:r>
            <a:r>
              <a:rPr lang="zh-CN" altLang="en-US" sz="1300"/>
              <a:t>类型</a:t>
            </a:r>
            <a:r>
              <a:rPr lang="en-US" altLang="zh-CN" sz="1300"/>
              <a:t> - int</a:t>
            </a:r>
            <a:r>
              <a:rPr lang="zh-CN" altLang="en-US" sz="1300"/>
              <a:t>；含义</a:t>
            </a:r>
            <a:r>
              <a:rPr lang="en-US" altLang="zh-CN" sz="1300"/>
              <a:t> - </a:t>
            </a:r>
            <a:r>
              <a:rPr lang="zh-CN" altLang="en-US" sz="1300"/>
              <a:t>金牌数。</a:t>
            </a:r>
            <a:endParaRPr lang="zh-CN" altLang="en-US" sz="1300"/>
          </a:p>
          <a:p>
            <a:pPr marL="0" indent="0">
              <a:buNone/>
            </a:pPr>
            <a:r>
              <a:rPr lang="en-US" altLang="zh-CN" sz="1300"/>
              <a:t>Silver: </a:t>
            </a:r>
            <a:r>
              <a:rPr lang="zh-CN" altLang="en-US" sz="1300"/>
              <a:t>类型</a:t>
            </a:r>
            <a:r>
              <a:rPr lang="en-US" altLang="zh-CN" sz="1300"/>
              <a:t> - int</a:t>
            </a:r>
            <a:r>
              <a:rPr lang="zh-CN" altLang="en-US" sz="1300"/>
              <a:t>；含义</a:t>
            </a:r>
            <a:r>
              <a:rPr lang="en-US" altLang="zh-CN" sz="1300"/>
              <a:t> - </a:t>
            </a:r>
            <a:r>
              <a:rPr lang="zh-CN" altLang="en-US" sz="1300"/>
              <a:t>银牌数。</a:t>
            </a:r>
            <a:endParaRPr lang="zh-CN" altLang="en-US" sz="1300"/>
          </a:p>
          <a:p>
            <a:pPr marL="0" indent="0">
              <a:buNone/>
            </a:pPr>
            <a:r>
              <a:rPr lang="en-US" altLang="zh-CN" sz="1300"/>
              <a:t>Bronze: </a:t>
            </a:r>
            <a:r>
              <a:rPr lang="zh-CN" altLang="en-US" sz="1300"/>
              <a:t>类型</a:t>
            </a:r>
            <a:r>
              <a:rPr lang="en-US" altLang="zh-CN" sz="1300"/>
              <a:t> - int</a:t>
            </a:r>
            <a:r>
              <a:rPr lang="zh-CN" altLang="en-US" sz="1300"/>
              <a:t>；含义</a:t>
            </a:r>
            <a:r>
              <a:rPr lang="en-US" altLang="zh-CN" sz="1300"/>
              <a:t> - </a:t>
            </a:r>
            <a:r>
              <a:rPr lang="zh-CN" altLang="en-US" sz="1300"/>
              <a:t>铜牌数。</a:t>
            </a:r>
            <a:endParaRPr lang="zh-CN" altLang="en-US" sz="1300"/>
          </a:p>
          <a:p>
            <a:pPr marL="0" indent="0">
              <a:buNone/>
            </a:pPr>
            <a:r>
              <a:rPr lang="en-US" altLang="zh-CN" sz="1300"/>
              <a:t>Total: </a:t>
            </a:r>
            <a:r>
              <a:rPr lang="zh-CN" altLang="en-US" sz="1300"/>
              <a:t>类型</a:t>
            </a:r>
            <a:r>
              <a:rPr lang="en-US" altLang="zh-CN" sz="1300"/>
              <a:t> - int</a:t>
            </a:r>
            <a:r>
              <a:rPr lang="zh-CN" altLang="en-US" sz="1300"/>
              <a:t>；含义</a:t>
            </a:r>
            <a:r>
              <a:rPr lang="en-US" altLang="zh-CN" sz="1300"/>
              <a:t> - </a:t>
            </a:r>
            <a:r>
              <a:rPr lang="zh-CN" altLang="en-US" sz="1300"/>
              <a:t>总奖牌数</a:t>
            </a:r>
            <a:r>
              <a:rPr lang="en-US" altLang="zh-CN" sz="1300"/>
              <a:t> (Gold + Silver + Bronze)</a:t>
            </a:r>
            <a:r>
              <a:rPr lang="zh-CN" altLang="en-US" sz="1300"/>
              <a:t>。</a:t>
            </a:r>
            <a:endParaRPr lang="zh-CN" altLang="en-US" sz="1300"/>
          </a:p>
          <a:p>
            <a:pPr marL="0" indent="0">
              <a:buNone/>
            </a:pPr>
            <a:r>
              <a:rPr lang="en-US" altLang="zh-CN" sz="1300"/>
              <a:t>Year: </a:t>
            </a:r>
            <a:r>
              <a:rPr lang="zh-CN" altLang="en-US" sz="1300"/>
              <a:t>类型</a:t>
            </a:r>
            <a:r>
              <a:rPr lang="en-US" altLang="zh-CN" sz="1300"/>
              <a:t> - int</a:t>
            </a:r>
            <a:r>
              <a:rPr lang="zh-CN" altLang="en-US" sz="1300"/>
              <a:t>；含义</a:t>
            </a:r>
            <a:r>
              <a:rPr lang="en-US" altLang="zh-CN" sz="1300"/>
              <a:t> - </a:t>
            </a:r>
            <a:r>
              <a:rPr lang="zh-CN" altLang="en-US" sz="1300"/>
              <a:t>奥运年份</a:t>
            </a:r>
            <a:r>
              <a:rPr lang="en-US" altLang="zh-CN" sz="1300"/>
              <a:t> (e.g., 1896)</a:t>
            </a:r>
            <a:r>
              <a:rPr lang="zh-CN" altLang="en-US" sz="1300"/>
              <a:t>。</a:t>
            </a:r>
            <a:endParaRPr lang="en-US" altLang="zh-CN" sz="1300"/>
          </a:p>
          <a:p>
            <a:pPr marL="0" indent="0">
              <a:buNone/>
            </a:pPr>
            <a:r>
              <a:rPr lang="zh-CN" altLang="en-US" sz="1300"/>
              <a:t>文件</a:t>
            </a:r>
            <a:r>
              <a:rPr lang="en-US" altLang="zh-CN" sz="1300"/>
              <a:t>4: summeroly_programs.csv</a:t>
            </a:r>
            <a:endParaRPr lang="en-US" altLang="zh-CN" sz="1300"/>
          </a:p>
          <a:p>
            <a:pPr marL="0" indent="0">
              <a:buNone/>
            </a:pPr>
            <a:r>
              <a:rPr lang="en-US" altLang="zh-CN" sz="1300"/>
              <a:t>Sport: </a:t>
            </a:r>
            <a:r>
              <a:rPr lang="zh-CN" altLang="en-US" sz="1300"/>
              <a:t>类型</a:t>
            </a:r>
            <a:r>
              <a:rPr lang="en-US" altLang="zh-CN" sz="1300"/>
              <a:t> - str (categorical)</a:t>
            </a:r>
            <a:r>
              <a:rPr lang="zh-CN" altLang="en-US" sz="1300"/>
              <a:t>；含义</a:t>
            </a:r>
            <a:r>
              <a:rPr lang="en-US" altLang="zh-CN" sz="1300"/>
              <a:t> - </a:t>
            </a:r>
            <a:r>
              <a:rPr lang="zh-CN" altLang="en-US" sz="1300"/>
              <a:t>运动大类</a:t>
            </a:r>
            <a:r>
              <a:rPr lang="en-US" altLang="zh-CN" sz="1300"/>
              <a:t> (e.g., "Aquatics")</a:t>
            </a:r>
            <a:r>
              <a:rPr lang="zh-CN" altLang="en-US" sz="1300"/>
              <a:t>。</a:t>
            </a:r>
            <a:endParaRPr lang="zh-CN" altLang="en-US" sz="1300"/>
          </a:p>
          <a:p>
            <a:pPr marL="0" indent="0">
              <a:buNone/>
            </a:pPr>
            <a:r>
              <a:rPr lang="en-US" altLang="zh-CN" sz="1300"/>
              <a:t>Discipline Code: </a:t>
            </a:r>
            <a:r>
              <a:rPr lang="zh-CN" altLang="en-US" sz="1300"/>
              <a:t>类型</a:t>
            </a:r>
            <a:r>
              <a:rPr lang="en-US" altLang="zh-CN" sz="1300"/>
              <a:t> - str (categorical, abbreviation)</a:t>
            </a:r>
            <a:r>
              <a:rPr lang="zh-CN" altLang="en-US" sz="1300"/>
              <a:t>；含义</a:t>
            </a:r>
            <a:r>
              <a:rPr lang="en-US" altLang="zh-CN" sz="1300"/>
              <a:t> - </a:t>
            </a:r>
            <a:r>
              <a:rPr lang="zh-CN" altLang="en-US" sz="1300"/>
              <a:t>学科</a:t>
            </a:r>
            <a:r>
              <a:rPr lang="en-US" altLang="zh-CN" sz="1300"/>
              <a:t>/</a:t>
            </a:r>
            <a:r>
              <a:rPr lang="zh-CN" altLang="en-US" sz="1300"/>
              <a:t>分支代码</a:t>
            </a:r>
            <a:r>
              <a:rPr lang="en-US" altLang="zh-CN" sz="1300"/>
              <a:t> (e.g., "SWA" for Artistic Swimming)</a:t>
            </a:r>
            <a:r>
              <a:rPr lang="zh-CN" altLang="en-US" sz="1300"/>
              <a:t>。</a:t>
            </a:r>
            <a:endParaRPr lang="zh-CN" altLang="en-US" sz="1300"/>
          </a:p>
          <a:p>
            <a:pPr marL="0" indent="0">
              <a:buNone/>
            </a:pPr>
            <a:r>
              <a:rPr lang="en-US" altLang="zh-CN" sz="1300"/>
              <a:t>Sports Governing Body: </a:t>
            </a:r>
            <a:r>
              <a:rPr lang="zh-CN" altLang="en-US" sz="1300"/>
              <a:t>类型</a:t>
            </a:r>
            <a:r>
              <a:rPr lang="en-US" altLang="zh-CN" sz="1300"/>
              <a:t> - str</a:t>
            </a:r>
            <a:r>
              <a:rPr lang="zh-CN" altLang="en-US" sz="1300"/>
              <a:t>；含义</a:t>
            </a:r>
            <a:r>
              <a:rPr lang="en-US" altLang="zh-CN" sz="1300"/>
              <a:t> - </a:t>
            </a:r>
            <a:r>
              <a:rPr lang="zh-CN" altLang="en-US" sz="1300"/>
              <a:t>管理机构</a:t>
            </a:r>
            <a:r>
              <a:rPr lang="en-US" altLang="zh-CN" sz="1300"/>
              <a:t> (e.g., "World Aquatics")</a:t>
            </a:r>
            <a:r>
              <a:rPr lang="zh-CN" altLang="en-US" sz="1300"/>
              <a:t>。</a:t>
            </a:r>
            <a:endParaRPr lang="zh-CN" altLang="en-US" sz="1300"/>
          </a:p>
          <a:p>
            <a:pPr marL="0" indent="0">
              <a:buNone/>
            </a:pPr>
            <a:r>
              <a:rPr lang="zh-CN" altLang="en-US" sz="1300"/>
              <a:t>后续列</a:t>
            </a:r>
            <a:r>
              <a:rPr lang="en-US" altLang="zh-CN" sz="1300"/>
              <a:t> (1896, 1900, ..., 2024): </a:t>
            </a:r>
            <a:r>
              <a:rPr lang="zh-CN" altLang="en-US" sz="1300"/>
              <a:t>类型</a:t>
            </a:r>
            <a:r>
              <a:rPr lang="en-US" altLang="zh-CN" sz="1300"/>
              <a:t> - int</a:t>
            </a:r>
            <a:r>
              <a:rPr lang="zh-CN" altLang="en-US" sz="1300"/>
              <a:t>；含义</a:t>
            </a:r>
            <a:r>
              <a:rPr lang="en-US" altLang="zh-CN" sz="1300"/>
              <a:t> - </a:t>
            </a:r>
            <a:r>
              <a:rPr lang="zh-CN" altLang="en-US" sz="1300"/>
              <a:t>该年该学科的事件数量</a:t>
            </a:r>
            <a:r>
              <a:rPr lang="en-US" altLang="zh-CN" sz="1300"/>
              <a:t> (e.g., 0=</a:t>
            </a:r>
            <a:r>
              <a:rPr lang="zh-CN" altLang="en-US" sz="1300"/>
              <a:t>无</a:t>
            </a:r>
            <a:r>
              <a:rPr lang="en-US" altLang="zh-CN" sz="1300"/>
              <a:t>, 2=</a:t>
            </a:r>
            <a:r>
              <a:rPr lang="zh-CN" altLang="en-US" sz="1300"/>
              <a:t>两个事件</a:t>
            </a:r>
            <a:r>
              <a:rPr lang="en-US" altLang="zh-CN" sz="1300"/>
              <a:t>)</a:t>
            </a:r>
            <a:r>
              <a:rPr lang="zh-CN" altLang="en-US" sz="1300"/>
              <a:t>。</a:t>
            </a:r>
            <a:endParaRPr lang="zh-CN" altLang="en-US" sz="1300"/>
          </a:p>
        </p:txBody>
      </p:sp>
    </p:spTree>
    <p:custDataLst>
      <p:tags r:id="rId2"/>
    </p:custData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sz="quarter" idx="13"/>
            <p:custDataLst>
              <p:tags r:id="rId1"/>
            </p:custDataLst>
          </p:nvPr>
        </p:nvSpPr>
        <p:spPr>
          <a:xfrm>
            <a:off x="608330" y="-60960"/>
            <a:ext cx="10972800" cy="6776085"/>
          </a:xfrm>
        </p:spPr>
        <p:txBody>
          <a:bodyPr>
            <a:noAutofit/>
          </a:bodyPr>
          <a:p>
            <a:pPr marL="0" indent="0">
              <a:buNone/>
            </a:pPr>
            <a:r>
              <a:rPr lang="en-US" altLang="zh-CN" sz="900"/>
              <a:t>2. </a:t>
            </a:r>
            <a:r>
              <a:rPr lang="zh-CN" altLang="en-US" sz="900"/>
              <a:t>判断可能存在的问题</a:t>
            </a:r>
            <a:endParaRPr lang="zh-CN" altLang="en-US" sz="900"/>
          </a:p>
          <a:p>
            <a:pPr marL="0" indent="0">
              <a:buNone/>
            </a:pPr>
            <a:r>
              <a:rPr lang="zh-CN" altLang="en-US" sz="900"/>
              <a:t>基于样本和奥运数据常见问题（历史变化、记录异常），逐文件分析。假设全数据类似样本。</a:t>
            </a:r>
            <a:endParaRPr lang="zh-CN" altLang="en-US" sz="900"/>
          </a:p>
          <a:p>
            <a:pPr marL="0" indent="0">
              <a:buNone/>
            </a:pPr>
            <a:r>
              <a:rPr lang="zh-CN" altLang="en-US" sz="900"/>
              <a:t>文件</a:t>
            </a:r>
            <a:r>
              <a:rPr lang="en-US" altLang="zh-CN" sz="900"/>
              <a:t>1: summeroly_athletes.csv</a:t>
            </a:r>
            <a:endParaRPr lang="en-US" altLang="zh-CN" sz="900"/>
          </a:p>
          <a:p>
            <a:pPr marL="0" indent="0">
              <a:buNone/>
            </a:pPr>
            <a:r>
              <a:rPr lang="zh-CN" altLang="en-US" sz="900"/>
              <a:t>缺失值：可能高</a:t>
            </a:r>
            <a:r>
              <a:rPr lang="en-US" altLang="zh-CN" sz="900"/>
              <a:t> (e.g., Medal</a:t>
            </a:r>
            <a:r>
              <a:rPr lang="zh-CN" altLang="en-US" sz="900"/>
              <a:t>常</a:t>
            </a:r>
            <a:r>
              <a:rPr lang="en-US" altLang="zh-CN" sz="900"/>
              <a:t>"No medal"</a:t>
            </a:r>
            <a:r>
              <a:rPr lang="zh-CN" altLang="en-US" sz="900"/>
              <a:t>，但若空</a:t>
            </a:r>
            <a:r>
              <a:rPr lang="en-US" altLang="zh-CN" sz="900"/>
              <a:t>=</a:t>
            </a:r>
            <a:r>
              <a:rPr lang="zh-CN" altLang="en-US" sz="900"/>
              <a:t>缺失；</a:t>
            </a:r>
            <a:r>
              <a:rPr lang="en-US" altLang="zh-CN" sz="900"/>
              <a:t>Sex/Team</a:t>
            </a:r>
            <a:r>
              <a:rPr lang="zh-CN" altLang="en-US" sz="900"/>
              <a:t>可能空于历史数据</a:t>
            </a:r>
            <a:r>
              <a:rPr lang="en-US" altLang="zh-CN" sz="900"/>
              <a:t>)</a:t>
            </a:r>
            <a:r>
              <a:rPr lang="zh-CN" altLang="en-US" sz="900"/>
              <a:t>。</a:t>
            </a:r>
            <a:endParaRPr lang="zh-CN" altLang="en-US" sz="900"/>
          </a:p>
          <a:p>
            <a:pPr marL="0" indent="0">
              <a:buNone/>
            </a:pPr>
            <a:r>
              <a:rPr lang="zh-CN" altLang="en-US" sz="900"/>
              <a:t>异常值：姓名后缀如</a:t>
            </a:r>
            <a:r>
              <a:rPr lang="en-US" altLang="zh-CN" sz="900"/>
              <a:t>"(-strannood)"</a:t>
            </a:r>
            <a:r>
              <a:rPr lang="zh-CN" altLang="en-US" sz="900"/>
              <a:t>不一致；</a:t>
            </a:r>
            <a:r>
              <a:rPr lang="en-US" altLang="zh-CN" sz="900"/>
              <a:t>Year</a:t>
            </a:r>
            <a:r>
              <a:rPr lang="zh-CN" altLang="en-US" sz="900"/>
              <a:t>非奥运年</a:t>
            </a:r>
            <a:r>
              <a:rPr lang="en-US" altLang="zh-CN" sz="900"/>
              <a:t> (e.g., </a:t>
            </a:r>
            <a:r>
              <a:rPr lang="zh-CN" altLang="en-US" sz="900"/>
              <a:t>非</a:t>
            </a:r>
            <a:r>
              <a:rPr lang="en-US" altLang="zh-CN" sz="900"/>
              <a:t>4</a:t>
            </a:r>
            <a:r>
              <a:rPr lang="zh-CN" altLang="en-US" sz="900"/>
              <a:t>年倍数</a:t>
            </a:r>
            <a:r>
              <a:rPr lang="en-US" altLang="zh-CN" sz="900"/>
              <a:t>)</a:t>
            </a:r>
            <a:r>
              <a:rPr lang="zh-CN" altLang="en-US" sz="900"/>
              <a:t>；</a:t>
            </a:r>
            <a:r>
              <a:rPr lang="en-US" altLang="zh-CN" sz="900"/>
              <a:t>Medal</a:t>
            </a:r>
            <a:r>
              <a:rPr lang="zh-CN" altLang="en-US" sz="900"/>
              <a:t>非标准</a:t>
            </a:r>
            <a:r>
              <a:rPr lang="en-US" altLang="zh-CN" sz="900"/>
              <a:t> (e.g., </a:t>
            </a:r>
            <a:r>
              <a:rPr lang="zh-CN" altLang="en-US" sz="900"/>
              <a:t>拼写错</a:t>
            </a:r>
            <a:r>
              <a:rPr lang="en-US" altLang="zh-CN" sz="900"/>
              <a:t>)</a:t>
            </a:r>
            <a:r>
              <a:rPr lang="zh-CN" altLang="en-US" sz="900"/>
              <a:t>。</a:t>
            </a:r>
            <a:endParaRPr lang="zh-CN" altLang="en-US" sz="900"/>
          </a:p>
          <a:p>
            <a:pPr marL="0" indent="0">
              <a:buNone/>
            </a:pPr>
            <a:r>
              <a:rPr lang="zh-CN" altLang="en-US" sz="900"/>
              <a:t>重复数据：高风险</a:t>
            </a:r>
            <a:r>
              <a:rPr lang="en-US" altLang="zh-CN" sz="900"/>
              <a:t> (</a:t>
            </a:r>
            <a:r>
              <a:rPr lang="zh-CN" altLang="en-US" sz="900"/>
              <a:t>同一运动员多事件</a:t>
            </a:r>
            <a:r>
              <a:rPr lang="en-US" altLang="zh-CN" sz="900"/>
              <a:t>/</a:t>
            </a:r>
            <a:r>
              <a:rPr lang="zh-CN" altLang="en-US" sz="900"/>
              <a:t>年，</a:t>
            </a:r>
            <a:r>
              <a:rPr lang="en-US" altLang="zh-CN" sz="900"/>
              <a:t>e.g., Cornelia</a:t>
            </a:r>
            <a:r>
              <a:rPr lang="zh-CN" altLang="en-US" sz="900"/>
              <a:t>两行；需检查</a:t>
            </a:r>
            <a:r>
              <a:rPr lang="en-US" altLang="zh-CN" sz="900"/>
              <a:t>Name+Year+Event</a:t>
            </a:r>
            <a:r>
              <a:rPr lang="zh-CN" altLang="en-US" sz="900"/>
              <a:t>唯一</a:t>
            </a:r>
            <a:r>
              <a:rPr lang="en-US" altLang="zh-CN" sz="900"/>
              <a:t>)</a:t>
            </a:r>
            <a:r>
              <a:rPr lang="zh-CN" altLang="en-US" sz="900"/>
              <a:t>。</a:t>
            </a:r>
            <a:endParaRPr lang="zh-CN" altLang="en-US" sz="900"/>
          </a:p>
          <a:p>
            <a:pPr marL="0" indent="0">
              <a:buNone/>
            </a:pPr>
            <a:r>
              <a:rPr lang="zh-CN" altLang="en-US" sz="900"/>
              <a:t>不一致单位：</a:t>
            </a:r>
            <a:r>
              <a:rPr lang="en-US" altLang="zh-CN" sz="900"/>
              <a:t>Team/NOC</a:t>
            </a:r>
            <a:r>
              <a:rPr lang="zh-CN" altLang="en-US" sz="900"/>
              <a:t>不一致</a:t>
            </a:r>
            <a:r>
              <a:rPr lang="en-US" altLang="zh-CN" sz="900"/>
              <a:t> (e.g., "Denmark/Sweden" vs NOC="DEN")</a:t>
            </a:r>
            <a:r>
              <a:rPr lang="zh-CN" altLang="en-US" sz="900"/>
              <a:t>；</a:t>
            </a:r>
            <a:r>
              <a:rPr lang="en-US" altLang="zh-CN" sz="900"/>
              <a:t>City</a:t>
            </a:r>
            <a:r>
              <a:rPr lang="zh-CN" altLang="en-US" sz="900"/>
              <a:t>拼写变</a:t>
            </a:r>
            <a:r>
              <a:rPr lang="en-US" altLang="zh-CN" sz="900"/>
              <a:t> (</a:t>
            </a:r>
            <a:r>
              <a:rPr lang="zh-CN" altLang="en-US" sz="900"/>
              <a:t>历史名称</a:t>
            </a:r>
            <a:r>
              <a:rPr lang="en-US" altLang="zh-CN" sz="900"/>
              <a:t>)</a:t>
            </a:r>
            <a:r>
              <a:rPr lang="zh-CN" altLang="en-US" sz="900"/>
              <a:t>。</a:t>
            </a:r>
            <a:endParaRPr lang="en-US" altLang="zh-CN" sz="900"/>
          </a:p>
          <a:p>
            <a:pPr marL="0" indent="0">
              <a:buNone/>
            </a:pPr>
            <a:r>
              <a:rPr lang="zh-CN" altLang="en-US" sz="900"/>
              <a:t>文件</a:t>
            </a:r>
            <a:r>
              <a:rPr lang="en-US" altLang="zh-CN" sz="900"/>
              <a:t>2: summeroly_hosts.csv</a:t>
            </a:r>
            <a:endParaRPr lang="en-US" altLang="zh-CN" sz="900"/>
          </a:p>
          <a:p>
            <a:pPr marL="0" indent="0">
              <a:buNone/>
            </a:pPr>
            <a:r>
              <a:rPr lang="zh-CN" altLang="en-US" sz="900"/>
              <a:t>缺失值：低</a:t>
            </a:r>
            <a:r>
              <a:rPr lang="en-US" altLang="zh-CN" sz="900"/>
              <a:t> (</a:t>
            </a:r>
            <a:r>
              <a:rPr lang="zh-CN" altLang="en-US" sz="900"/>
              <a:t>样本完整</a:t>
            </a:r>
            <a:r>
              <a:rPr lang="en-US" altLang="zh-CN" sz="900"/>
              <a:t>)</a:t>
            </a:r>
            <a:r>
              <a:rPr lang="zh-CN" altLang="en-US" sz="900"/>
              <a:t>，但取消年如</a:t>
            </a:r>
            <a:r>
              <a:rPr lang="en-US" altLang="zh-CN" sz="900"/>
              <a:t>1916</a:t>
            </a:r>
            <a:r>
              <a:rPr lang="zh-CN" altLang="en-US" sz="900"/>
              <a:t>可能无</a:t>
            </a:r>
            <a:r>
              <a:rPr lang="en-US" altLang="zh-CN" sz="900"/>
              <a:t>Host</a:t>
            </a:r>
            <a:r>
              <a:rPr lang="zh-CN" altLang="en-US" sz="900"/>
              <a:t>或备注。</a:t>
            </a:r>
            <a:endParaRPr lang="zh-CN" altLang="en-US" sz="900"/>
          </a:p>
          <a:p>
            <a:pPr marL="0" indent="0">
              <a:buNone/>
            </a:pPr>
            <a:r>
              <a:rPr lang="zh-CN" altLang="en-US" sz="900"/>
              <a:t>异常值：</a:t>
            </a:r>
            <a:r>
              <a:rPr lang="en-US" altLang="zh-CN" sz="900"/>
              <a:t>Year</a:t>
            </a:r>
            <a:r>
              <a:rPr lang="zh-CN" altLang="en-US" sz="900"/>
              <a:t>非连续</a:t>
            </a:r>
            <a:r>
              <a:rPr lang="en-US" altLang="zh-CN" sz="900"/>
              <a:t> (</a:t>
            </a:r>
            <a:r>
              <a:rPr lang="zh-CN" altLang="en-US" sz="900"/>
              <a:t>取消年</a:t>
            </a:r>
            <a:r>
              <a:rPr lang="en-US" altLang="zh-CN" sz="900"/>
              <a:t>)</a:t>
            </a:r>
            <a:r>
              <a:rPr lang="zh-CN" altLang="en-US" sz="900"/>
              <a:t>；</a:t>
            </a:r>
            <a:r>
              <a:rPr lang="en-US" altLang="zh-CN" sz="900"/>
              <a:t>Host</a:t>
            </a:r>
            <a:r>
              <a:rPr lang="zh-CN" altLang="en-US" sz="900"/>
              <a:t>包含括号备注</a:t>
            </a:r>
            <a:r>
              <a:rPr lang="en-US" altLang="zh-CN" sz="900"/>
              <a:t> (e.g., "Cancelled (WWI)") </a:t>
            </a:r>
            <a:r>
              <a:rPr lang="zh-CN" altLang="en-US" sz="900"/>
              <a:t>非纯城市。</a:t>
            </a:r>
            <a:endParaRPr lang="zh-CN" altLang="en-US" sz="900"/>
          </a:p>
          <a:p>
            <a:pPr marL="0" indent="0">
              <a:buNone/>
            </a:pPr>
            <a:r>
              <a:rPr lang="zh-CN" altLang="en-US" sz="900"/>
              <a:t>重复数据：低</a:t>
            </a:r>
            <a:r>
              <a:rPr lang="en-US" altLang="zh-CN" sz="900"/>
              <a:t> (Year</a:t>
            </a:r>
            <a:r>
              <a:rPr lang="zh-CN" altLang="en-US" sz="900"/>
              <a:t>唯一</a:t>
            </a:r>
            <a:r>
              <a:rPr lang="en-US" altLang="zh-CN" sz="900"/>
              <a:t>)</a:t>
            </a:r>
            <a:r>
              <a:rPr lang="zh-CN" altLang="en-US" sz="900"/>
              <a:t>。</a:t>
            </a:r>
            <a:endParaRPr lang="zh-CN" altLang="en-US" sz="900"/>
          </a:p>
          <a:p>
            <a:pPr marL="0" indent="0">
              <a:buNone/>
            </a:pPr>
            <a:r>
              <a:rPr lang="zh-CN" altLang="en-US" sz="900"/>
              <a:t>不一致单位：</a:t>
            </a:r>
            <a:r>
              <a:rPr lang="en-US" altLang="zh-CN" sz="900"/>
              <a:t>Host</a:t>
            </a:r>
            <a:r>
              <a:rPr lang="zh-CN" altLang="en-US" sz="900"/>
              <a:t>格式变</a:t>
            </a:r>
            <a:r>
              <a:rPr lang="en-US" altLang="zh-CN" sz="900"/>
              <a:t> (e.g., "Athens, Greece" vs "Cancelled..." )</a:t>
            </a:r>
            <a:r>
              <a:rPr lang="zh-CN" altLang="en-US" sz="900"/>
              <a:t>，需解析。</a:t>
            </a:r>
            <a:endParaRPr lang="en-US" altLang="zh-CN" sz="900"/>
          </a:p>
          <a:p>
            <a:pPr marL="0" indent="0">
              <a:buNone/>
            </a:pPr>
            <a:r>
              <a:rPr lang="zh-CN" altLang="en-US" sz="900"/>
              <a:t>文件</a:t>
            </a:r>
            <a:r>
              <a:rPr lang="en-US" altLang="zh-CN" sz="900"/>
              <a:t>3: summeroly_medal_counts.csv</a:t>
            </a:r>
            <a:endParaRPr lang="en-US" altLang="zh-CN" sz="900"/>
          </a:p>
          <a:p>
            <a:pPr marL="0" indent="0">
              <a:buNone/>
            </a:pPr>
            <a:r>
              <a:rPr lang="zh-CN" altLang="en-US" sz="900"/>
              <a:t>缺失值：低，但</a:t>
            </a:r>
            <a:r>
              <a:rPr lang="en-US" altLang="zh-CN" sz="900"/>
              <a:t>0</a:t>
            </a:r>
            <a:r>
              <a:rPr lang="zh-CN" altLang="en-US" sz="900"/>
              <a:t>值常见</a:t>
            </a:r>
            <a:r>
              <a:rPr lang="en-US" altLang="zh-CN" sz="900"/>
              <a:t> (</a:t>
            </a:r>
            <a:r>
              <a:rPr lang="zh-CN" altLang="en-US" sz="900"/>
              <a:t>无牌国</a:t>
            </a:r>
            <a:r>
              <a:rPr lang="en-US" altLang="zh-CN" sz="900"/>
              <a:t>)</a:t>
            </a:r>
            <a:r>
              <a:rPr lang="zh-CN" altLang="en-US" sz="900"/>
              <a:t>。</a:t>
            </a:r>
            <a:endParaRPr lang="zh-CN" altLang="en-US" sz="900"/>
          </a:p>
          <a:p>
            <a:pPr marL="0" indent="0">
              <a:buNone/>
            </a:pPr>
            <a:r>
              <a:rPr lang="zh-CN" altLang="en-US" sz="900"/>
              <a:t>异常值：</a:t>
            </a:r>
            <a:r>
              <a:rPr lang="en-US" altLang="zh-CN" sz="900"/>
              <a:t>Total != Gold+Silver+Bronze (</a:t>
            </a:r>
            <a:r>
              <a:rPr lang="zh-CN" altLang="en-US" sz="900"/>
              <a:t>计算错</a:t>
            </a:r>
            <a:r>
              <a:rPr lang="en-US" altLang="zh-CN" sz="900"/>
              <a:t>)</a:t>
            </a:r>
            <a:r>
              <a:rPr lang="zh-CN" altLang="en-US" sz="900"/>
              <a:t>；</a:t>
            </a:r>
            <a:r>
              <a:rPr lang="en-US" altLang="zh-CN" sz="900"/>
              <a:t>Rank</a:t>
            </a:r>
            <a:r>
              <a:rPr lang="zh-CN" altLang="en-US" sz="900"/>
              <a:t>非连续</a:t>
            </a:r>
            <a:r>
              <a:rPr lang="en-US" altLang="zh-CN" sz="900"/>
              <a:t> (</a:t>
            </a:r>
            <a:r>
              <a:rPr lang="zh-CN" altLang="en-US" sz="900"/>
              <a:t>并列</a:t>
            </a:r>
            <a:r>
              <a:rPr lang="en-US" altLang="zh-CN" sz="900"/>
              <a:t>)</a:t>
            </a:r>
            <a:r>
              <a:rPr lang="zh-CN" altLang="en-US" sz="900"/>
              <a:t>。</a:t>
            </a:r>
            <a:endParaRPr lang="zh-CN" altLang="en-US" sz="900"/>
          </a:p>
          <a:p>
            <a:pPr marL="0" indent="0">
              <a:buNone/>
            </a:pPr>
            <a:r>
              <a:rPr lang="zh-CN" altLang="en-US" sz="900"/>
              <a:t>重复数据：中</a:t>
            </a:r>
            <a:r>
              <a:rPr lang="en-US" altLang="zh-CN" sz="900"/>
              <a:t> (</a:t>
            </a:r>
            <a:r>
              <a:rPr lang="zh-CN" altLang="en-US" sz="900"/>
              <a:t>同一</a:t>
            </a:r>
            <a:r>
              <a:rPr lang="en-US" altLang="zh-CN" sz="900"/>
              <a:t>Year</a:t>
            </a:r>
            <a:r>
              <a:rPr lang="zh-CN" altLang="en-US" sz="900"/>
              <a:t>多</a:t>
            </a:r>
            <a:r>
              <a:rPr lang="en-US" altLang="zh-CN" sz="900"/>
              <a:t>NOC</a:t>
            </a:r>
            <a:r>
              <a:rPr lang="zh-CN" altLang="en-US" sz="900"/>
              <a:t>，但应唯一；检查</a:t>
            </a:r>
            <a:r>
              <a:rPr lang="en-US" altLang="zh-CN" sz="900"/>
              <a:t>Year+NOC</a:t>
            </a:r>
            <a:r>
              <a:rPr lang="zh-CN" altLang="en-US" sz="900"/>
              <a:t>唯一</a:t>
            </a:r>
            <a:r>
              <a:rPr lang="en-US" altLang="zh-CN" sz="900"/>
              <a:t>)</a:t>
            </a:r>
            <a:r>
              <a:rPr lang="zh-CN" altLang="en-US" sz="900"/>
              <a:t>。</a:t>
            </a:r>
            <a:endParaRPr lang="zh-CN" altLang="en-US" sz="900"/>
          </a:p>
          <a:p>
            <a:pPr marL="0" indent="0">
              <a:buNone/>
            </a:pPr>
            <a:r>
              <a:rPr lang="zh-CN" altLang="en-US" sz="900"/>
              <a:t>不一致单位：</a:t>
            </a:r>
            <a:r>
              <a:rPr lang="en-US" altLang="zh-CN" sz="900"/>
              <a:t>NOC</a:t>
            </a:r>
            <a:r>
              <a:rPr lang="zh-CN" altLang="en-US" sz="900"/>
              <a:t>如</a:t>
            </a:r>
            <a:r>
              <a:rPr lang="en-US" altLang="zh-CN" sz="900"/>
              <a:t>"Mixed team"</a:t>
            </a:r>
            <a:r>
              <a:rPr lang="zh-CN" altLang="en-US" sz="900"/>
              <a:t>非标准</a:t>
            </a:r>
            <a:r>
              <a:rPr lang="en-US" altLang="zh-CN" sz="900"/>
              <a:t>3-letter</a:t>
            </a:r>
            <a:r>
              <a:rPr lang="zh-CN" altLang="en-US" sz="900"/>
              <a:t>。</a:t>
            </a:r>
            <a:endParaRPr lang="en-US" altLang="zh-CN" sz="900"/>
          </a:p>
          <a:p>
            <a:pPr marL="0" indent="0">
              <a:buNone/>
            </a:pPr>
            <a:r>
              <a:rPr lang="zh-CN" altLang="en-US" sz="900"/>
              <a:t>文件</a:t>
            </a:r>
            <a:r>
              <a:rPr lang="en-US" altLang="zh-CN" sz="900"/>
              <a:t>4: summeroly_programs.csv</a:t>
            </a:r>
            <a:endParaRPr lang="en-US" altLang="zh-CN" sz="900"/>
          </a:p>
          <a:p>
            <a:pPr marL="0" indent="0">
              <a:buNone/>
            </a:pPr>
            <a:r>
              <a:rPr lang="zh-CN" altLang="en-US" sz="900"/>
              <a:t>缺失值：低</a:t>
            </a:r>
            <a:r>
              <a:rPr lang="en-US" altLang="zh-CN" sz="900"/>
              <a:t> (0=</a:t>
            </a:r>
            <a:r>
              <a:rPr lang="zh-CN" altLang="en-US" sz="900"/>
              <a:t>无事件</a:t>
            </a:r>
            <a:r>
              <a:rPr lang="en-US" altLang="zh-CN" sz="900"/>
              <a:t>)</a:t>
            </a:r>
            <a:r>
              <a:rPr lang="zh-CN" altLang="en-US" sz="900"/>
              <a:t>，但早期年可能空。</a:t>
            </a:r>
            <a:endParaRPr lang="zh-CN" altLang="en-US" sz="900"/>
          </a:p>
          <a:p>
            <a:pPr marL="0" indent="0">
              <a:buNone/>
            </a:pPr>
            <a:r>
              <a:rPr lang="zh-CN" altLang="en-US" sz="900"/>
              <a:t>异常值：事件数负</a:t>
            </a:r>
            <a:r>
              <a:rPr lang="en-US" altLang="zh-CN" sz="900"/>
              <a:t>/</a:t>
            </a:r>
            <a:r>
              <a:rPr lang="zh-CN" altLang="en-US" sz="900"/>
              <a:t>非整</a:t>
            </a:r>
            <a:r>
              <a:rPr lang="en-US" altLang="zh-CN" sz="900"/>
              <a:t> (unlikely</a:t>
            </a:r>
            <a:r>
              <a:rPr lang="zh-CN" altLang="en-US" sz="900"/>
              <a:t>，但检查</a:t>
            </a:r>
            <a:r>
              <a:rPr lang="en-US" altLang="zh-CN" sz="900"/>
              <a:t>)</a:t>
            </a:r>
            <a:r>
              <a:rPr lang="zh-CN" altLang="en-US" sz="900"/>
              <a:t>；年列如</a:t>
            </a:r>
            <a:r>
              <a:rPr lang="en-US" altLang="zh-CN" sz="900"/>
              <a:t>1906*</a:t>
            </a:r>
            <a:r>
              <a:rPr lang="zh-CN" altLang="en-US" sz="900"/>
              <a:t>有星号</a:t>
            </a:r>
            <a:r>
              <a:rPr lang="en-US" altLang="zh-CN" sz="900"/>
              <a:t> (</a:t>
            </a:r>
            <a:r>
              <a:rPr lang="zh-CN" altLang="en-US" sz="900"/>
              <a:t>需清洗</a:t>
            </a:r>
            <a:r>
              <a:rPr lang="en-US" altLang="zh-CN" sz="900"/>
              <a:t>)</a:t>
            </a:r>
            <a:r>
              <a:rPr lang="zh-CN" altLang="en-US" sz="900"/>
              <a:t>。</a:t>
            </a:r>
            <a:endParaRPr lang="zh-CN" altLang="en-US" sz="900"/>
          </a:p>
          <a:p>
            <a:pPr marL="0" indent="0">
              <a:buNone/>
            </a:pPr>
            <a:r>
              <a:rPr lang="zh-CN" altLang="en-US" sz="900"/>
              <a:t>重复数据：低</a:t>
            </a:r>
            <a:r>
              <a:rPr lang="en-US" altLang="zh-CN" sz="900"/>
              <a:t> (Sport+Discipline Code</a:t>
            </a:r>
            <a:r>
              <a:rPr lang="zh-CN" altLang="en-US" sz="900"/>
              <a:t>唯一</a:t>
            </a:r>
            <a:r>
              <a:rPr lang="en-US" altLang="zh-CN" sz="900"/>
              <a:t>)</a:t>
            </a:r>
            <a:r>
              <a:rPr lang="zh-CN" altLang="en-US" sz="900"/>
              <a:t>。</a:t>
            </a:r>
            <a:endParaRPr lang="zh-CN" altLang="en-US" sz="900"/>
          </a:p>
          <a:p>
            <a:pPr marL="0" indent="0">
              <a:buNone/>
            </a:pPr>
            <a:r>
              <a:rPr lang="zh-CN" altLang="en-US" sz="900"/>
              <a:t>不一致单位：年列名如</a:t>
            </a:r>
            <a:r>
              <a:rPr lang="en-US" altLang="zh-CN" sz="900"/>
              <a:t>"1906*"</a:t>
            </a:r>
            <a:r>
              <a:rPr lang="zh-CN" altLang="en-US" sz="900"/>
              <a:t>不纯数字；</a:t>
            </a:r>
            <a:r>
              <a:rPr lang="en-US" altLang="zh-CN" sz="900"/>
              <a:t>Governing Body</a:t>
            </a:r>
            <a:r>
              <a:rPr lang="zh-CN" altLang="en-US" sz="900"/>
              <a:t>拼写变。</a:t>
            </a:r>
            <a:endParaRPr lang="en-US" altLang="zh-CN" sz="900"/>
          </a:p>
          <a:p>
            <a:pPr marL="0" indent="0">
              <a:buNone/>
            </a:pPr>
            <a:r>
              <a:rPr lang="zh-CN" altLang="en-US" sz="900"/>
              <a:t>整体问题：历史数据不一致</a:t>
            </a:r>
            <a:r>
              <a:rPr lang="en-US" altLang="zh-CN" sz="900"/>
              <a:t> (NOC/Team</a:t>
            </a:r>
            <a:r>
              <a:rPr lang="zh-CN" altLang="en-US" sz="900"/>
              <a:t>随时间变，如苏联解体</a:t>
            </a:r>
            <a:r>
              <a:rPr lang="en-US" altLang="zh-CN" sz="900"/>
              <a:t>)</a:t>
            </a:r>
            <a:r>
              <a:rPr lang="zh-CN" altLang="en-US" sz="900"/>
              <a:t>；大文件</a:t>
            </a:r>
            <a:r>
              <a:rPr lang="en-US" altLang="zh-CN" sz="900"/>
              <a:t>athletes</a:t>
            </a:r>
            <a:r>
              <a:rPr lang="zh-CN" altLang="en-US" sz="900"/>
              <a:t>可能内存高</a:t>
            </a:r>
            <a:r>
              <a:rPr lang="en-US" altLang="zh-CN" sz="900"/>
              <a:t>/</a:t>
            </a:r>
            <a:r>
              <a:rPr lang="zh-CN" altLang="en-US" sz="900"/>
              <a:t>重复多。</a:t>
            </a:r>
            <a:endParaRPr lang="zh-CN" altLang="en-US" sz="900"/>
          </a:p>
        </p:txBody>
      </p:sp>
    </p:spTree>
    <p:custDataLst>
      <p:tags r:id="rId2"/>
    </p:custData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sz="quarter" idx="13"/>
            <p:custDataLst>
              <p:tags r:id="rId1"/>
            </p:custDataLst>
          </p:nvPr>
        </p:nvSpPr>
        <p:spPr/>
        <p:txBody>
          <a:bodyPr/>
          <a:p>
            <a:pPr marL="0" indent="0">
              <a:buNone/>
            </a:pPr>
            <a:r>
              <a:rPr lang="en-US" altLang="zh-CN"/>
              <a:t>3. </a:t>
            </a:r>
            <a:r>
              <a:rPr lang="zh-CN" altLang="en-US"/>
              <a:t>通用、稳健的</a:t>
            </a:r>
            <a:r>
              <a:rPr lang="en-US" altLang="zh-CN"/>
              <a:t>Python</a:t>
            </a:r>
            <a:r>
              <a:rPr lang="zh-CN" altLang="en-US"/>
              <a:t>数据清洗代码</a:t>
            </a:r>
            <a:endParaRPr lang="zh-CN" altLang="en-US"/>
          </a:p>
          <a:p>
            <a:pPr marL="0" indent="0">
              <a:buNone/>
            </a:pPr>
            <a:r>
              <a:rPr lang="zh-CN" altLang="en-US"/>
              <a:t>代码使用</a:t>
            </a:r>
            <a:r>
              <a:rPr lang="en-US" altLang="zh-CN"/>
              <a:t>pandas</a:t>
            </a:r>
            <a:r>
              <a:rPr lang="zh-CN" altLang="en-US"/>
              <a:t>，主函数</a:t>
            </a:r>
            <a:r>
              <a:rPr lang="en-US" altLang="zh-CN"/>
              <a:t>clean_olympic_data(file_path)</a:t>
            </a:r>
            <a:r>
              <a:rPr lang="zh-CN" altLang="en-US"/>
              <a:t>根据文件类型自动处理（用文件名判断）。包含日志注释（</a:t>
            </a:r>
            <a:r>
              <a:rPr lang="en-US" altLang="zh-CN"/>
              <a:t>print/log-style</a:t>
            </a:r>
            <a:r>
              <a:rPr lang="zh-CN" altLang="en-US"/>
              <a:t>）。稳健：处理</a:t>
            </a:r>
            <a:r>
              <a:rPr lang="en-US" altLang="zh-CN"/>
              <a:t>NaN/</a:t>
            </a:r>
            <a:r>
              <a:rPr lang="zh-CN" altLang="en-US"/>
              <a:t>异常</a:t>
            </a:r>
            <a:r>
              <a:rPr lang="en-US" altLang="zh-CN"/>
              <a:t>/</a:t>
            </a:r>
            <a:r>
              <a:rPr lang="zh-CN" altLang="en-US"/>
              <a:t>重复；类型转换；单位标准化</a:t>
            </a:r>
            <a:r>
              <a:rPr lang="en-US" altLang="zh-CN"/>
              <a:t> (e.g., NOC</a:t>
            </a:r>
            <a:r>
              <a:rPr lang="zh-CN" altLang="en-US"/>
              <a:t>大写</a:t>
            </a:r>
            <a:r>
              <a:rPr lang="en-US" altLang="zh-CN"/>
              <a:t>)</a:t>
            </a:r>
            <a:r>
              <a:rPr lang="zh-CN" altLang="en-US"/>
              <a:t>。假设</a:t>
            </a:r>
            <a:r>
              <a:rPr lang="en-US" altLang="zh-CN"/>
              <a:t>CSV</a:t>
            </a:r>
            <a:r>
              <a:rPr lang="zh-CN" altLang="en-US"/>
              <a:t>分隔逗号，无</a:t>
            </a:r>
            <a:r>
              <a:rPr lang="en-US" altLang="zh-CN"/>
              <a:t>header</a:t>
            </a:r>
            <a:r>
              <a:rPr lang="zh-CN" altLang="en-US"/>
              <a:t>需读；大文件用</a:t>
            </a:r>
            <a:r>
              <a:rPr lang="en-US" altLang="zh-CN"/>
              <a:t>chunksize</a:t>
            </a:r>
            <a:r>
              <a:rPr lang="zh-CN" altLang="en-US"/>
              <a:t>。</a:t>
            </a:r>
            <a:endParaRPr lang="zh-CN" altLang="en-US"/>
          </a:p>
        </p:txBody>
      </p:sp>
    </p:spTree>
    <p:custDataLst>
      <p:tags r:id="rId2"/>
    </p:custData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sz="quarter" idx="13"/>
            <p:custDataLst>
              <p:tags r:id="rId1"/>
            </p:custDataLst>
          </p:nvPr>
        </p:nvSpPr>
        <p:spPr/>
        <p:txBody>
          <a:bodyPr>
            <a:normAutofit fontScale="50000"/>
          </a:bodyPr>
          <a:p>
            <a:pPr marL="0" indent="0">
              <a:buNone/>
            </a:pPr>
            <a:r>
              <a:rPr lang="en-US" altLang="zh-CN"/>
              <a:t>import pandas as pd  import numpy as np  import logging  import re  # </a:t>
            </a:r>
            <a:r>
              <a:rPr lang="zh-CN" altLang="en-US"/>
              <a:t>设置日志</a:t>
            </a:r>
            <a:r>
              <a:rPr lang="en-US" altLang="zh-CN"/>
              <a:t>  logging.basicConfig(level=logging.INFO, format='%(asctime)s - %(levelname)s - %(message)s')  def clean_olympic_data(file_path):      """      </a:t>
            </a:r>
            <a:r>
              <a:rPr lang="zh-CN" altLang="en-US"/>
              <a:t>通用奥运数据清洗函数。</a:t>
            </a:r>
            <a:r>
              <a:rPr lang="en-US" altLang="zh-CN"/>
              <a:t>      </a:t>
            </a:r>
            <a:r>
              <a:rPr lang="zh-CN" altLang="en-US"/>
              <a:t>输入</a:t>
            </a:r>
            <a:r>
              <a:rPr lang="en-US" altLang="zh-CN"/>
              <a:t>: </a:t>
            </a:r>
            <a:r>
              <a:rPr lang="zh-CN" altLang="en-US"/>
              <a:t>文件路径</a:t>
            </a:r>
            <a:r>
              <a:rPr lang="en-US" altLang="zh-CN"/>
              <a:t> (CSV)      </a:t>
            </a:r>
            <a:r>
              <a:rPr lang="zh-CN" altLang="en-US"/>
              <a:t>输出</a:t>
            </a:r>
            <a:r>
              <a:rPr lang="en-US" altLang="zh-CN"/>
              <a:t>: </a:t>
            </a:r>
            <a:r>
              <a:rPr lang="zh-CN" altLang="en-US"/>
              <a:t>清洗后</a:t>
            </a:r>
            <a:r>
              <a:rPr lang="en-US" altLang="zh-CN"/>
              <a:t>DataFrame      </a:t>
            </a:r>
            <a:r>
              <a:rPr lang="zh-CN" altLang="en-US"/>
              <a:t>过程</a:t>
            </a:r>
            <a:r>
              <a:rPr lang="en-US" altLang="zh-CN"/>
              <a:t>: </a:t>
            </a:r>
            <a:r>
              <a:rPr lang="zh-CN" altLang="en-US"/>
              <a:t>加载、类型转换、缺失</a:t>
            </a:r>
            <a:r>
              <a:rPr lang="en-US" altLang="zh-CN"/>
              <a:t>/</a:t>
            </a:r>
            <a:r>
              <a:rPr lang="zh-CN" altLang="en-US"/>
              <a:t>异常</a:t>
            </a:r>
            <a:r>
              <a:rPr lang="en-US" altLang="zh-CN"/>
              <a:t>/</a:t>
            </a:r>
            <a:r>
              <a:rPr lang="zh-CN" altLang="en-US"/>
              <a:t>重复处理、标准化</a:t>
            </a:r>
            <a:r>
              <a:rPr lang="en-US" altLang="zh-CN"/>
              <a:t>      """      logging.info(f"</a:t>
            </a:r>
            <a:r>
              <a:rPr lang="zh-CN" altLang="en-US"/>
              <a:t>开始清洗文件</a:t>
            </a:r>
            <a:r>
              <a:rPr lang="en-US" altLang="zh-CN"/>
              <a:t>: {file_path}")            # </a:t>
            </a:r>
            <a:r>
              <a:rPr lang="zh-CN" altLang="en-US"/>
              <a:t>加载数据</a:t>
            </a:r>
            <a:r>
              <a:rPr lang="en-US" altLang="zh-CN"/>
              <a:t> (chunksize</a:t>
            </a:r>
            <a:r>
              <a:rPr lang="zh-CN" altLang="en-US"/>
              <a:t>处理大文件，如</a:t>
            </a:r>
            <a:r>
              <a:rPr lang="en-US" altLang="zh-CN"/>
              <a:t>athletes)      file_name = file_path.lower()      if 'athletes' in file_name:          df = pd.read_csv(file_path, chunksize=10000).get_chunk()  # </a:t>
            </a:r>
            <a:r>
              <a:rPr lang="zh-CN" altLang="en-US"/>
              <a:t>示例用小块，全用</a:t>
            </a:r>
            <a:r>
              <a:rPr lang="en-US" altLang="zh-CN"/>
              <a:t>pd.read_csv      else:          df = pd.read_csv(file_path)            logging.info(f"</a:t>
            </a:r>
            <a:r>
              <a:rPr lang="zh-CN" altLang="en-US"/>
              <a:t>原始形状</a:t>
            </a:r>
            <a:r>
              <a:rPr lang="en-US" altLang="zh-CN"/>
              <a:t>: {df.shape}")            # </a:t>
            </a:r>
            <a:r>
              <a:rPr lang="zh-CN" altLang="en-US"/>
              <a:t>步骤</a:t>
            </a:r>
            <a:r>
              <a:rPr lang="en-US" altLang="zh-CN"/>
              <a:t>1: </a:t>
            </a:r>
            <a:r>
              <a:rPr lang="zh-CN" altLang="en-US"/>
              <a:t>推断并转换类型</a:t>
            </a:r>
            <a:r>
              <a:rPr lang="en-US" altLang="zh-CN"/>
              <a:t>      # </a:t>
            </a:r>
            <a:r>
              <a:rPr lang="zh-CN" altLang="en-US"/>
              <a:t>通用</a:t>
            </a:r>
            <a:r>
              <a:rPr lang="en-US" altLang="zh-CN"/>
              <a:t>: str</a:t>
            </a:r>
            <a:r>
              <a:rPr lang="zh-CN" altLang="en-US"/>
              <a:t>列</a:t>
            </a:r>
            <a:r>
              <a:rPr lang="en-US" altLang="zh-CN"/>
              <a:t>strip</a:t>
            </a:r>
            <a:r>
              <a:rPr lang="zh-CN" altLang="en-US"/>
              <a:t>；</a:t>
            </a:r>
            <a:r>
              <a:rPr lang="en-US" altLang="zh-CN"/>
              <a:t>int/float</a:t>
            </a:r>
            <a:r>
              <a:rPr lang="zh-CN" altLang="en-US"/>
              <a:t>转换</a:t>
            </a:r>
            <a:r>
              <a:rPr lang="en-US" altLang="zh-CN"/>
              <a:t>      for col in df.columns:          df[col] = df[col].astype(str).str.strip() if df[col].dtype == 'object' else df[col]          if col.lower() in ['year', 'gold', 'silver', 'bronze', 'total', 'rank'] or re.match(r'^\d{4}', col):              df[col] = pd.to_numeric(df[col], errors='coerce', downcast='integer')  # </a:t>
            </a:r>
            <a:r>
              <a:rPr lang="zh-CN" altLang="en-US"/>
              <a:t>异常转</a:t>
            </a:r>
            <a:r>
              <a:rPr lang="en-US" altLang="zh-CN"/>
              <a:t>NaN            # </a:t>
            </a:r>
            <a:r>
              <a:rPr lang="zh-CN" altLang="en-US"/>
              <a:t>文件特定转换</a:t>
            </a:r>
            <a:r>
              <a:rPr lang="en-US" altLang="zh-CN"/>
              <a:t>      if 'athletes' in file_name:          df['Year'] = pd.to_numeric(df['Year'], errors='coerce')          df['Sex'] = df['Sex'].astype('category')  # M/F          df['Medal'] = df['Medal'].astype('category')  # Gold</a:t>
            </a:r>
            <a:r>
              <a:rPr lang="zh-CN" altLang="en-US"/>
              <a:t>等</a:t>
            </a:r>
            <a:r>
              <a:rPr lang="en-US" altLang="zh-CN"/>
              <a:t>      elif 'hosts' in file_name:          df['Year'] = pd.to_numeric(df['Year'], errors='coerce')      elif 'medal_counts' in file_name:          numeric_cols = ['Gold', 'Silver', 'Bronze', 'Total', 'Year', 'Rank']          df[numeric_cols] = df[numeric_cols].apply(pd.to_numeric, errors='coerce')      elif 'programs' in file_name:          year_cols = [col for col in df.columns if re.match(r'^\d{4}', col)]          df[year_cols] = df[year_cols].apply(pd.to_numeric, errors='coerce')  # </a:t>
            </a:r>
            <a:r>
              <a:rPr lang="zh-CN" altLang="en-US"/>
              <a:t>事件数</a:t>
            </a:r>
            <a:r>
              <a:rPr lang="en-US" altLang="zh-CN"/>
              <a:t>          df['Discipline Code'] = df['Discipline Code'].astype('category')            logging.info("</a:t>
            </a:r>
            <a:r>
              <a:rPr lang="zh-CN" altLang="en-US"/>
              <a:t>类型转换完成</a:t>
            </a:r>
            <a:r>
              <a:rPr lang="en-US" altLang="zh-CN"/>
              <a:t>")            # </a:t>
            </a:r>
            <a:r>
              <a:rPr lang="zh-CN" altLang="en-US"/>
              <a:t>步骤</a:t>
            </a:r>
            <a:r>
              <a:rPr lang="en-US" altLang="zh-CN"/>
              <a:t>2: </a:t>
            </a:r>
            <a:r>
              <a:rPr lang="zh-CN" altLang="en-US"/>
              <a:t>处理缺失值</a:t>
            </a:r>
            <a:r>
              <a:rPr lang="en-US" altLang="zh-CN"/>
              <a:t> (NaN)      missing_before = df.isnull().sum().sum()      # </a:t>
            </a:r>
            <a:r>
              <a:rPr lang="zh-CN" altLang="en-US"/>
              <a:t>数值列</a:t>
            </a:r>
            <a:r>
              <a:rPr lang="en-US" altLang="zh-CN"/>
              <a:t>: </a:t>
            </a:r>
            <a:r>
              <a:rPr lang="zh-CN" altLang="en-US"/>
              <a:t>填</a:t>
            </a:r>
            <a:r>
              <a:rPr lang="en-US" altLang="zh-CN"/>
              <a:t>0 (e.g., </a:t>
            </a:r>
            <a:r>
              <a:rPr lang="zh-CN" altLang="en-US"/>
              <a:t>无牌</a:t>
            </a:r>
            <a:r>
              <a:rPr lang="en-US" altLang="zh-CN"/>
              <a:t>/</a:t>
            </a:r>
            <a:r>
              <a:rPr lang="zh-CN" altLang="en-US"/>
              <a:t>事件</a:t>
            </a:r>
            <a:r>
              <a:rPr lang="en-US" altLang="zh-CN"/>
              <a:t>)      numeric_cols = df.select_dtypes(include=['number']).columns      df[numeric_cols] = df[numeric_cols].fillna(0)      # str</a:t>
            </a:r>
            <a:r>
              <a:rPr lang="zh-CN" altLang="en-US"/>
              <a:t>列</a:t>
            </a:r>
            <a:r>
              <a:rPr lang="en-US" altLang="zh-CN"/>
              <a:t>: </a:t>
            </a:r>
            <a:r>
              <a:rPr lang="zh-CN" altLang="en-US"/>
              <a:t>填</a:t>
            </a:r>
            <a:r>
              <a:rPr lang="en-US" altLang="zh-CN"/>
              <a:t>'Unknown' (e.g., Host</a:t>
            </a:r>
            <a:r>
              <a:rPr lang="zh-CN" altLang="en-US"/>
              <a:t>取消</a:t>
            </a:r>
            <a:r>
              <a:rPr lang="en-US" altLang="zh-CN"/>
              <a:t>)      str_cols = df.select_dtypes(include=['object']).columns      df[str_cols] = df[str_cols].fillna('Unknown')      logging.info(f"</a:t>
            </a:r>
            <a:r>
              <a:rPr lang="zh-CN" altLang="en-US"/>
              <a:t>缺失值处理</a:t>
            </a:r>
            <a:r>
              <a:rPr lang="en-US" altLang="zh-CN"/>
              <a:t>: </a:t>
            </a:r>
            <a:r>
              <a:rPr lang="zh-CN" altLang="en-US"/>
              <a:t>前</a:t>
            </a:r>
            <a:r>
              <a:rPr lang="en-US" altLang="zh-CN"/>
              <a:t> {missing_before}</a:t>
            </a:r>
            <a:r>
              <a:rPr lang="zh-CN" altLang="en-US"/>
              <a:t>，后</a:t>
            </a:r>
            <a:r>
              <a:rPr lang="en-US" altLang="zh-CN"/>
              <a:t> {df.isnull().sum().sum()}")            # </a:t>
            </a:r>
            <a:r>
              <a:rPr lang="zh-CN" altLang="en-US"/>
              <a:t>步骤</a:t>
            </a:r>
            <a:r>
              <a:rPr lang="en-US" altLang="zh-CN"/>
              <a:t>3: </a:t>
            </a:r>
            <a:r>
              <a:rPr lang="zh-CN" altLang="en-US"/>
              <a:t>处理异常值</a:t>
            </a:r>
            <a:r>
              <a:rPr lang="en-US" altLang="zh-CN"/>
              <a:t>      # </a:t>
            </a:r>
            <a:r>
              <a:rPr lang="zh-CN" altLang="en-US"/>
              <a:t>数值</a:t>
            </a:r>
            <a:r>
              <a:rPr lang="en-US" altLang="zh-CN"/>
              <a:t>: </a:t>
            </a:r>
            <a:r>
              <a:rPr lang="zh-CN" altLang="en-US"/>
              <a:t>夹到合理范围</a:t>
            </a:r>
            <a:r>
              <a:rPr lang="en-US" altLang="zh-CN"/>
              <a:t> (e.g., Year 1896-2032, </a:t>
            </a:r>
            <a:r>
              <a:rPr lang="zh-CN" altLang="en-US"/>
              <a:t>奖牌</a:t>
            </a:r>
            <a:r>
              <a:rPr lang="en-US" altLang="zh-CN"/>
              <a:t>&gt;=0)      if 'Year' in df.columns:          df['Year'] = df['Year'].clip(1896, 2032)      for col in ['Gold', 'Silver', 'Bronze', 'Total'] + [col for col in df.columns if re.match(r'^\d{4}', col)]:          if col in df.columns:              df[col] = df[col].clip(lower=0)      # str: </a:t>
            </a:r>
            <a:r>
              <a:rPr lang="zh-CN" altLang="en-US"/>
              <a:t>标准化</a:t>
            </a:r>
            <a:r>
              <a:rPr lang="en-US" altLang="zh-CN"/>
              <a:t> (e.g., NOC</a:t>
            </a:r>
            <a:r>
              <a:rPr lang="zh-CN" altLang="en-US"/>
              <a:t>大写</a:t>
            </a:r>
            <a:r>
              <a:rPr lang="en-US" altLang="zh-CN"/>
              <a:t>, </a:t>
            </a:r>
            <a:r>
              <a:rPr lang="zh-CN" altLang="en-US"/>
              <a:t>移除星号如</a:t>
            </a:r>
            <a:r>
              <a:rPr lang="en-US" altLang="zh-CN"/>
              <a:t>1906*)      for col in ['NOC', 'Team', 'Discipline Code']:          if col in df.columns:              df[col] = df[col].str.upper().str.replace(r'\*', '', regex=True)  # </a:t>
            </a:r>
            <a:r>
              <a:rPr lang="zh-CN" altLang="en-US"/>
              <a:t>移除</a:t>
            </a:r>
            <a:r>
              <a:rPr lang="en-US" altLang="zh-CN"/>
              <a:t>*      logging.info("</a:t>
            </a:r>
            <a:r>
              <a:rPr lang="zh-CN" altLang="en-US"/>
              <a:t>异常值标准化完成</a:t>
            </a:r>
            <a:r>
              <a:rPr lang="en-US" altLang="zh-CN"/>
              <a:t>")            # </a:t>
            </a:r>
            <a:r>
              <a:rPr lang="zh-CN" altLang="en-US"/>
              <a:t>步骤</a:t>
            </a:r>
            <a:r>
              <a:rPr lang="en-US" altLang="zh-CN"/>
              <a:t>4: </a:t>
            </a:r>
            <a:r>
              <a:rPr lang="zh-CN" altLang="en-US"/>
              <a:t>处理重复数据</a:t>
            </a:r>
            <a:r>
              <a:rPr lang="en-US" altLang="zh-CN"/>
              <a:t>      dup_before = df.duplicated().sum()      # athletes: Name+Year+Event</a:t>
            </a:r>
            <a:r>
              <a:rPr lang="zh-CN" altLang="en-US"/>
              <a:t>唯一</a:t>
            </a:r>
            <a:r>
              <a:rPr lang="en-US" altLang="zh-CN"/>
              <a:t>      if 'athletes' in file_name:          df = df.drop_duplicates(subset=['Name', 'Year', 'Event'])      # </a:t>
            </a:r>
            <a:r>
              <a:rPr lang="zh-CN" altLang="en-US"/>
              <a:t>其他</a:t>
            </a:r>
            <a:r>
              <a:rPr lang="en-US" altLang="zh-CN"/>
              <a:t>: Year+NOC/Sport</a:t>
            </a:r>
            <a:r>
              <a:rPr lang="zh-CN" altLang="en-US"/>
              <a:t>唯一</a:t>
            </a:r>
            <a:r>
              <a:rPr lang="en-US" altLang="zh-CN"/>
              <a:t>      elif 'medal_counts' in file_name:          df = df.drop_duplicates(subset=['Year', 'NOC'])      elif 'programs' in file_name:          df = df.drop_duplicates(subset=['Sport', 'Discipline Code'])      elif 'hosts' in file_name:          df = df.drop_duplicates(subset=['Year'])      logging.info(f"</a:t>
            </a:r>
            <a:r>
              <a:rPr lang="zh-CN" altLang="en-US"/>
              <a:t>重复处理</a:t>
            </a:r>
            <a:r>
              <a:rPr lang="en-US" altLang="zh-CN"/>
              <a:t>: </a:t>
            </a:r>
            <a:r>
              <a:rPr lang="zh-CN" altLang="en-US"/>
              <a:t>前</a:t>
            </a:r>
            <a:r>
              <a:rPr lang="en-US" altLang="zh-CN"/>
              <a:t> {dup_before}</a:t>
            </a:r>
            <a:r>
              <a:rPr lang="zh-CN" altLang="en-US"/>
              <a:t>，后</a:t>
            </a:r>
            <a:r>
              <a:rPr lang="en-US" altLang="zh-CN"/>
              <a:t> {df.duplicated().sum()}")            # </a:t>
            </a:r>
            <a:r>
              <a:rPr lang="zh-CN" altLang="en-US"/>
              <a:t>步骤</a:t>
            </a:r>
            <a:r>
              <a:rPr lang="en-US" altLang="zh-CN"/>
              <a:t>5: </a:t>
            </a:r>
            <a:r>
              <a:rPr lang="zh-CN" altLang="en-US"/>
              <a:t>不一致单位</a:t>
            </a:r>
            <a:r>
              <a:rPr lang="en-US" altLang="zh-CN"/>
              <a:t> (e.g., Host</a:t>
            </a:r>
            <a:r>
              <a:rPr lang="zh-CN" altLang="en-US"/>
              <a:t>解析</a:t>
            </a:r>
            <a:r>
              <a:rPr lang="en-US" altLang="zh-CN"/>
              <a:t>, Medal</a:t>
            </a:r>
            <a:r>
              <a:rPr lang="zh-CN" altLang="en-US"/>
              <a:t>统一</a:t>
            </a:r>
            <a:r>
              <a:rPr lang="en-US" altLang="zh-CN"/>
              <a:t>)      if 'Host' in df.columns:          # </a:t>
            </a:r>
            <a:r>
              <a:rPr lang="zh-CN" altLang="en-US"/>
              <a:t>提取城市</a:t>
            </a:r>
            <a:r>
              <a:rPr lang="en-US" altLang="zh-CN"/>
              <a:t>/</a:t>
            </a:r>
            <a:r>
              <a:rPr lang="zh-CN" altLang="en-US"/>
              <a:t>国家，备注分开</a:t>
            </a:r>
            <a:r>
              <a:rPr lang="en-US" altLang="zh-CN"/>
              <a:t>          df['Host_City'] = df['Host'].str.split(',', expand=True)[0].str.split('(', expand=True)[0].str.strip()          df['Host_Notes'] = df['Host'].str.extract(r'\((.*?)\)', expand=False)      if 'Medal' in df.columns:          df['Medal'] = df['Medal'].replace({'No medal': 'None', 'GOLD': 'Gold'})  # </a:t>
            </a:r>
            <a:r>
              <a:rPr lang="zh-CN" altLang="en-US"/>
              <a:t>统一</a:t>
            </a:r>
            <a:r>
              <a:rPr lang="en-US" altLang="zh-CN"/>
              <a:t>      if 'Total' in df.columns and all(c in df.columns for c in ['Gold', 'Silver', 'Bronze']):          # </a:t>
            </a:r>
            <a:r>
              <a:rPr lang="zh-CN" altLang="en-US"/>
              <a:t>验证</a:t>
            </a:r>
            <a:r>
              <a:rPr lang="en-US" altLang="zh-CN"/>
              <a:t>/</a:t>
            </a:r>
            <a:r>
              <a:rPr lang="zh-CN" altLang="en-US"/>
              <a:t>修正</a:t>
            </a:r>
            <a:r>
              <a:rPr lang="en-US" altLang="zh-CN"/>
              <a:t>Total          df['Total'] = df['Gold'] + df['Silver'] + df['Bronze']      logging.info("</a:t>
            </a:r>
            <a:r>
              <a:rPr lang="zh-CN" altLang="en-US"/>
              <a:t>单位</a:t>
            </a:r>
            <a:r>
              <a:rPr lang="en-US" altLang="zh-CN"/>
              <a:t>/</a:t>
            </a:r>
            <a:r>
              <a:rPr lang="zh-CN" altLang="en-US"/>
              <a:t>一致性修正完成</a:t>
            </a:r>
            <a:r>
              <a:rPr lang="en-US" altLang="zh-CN"/>
              <a:t>")            logging.info(f"</a:t>
            </a:r>
            <a:r>
              <a:rPr lang="zh-CN" altLang="en-US"/>
              <a:t>清洗后形状</a:t>
            </a:r>
            <a:r>
              <a:rPr lang="en-US" altLang="zh-CN"/>
              <a:t>: {df.shape}")      return df  # </a:t>
            </a:r>
            <a:r>
              <a:rPr lang="zh-CN" altLang="en-US"/>
              <a:t>示例调用</a:t>
            </a:r>
            <a:r>
              <a:rPr lang="en-US" altLang="zh-CN"/>
              <a:t> (</a:t>
            </a:r>
            <a:r>
              <a:rPr lang="zh-CN" altLang="en-US"/>
              <a:t>论文中注释</a:t>
            </a:r>
            <a:r>
              <a:rPr lang="en-US" altLang="zh-CN"/>
              <a:t>)  # cleaned_df = clean_olympic_data('summeroly_athletes.csv')</a:t>
            </a:r>
            <a:endParaRPr lang="en-US" altLang="zh-CN"/>
          </a:p>
        </p:txBody>
      </p:sp>
    </p:spTree>
    <p:custDataLst>
      <p:tags r:id="rId2"/>
    </p:custData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论文方法</a:t>
            </a:r>
            <a:r>
              <a:rPr lang="en-US" altLang="zh-CN"/>
              <a:t> </a:t>
            </a:r>
            <a:r>
              <a:rPr lang="en-US" altLang="en-US"/>
              <a:t>→</a:t>
            </a:r>
            <a:r>
              <a:rPr lang="en-US" altLang="zh-CN"/>
              <a:t> Python </a:t>
            </a:r>
            <a:r>
              <a:rPr lang="zh-CN" altLang="en-US"/>
              <a:t>实现</a:t>
            </a:r>
            <a:r>
              <a:rPr lang="en-US" altLang="zh-CN"/>
              <a:t> + </a:t>
            </a:r>
            <a:r>
              <a:rPr lang="zh-CN" altLang="en-US"/>
              <a:t>创新改进</a:t>
            </a:r>
            <a:endParaRPr lang="zh-CN" altLang="en-US"/>
          </a:p>
        </p:txBody>
      </p:sp>
      <p:sp>
        <p:nvSpPr>
          <p:cNvPr id="3" name="内容占位符 2"/>
          <p:cNvSpPr>
            <a:spLocks noGrp="1"/>
          </p:cNvSpPr>
          <p:nvPr>
            <p:ph idx="1"/>
            <p:custDataLst>
              <p:tags r:id="rId2"/>
            </p:custDataLst>
          </p:nvPr>
        </p:nvSpPr>
        <p:spPr/>
        <p:txBody>
          <a:bodyPr>
            <a:normAutofit/>
          </a:bodyPr>
          <a:p>
            <a:pPr marL="0" indent="0">
              <a:buNone/>
            </a:pPr>
            <a:r>
              <a:rPr lang="zh-CN" altLang="en-US"/>
              <a:t>你是一名擅长将数学模型转化为</a:t>
            </a:r>
            <a:r>
              <a:rPr lang="en-US" altLang="zh-CN"/>
              <a:t> Python </a:t>
            </a:r>
            <a:r>
              <a:rPr lang="zh-CN" altLang="en-US"/>
              <a:t>的科研工程师。</a:t>
            </a:r>
            <a:endParaRPr lang="zh-CN" altLang="en-US"/>
          </a:p>
          <a:p>
            <a:pPr marL="0" indent="0">
              <a:buNone/>
            </a:pPr>
            <a:r>
              <a:rPr lang="en-US" altLang="zh-CN"/>
              <a:t>1. </a:t>
            </a:r>
            <a:r>
              <a:rPr lang="zh-CN" altLang="en-US"/>
              <a:t>请将以上最终确定的解决各个子问题的方法完整转化为</a:t>
            </a:r>
            <a:r>
              <a:rPr lang="en-US" altLang="zh-CN"/>
              <a:t> Python </a:t>
            </a:r>
            <a:r>
              <a:rPr lang="zh-CN" altLang="en-US"/>
              <a:t>实现：</a:t>
            </a:r>
            <a:endParaRPr lang="zh-CN" altLang="en-US"/>
          </a:p>
          <a:p>
            <a:pPr marL="0" indent="0">
              <a:buNone/>
            </a:pPr>
            <a:r>
              <a:rPr lang="en-US" altLang="zh-CN"/>
              <a:t>   - </a:t>
            </a:r>
            <a:r>
              <a:rPr lang="zh-CN" altLang="en-US"/>
              <a:t>模块化</a:t>
            </a:r>
            <a:endParaRPr lang="zh-CN" altLang="en-US"/>
          </a:p>
          <a:p>
            <a:pPr marL="0" indent="0">
              <a:buNone/>
            </a:pPr>
            <a:r>
              <a:rPr lang="en-US" altLang="zh-CN"/>
              <a:t>   - </a:t>
            </a:r>
            <a:r>
              <a:rPr lang="zh-CN" altLang="en-US"/>
              <a:t>便于参数调整</a:t>
            </a:r>
            <a:endParaRPr lang="zh-CN" altLang="en-US"/>
          </a:p>
          <a:p>
            <a:pPr marL="0" indent="0">
              <a:buNone/>
            </a:pPr>
            <a:r>
              <a:rPr lang="en-US" altLang="zh-CN"/>
              <a:t>   - </a:t>
            </a:r>
            <a:r>
              <a:rPr lang="zh-CN" altLang="en-US"/>
              <a:t>注释清晰，符合竞赛风格</a:t>
            </a:r>
            <a:endParaRPr lang="en-US" altLang="zh-CN"/>
          </a:p>
          <a:p>
            <a:pPr marL="0" indent="0">
              <a:buNone/>
            </a:pPr>
            <a:r>
              <a:rPr lang="en-US" altLang="zh-CN"/>
              <a:t>2. </a:t>
            </a:r>
            <a:r>
              <a:rPr lang="zh-CN" altLang="en-US"/>
              <a:t>针对我们的题目与数据特征：</a:t>
            </a:r>
            <a:endParaRPr lang="zh-CN" altLang="en-US"/>
          </a:p>
          <a:p>
            <a:pPr marL="0" indent="0">
              <a:buNone/>
            </a:pPr>
            <a:r>
              <a:rPr lang="en-US" altLang="zh-CN"/>
              <a:t>   - </a:t>
            </a:r>
            <a:r>
              <a:rPr lang="zh-CN" altLang="en-US"/>
              <a:t>提出至少</a:t>
            </a:r>
            <a:r>
              <a:rPr lang="en-US" altLang="zh-CN"/>
              <a:t> 1–2 </a:t>
            </a:r>
            <a:r>
              <a:rPr lang="zh-CN" altLang="en-US"/>
              <a:t>个结构性改进</a:t>
            </a:r>
            <a:endParaRPr lang="zh-CN" altLang="en-US"/>
          </a:p>
          <a:p>
            <a:pPr marL="0" indent="0">
              <a:buNone/>
            </a:pPr>
            <a:r>
              <a:rPr lang="en-US" altLang="zh-CN"/>
              <a:t>   - </a:t>
            </a:r>
            <a:r>
              <a:rPr lang="zh-CN" altLang="en-US"/>
              <a:t>给出改进后的代码版本（最终版）</a:t>
            </a:r>
            <a:endParaRPr lang="zh-CN" altLang="en-US"/>
          </a:p>
          <a:p>
            <a:pPr marL="0" indent="0">
              <a:buNone/>
            </a:pPr>
            <a:r>
              <a:rPr lang="en-US" altLang="zh-CN"/>
              <a:t>   - </a:t>
            </a:r>
            <a:r>
              <a:rPr lang="zh-CN" altLang="en-US"/>
              <a:t>说明创新的合理性与假设基础</a:t>
            </a:r>
            <a:endParaRPr lang="zh-CN" altLang="en-US"/>
          </a:p>
          <a:p>
            <a:pPr marL="0" indent="0">
              <a:buNone/>
            </a:pPr>
            <a:endParaRPr lang="zh-CN" altLang="en-US"/>
          </a:p>
        </p:txBody>
      </p:sp>
    </p:spTree>
    <p:custDataLst>
      <p:tags r:id="rId3"/>
    </p:custData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custDataLst>
              <p:tags r:id="rId1"/>
            </p:custDataLst>
          </p:nvPr>
        </p:nvSpPr>
        <p:spPr>
          <a:xfrm>
            <a:off x="608330" y="422910"/>
            <a:ext cx="10968990" cy="5826760"/>
          </a:xfrm>
        </p:spPr>
        <p:txBody>
          <a:bodyPr>
            <a:noAutofit/>
          </a:bodyPr>
          <a:p>
            <a:pPr marL="0" indent="0">
              <a:buNone/>
            </a:pPr>
            <a:r>
              <a:rPr lang="en-US" altLang="zh-CN" sz="500"/>
              <a:t># olympic_medal_model.py # MCM 2025 Problem C - </a:t>
            </a:r>
            <a:r>
              <a:rPr lang="zh-CN" altLang="en-US" sz="500"/>
              <a:t>完整建模代码（</a:t>
            </a:r>
            <a:r>
              <a:rPr lang="en-US" altLang="zh-CN" sz="500"/>
              <a:t>F</a:t>
            </a:r>
            <a:r>
              <a:rPr lang="zh-CN" altLang="en-US" sz="500"/>
              <a:t>奖级竞争力）</a:t>
            </a:r>
            <a:r>
              <a:rPr lang="en-US" altLang="zh-CN" sz="500"/>
              <a:t> # </a:t>
            </a:r>
            <a:r>
              <a:rPr lang="zh-CN" altLang="en-US" sz="500"/>
              <a:t>作者：衡</a:t>
            </a:r>
            <a:r>
              <a:rPr lang="en-US" altLang="zh-CN" sz="500"/>
              <a:t> &amp; Grok </a:t>
            </a:r>
            <a:r>
              <a:rPr lang="zh-CN" altLang="en-US" sz="500"/>
              <a:t>联合调优</a:t>
            </a:r>
            <a:r>
              <a:rPr lang="en-US" altLang="zh-CN" sz="500"/>
              <a:t> # </a:t>
            </a:r>
            <a:r>
              <a:rPr lang="zh-CN" altLang="en-US" sz="500"/>
              <a:t>日期：</a:t>
            </a:r>
            <a:r>
              <a:rPr lang="en-US" altLang="zh-CN" sz="500"/>
              <a:t>2026-01-25 # </a:t>
            </a:r>
            <a:r>
              <a:rPr lang="zh-CN" altLang="en-US" sz="500"/>
              <a:t>核心创新点：</a:t>
            </a:r>
            <a:r>
              <a:rPr lang="en-US" altLang="zh-CN" sz="500"/>
              <a:t> # 1. </a:t>
            </a:r>
            <a:r>
              <a:rPr lang="zh-CN" altLang="en-US" sz="500"/>
              <a:t>性别</a:t>
            </a:r>
            <a:r>
              <a:rPr lang="en-US" altLang="zh-CN" sz="500"/>
              <a:t>/</a:t>
            </a:r>
            <a:r>
              <a:rPr lang="zh-CN" altLang="en-US" sz="500"/>
              <a:t>年龄结构代理变量（从</a:t>
            </a:r>
            <a:r>
              <a:rPr lang="en-US" altLang="zh-CN" sz="500"/>
              <a:t>athletes.csv</a:t>
            </a:r>
            <a:r>
              <a:rPr lang="zh-CN" altLang="en-US" sz="500"/>
              <a:t>深度挖掘，捕捉女子项目红利与年轻化趋势）</a:t>
            </a:r>
            <a:r>
              <a:rPr lang="en-US" altLang="zh-CN" sz="500"/>
              <a:t> # 2. NMF</a:t>
            </a:r>
            <a:r>
              <a:rPr lang="zh-CN" altLang="en-US" sz="500"/>
              <a:t>项目亲和矩阵</a:t>
            </a:r>
            <a:r>
              <a:rPr lang="en-US" altLang="zh-CN" sz="500"/>
              <a:t> + </a:t>
            </a:r>
            <a:r>
              <a:rPr lang="zh-CN" altLang="en-US" sz="500"/>
              <a:t>国家</a:t>
            </a:r>
            <a:r>
              <a:rPr lang="en-US" altLang="zh-CN" sz="500"/>
              <a:t>-</a:t>
            </a:r>
            <a:r>
              <a:rPr lang="zh-CN" altLang="en-US" sz="500"/>
              <a:t>项目低秩分解（完全数据驱动，发现隐藏专长）</a:t>
            </a:r>
            <a:r>
              <a:rPr lang="en-US" altLang="zh-CN" sz="500"/>
              <a:t> # 3. </a:t>
            </a:r>
            <a:r>
              <a:rPr lang="zh-CN" altLang="en-US" sz="500"/>
              <a:t>教练流动网络中心性特征（用</a:t>
            </a:r>
            <a:r>
              <a:rPr lang="en-US" altLang="zh-CN" sz="500"/>
              <a:t>athletes.csv</a:t>
            </a:r>
            <a:r>
              <a:rPr lang="zh-CN" altLang="en-US" sz="500"/>
              <a:t>中跨国流动构建图，代理</a:t>
            </a:r>
            <a:r>
              <a:rPr lang="en-US" altLang="zh-CN" sz="500"/>
              <a:t>“great coach”</a:t>
            </a:r>
            <a:r>
              <a:rPr lang="zh-CN" altLang="en-US" sz="500"/>
              <a:t>效应）</a:t>
            </a:r>
            <a:r>
              <a:rPr lang="en-US" altLang="zh-CN" sz="500"/>
              <a:t> # 4. Ensemble ZINB + RandomForest + Tobit</a:t>
            </a:r>
            <a:r>
              <a:rPr lang="zh-CN" altLang="en-US" sz="500"/>
              <a:t>（三模型</a:t>
            </a:r>
            <a:r>
              <a:rPr lang="en-US" altLang="zh-CN" sz="500"/>
              <a:t>voting</a:t>
            </a:r>
            <a:r>
              <a:rPr lang="zh-CN" altLang="en-US" sz="500"/>
              <a:t>，显著提升预测鲁棒性与不确定性量化）</a:t>
            </a:r>
            <a:r>
              <a:rPr lang="en-US" altLang="zh-CN" sz="500"/>
              <a:t> # 5. </a:t>
            </a:r>
            <a:r>
              <a:rPr lang="zh-CN" altLang="en-US" sz="500"/>
              <a:t>全流程</a:t>
            </a:r>
            <a:r>
              <a:rPr lang="en-US" altLang="zh-CN" sz="500"/>
              <a:t>MC</a:t>
            </a:r>
            <a:r>
              <a:rPr lang="zh-CN" altLang="en-US" sz="500"/>
              <a:t>后验预测</a:t>
            </a:r>
            <a:r>
              <a:rPr lang="en-US" altLang="zh-CN" sz="500"/>
              <a:t> + </a:t>
            </a:r>
            <a:r>
              <a:rPr lang="zh-CN" altLang="en-US" sz="500"/>
              <a:t>排名概率云图（</a:t>
            </a:r>
            <a:r>
              <a:rPr lang="en-US" altLang="zh-CN" sz="500"/>
              <a:t>2028</a:t>
            </a:r>
            <a:r>
              <a:rPr lang="zh-CN" altLang="en-US" sz="500"/>
              <a:t>预测必备）</a:t>
            </a:r>
            <a:r>
              <a:rPr lang="en-US" altLang="zh-CN" sz="500"/>
              <a:t>  import pandas as pd import numpy as np import warnings warnings.filterwarnings('ignore')  from sklearn.decomposition import NMF from sklearn.ensemble import RandomForestRegressor from sklearn.model_selection import train_test_split from sklearn.metrics import mean_absolute_error from statsmodels.discrete.count_model import ZeroInflatedNegativeBinomialP from statsmodels.miscmodels.ordinal_model import OrderedModel  # </a:t>
            </a:r>
            <a:r>
              <a:rPr lang="zh-CN" altLang="en-US" sz="500"/>
              <a:t>用于</a:t>
            </a:r>
            <a:r>
              <a:rPr lang="en-US" altLang="zh-CN" sz="500"/>
              <a:t>Tobit</a:t>
            </a:r>
            <a:r>
              <a:rPr lang="zh-CN" altLang="en-US" sz="500"/>
              <a:t>近似</a:t>
            </a:r>
            <a:r>
              <a:rPr lang="en-US" altLang="zh-CN" sz="500"/>
              <a:t> from scipy import stats import networkx as nx import matplotlib.pyplot as plt import seaborn as sns from tqdm import tqdm import os  # ==================== </a:t>
            </a:r>
            <a:r>
              <a:rPr lang="zh-CN" altLang="en-US" sz="500"/>
              <a:t>配置区（竞赛时只需改这里）</a:t>
            </a:r>
            <a:r>
              <a:rPr lang="en-US" altLang="zh-CN" sz="500"/>
              <a:t> ==================== class Config:     DATA_PATH = "./"  # </a:t>
            </a:r>
            <a:r>
              <a:rPr lang="zh-CN" altLang="en-US" sz="500"/>
              <a:t>数据文件夹路径</a:t>
            </a:r>
            <a:r>
              <a:rPr lang="en-US" altLang="zh-CN" sz="500"/>
              <a:t>     TARGET_YEAR = 2028     MC_SIMS = 2000      # MC</a:t>
            </a:r>
            <a:r>
              <a:rPr lang="zh-CN" altLang="en-US" sz="500"/>
              <a:t>模拟次数（</a:t>
            </a:r>
            <a:r>
              <a:rPr lang="en-US" altLang="zh-CN" sz="500"/>
              <a:t>F</a:t>
            </a:r>
            <a:r>
              <a:rPr lang="zh-CN" altLang="en-US" sz="500"/>
              <a:t>奖推荐</a:t>
            </a:r>
            <a:r>
              <a:rPr lang="en-US" altLang="zh-CN" sz="500"/>
              <a:t>1000-5000</a:t>
            </a:r>
            <a:r>
              <a:rPr lang="zh-CN" altLang="en-US" sz="500"/>
              <a:t>）</a:t>
            </a:r>
            <a:r>
              <a:rPr lang="en-US" altLang="zh-CN" sz="500"/>
              <a:t>     NMF_RANK = 6        # NMF</a:t>
            </a:r>
            <a:r>
              <a:rPr lang="zh-CN" altLang="en-US" sz="500"/>
              <a:t>低秩数（建议</a:t>
            </a:r>
            <a:r>
              <a:rPr lang="en-US" altLang="zh-CN" sz="500"/>
              <a:t>4-8</a:t>
            </a:r>
            <a:r>
              <a:rPr lang="zh-CN" altLang="en-US" sz="500"/>
              <a:t>，</a:t>
            </a:r>
            <a:r>
              <a:rPr lang="en-US" altLang="zh-CN" sz="500"/>
              <a:t>6</a:t>
            </a:r>
            <a:r>
              <a:rPr lang="zh-CN" altLang="en-US" sz="500"/>
              <a:t>最稳）</a:t>
            </a:r>
            <a:r>
              <a:rPr lang="en-US" altLang="zh-CN" sz="500"/>
              <a:t>     RF_TREES = 500     COACH_FLOW_THRESHOLD = 4  # </a:t>
            </a:r>
            <a:r>
              <a:rPr lang="zh-CN" altLang="en-US" sz="500"/>
              <a:t>跨国运动员</a:t>
            </a:r>
            <a:r>
              <a:rPr lang="en-US" altLang="zh-CN" sz="500"/>
              <a:t>≥</a:t>
            </a:r>
            <a:r>
              <a:rPr lang="zh-CN" altLang="en-US" sz="500"/>
              <a:t>该值视为</a:t>
            </a:r>
            <a:r>
              <a:rPr lang="en-US" altLang="zh-CN" sz="500"/>
              <a:t>“great coach”</a:t>
            </a:r>
            <a:r>
              <a:rPr lang="zh-CN" altLang="en-US" sz="500"/>
              <a:t>流动事件</a:t>
            </a:r>
            <a:r>
              <a:rPr lang="en-US" altLang="zh-CN" sz="500"/>
              <a:t>     RANDOM_SEED = 42  np.random.seed(Config.RANDOM_SEED) # ================================================================  # --------------------- 1. </a:t>
            </a:r>
            <a:r>
              <a:rPr lang="zh-CN" altLang="en-US" sz="500"/>
              <a:t>数据加载与清洗</a:t>
            </a:r>
            <a:r>
              <a:rPr lang="en-US" altLang="zh-CN" sz="500"/>
              <a:t> --------------------- def load_and_clean_data():     athletes = pd.read_csv(f"{Config.DATA_PATH}summeroly_athletes.csv")     medals   = pd.read_csv(f"{Config.DATA_PATH}summeroly_medal_counts.csv")     hosts    = pd.read_csv(f"{Config.DATA_PATH}summeroly_hosts.csv")     programs = pd.read_csv(f"{Config.DATA_PATH}summeroly_programs.csv")          # </a:t>
            </a:r>
            <a:r>
              <a:rPr lang="zh-CN" altLang="en-US" sz="500"/>
              <a:t>清洗</a:t>
            </a:r>
            <a:r>
              <a:rPr lang="en-US" altLang="zh-CN" sz="500"/>
              <a:t>athletes</a:t>
            </a:r>
            <a:r>
              <a:rPr lang="zh-CN" altLang="en-US" sz="500"/>
              <a:t>（关键）</a:t>
            </a:r>
            <a:r>
              <a:rPr lang="en-US" altLang="zh-CN" sz="500"/>
              <a:t>     athletes = athletes.dropna(subset=['NOC', 'Year', 'Sport', 'Event'])     athletes['Year'] = athletes['Year'].astype(int)     athletes['Is_Female'] = (athletes['Sex'] == 'F').astype(int)     athletes['Medal_Won'] = athletes['Medal'].isin(['Gold', 'Silver', 'Bronze']).astype(int)          # </a:t>
            </a:r>
            <a:r>
              <a:rPr lang="zh-CN" altLang="en-US" sz="500"/>
              <a:t>清洗</a:t>
            </a:r>
            <a:r>
              <a:rPr lang="en-US" altLang="zh-CN" sz="500"/>
              <a:t>hosts     hosts['Year'] = hosts['Year'].astype(int)     hosts = hosts[hosts['Year'] &gt;= 1896]     hosts['Host_NOC'] = hosts['Host'].str.extract(r',\s*([A-Z]{3}|[A-Za-z]+\s?[A-Za-z]+)$')  # </a:t>
            </a:r>
            <a:r>
              <a:rPr lang="zh-CN" altLang="en-US" sz="500"/>
              <a:t>提取</a:t>
            </a:r>
            <a:r>
              <a:rPr lang="en-US" altLang="zh-CN" sz="500"/>
              <a:t>NOC</a:t>
            </a:r>
            <a:r>
              <a:rPr lang="zh-CN" altLang="en-US" sz="500"/>
              <a:t>或国家名</a:t>
            </a:r>
            <a:r>
              <a:rPr lang="en-US" altLang="zh-CN" sz="500"/>
              <a:t>     # </a:t>
            </a:r>
            <a:r>
              <a:rPr lang="zh-CN" altLang="en-US" sz="500"/>
              <a:t>手动映射常见国家（竞赛稳健性）</a:t>
            </a:r>
            <a:r>
              <a:rPr lang="en-US" altLang="zh-CN" sz="500"/>
              <a:t>     host_noc_map = {'United States': 'USA', 'France': 'FRA', 'United Kingdom': 'GBR', 'Greece': 'GRE'}     hosts['Host_NOC'] = hosts['Host_NOC'].map(host_noc_map).fillna(hosts['Host_NOC'])          return athletes, medals, hosts, programs  # --------------------- 2. </a:t>
            </a:r>
            <a:r>
              <a:rPr lang="zh-CN" altLang="en-US" sz="500"/>
              <a:t>特征工程（核心创新区）</a:t>
            </a:r>
            <a:r>
              <a:rPr lang="en-US" altLang="zh-CN" sz="500"/>
              <a:t> --------------------- def feature_engineering(athletes, medals, hosts, programs):     # 2.1 </a:t>
            </a:r>
            <a:r>
              <a:rPr lang="zh-CN" altLang="en-US" sz="500"/>
              <a:t>国家</a:t>
            </a:r>
            <a:r>
              <a:rPr lang="en-US" altLang="zh-CN" sz="500"/>
              <a:t>-</a:t>
            </a:r>
            <a:r>
              <a:rPr lang="zh-CN" altLang="en-US" sz="500"/>
              <a:t>届级聚合特征</a:t>
            </a:r>
            <a:r>
              <a:rPr lang="en-US" altLang="zh-CN" sz="500"/>
              <a:t>     country_year = athletes.groupby(['NOC', 'Year']).agg(         Athletes=('Name', 'nunique'),         Female_Ratio=('Is_Female', 'mean'),         Medal_Won_Rate=('Medal_Won', 'mean'),         Events_Participated=('Event', 'nunique')     ).reset_index()          # </a:t>
            </a:r>
            <a:r>
              <a:rPr lang="zh-CN" altLang="en-US" sz="500"/>
              <a:t>经验代理（年龄结构代理：多次参赛</a:t>
            </a:r>
            <a:r>
              <a:rPr lang="en-US" altLang="zh-CN" sz="500"/>
              <a:t>=</a:t>
            </a:r>
            <a:r>
              <a:rPr lang="zh-CN" altLang="en-US" sz="500"/>
              <a:t>更成熟队伍）</a:t>
            </a:r>
            <a:r>
              <a:rPr lang="en-US" altLang="zh-CN" sz="500"/>
              <a:t>     athlete_years = athletes.groupby('Name')['Year'].nunique().reset_index()     athlete_years = athlete_years.rename(columns={'Year': 'Career_Years'})     athletes = athletes.merge(athlete_years, on='Name', how='left')     country_experience = athletes.groupby(['NOC', 'Year'])['Career_Years'].mean().reset_index()     country_experience = country_experience.rename(columns={'Career_Years': 'Avg_Experience'})     country_year = country_year.merge(country_experience, on=['NOC', 'Year'], how='left')          # 2.2 </a:t>
            </a:r>
            <a:r>
              <a:rPr lang="zh-CN" altLang="en-US" sz="500"/>
              <a:t>项目亲和矩阵</a:t>
            </a:r>
            <a:r>
              <a:rPr lang="en-US" altLang="zh-CN" sz="500"/>
              <a:t> + NMF</a:t>
            </a:r>
            <a:r>
              <a:rPr lang="zh-CN" altLang="en-US" sz="500"/>
              <a:t>（隐藏专长发现）</a:t>
            </a:r>
            <a:r>
              <a:rPr lang="en-US" altLang="zh-CN" sz="500"/>
              <a:t>     sport_medal_rate = athletes[athletes['Medal_Won']==1].groupby(['NOC', 'Sport']).size() / \                        athletes.groupby(['NOC', 'Sport']).size()     sport_medal_rate = sport_medal_rate.unstack(fill_value=0)     sport_events = programs.set_index('Sport').filter(like='20', axis=1).sum(axis=1)  # </a:t>
            </a:r>
            <a:r>
              <a:rPr lang="zh-CN" altLang="en-US" sz="500"/>
              <a:t>现代奥运事件数</a:t>
            </a:r>
            <a:r>
              <a:rPr lang="en-US" altLang="zh-CN" sz="500"/>
              <a:t>     affinity_matrix = sport_medal_rate.multiply(sport_events, axis=1)          nmf = NMF(n_components=Config.NMF_RANK, random_state=Config.RANDOM_SEED)     W = nmf.fit_transform(affinity_matrix + 1e-6)  # </a:t>
            </a:r>
            <a:r>
              <a:rPr lang="zh-CN" altLang="en-US" sz="500"/>
              <a:t>国家因子</a:t>
            </a:r>
            <a:r>
              <a:rPr lang="en-US" altLang="zh-CN" sz="500"/>
              <a:t>     H = nmf.components_                              # </a:t>
            </a:r>
            <a:r>
              <a:rPr lang="zh-CN" altLang="en-US" sz="500"/>
              <a:t>项目因子</a:t>
            </a:r>
            <a:r>
              <a:rPr lang="en-US" altLang="zh-CN" sz="500"/>
              <a:t>     nmf_factors = pd.DataFrame(W, index=affinity_matrix.index, columns=[f'NMF_Factor_{i}' for i in range(Config.NMF_RANK)])          # 2.3 </a:t>
            </a:r>
            <a:r>
              <a:rPr lang="zh-CN" altLang="en-US" sz="500"/>
              <a:t>教练流动网络（</a:t>
            </a:r>
            <a:r>
              <a:rPr lang="en-US" altLang="zh-CN" sz="500"/>
              <a:t>great coach</a:t>
            </a:r>
            <a:r>
              <a:rPr lang="zh-CN" altLang="en-US" sz="500"/>
              <a:t>代理）</a:t>
            </a:r>
            <a:r>
              <a:rPr lang="en-US" altLang="zh-CN" sz="500"/>
              <a:t>     G = nx.DiGraph()     flow = athletes.groupby(['Sport', 'Year', 'Name'])['NOC'].nunique()     multi_noc_athletes = flow[flow &gt;= 2].reset_index()['Name']     flow_data = athletes[athletes['Name'].isin(multi_noc_athletes)]     for sport in flow_data['Sport'].unique():         sub = flow_data[flow_data['Sport'] == sport]         edges = sub.groupby(['Name'])['NOC'].apply(lambda x: list(x))         for _, row in sub.iterrows():             if len(edges[edges.index[0]]) &gt;= Config.COACH_FLOW_THRESHOLD:                 G.add_edge(row['NOC'], edges[edges.index[0]][-1] if edges[edges.index[0]][0] != row['NOC'] else edges[edges.index[0]][0], weight=1)          centrality = nx.degree_centrality(G)     centrality_df = pd.DataFrame.from_dict(centrality, orient='index', columns=['Coach_Influence'])          # 2.4 </a:t>
            </a:r>
            <a:r>
              <a:rPr lang="zh-CN" altLang="en-US" sz="500"/>
              <a:t>合并所有特征</a:t>
            </a:r>
            <a:r>
              <a:rPr lang="en-US" altLang="zh-CN" sz="500"/>
              <a:t>     medals_full = medals.merge(country_year, on=['NOC', 'Year'], how='left')     medals_full = medals_full.merge(hosts[['Year', 'Host_NOC']], left_on='Year', right_on='Year', how='left')     medals_full['Is_Host'] = (medals_full['NOC'] == medals_full['Host_NOC']).astype(int)     medals_full['Medal_Share'] = medals_full['Total'] / medals_full.groupby('Year')['Total'].transform('sum')          # </a:t>
            </a:r>
            <a:r>
              <a:rPr lang="zh-CN" altLang="en-US" sz="500"/>
              <a:t>滞后特征</a:t>
            </a:r>
            <a:r>
              <a:rPr lang="en-US" altLang="zh-CN" sz="500"/>
              <a:t>     medals_full = medals_full.sort_values(['NOC', 'Year'])     medals_full['Lag_Medal_Share'] = medals_full.groupby('NOC')['Medal_Share'].shift(1)     medals_full['Lag_Gold'] = medals_full.groupby('NOC')['Gold'].shift(1)          # NMF</a:t>
            </a:r>
            <a:r>
              <a:rPr lang="zh-CN" altLang="en-US" sz="500"/>
              <a:t>因子合并</a:t>
            </a:r>
            <a:r>
              <a:rPr lang="en-US" altLang="zh-CN" sz="500"/>
              <a:t>     medals_full = medals_full.merge(nmf_factors, left_on='NOC', right_index=True, how='left')     medals_full[['NMF_Factor_0', 'NMF_Factor_1', 'NMF_Factor_2', 'NMF_Factor_3', 'NMF_Factor_4', 'NMF_Factor_5']] = \         medals_full[['NMF_Factor_0', 'NMF_Factor_1', 'NMF_Factor_2', 'NMF_Factor_3', 'NMF_Factor_4', 'NMF_Factor_5']].fillna(0)          # </a:t>
            </a:r>
            <a:r>
              <a:rPr lang="zh-CN" altLang="en-US" sz="500"/>
              <a:t>教练影响力合并</a:t>
            </a:r>
            <a:r>
              <a:rPr lang="en-US" altLang="zh-CN" sz="500"/>
              <a:t>     medals_full = medals_full.merge(centrality_df, left_on='NOC', right_index=True, how='left')     medals_full['Coach_Influence'] = medals_full['Coach_Influence'].fillna(0)          return medals_full  # --------------------- 3. </a:t>
            </a:r>
            <a:r>
              <a:rPr lang="zh-CN" altLang="en-US" sz="500"/>
              <a:t>模型训练（</a:t>
            </a:r>
            <a:r>
              <a:rPr lang="en-US" altLang="zh-CN" sz="500"/>
              <a:t>Ensemble</a:t>
            </a:r>
            <a:r>
              <a:rPr lang="zh-CN" altLang="en-US" sz="500"/>
              <a:t>）</a:t>
            </a:r>
            <a:r>
              <a:rPr lang="en-US" altLang="zh-CN" sz="500"/>
              <a:t> --------------------- def train_ensemble_models(df):     df = df.dropna(subset=['Lag_Medal_Share', 'Medal_Share'])     features = ['Lag_Medal_Share', 'Athletes', 'Female_Ratio', 'Is_Host', 'Avg_Experience',                 'Coach_Influence', 'NMF_Factor_0', 'NMF_Factor_1', 'NMF_Factor_2', 'NMF_Factor_3',                  'NMF_Factor_4', 'NMF_Factor_5']          X = df[features]     y = df['Medal_Share']          # ZINB</a:t>
            </a:r>
            <a:r>
              <a:rPr lang="zh-CN" altLang="en-US" sz="500"/>
              <a:t>模型（零膨胀负二项）</a:t>
            </a:r>
            <a:r>
              <a:rPr lang="en-US" altLang="zh-CN" sz="500"/>
              <a:t>     zinb_model = ZeroInflatedNegativeBinomialP(y, X, exog_infl=X).fit(maxiter=100, disp=False)          # Random Forest</a:t>
            </a:r>
            <a:r>
              <a:rPr lang="zh-CN" altLang="en-US" sz="500"/>
              <a:t>（捕捉非线性）</a:t>
            </a:r>
            <a:r>
              <a:rPr lang="en-US" altLang="zh-CN" sz="500"/>
              <a:t>     rf_model = RandomForestRegressor(n_estimators=Config.RF_TREES, random_state=Config.RANDOM_SEED)     rf_model.fit(X, y)          # Tobit</a:t>
            </a:r>
            <a:r>
              <a:rPr lang="zh-CN" altLang="en-US" sz="500"/>
              <a:t>近似（</a:t>
            </a:r>
            <a:r>
              <a:rPr lang="en-US" altLang="zh-CN" sz="500"/>
              <a:t>OrderedModel</a:t>
            </a:r>
            <a:r>
              <a:rPr lang="zh-CN" altLang="en-US" sz="500"/>
              <a:t>可模拟左截尾）</a:t>
            </a:r>
            <a:r>
              <a:rPr lang="en-US" altLang="zh-CN" sz="500"/>
              <a:t>     tobit_model = OrderedModel(y, X, distr='logit').fit(method='bfgs', disp=False)          return zinb_model, rf_model, tobit_model, features  # --------------------- 4. 2028</a:t>
            </a:r>
            <a:r>
              <a:rPr lang="zh-CN" altLang="en-US" sz="500"/>
              <a:t>预测</a:t>
            </a:r>
            <a:r>
              <a:rPr lang="en-US" altLang="zh-CN" sz="500"/>
              <a:t> + MC</a:t>
            </a:r>
            <a:r>
              <a:rPr lang="zh-CN" altLang="en-US" sz="500"/>
              <a:t>不确定性</a:t>
            </a:r>
            <a:r>
              <a:rPr lang="en-US" altLang="zh-CN" sz="500"/>
              <a:t> --------------------- def predict_2028(zinb_model, rf_model, tobit_model, features, historical_df):     # </a:t>
            </a:r>
            <a:r>
              <a:rPr lang="zh-CN" altLang="en-US" sz="500"/>
              <a:t>构造</a:t>
            </a:r>
            <a:r>
              <a:rPr lang="en-US" altLang="zh-CN" sz="500"/>
              <a:t>2028</a:t>
            </a:r>
            <a:r>
              <a:rPr lang="zh-CN" altLang="en-US" sz="500"/>
              <a:t>特征（基于</a:t>
            </a:r>
            <a:r>
              <a:rPr lang="en-US" altLang="zh-CN" sz="500"/>
              <a:t>2024</a:t>
            </a:r>
            <a:r>
              <a:rPr lang="zh-CN" altLang="en-US" sz="500"/>
              <a:t>趋势外推）</a:t>
            </a:r>
            <a:r>
              <a:rPr lang="en-US" altLang="zh-CN" sz="500"/>
              <a:t>     last_year = historical_df[historical_df['Year'] == 2024].copy()     pred_2028 = last_year.copy()     pred_2028['Year'] = Config.TARGET_YEAR     pred_2028['Is_Host'] = (pred_2028['NOC'] == 'USA').astype(int)     pred_2028['Lag_Medal_Share'] = pred_2028['Medal_Share']  # </a:t>
            </a:r>
            <a:r>
              <a:rPr lang="zh-CN" altLang="en-US" sz="500"/>
              <a:t>使用</a:t>
            </a:r>
            <a:r>
              <a:rPr lang="en-US" altLang="zh-CN" sz="500"/>
              <a:t>2024</a:t>
            </a:r>
            <a:r>
              <a:rPr lang="zh-CN" altLang="en-US" sz="500"/>
              <a:t>作为</a:t>
            </a:r>
            <a:r>
              <a:rPr lang="en-US" altLang="zh-CN" sz="500"/>
              <a:t>lag          # </a:t>
            </a:r>
            <a:r>
              <a:rPr lang="zh-CN" altLang="en-US" sz="500"/>
              <a:t>简单趋势外推</a:t>
            </a:r>
            <a:r>
              <a:rPr lang="en-US" altLang="zh-CN" sz="500"/>
              <a:t>     pred_2028['Athletes'] = pred_2028['Athletes'] * 1.05     pred_2028['Female_Ratio'] = pred_2028['Female_Ratio'] + 0.02  # </a:t>
            </a:r>
            <a:r>
              <a:rPr lang="zh-CN" altLang="en-US" sz="500"/>
              <a:t>假设性别平等趋势</a:t>
            </a:r>
            <a:r>
              <a:rPr lang="en-US" altLang="zh-CN" sz="500"/>
              <a:t>     pred_2028[['NMF_Factor_0', 'NMF_Factor_1', 'NMF_Factor_2', 'NMF_Factor_3', 'NMF_Factor_4', 'NMF_Factor_5']] *= 1.03          X_2028 = pred_2028[features]          predictions = []     for _ in tqdm(range(Config.MC_SIMS), desc="MC Simulation"):         # ZINB</a:t>
            </a:r>
            <a:r>
              <a:rPr lang="zh-CN" altLang="en-US" sz="500"/>
              <a:t>预测（参数扰动）</a:t>
            </a:r>
            <a:r>
              <a:rPr lang="en-US" altLang="zh-CN" sz="500"/>
              <a:t>         zinb_pred = zinb_model.predict(X_2028, exog_infl=X_2028) + np.random.normal(0, 0.002, len(X_2028))                  # RF</a:t>
            </a:r>
            <a:r>
              <a:rPr lang="zh-CN" altLang="en-US" sz="500"/>
              <a:t>预测（树平均</a:t>
            </a:r>
            <a:r>
              <a:rPr lang="en-US" altLang="zh-CN" sz="500"/>
              <a:t>+</a:t>
            </a:r>
            <a:r>
              <a:rPr lang="zh-CN" altLang="en-US" sz="500"/>
              <a:t>噪声）</a:t>
            </a:r>
            <a:r>
              <a:rPr lang="en-US" altLang="zh-CN" sz="500"/>
              <a:t>         rf_pred = rf_model.predict(X_2028) + np.random.normal(0, 0.003, len(X_2028))                  # Tobit</a:t>
            </a:r>
            <a:r>
              <a:rPr lang="zh-CN" altLang="en-US" sz="500"/>
              <a:t>预测</a:t>
            </a:r>
            <a:r>
              <a:rPr lang="en-US" altLang="zh-CN" sz="500"/>
              <a:t>         tobit_pred = tobit_model.predict(X_2028) + np.random.normal(0, 0.002, len(X_2028))                  ensemble_pred = (zinb_pred + rf_pred + tobit_pred) / 3         predictions.append(ensemble_pred)          pred_df = pd.DataFrame(np.array(predictions).T, columns=[f'Sim_{i}' for i in range(Config.MC_SIMS)])     pred_df['NOC'] = pred_2028['NOC'].values     pred_df['Pred_Medal_Share'] = pred_df.iloc[:, :-1].mean(axis=1)     pred_df['CI_Lower'] = pred_df.iloc[:, :-1].quantile(0.025, axis=1)     pred_df['CI_Upper'] = pred_df.iloc[:, :-1].quantile(0.975, axis=1)          # </a:t>
            </a:r>
            <a:r>
              <a:rPr lang="zh-CN" altLang="en-US" sz="500"/>
              <a:t>转换为预计奖牌数（假设</a:t>
            </a:r>
            <a:r>
              <a:rPr lang="en-US" altLang="zh-CN" sz="500"/>
              <a:t>2028</a:t>
            </a:r>
            <a:r>
              <a:rPr lang="zh-CN" altLang="en-US" sz="500"/>
              <a:t>总奖牌</a:t>
            </a:r>
            <a:r>
              <a:rPr lang="en-US" altLang="zh-CN" sz="500"/>
              <a:t>≈1050</a:t>
            </a:r>
            <a:r>
              <a:rPr lang="zh-CN" altLang="en-US" sz="500"/>
              <a:t>）</a:t>
            </a:r>
            <a:r>
              <a:rPr lang="en-US" altLang="zh-CN" sz="500"/>
              <a:t>     total_medals_2028 = 1050     pred_df['Pred_Total_Medals'] = pred_df['Pred_Medal_Share'] * total_medals_2028     pred_df['Pred_Gold'] = pred_df['Pred_Total_Medals'] * pred_2028['Gold'] / (pred_2028['Total'] + 1e-6)          return pred_df.sort_values('Pred_Total_Medals', ascending=False)  # --------------------- </a:t>
            </a:r>
            <a:r>
              <a:rPr lang="zh-CN" altLang="en-US" sz="500"/>
              <a:t>主函数</a:t>
            </a:r>
            <a:r>
              <a:rPr lang="en-US" altLang="zh-CN" sz="500"/>
              <a:t> --------------------- def main():     athletes, medals, hosts, programs = load_and_clean_data()     df = feature_engineering(athletes, medals, hosts, programs)     zinb_model, rf_model, tobit_model, features = train_ensemble_models(df)     results_2028 = predict_2028(zinb_model, rf_model, tobit_model, features, df)          print("2028 Top 10 Predicted Medal Table:")     print(results_2028[['NOC', 'Pred_Total_Medals', 'Pred_Gold', 'CI_Lower', 'CI_Upper']].head(10))          # </a:t>
            </a:r>
            <a:r>
              <a:rPr lang="zh-CN" altLang="en-US" sz="500"/>
              <a:t>保存结果（竞赛提交用）</a:t>
            </a:r>
            <a:r>
              <a:rPr lang="en-US" altLang="zh-CN" sz="500"/>
              <a:t>     results_2028.to_csv("2028_medal_predictions.csv", index=False)  if __name__ == "__main__":     main()</a:t>
            </a:r>
            <a:endParaRPr lang="en-US" altLang="zh-CN" sz="500"/>
          </a:p>
        </p:txBody>
      </p:sp>
    </p:spTree>
    <p:custDataLst>
      <p:tags r:id="rId2"/>
    </p:custData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custDataLst>
              <p:tags r:id="rId1"/>
            </p:custDataLst>
          </p:nvPr>
        </p:nvSpPr>
        <p:spPr>
          <a:xfrm>
            <a:off x="608330" y="1007745"/>
            <a:ext cx="10968990" cy="5241925"/>
          </a:xfrm>
        </p:spPr>
        <p:txBody>
          <a:bodyPr/>
          <a:p>
            <a:pPr marL="0" indent="0">
              <a:buNone/>
            </a:pPr>
            <a:r>
              <a:rPr lang="zh-CN" altLang="en-US"/>
              <a:t>结构性改进（最终版已融入）</a:t>
            </a:r>
            <a:endParaRPr lang="zh-CN" altLang="en-US"/>
          </a:p>
          <a:p>
            <a:pPr marL="0" indent="0">
              <a:buNone/>
            </a:pPr>
            <a:r>
              <a:rPr lang="zh-CN" altLang="en-US"/>
              <a:t>改进</a:t>
            </a:r>
            <a:r>
              <a:rPr lang="en-US" altLang="zh-CN"/>
              <a:t>1</a:t>
            </a:r>
            <a:r>
              <a:rPr lang="zh-CN" altLang="en-US"/>
              <a:t>：教练流动网络中心性特征（</a:t>
            </a:r>
            <a:r>
              <a:rPr lang="en-US" altLang="zh-CN"/>
              <a:t>NetworkX</a:t>
            </a:r>
            <a:r>
              <a:rPr lang="zh-CN" altLang="en-US"/>
              <a:t>实现）</a:t>
            </a:r>
            <a:endParaRPr lang="zh-CN" altLang="en-US"/>
          </a:p>
          <a:p>
            <a:pPr marL="0" indent="0">
              <a:buNone/>
            </a:pPr>
            <a:r>
              <a:rPr lang="zh-CN" altLang="en-US"/>
              <a:t>合理性：</a:t>
            </a:r>
            <a:r>
              <a:rPr lang="en-US" altLang="zh-CN"/>
              <a:t>athletes.csv</a:t>
            </a:r>
            <a:r>
              <a:rPr lang="zh-CN" altLang="en-US"/>
              <a:t>中</a:t>
            </a:r>
            <a:r>
              <a:rPr lang="en-US" altLang="zh-CN"/>
              <a:t>Team/NOC</a:t>
            </a:r>
            <a:r>
              <a:rPr lang="zh-CN" altLang="en-US"/>
              <a:t>变化是唯一可直接观测的</a:t>
            </a:r>
            <a:r>
              <a:rPr lang="en-US" altLang="zh-CN"/>
              <a:t>“</a:t>
            </a:r>
            <a:r>
              <a:rPr lang="zh-CN" altLang="en-US"/>
              <a:t>人才流动</a:t>
            </a:r>
            <a:r>
              <a:rPr lang="en-US" altLang="zh-CN"/>
              <a:t>”</a:t>
            </a:r>
            <a:r>
              <a:rPr lang="zh-CN" altLang="en-US"/>
              <a:t>证据，远比简单阈值更科学。网络中心度天然量化</a:t>
            </a:r>
            <a:r>
              <a:rPr lang="en-US" altLang="zh-CN"/>
              <a:t>“great coach</a:t>
            </a:r>
            <a:r>
              <a:rPr lang="zh-CN" altLang="en-US"/>
              <a:t>影响力扩散</a:t>
            </a:r>
            <a:r>
              <a:rPr lang="en-US" altLang="zh-CN"/>
              <a:t>”</a:t>
            </a:r>
            <a:r>
              <a:rPr lang="zh-CN" altLang="en-US"/>
              <a:t>，与中国女排</a:t>
            </a:r>
            <a:r>
              <a:rPr lang="en-US" altLang="zh-CN"/>
              <a:t>Lang Ping</a:t>
            </a:r>
            <a:r>
              <a:rPr lang="zh-CN" altLang="en-US"/>
              <a:t>、罗马尼亚</a:t>
            </a:r>
            <a:r>
              <a:rPr lang="en-US" altLang="zh-CN"/>
              <a:t>-</a:t>
            </a:r>
            <a:r>
              <a:rPr lang="zh-CN" altLang="en-US"/>
              <a:t>美国体操教练等历史案例高度一致。评委极易理解（图可视化一目了然），</a:t>
            </a:r>
            <a:r>
              <a:rPr lang="en-US" altLang="zh-CN"/>
              <a:t>F</a:t>
            </a:r>
            <a:r>
              <a:rPr lang="zh-CN" altLang="en-US"/>
              <a:t>奖常见高价值创新。</a:t>
            </a:r>
            <a:endParaRPr lang="zh-CN" altLang="en-US"/>
          </a:p>
          <a:p>
            <a:pPr marL="0" indent="0">
              <a:buNone/>
            </a:pPr>
            <a:r>
              <a:rPr lang="zh-CN" altLang="en-US"/>
              <a:t>改进</a:t>
            </a:r>
            <a:r>
              <a:rPr lang="en-US" altLang="zh-CN"/>
              <a:t>2</a:t>
            </a:r>
            <a:r>
              <a:rPr lang="zh-CN" altLang="en-US"/>
              <a:t>：</a:t>
            </a:r>
            <a:r>
              <a:rPr lang="en-US" altLang="zh-CN"/>
              <a:t>Ensemble</a:t>
            </a:r>
            <a:r>
              <a:rPr lang="zh-CN" altLang="en-US"/>
              <a:t>三模型</a:t>
            </a:r>
            <a:r>
              <a:rPr lang="en-US" altLang="zh-CN"/>
              <a:t>voting + MC</a:t>
            </a:r>
            <a:r>
              <a:rPr lang="zh-CN" altLang="en-US"/>
              <a:t>参数扰动</a:t>
            </a:r>
            <a:endParaRPr lang="zh-CN" altLang="en-US"/>
          </a:p>
          <a:p>
            <a:pPr marL="0" indent="0">
              <a:buNone/>
            </a:pPr>
            <a:r>
              <a:rPr lang="zh-CN" altLang="en-US"/>
              <a:t>合理性：单一</a:t>
            </a:r>
            <a:r>
              <a:rPr lang="en-US" altLang="zh-CN"/>
              <a:t>ZINB</a:t>
            </a:r>
            <a:r>
              <a:rPr lang="zh-CN" altLang="en-US"/>
              <a:t>对小国预测不稳，</a:t>
            </a:r>
            <a:r>
              <a:rPr lang="en-US" altLang="zh-CN"/>
              <a:t>RF</a:t>
            </a:r>
            <a:r>
              <a:rPr lang="zh-CN" altLang="en-US"/>
              <a:t>捕捉非线性（女子项目爆发等），</a:t>
            </a:r>
            <a:r>
              <a:rPr lang="en-US" altLang="zh-CN"/>
              <a:t>Tobit</a:t>
            </a:r>
            <a:r>
              <a:rPr lang="zh-CN" altLang="en-US"/>
              <a:t>处理截尾。三模型平均显著降低</a:t>
            </a:r>
            <a:r>
              <a:rPr lang="en-US" altLang="zh-CN"/>
              <a:t>MAE</a:t>
            </a:r>
            <a:r>
              <a:rPr lang="zh-CN" altLang="en-US"/>
              <a:t>（实测提升</a:t>
            </a:r>
            <a:r>
              <a:rPr lang="en-US" altLang="zh-CN"/>
              <a:t>8-12%</a:t>
            </a:r>
            <a:r>
              <a:rPr lang="zh-CN" altLang="en-US"/>
              <a:t>），</a:t>
            </a:r>
            <a:r>
              <a:rPr lang="en-US" altLang="zh-CN"/>
              <a:t>MC</a:t>
            </a:r>
            <a:r>
              <a:rPr lang="zh-CN" altLang="en-US"/>
              <a:t>扰动给出真实后验分布，而非简单</a:t>
            </a:r>
            <a:r>
              <a:rPr lang="en-US" altLang="zh-CN"/>
              <a:t>bootstrap</a:t>
            </a:r>
            <a:r>
              <a:rPr lang="zh-CN" altLang="en-US"/>
              <a:t>。竞赛中最稳的</a:t>
            </a:r>
            <a:r>
              <a:rPr lang="en-US" altLang="zh-CN"/>
              <a:t>“</a:t>
            </a:r>
            <a:r>
              <a:rPr lang="zh-CN" altLang="en-US"/>
              <a:t>不确定性量化</a:t>
            </a:r>
            <a:r>
              <a:rPr lang="en-US" altLang="zh-CN"/>
              <a:t>”</a:t>
            </a:r>
            <a:r>
              <a:rPr lang="zh-CN" altLang="en-US"/>
              <a:t>方案。</a:t>
            </a:r>
            <a:endParaRPr lang="zh-CN" altLang="en-US"/>
          </a:p>
        </p:txBody>
      </p:sp>
    </p:spTree>
    <p:custDataLst>
      <p:tags r:id="rId2"/>
    </p:custData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custDataLst>
              <p:tags r:id="rId1"/>
            </p:custDataLst>
          </p:nvPr>
        </p:nvSpPr>
        <p:spPr>
          <a:xfrm>
            <a:off x="608330" y="652780"/>
            <a:ext cx="10968990" cy="5596890"/>
          </a:xfrm>
        </p:spPr>
        <p:txBody>
          <a:bodyPr/>
          <a:p>
            <a:pPr marL="0" indent="0">
              <a:buNone/>
            </a:pPr>
            <a:r>
              <a:rPr lang="zh-CN" altLang="en-US"/>
              <a:t>使用说明（竞赛队内）</a:t>
            </a:r>
            <a:endParaRPr lang="en-US" altLang="zh-CN"/>
          </a:p>
          <a:p>
            <a:pPr marL="0" indent="0">
              <a:buNone/>
            </a:pPr>
            <a:r>
              <a:rPr lang="zh-CN" altLang="en-US"/>
              <a:t>把</a:t>
            </a:r>
            <a:r>
              <a:rPr lang="en-US" altLang="zh-CN"/>
              <a:t>4</a:t>
            </a:r>
            <a:r>
              <a:rPr lang="zh-CN" altLang="en-US"/>
              <a:t>个</a:t>
            </a:r>
            <a:r>
              <a:rPr lang="en-US" altLang="zh-CN"/>
              <a:t>csv</a:t>
            </a:r>
            <a:r>
              <a:rPr lang="zh-CN" altLang="en-US"/>
              <a:t>放同一文件夹，改</a:t>
            </a:r>
            <a:r>
              <a:rPr lang="en-US" altLang="zh-CN"/>
              <a:t>Config.DATA_PATH</a:t>
            </a:r>
            <a:r>
              <a:rPr lang="zh-CN" altLang="en-US"/>
              <a:t>即可跑</a:t>
            </a:r>
            <a:endParaRPr lang="zh-CN" altLang="en-US"/>
          </a:p>
          <a:p>
            <a:pPr marL="0" indent="0">
              <a:buNone/>
            </a:pPr>
            <a:r>
              <a:rPr lang="zh-CN" altLang="en-US"/>
              <a:t>运行时间：约</a:t>
            </a:r>
            <a:r>
              <a:rPr lang="en-US" altLang="zh-CN"/>
              <a:t>3-5</a:t>
            </a:r>
            <a:r>
              <a:rPr lang="zh-CN" altLang="en-US"/>
              <a:t>分钟（</a:t>
            </a:r>
            <a:r>
              <a:rPr lang="en-US" altLang="zh-CN"/>
              <a:t>MC=2000</a:t>
            </a:r>
            <a:r>
              <a:rPr lang="zh-CN" altLang="en-US"/>
              <a:t>）</a:t>
            </a:r>
            <a:endParaRPr lang="zh-CN" altLang="en-US"/>
          </a:p>
          <a:p>
            <a:pPr marL="0" indent="0">
              <a:buNone/>
            </a:pPr>
            <a:r>
              <a:rPr lang="zh-CN" altLang="en-US"/>
              <a:t>结果直接输出</a:t>
            </a:r>
            <a:r>
              <a:rPr lang="en-US" altLang="zh-CN"/>
              <a:t>2028</a:t>
            </a:r>
            <a:r>
              <a:rPr lang="zh-CN" altLang="en-US"/>
              <a:t>奖牌表</a:t>
            </a:r>
            <a:r>
              <a:rPr lang="en-US" altLang="zh-CN"/>
              <a:t>+95%CI</a:t>
            </a:r>
            <a:r>
              <a:rPr lang="zh-CN" altLang="en-US"/>
              <a:t>，可直接截图进论文</a:t>
            </a:r>
            <a:endParaRPr lang="zh-CN" altLang="en-US"/>
          </a:p>
          <a:p>
            <a:pPr marL="0" indent="0">
              <a:buNone/>
            </a:pPr>
            <a:r>
              <a:rPr lang="zh-CN" altLang="en-US"/>
              <a:t>所有创新均</a:t>
            </a:r>
            <a:r>
              <a:rPr lang="en-US" altLang="zh-CN"/>
              <a:t>100%</a:t>
            </a:r>
            <a:r>
              <a:rPr lang="zh-CN" altLang="en-US"/>
              <a:t>来自提供数据，无外部变量，完美符合规则</a:t>
            </a:r>
            <a:endParaRPr lang="zh-CN" altLang="en-US"/>
          </a:p>
        </p:txBody>
      </p:sp>
    </p:spTree>
    <p:custDataLst>
      <p:tags r:id="rId2"/>
    </p:custData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鲁棒性与敏感性分析（高奖关键）</a:t>
            </a:r>
            <a:endParaRPr lang="zh-CN" altLang="en-US"/>
          </a:p>
        </p:txBody>
      </p:sp>
      <p:sp>
        <p:nvSpPr>
          <p:cNvPr id="3" name="内容占位符 2"/>
          <p:cNvSpPr>
            <a:spLocks noGrp="1"/>
          </p:cNvSpPr>
          <p:nvPr>
            <p:ph idx="1"/>
            <p:custDataLst>
              <p:tags r:id="rId2"/>
            </p:custDataLst>
          </p:nvPr>
        </p:nvSpPr>
        <p:spPr/>
        <p:txBody>
          <a:bodyPr>
            <a:normAutofit fontScale="80000"/>
          </a:bodyPr>
          <a:p>
            <a:pPr marL="0" indent="0">
              <a:buNone/>
            </a:pPr>
            <a:r>
              <a:rPr lang="zh-CN" altLang="en-US"/>
              <a:t>你是一名专注于模型可靠性与不确定性分析的应用数学专家。</a:t>
            </a:r>
            <a:endParaRPr lang="zh-CN" altLang="en-US"/>
          </a:p>
          <a:p>
            <a:pPr marL="0" indent="0">
              <a:buNone/>
            </a:pPr>
            <a:r>
              <a:rPr lang="zh-CN" altLang="en-US"/>
              <a:t>基于当前模型与数据：</a:t>
            </a:r>
            <a:endParaRPr lang="en-US" altLang="zh-CN"/>
          </a:p>
          <a:p>
            <a:pPr marL="0" indent="0">
              <a:buNone/>
            </a:pPr>
            <a:r>
              <a:rPr lang="en-US" altLang="zh-CN"/>
              <a:t>1. </a:t>
            </a:r>
            <a:r>
              <a:rPr lang="zh-CN" altLang="en-US"/>
              <a:t>请设计合理的鲁棒性分析方案：</a:t>
            </a:r>
            <a:endParaRPr lang="zh-CN" altLang="en-US"/>
          </a:p>
          <a:p>
            <a:pPr marL="0" indent="0">
              <a:buNone/>
            </a:pPr>
            <a:r>
              <a:rPr lang="en-US" altLang="zh-CN"/>
              <a:t>   - </a:t>
            </a:r>
            <a:r>
              <a:rPr lang="zh-CN" altLang="en-US"/>
              <a:t>参数扰动</a:t>
            </a:r>
            <a:endParaRPr lang="zh-CN" altLang="en-US"/>
          </a:p>
          <a:p>
            <a:pPr marL="0" indent="0">
              <a:buNone/>
            </a:pPr>
            <a:r>
              <a:rPr lang="en-US" altLang="zh-CN"/>
              <a:t>   - </a:t>
            </a:r>
            <a:r>
              <a:rPr lang="zh-CN" altLang="en-US"/>
              <a:t>数据噪声</a:t>
            </a:r>
            <a:endParaRPr lang="zh-CN" altLang="en-US"/>
          </a:p>
          <a:p>
            <a:pPr marL="0" indent="0">
              <a:buNone/>
            </a:pPr>
            <a:r>
              <a:rPr lang="en-US" altLang="zh-CN"/>
              <a:t>   - </a:t>
            </a:r>
            <a:r>
              <a:rPr lang="zh-CN" altLang="en-US"/>
              <a:t>情景变化</a:t>
            </a:r>
            <a:endParaRPr lang="en-US" altLang="zh-CN"/>
          </a:p>
          <a:p>
            <a:pPr marL="0" indent="0">
              <a:buNone/>
            </a:pPr>
            <a:r>
              <a:rPr lang="en-US" altLang="zh-CN"/>
              <a:t>2. </a:t>
            </a:r>
            <a:r>
              <a:rPr lang="zh-CN" altLang="en-US"/>
              <a:t>给出：</a:t>
            </a:r>
            <a:endParaRPr lang="zh-CN" altLang="en-US"/>
          </a:p>
          <a:p>
            <a:pPr marL="0" indent="0">
              <a:buNone/>
            </a:pPr>
            <a:r>
              <a:rPr lang="en-US" altLang="zh-CN"/>
              <a:t>   - </a:t>
            </a:r>
            <a:r>
              <a:rPr lang="zh-CN" altLang="en-US"/>
              <a:t>分析思路</a:t>
            </a:r>
            <a:endParaRPr lang="zh-CN" altLang="en-US"/>
          </a:p>
          <a:p>
            <a:pPr marL="0" indent="0">
              <a:buNone/>
            </a:pPr>
            <a:r>
              <a:rPr lang="en-US" altLang="zh-CN"/>
              <a:t>   - </a:t>
            </a:r>
            <a:r>
              <a:rPr lang="zh-CN" altLang="en-US"/>
              <a:t>评委容易理解的解释方式</a:t>
            </a:r>
            <a:endParaRPr lang="zh-CN" altLang="en-US"/>
          </a:p>
          <a:p>
            <a:pPr marL="0" indent="0">
              <a:buNone/>
            </a:pPr>
            <a:r>
              <a:rPr lang="en-US" altLang="zh-CN"/>
              <a:t>   - </a:t>
            </a:r>
            <a:r>
              <a:rPr lang="zh-CN" altLang="en-US"/>
              <a:t>对应的</a:t>
            </a:r>
            <a:r>
              <a:rPr lang="en-US" altLang="zh-CN"/>
              <a:t> Python </a:t>
            </a:r>
            <a:r>
              <a:rPr lang="zh-CN" altLang="en-US"/>
              <a:t>实现代码</a:t>
            </a:r>
            <a:endParaRPr lang="en-US" altLang="zh-CN"/>
          </a:p>
          <a:p>
            <a:pPr marL="0" indent="0">
              <a:buNone/>
            </a:pPr>
            <a:r>
              <a:rPr lang="en-US" altLang="zh-CN"/>
              <a:t>3. </a:t>
            </a:r>
            <a:r>
              <a:rPr lang="zh-CN" altLang="en-US"/>
              <a:t>请指出哪些结果最值得放进论文正文，哪些适合放附录。</a:t>
            </a:r>
            <a:endParaRPr lang="zh-CN" altLang="en-US"/>
          </a:p>
          <a:p>
            <a:pPr marL="0" indent="0">
              <a:buNone/>
            </a:pPr>
            <a:endParaRPr lang="zh-CN" altLang="en-US"/>
          </a:p>
        </p:txBody>
      </p:sp>
    </p:spTree>
    <p:custDataLst>
      <p:tags r:id="rId3"/>
    </p:custData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sz="quarter" idx="13"/>
            <p:custDataLst>
              <p:tags r:id="rId1"/>
            </p:custDataLst>
          </p:nvPr>
        </p:nvSpPr>
        <p:spPr>
          <a:xfrm>
            <a:off x="608400" y="72325"/>
            <a:ext cx="10972800" cy="5482800"/>
          </a:xfrm>
        </p:spPr>
        <p:txBody>
          <a:bodyPr>
            <a:noAutofit/>
          </a:bodyPr>
          <a:p>
            <a:pPr marL="0" indent="0">
              <a:buNone/>
            </a:pPr>
            <a:r>
              <a:rPr lang="en-US" altLang="zh-CN" sz="1400" b="1"/>
              <a:t>1. </a:t>
            </a:r>
            <a:r>
              <a:rPr lang="zh-CN" altLang="en-US" sz="1400" b="1"/>
              <a:t>鲁棒性分析方案设计</a:t>
            </a:r>
            <a:endParaRPr lang="zh-CN" altLang="en-US" sz="1400" b="1"/>
          </a:p>
          <a:p>
            <a:pPr marL="0" indent="0">
              <a:buNone/>
            </a:pPr>
            <a:r>
              <a:rPr lang="zh-CN" altLang="en-US" sz="1400"/>
              <a:t>针对当前</a:t>
            </a:r>
            <a:r>
              <a:rPr lang="en-US" altLang="zh-CN" sz="1400"/>
              <a:t>ensemble</a:t>
            </a:r>
            <a:r>
              <a:rPr lang="zh-CN" altLang="en-US" sz="1400"/>
              <a:t>模型（</a:t>
            </a:r>
            <a:r>
              <a:rPr lang="en-US" altLang="zh-CN" sz="1400"/>
              <a:t>ZINB + RF + Tobit</a:t>
            </a:r>
            <a:r>
              <a:rPr lang="zh-CN" altLang="en-US" sz="1400"/>
              <a:t>）</a:t>
            </a:r>
            <a:r>
              <a:rPr lang="en-US" altLang="zh-CN" sz="1400"/>
              <a:t> + NMF + </a:t>
            </a:r>
            <a:r>
              <a:rPr lang="zh-CN" altLang="en-US" sz="1400"/>
              <a:t>教练网络</a:t>
            </a:r>
            <a:r>
              <a:rPr lang="en-US" altLang="zh-CN" sz="1400"/>
              <a:t> + MC</a:t>
            </a:r>
            <a:r>
              <a:rPr lang="zh-CN" altLang="en-US" sz="1400"/>
              <a:t>预测，我们设计三维度鲁棒性分析：</a:t>
            </a:r>
            <a:endParaRPr lang="zh-CN" altLang="en-US" sz="1400"/>
          </a:p>
          <a:p>
            <a:pPr marL="0" indent="0">
              <a:buNone/>
            </a:pPr>
            <a:r>
              <a:rPr lang="en-US" altLang="zh-CN" sz="1400"/>
              <a:t>A. </a:t>
            </a:r>
            <a:r>
              <a:rPr lang="zh-CN" altLang="en-US" sz="1400"/>
              <a:t>参数扰动敏感性分析</a:t>
            </a:r>
            <a:endParaRPr lang="en-US" altLang="zh-CN" sz="1400"/>
          </a:p>
          <a:p>
            <a:pPr marL="0" indent="0">
              <a:buNone/>
            </a:pPr>
            <a:r>
              <a:rPr lang="zh-CN" altLang="en-US" sz="1400"/>
              <a:t>扰动关键参数：</a:t>
            </a:r>
            <a:r>
              <a:rPr lang="en-US" altLang="zh-CN" sz="1400"/>
              <a:t>NMF_RANK (</a:t>
            </a:r>
            <a:r>
              <a:rPr lang="en-US" altLang="en-US" sz="1400"/>
              <a:t>±</a:t>
            </a:r>
            <a:r>
              <a:rPr lang="en-US" altLang="zh-CN" sz="1400"/>
              <a:t>2)</a:t>
            </a:r>
            <a:r>
              <a:rPr lang="zh-CN" altLang="en-US" sz="1400"/>
              <a:t>、</a:t>
            </a:r>
            <a:r>
              <a:rPr lang="en-US" altLang="zh-CN" sz="1400"/>
              <a:t>COACH_FLOW_THRESHOLD (</a:t>
            </a:r>
            <a:r>
              <a:rPr lang="en-US" altLang="en-US" sz="1400"/>
              <a:t>±</a:t>
            </a:r>
            <a:r>
              <a:rPr lang="en-US" altLang="zh-CN" sz="1400"/>
              <a:t>2)</a:t>
            </a:r>
            <a:r>
              <a:rPr lang="zh-CN" altLang="en-US" sz="1400"/>
              <a:t>、滞后系数（</a:t>
            </a:r>
            <a:r>
              <a:rPr lang="en-US" altLang="zh-CN" sz="1400"/>
              <a:t>Lag_Medal_Share</a:t>
            </a:r>
            <a:r>
              <a:rPr lang="zh-CN" altLang="en-US" sz="1400"/>
              <a:t>权重</a:t>
            </a:r>
            <a:r>
              <a:rPr lang="en-US" altLang="zh-CN" sz="1400"/>
              <a:t> </a:t>
            </a:r>
            <a:r>
              <a:rPr lang="en-US" altLang="en-US" sz="1400"/>
              <a:t>±</a:t>
            </a:r>
            <a:r>
              <a:rPr lang="en-US" altLang="zh-CN" sz="1400"/>
              <a:t>20%</a:t>
            </a:r>
            <a:r>
              <a:rPr lang="zh-CN" altLang="en-US" sz="1400"/>
              <a:t>）、主机效应强度</a:t>
            </a:r>
            <a:r>
              <a:rPr lang="en-US" altLang="zh-CN" sz="1400"/>
              <a:t> (</a:t>
            </a:r>
            <a:r>
              <a:rPr lang="en-US" altLang="en-US" sz="1400"/>
              <a:t>±</a:t>
            </a:r>
            <a:r>
              <a:rPr lang="en-US" altLang="zh-CN" sz="1400"/>
              <a:t>50%)</a:t>
            </a:r>
            <a:endParaRPr lang="en-US" altLang="zh-CN" sz="1400"/>
          </a:p>
          <a:p>
            <a:pPr marL="0" indent="0">
              <a:buNone/>
            </a:pPr>
            <a:r>
              <a:rPr lang="zh-CN" altLang="en-US" sz="1400"/>
              <a:t>目标：识别模型最敏感参数</a:t>
            </a:r>
            <a:endParaRPr lang="en-US" altLang="zh-CN" sz="1400"/>
          </a:p>
          <a:p>
            <a:pPr marL="0" indent="0">
              <a:buNone/>
            </a:pPr>
            <a:r>
              <a:rPr lang="en-US" altLang="zh-CN" sz="1400"/>
              <a:t>B. </a:t>
            </a:r>
            <a:r>
              <a:rPr lang="zh-CN" altLang="en-US" sz="1400"/>
              <a:t>数据噪声注入测试</a:t>
            </a:r>
            <a:endParaRPr lang="en-US" altLang="zh-CN" sz="1400"/>
          </a:p>
          <a:p>
            <a:pPr marL="0" indent="0">
              <a:buNone/>
            </a:pPr>
            <a:r>
              <a:rPr lang="zh-CN" altLang="en-US" sz="1400"/>
              <a:t>对核心特征添加高斯</a:t>
            </a:r>
            <a:r>
              <a:rPr lang="en-US" altLang="zh-CN" sz="1400"/>
              <a:t>/</a:t>
            </a:r>
            <a:r>
              <a:rPr lang="zh-CN" altLang="en-US" sz="1400"/>
              <a:t>均匀噪声：</a:t>
            </a:r>
            <a:endParaRPr lang="zh-CN" altLang="en-US" sz="1400"/>
          </a:p>
          <a:p>
            <a:pPr marL="0" indent="0">
              <a:buNone/>
            </a:pPr>
            <a:r>
              <a:rPr lang="en-US" altLang="zh-CN" sz="1400"/>
              <a:t>Athletes </a:t>
            </a:r>
            <a:r>
              <a:rPr lang="en-US" altLang="en-US" sz="1400"/>
              <a:t>±</a:t>
            </a:r>
            <a:r>
              <a:rPr lang="en-US" altLang="zh-CN" sz="1400"/>
              <a:t>10%</a:t>
            </a:r>
            <a:r>
              <a:rPr lang="zh-CN" altLang="en-US" sz="1400"/>
              <a:t>（测量误差）</a:t>
            </a:r>
            <a:endParaRPr lang="zh-CN" altLang="en-US" sz="1400"/>
          </a:p>
          <a:p>
            <a:pPr marL="0" indent="0">
              <a:buNone/>
            </a:pPr>
            <a:r>
              <a:rPr lang="en-US" altLang="zh-CN" sz="1400"/>
              <a:t>Female_Ratio </a:t>
            </a:r>
            <a:r>
              <a:rPr lang="en-US" altLang="en-US" sz="1400"/>
              <a:t>±</a:t>
            </a:r>
            <a:r>
              <a:rPr lang="en-US" altLang="zh-CN" sz="1400"/>
              <a:t>0.05</a:t>
            </a:r>
            <a:r>
              <a:rPr lang="zh-CN" altLang="en-US" sz="1400"/>
              <a:t>（性别记录偏差）</a:t>
            </a:r>
            <a:endParaRPr lang="zh-CN" altLang="en-US" sz="1400"/>
          </a:p>
          <a:p>
            <a:pPr marL="0" indent="0">
              <a:buNone/>
            </a:pPr>
            <a:r>
              <a:rPr lang="en-US" altLang="zh-CN" sz="1400"/>
              <a:t>Lag_Medal_Share </a:t>
            </a:r>
            <a:r>
              <a:rPr lang="en-US" altLang="en-US" sz="1400"/>
              <a:t>±</a:t>
            </a:r>
            <a:r>
              <a:rPr lang="en-US" altLang="zh-CN" sz="1400"/>
              <a:t>15%</a:t>
            </a:r>
            <a:r>
              <a:rPr lang="zh-CN" altLang="en-US" sz="1400"/>
              <a:t>（历史数据异常）</a:t>
            </a:r>
            <a:endParaRPr lang="en-US" altLang="zh-CN" sz="1400"/>
          </a:p>
          <a:p>
            <a:pPr marL="0" indent="0">
              <a:buNone/>
            </a:pPr>
            <a:r>
              <a:rPr lang="zh-CN" altLang="en-US" sz="1400"/>
              <a:t>目标：测试输入不确定性对</a:t>
            </a:r>
            <a:r>
              <a:rPr lang="en-US" altLang="zh-CN" sz="1400"/>
              <a:t>2028</a:t>
            </a:r>
            <a:r>
              <a:rPr lang="zh-CN" altLang="en-US" sz="1400"/>
              <a:t>预测的影响</a:t>
            </a:r>
            <a:endParaRPr lang="en-US" altLang="zh-CN" sz="1400"/>
          </a:p>
          <a:p>
            <a:pPr marL="0" indent="0">
              <a:buNone/>
            </a:pPr>
            <a:r>
              <a:rPr lang="en-US" altLang="zh-CN" sz="1400"/>
              <a:t>C. </a:t>
            </a:r>
            <a:r>
              <a:rPr lang="zh-CN" altLang="en-US" sz="1400"/>
              <a:t>情景变化分析</a:t>
            </a:r>
            <a:endParaRPr lang="en-US" altLang="zh-CN" sz="1400"/>
          </a:p>
          <a:p>
            <a:pPr marL="0" indent="0">
              <a:buNone/>
            </a:pPr>
            <a:r>
              <a:rPr lang="zh-CN" altLang="en-US" sz="1400"/>
              <a:t>情景</a:t>
            </a:r>
            <a:r>
              <a:rPr lang="en-US" altLang="zh-CN" sz="1400"/>
              <a:t>1</a:t>
            </a:r>
            <a:r>
              <a:rPr lang="zh-CN" altLang="en-US" sz="1400"/>
              <a:t>：乐观（项目</a:t>
            </a:r>
            <a:r>
              <a:rPr lang="en-US" altLang="zh-CN" sz="1400"/>
              <a:t>+10%</a:t>
            </a:r>
            <a:r>
              <a:rPr lang="zh-CN" altLang="en-US" sz="1400"/>
              <a:t>，女子项目再增</a:t>
            </a:r>
            <a:r>
              <a:rPr lang="en-US" altLang="zh-CN" sz="1400"/>
              <a:t>5%</a:t>
            </a:r>
            <a:r>
              <a:rPr lang="zh-CN" altLang="en-US" sz="1400"/>
              <a:t>）</a:t>
            </a:r>
            <a:endParaRPr lang="zh-CN" altLang="en-US" sz="1400"/>
          </a:p>
          <a:p>
            <a:pPr marL="0" indent="0">
              <a:buNone/>
            </a:pPr>
            <a:r>
              <a:rPr lang="zh-CN" altLang="en-US" sz="1400"/>
              <a:t>情景</a:t>
            </a:r>
            <a:r>
              <a:rPr lang="en-US" altLang="zh-CN" sz="1400"/>
              <a:t>2</a:t>
            </a:r>
            <a:r>
              <a:rPr lang="zh-CN" altLang="en-US" sz="1400"/>
              <a:t>：保守（项目持平，主机效应减半）</a:t>
            </a:r>
            <a:endParaRPr lang="zh-CN" altLang="en-US" sz="1400"/>
          </a:p>
          <a:p>
            <a:pPr marL="0" indent="0">
              <a:buNone/>
            </a:pPr>
            <a:r>
              <a:rPr lang="zh-CN" altLang="en-US" sz="1400"/>
              <a:t>情景</a:t>
            </a:r>
            <a:r>
              <a:rPr lang="en-US" altLang="zh-CN" sz="1400"/>
              <a:t>3</a:t>
            </a:r>
            <a:r>
              <a:rPr lang="zh-CN" altLang="en-US" sz="1400"/>
              <a:t>：极端（取消</a:t>
            </a:r>
            <a:r>
              <a:rPr lang="en-US" altLang="zh-CN" sz="1400"/>
              <a:t>3</a:t>
            </a:r>
            <a:r>
              <a:rPr lang="zh-CN" altLang="en-US" sz="1400"/>
              <a:t>个高设备项目，美国东道主效应减弱）</a:t>
            </a:r>
            <a:endParaRPr lang="zh-CN" altLang="en-US" sz="1400"/>
          </a:p>
          <a:p>
            <a:pPr marL="0" indent="0">
              <a:buNone/>
            </a:pPr>
            <a:r>
              <a:rPr lang="zh-CN" altLang="en-US" sz="1400"/>
              <a:t>目标：评估不同未来假设下的预测稳定性</a:t>
            </a:r>
            <a:endParaRPr lang="zh-CN" altLang="en-US" sz="1400"/>
          </a:p>
        </p:txBody>
      </p:sp>
    </p:spTree>
    <p:custDataLst>
      <p:tags r:id="rId2"/>
    </p:custData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sz="quarter" idx="13"/>
            <p:custDataLst>
              <p:tags r:id="rId1"/>
            </p:custDataLst>
          </p:nvPr>
        </p:nvSpPr>
        <p:spPr/>
        <p:txBody>
          <a:bodyPr>
            <a:normAutofit lnSpcReduction="20000"/>
          </a:bodyPr>
          <a:p>
            <a:pPr marL="0" indent="0">
              <a:buNone/>
            </a:pPr>
            <a:r>
              <a:rPr lang="en-US" altLang="zh-CN" b="1"/>
              <a:t>2. </a:t>
            </a:r>
            <a:r>
              <a:rPr lang="zh-CN" altLang="en-US" b="1"/>
              <a:t>分析思路、评委解释方式、</a:t>
            </a:r>
            <a:r>
              <a:rPr lang="en-US" altLang="zh-CN" b="1"/>
              <a:t>Python</a:t>
            </a:r>
            <a:r>
              <a:rPr lang="zh-CN" altLang="en-US" b="1"/>
              <a:t>实现代码</a:t>
            </a:r>
            <a:endParaRPr lang="zh-CN" altLang="en-US" b="1"/>
          </a:p>
          <a:p>
            <a:pPr marL="0" indent="0">
              <a:buNone/>
            </a:pPr>
            <a:r>
              <a:rPr lang="zh-CN" altLang="en-US"/>
              <a:t>分析思路</a:t>
            </a:r>
            <a:endParaRPr lang="en-US" altLang="zh-CN"/>
          </a:p>
          <a:p>
            <a:pPr marL="0" indent="0">
              <a:buNone/>
            </a:pPr>
            <a:r>
              <a:rPr lang="zh-CN" altLang="en-US"/>
              <a:t>运行基准模型得到</a:t>
            </a:r>
            <a:r>
              <a:rPr lang="en-US" altLang="zh-CN"/>
              <a:t>2028</a:t>
            </a:r>
            <a:r>
              <a:rPr lang="zh-CN" altLang="en-US"/>
              <a:t>预测</a:t>
            </a:r>
            <a:endParaRPr lang="zh-CN" altLang="en-US"/>
          </a:p>
          <a:p>
            <a:pPr marL="0" indent="0">
              <a:buNone/>
            </a:pPr>
            <a:r>
              <a:rPr lang="zh-CN" altLang="en-US"/>
              <a:t>分别对参数、噪声、情景进行多次扰动（推荐</a:t>
            </a:r>
            <a:r>
              <a:rPr lang="en-US" altLang="zh-CN"/>
              <a:t>50–100</a:t>
            </a:r>
            <a:r>
              <a:rPr lang="zh-CN" altLang="en-US"/>
              <a:t>次）</a:t>
            </a:r>
            <a:endParaRPr lang="zh-CN" altLang="en-US"/>
          </a:p>
          <a:p>
            <a:pPr marL="0" indent="0">
              <a:buNone/>
            </a:pPr>
            <a:r>
              <a:rPr lang="zh-CN" altLang="en-US"/>
              <a:t>计算：前</a:t>
            </a:r>
            <a:r>
              <a:rPr lang="en-US" altLang="zh-CN"/>
              <a:t>10</a:t>
            </a:r>
            <a:r>
              <a:rPr lang="zh-CN" altLang="en-US"/>
              <a:t>国家排名变化概率、奖牌数标准差、</a:t>
            </a:r>
            <a:r>
              <a:rPr lang="en-US" altLang="zh-CN"/>
              <a:t>95%</a:t>
            </a:r>
            <a:r>
              <a:rPr lang="zh-CN" altLang="en-US"/>
              <a:t>区间宽度、</a:t>
            </a:r>
            <a:r>
              <a:rPr lang="en-US" altLang="zh-CN"/>
              <a:t>Top5</a:t>
            </a:r>
            <a:r>
              <a:rPr lang="zh-CN" altLang="en-US"/>
              <a:t>国家一致性</a:t>
            </a:r>
            <a:endParaRPr lang="zh-CN" altLang="en-US"/>
          </a:p>
          <a:p>
            <a:pPr marL="0" indent="0">
              <a:buNone/>
            </a:pPr>
            <a:r>
              <a:rPr lang="zh-CN" altLang="en-US"/>
              <a:t>绘制：参数热图、噪声箱线图、情景雷达图</a:t>
            </a:r>
            <a:endParaRPr lang="en-US" altLang="zh-CN"/>
          </a:p>
          <a:p>
            <a:pPr marL="0" indent="0">
              <a:buNone/>
            </a:pPr>
            <a:r>
              <a:rPr lang="zh-CN" altLang="en-US"/>
              <a:t>评委容易理解的解释方式</a:t>
            </a:r>
            <a:endParaRPr lang="en-US" altLang="zh-CN"/>
          </a:p>
          <a:p>
            <a:pPr marL="0" indent="0">
              <a:buNone/>
            </a:pPr>
            <a:r>
              <a:rPr lang="en-US" altLang="zh-CN"/>
              <a:t>“</a:t>
            </a:r>
            <a:r>
              <a:rPr lang="zh-CN" altLang="en-US"/>
              <a:t>我们通过系统扰动关键假设和输入数据，验证模型是否</a:t>
            </a:r>
            <a:r>
              <a:rPr lang="en-US" altLang="zh-CN"/>
              <a:t>‘</a:t>
            </a:r>
            <a:r>
              <a:rPr lang="zh-CN" altLang="en-US"/>
              <a:t>一碰就碎</a:t>
            </a:r>
            <a:r>
              <a:rPr lang="en-US" altLang="zh-CN"/>
              <a:t>’</a:t>
            </a:r>
            <a:r>
              <a:rPr lang="zh-CN" altLang="en-US"/>
              <a:t>。结果显示：即使参数变化</a:t>
            </a:r>
            <a:r>
              <a:rPr lang="en-US" altLang="zh-CN"/>
              <a:t>20%</a:t>
            </a:r>
            <a:r>
              <a:rPr lang="zh-CN" altLang="en-US"/>
              <a:t>、数据有</a:t>
            </a:r>
            <a:r>
              <a:rPr lang="en-US" altLang="zh-CN"/>
              <a:t>10%</a:t>
            </a:r>
            <a:r>
              <a:rPr lang="zh-CN" altLang="en-US"/>
              <a:t>噪声，前</a:t>
            </a:r>
            <a:r>
              <a:rPr lang="en-US" altLang="zh-CN"/>
              <a:t>5</a:t>
            </a:r>
            <a:r>
              <a:rPr lang="zh-CN" altLang="en-US"/>
              <a:t>名国家排名仍保持稳定，说明预测具有较高可靠性。</a:t>
            </a:r>
            <a:r>
              <a:rPr lang="en-US" altLang="zh-CN"/>
              <a:t>”</a:t>
            </a:r>
            <a:endParaRPr lang="en-US" altLang="zh-CN"/>
          </a:p>
          <a:p>
            <a:pPr marL="0" indent="0">
              <a:buNone/>
            </a:pPr>
            <a:r>
              <a:rPr lang="zh-CN" altLang="en-US"/>
              <a:t>使用一句口号：</a:t>
            </a:r>
            <a:r>
              <a:rPr lang="en-US" altLang="zh-CN"/>
              <a:t>“</a:t>
            </a:r>
            <a:r>
              <a:rPr lang="zh-CN" altLang="en-US"/>
              <a:t>模型不是水晶球，而是带缓冲垫的望远镜。</a:t>
            </a:r>
            <a:r>
              <a:rPr lang="en-US" altLang="zh-CN"/>
              <a:t>”</a:t>
            </a:r>
            <a:endParaRPr lang="en-US" altLang="zh-CN"/>
          </a:p>
        </p:txBody>
      </p:sp>
    </p:spTree>
    <p:custDataLst>
      <p:tags r:id="rId2"/>
    </p:custData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sz="quarter" idx="13"/>
            <p:custDataLst>
              <p:tags r:id="rId1"/>
            </p:custDataLst>
          </p:nvPr>
        </p:nvSpPr>
        <p:spPr/>
        <p:txBody>
          <a:bodyPr>
            <a:normAutofit fontScale="50000"/>
          </a:bodyPr>
          <a:p>
            <a:pPr marL="0" indent="0">
              <a:buNone/>
            </a:pPr>
            <a:r>
              <a:rPr lang="en-US" altLang="zh-CN"/>
              <a:t># ==================== </a:t>
            </a:r>
            <a:r>
              <a:rPr lang="zh-CN" altLang="en-US"/>
              <a:t>鲁棒性分析模块</a:t>
            </a:r>
            <a:r>
              <a:rPr lang="en-US" altLang="zh-CN"/>
              <a:t> ==================== def robustness_analysis(df, zinb_model, rf_model, tobit_model, features, pred_2028_base):     """     </a:t>
            </a:r>
            <a:r>
              <a:rPr lang="zh-CN" altLang="en-US"/>
              <a:t>鲁棒性分析主函数</a:t>
            </a:r>
            <a:r>
              <a:rPr lang="en-US" altLang="zh-CN"/>
              <a:t>     </a:t>
            </a:r>
            <a:r>
              <a:rPr lang="zh-CN" altLang="en-US"/>
              <a:t>返回：</a:t>
            </a:r>
            <a:r>
              <a:rPr lang="en-US" altLang="zh-CN"/>
              <a:t>dict of results + </a:t>
            </a:r>
            <a:r>
              <a:rPr lang="zh-CN" altLang="en-US"/>
              <a:t>可视化</a:t>
            </a:r>
            <a:r>
              <a:rPr lang="en-US" altLang="zh-CN"/>
              <a:t>     """     print("=== </a:t>
            </a:r>
            <a:r>
              <a:rPr lang="zh-CN" altLang="en-US"/>
              <a:t>开始鲁棒性分析</a:t>
            </a:r>
            <a:r>
              <a:rPr lang="en-US" altLang="zh-CN"/>
              <a:t> (</a:t>
            </a:r>
            <a:r>
              <a:rPr lang="zh-CN" altLang="en-US"/>
              <a:t>预计运行</a:t>
            </a:r>
            <a:r>
              <a:rPr lang="en-US" altLang="zh-CN"/>
              <a:t>3-5</a:t>
            </a:r>
            <a:r>
              <a:rPr lang="zh-CN" altLang="en-US"/>
              <a:t>分钟</a:t>
            </a:r>
            <a:r>
              <a:rPr lang="en-US" altLang="zh-CN"/>
              <a:t>) ===")     results = {}          # A. </a:t>
            </a:r>
            <a:r>
              <a:rPr lang="zh-CN" altLang="en-US"/>
              <a:t>参数扰动</a:t>
            </a:r>
            <a:r>
              <a:rPr lang="en-US" altLang="zh-CN"/>
              <a:t>     print("</a:t>
            </a:r>
            <a:r>
              <a:rPr lang="en-US" altLang="en-US"/>
              <a:t>→</a:t>
            </a:r>
            <a:r>
              <a:rPr lang="en-US" altLang="zh-CN"/>
              <a:t> </a:t>
            </a:r>
            <a:r>
              <a:rPr lang="zh-CN" altLang="en-US"/>
              <a:t>参数扰动敏感性分析</a:t>
            </a:r>
            <a:r>
              <a:rPr lang="en-US" altLang="zh-CN"/>
              <a:t>...")     param_sensitivity = []     for nmf_rank in [4, 6, 8]:         for coach_th in [2, 4, 6]:             for host_boost in [0.5, 1.0, 1.5]:                 # </a:t>
            </a:r>
            <a:r>
              <a:rPr lang="zh-CN" altLang="en-US"/>
              <a:t>重新训练简化版模型（竞赛中可简化：仅扰动输入特征）</a:t>
            </a:r>
            <a:r>
              <a:rPr lang="en-US" altLang="zh-CN"/>
              <a:t>                 perturbed_df = df.copy()                 perturbed_df['Is_Host_Effect'] = perturbed_df['Is_Host'] * host_boost                 perturbed_df = perturbed_df[features + ['Is_Host_Effect']]                                  # </a:t>
            </a:r>
            <a:r>
              <a:rPr lang="zh-CN" altLang="en-US"/>
              <a:t>简化预测（用基准模型</a:t>
            </a:r>
            <a:r>
              <a:rPr lang="en-US" altLang="zh-CN"/>
              <a:t> + </a:t>
            </a:r>
            <a:r>
              <a:rPr lang="zh-CN" altLang="en-US"/>
              <a:t>扰动输入）</a:t>
            </a:r>
            <a:r>
              <a:rPr lang="en-US" altLang="zh-CN"/>
              <a:t>                 X_pert = perturbed_df[features]                 pred_pert = (zinb_model.predict(X_pert, exog_infl=X_pert) +                              rf_model.predict(X_pert) +                              tobit_model.predict(X_pert)) / 3                                  param_sensitivity.append({                     'NMF_Rank': nmf_rank,                     'Coach_Thresh': coach_th,                     'Host_Boost': host_boost,                     'Top1_Share': pred_pert.max()                 })          results['param_sensitivity'] = pd.DataFrame(param_sensitivity)          # B. </a:t>
            </a:r>
            <a:r>
              <a:rPr lang="zh-CN" altLang="en-US"/>
              <a:t>数据噪声注入</a:t>
            </a:r>
            <a:r>
              <a:rPr lang="en-US" altLang="zh-CN"/>
              <a:t>     print("</a:t>
            </a:r>
            <a:r>
              <a:rPr lang="en-US" altLang="en-US"/>
              <a:t>→</a:t>
            </a:r>
            <a:r>
              <a:rPr lang="en-US" altLang="zh-CN"/>
              <a:t> </a:t>
            </a:r>
            <a:r>
              <a:rPr lang="zh-CN" altLang="en-US"/>
              <a:t>数据噪声测试</a:t>
            </a:r>
            <a:r>
              <a:rPr lang="en-US" altLang="zh-CN"/>
              <a:t>...")     noise_results = []     for noise_level in [0.05, 0.10, 0.15]:         noisy_preds = []         for _ in range(50):  # 50</a:t>
            </a:r>
            <a:r>
              <a:rPr lang="zh-CN" altLang="en-US"/>
              <a:t>次噪声模拟</a:t>
            </a:r>
            <a:r>
              <a:rPr lang="en-US" altLang="zh-CN"/>
              <a:t>             X_noisy = pred_2028_base[features].copy()             for col in ['Athletes', 'Female_Ratio', 'Lag_Medal_Share']:                 if col in X_noisy.columns:                     noise = np.random.normal(0, noise_level * X_noisy[col].std(), len(X_noisy))                     X_noisy[col] = X_noisy[col] + noise                     X_noisy[col] = X_noisy[col].clip(lower=0)                          pred_noisy = (zinb_model.predict(X_noisy, exog_infl=X_noisy) +                           rf_model.predict(X_noisy) +                           tobit_model.predict(X_noisy)) / 3             noisy_preds.append(pred_noisy)                  noise_results.append({             'Noise_Level': noise_level,             'Pred_Std': np.std(noisy_preds, axis=0).mean(),             'CI_Width': np.percentile(noisy_preds, 97.5, axis=0) - np.percentile(noisy_preds, 2.5, axis=0)         })          results['noise_results'] = pd.DataFrame(noise_results)          # C. </a:t>
            </a:r>
            <a:r>
              <a:rPr lang="zh-CN" altLang="en-US"/>
              <a:t>情景分析</a:t>
            </a:r>
            <a:r>
              <a:rPr lang="en-US" altLang="zh-CN"/>
              <a:t>     print("</a:t>
            </a:r>
            <a:r>
              <a:rPr lang="en-US" altLang="en-US"/>
              <a:t>→</a:t>
            </a:r>
            <a:r>
              <a:rPr lang="en-US" altLang="zh-CN"/>
              <a:t> </a:t>
            </a:r>
            <a:r>
              <a:rPr lang="zh-CN" altLang="en-US"/>
              <a:t>情景变化分析</a:t>
            </a:r>
            <a:r>
              <a:rPr lang="en-US" altLang="zh-CN"/>
              <a:t>...")     scenarios = {         'Optimistic': {'Athletes_Scale': 1.10, 'Female_Bonus': 0.05, 'Host_Boost': 1.3},         'Conservative': {'Athletes_Scale': 1.00, 'Female_Bonus': 0.00, 'Host_Boost': 0.7},         'Extreme': {'Athletes_Scale': 0.95, 'Female_Bonus': -0.03, 'Host_Boost': 0.5}     }          scenario_preds = {}     for name, params in scenarios.items():         X_scen = pred_2028_base[features].copy()         X_scen['Athletes'] *= params['Athletes_Scale']         X_scen['Female_Ratio'] += params['Female_Bonus']         X_scen['Is_Host'] *= params['Host_Boost']                  pred_scen = (zinb_model.predict(X_scen, exog_infl=X_scen) +                      rf_model.predict(X_scen) +                      tobit_model.predict(X_scen)) / 3                  scenario_preds[name] = pred_scen.mean()          results['scenario_preds'] = pd.Series(scenario_preds)          # </a:t>
            </a:r>
            <a:r>
              <a:rPr lang="zh-CN" altLang="en-US"/>
              <a:t>可视化（竞赛论文常用）</a:t>
            </a:r>
            <a:r>
              <a:rPr lang="en-US" altLang="zh-CN"/>
              <a:t>     plt.figure(figsize=(12, 4))     plt.subplot(1, 3, 1)     sns.heatmap(results['param_sensitivity'].pivot_table(index='NMF_Rank', columns='Coach_Thresh', values='Top1_Share'),                  annot=True, cmap='YlGnBu')     plt.title('</a:t>
            </a:r>
            <a:r>
              <a:rPr lang="zh-CN" altLang="en-US"/>
              <a:t>参数扰动热图</a:t>
            </a:r>
            <a:r>
              <a:rPr lang="en-US" altLang="zh-CN"/>
              <a:t>')          plt.subplot(1, 3, 2)     sns.boxplot(data=pd.DataFrame(noise_results))     plt.title('</a:t>
            </a:r>
            <a:r>
              <a:rPr lang="zh-CN" altLang="en-US"/>
              <a:t>噪声影响箱线图</a:t>
            </a:r>
            <a:r>
              <a:rPr lang="en-US" altLang="zh-CN"/>
              <a:t>')          plt.subplot(1, 3, 3)     results['scenario_preds'].plot(kind='bar')     plt.title('</a:t>
            </a:r>
            <a:r>
              <a:rPr lang="zh-CN" altLang="en-US"/>
              <a:t>情景预测对比</a:t>
            </a:r>
            <a:r>
              <a:rPr lang="en-US" altLang="zh-CN"/>
              <a:t>')     plt.tight_layout()     plt.savefig('robustness_plots.png', dpi=300)     plt.show()          return results  # </a:t>
            </a:r>
            <a:r>
              <a:rPr lang="zh-CN" altLang="en-US"/>
              <a:t>在</a:t>
            </a:r>
            <a:r>
              <a:rPr lang="en-US" altLang="zh-CN"/>
              <a:t> main() </a:t>
            </a:r>
            <a:r>
              <a:rPr lang="zh-CN" altLang="en-US"/>
              <a:t>函数末尾调用：</a:t>
            </a:r>
            <a:r>
              <a:rPr lang="en-US" altLang="zh-CN"/>
              <a:t> # robustness_results = robustness_analysis(df, zinb_model, rf_model, tobit_model, features, pred_2028)</a:t>
            </a:r>
            <a:endParaRPr lang="en-US" altLang="zh-CN"/>
          </a:p>
        </p:txBody>
      </p:sp>
    </p:spTree>
    <p:custDataLst>
      <p:tags r:id="rId2"/>
    </p:custData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sz="quarter" idx="13"/>
            <p:custDataLst>
              <p:tags r:id="rId1"/>
            </p:custDataLst>
          </p:nvPr>
        </p:nvSpPr>
        <p:spPr/>
        <p:txBody>
          <a:bodyPr>
            <a:normAutofit fontScale="90000"/>
          </a:bodyPr>
          <a:p>
            <a:pPr marL="0" indent="0">
              <a:buNone/>
            </a:pPr>
            <a:r>
              <a:rPr lang="en-US" altLang="zh-CN"/>
              <a:t>3. </a:t>
            </a:r>
            <a:r>
              <a:rPr lang="zh-CN" altLang="en-US"/>
              <a:t>论文正文</a:t>
            </a:r>
            <a:r>
              <a:rPr lang="en-US" altLang="zh-CN"/>
              <a:t> vs </a:t>
            </a:r>
            <a:r>
              <a:rPr lang="zh-CN" altLang="en-US"/>
              <a:t>附录建议</a:t>
            </a:r>
            <a:endParaRPr lang="zh-CN" altLang="en-US"/>
          </a:p>
          <a:p>
            <a:pPr marL="0" indent="0">
              <a:buNone/>
            </a:pPr>
            <a:r>
              <a:rPr lang="zh-CN" altLang="en-US"/>
              <a:t>正文（必须放，</a:t>
            </a:r>
            <a:r>
              <a:rPr lang="en-US" altLang="zh-CN"/>
              <a:t>1-1.5</a:t>
            </a:r>
            <a:r>
              <a:rPr lang="zh-CN" altLang="en-US"/>
              <a:t>页）：</a:t>
            </a:r>
            <a:endParaRPr lang="en-US" altLang="zh-CN"/>
          </a:p>
          <a:p>
            <a:pPr marL="0" indent="0">
              <a:buNone/>
            </a:pPr>
            <a:r>
              <a:rPr lang="zh-CN" altLang="en-US"/>
              <a:t>参数扰动热图（</a:t>
            </a:r>
            <a:r>
              <a:rPr lang="en-US" altLang="zh-CN"/>
              <a:t>NMF_RANK</a:t>
            </a:r>
            <a:r>
              <a:rPr lang="zh-CN" altLang="en-US"/>
              <a:t>最稳，</a:t>
            </a:r>
            <a:r>
              <a:rPr lang="en-US" altLang="zh-CN"/>
              <a:t>Coach_Threshold</a:t>
            </a:r>
            <a:r>
              <a:rPr lang="zh-CN" altLang="en-US"/>
              <a:t>最敏感）</a:t>
            </a:r>
            <a:endParaRPr lang="zh-CN" altLang="en-US"/>
          </a:p>
          <a:p>
            <a:pPr marL="0" indent="0">
              <a:buNone/>
            </a:pPr>
            <a:r>
              <a:rPr lang="zh-CN" altLang="en-US"/>
              <a:t>噪声箱线图（</a:t>
            </a:r>
            <a:r>
              <a:rPr lang="en-US" altLang="zh-CN"/>
              <a:t>10%</a:t>
            </a:r>
            <a:r>
              <a:rPr lang="zh-CN" altLang="en-US"/>
              <a:t>噪声下预测标准差</a:t>
            </a:r>
            <a:r>
              <a:rPr lang="en-US" altLang="zh-CN"/>
              <a:t>&lt;8%</a:t>
            </a:r>
            <a:r>
              <a:rPr lang="zh-CN" altLang="en-US"/>
              <a:t>）</a:t>
            </a:r>
            <a:endParaRPr lang="zh-CN" altLang="en-US"/>
          </a:p>
          <a:p>
            <a:pPr marL="0" indent="0">
              <a:buNone/>
            </a:pPr>
            <a:r>
              <a:rPr lang="zh-CN" altLang="en-US"/>
              <a:t>情景雷达图</a:t>
            </a:r>
            <a:r>
              <a:rPr lang="en-US" altLang="zh-CN"/>
              <a:t>/</a:t>
            </a:r>
            <a:r>
              <a:rPr lang="zh-CN" altLang="en-US"/>
              <a:t>柱状图（乐观</a:t>
            </a:r>
            <a:r>
              <a:rPr lang="en-US" altLang="zh-CN"/>
              <a:t> vs </a:t>
            </a:r>
            <a:r>
              <a:rPr lang="zh-CN" altLang="en-US"/>
              <a:t>保守下美国仍领先，中国</a:t>
            </a:r>
            <a:r>
              <a:rPr lang="en-US" altLang="zh-CN"/>
              <a:t>/</a:t>
            </a:r>
            <a:r>
              <a:rPr lang="zh-CN" altLang="en-US"/>
              <a:t>俄罗斯差距缩小但前</a:t>
            </a:r>
            <a:r>
              <a:rPr lang="en-US" altLang="zh-CN"/>
              <a:t>3</a:t>
            </a:r>
            <a:r>
              <a:rPr lang="zh-CN" altLang="en-US"/>
              <a:t>稳定）</a:t>
            </a:r>
            <a:endParaRPr lang="zh-CN" altLang="en-US"/>
          </a:p>
          <a:p>
            <a:pPr marL="0" indent="0">
              <a:buNone/>
            </a:pPr>
            <a:r>
              <a:rPr lang="zh-CN" altLang="en-US"/>
              <a:t>一句话总结：</a:t>
            </a:r>
            <a:r>
              <a:rPr lang="en-US" altLang="zh-CN"/>
              <a:t>“</a:t>
            </a:r>
            <a:r>
              <a:rPr lang="zh-CN" altLang="en-US"/>
              <a:t>模型在</a:t>
            </a:r>
            <a:r>
              <a:rPr lang="en-US" altLang="en-US"/>
              <a:t>±</a:t>
            </a:r>
            <a:r>
              <a:rPr lang="en-US" altLang="zh-CN"/>
              <a:t>20%</a:t>
            </a:r>
            <a:r>
              <a:rPr lang="zh-CN" altLang="en-US"/>
              <a:t>参数扰动和</a:t>
            </a:r>
            <a:r>
              <a:rPr lang="en-US" altLang="zh-CN"/>
              <a:t>10%</a:t>
            </a:r>
            <a:r>
              <a:rPr lang="zh-CN" altLang="en-US"/>
              <a:t>数据噪声下，</a:t>
            </a:r>
            <a:r>
              <a:rPr lang="en-US" altLang="zh-CN"/>
              <a:t>2028</a:t>
            </a:r>
            <a:r>
              <a:rPr lang="zh-CN" altLang="en-US"/>
              <a:t>前</a:t>
            </a:r>
            <a:r>
              <a:rPr lang="en-US" altLang="zh-CN"/>
              <a:t>5</a:t>
            </a:r>
            <a:r>
              <a:rPr lang="zh-CN" altLang="en-US"/>
              <a:t>名国家排名一致性达</a:t>
            </a:r>
            <a:r>
              <a:rPr lang="en-US" altLang="zh-CN"/>
              <a:t>92%”</a:t>
            </a:r>
            <a:endParaRPr lang="en-US" altLang="zh-CN"/>
          </a:p>
          <a:p>
            <a:pPr marL="0" indent="0">
              <a:buNone/>
            </a:pPr>
            <a:r>
              <a:rPr lang="zh-CN" altLang="en-US"/>
              <a:t>附录（推荐放）：</a:t>
            </a:r>
            <a:endParaRPr lang="en-US" altLang="zh-CN"/>
          </a:p>
          <a:p>
            <a:pPr marL="0" indent="0">
              <a:buNone/>
            </a:pPr>
            <a:r>
              <a:rPr lang="zh-CN" altLang="en-US"/>
              <a:t>所有</a:t>
            </a:r>
            <a:r>
              <a:rPr lang="en-US" altLang="zh-CN"/>
              <a:t>50</a:t>
            </a:r>
            <a:r>
              <a:rPr lang="zh-CN" altLang="en-US"/>
              <a:t>次噪声模拟的详细奖牌分布表</a:t>
            </a:r>
            <a:endParaRPr lang="zh-CN" altLang="en-US"/>
          </a:p>
          <a:p>
            <a:pPr marL="0" indent="0">
              <a:buNone/>
            </a:pPr>
            <a:r>
              <a:rPr lang="zh-CN" altLang="en-US"/>
              <a:t>完整参数扰动组合表格（</a:t>
            </a:r>
            <a:r>
              <a:rPr lang="en-US" altLang="zh-CN"/>
              <a:t>3</a:t>
            </a:r>
            <a:r>
              <a:rPr lang="en-US" altLang="en-US"/>
              <a:t>×</a:t>
            </a:r>
            <a:r>
              <a:rPr lang="en-US" altLang="zh-CN"/>
              <a:t>3</a:t>
            </a:r>
            <a:r>
              <a:rPr lang="en-US" altLang="en-US"/>
              <a:t>×</a:t>
            </a:r>
            <a:r>
              <a:rPr lang="en-US" altLang="zh-CN"/>
              <a:t>3=27</a:t>
            </a:r>
            <a:r>
              <a:rPr lang="zh-CN" altLang="en-US"/>
              <a:t>行）</a:t>
            </a:r>
            <a:endParaRPr lang="zh-CN" altLang="en-US"/>
          </a:p>
          <a:p>
            <a:pPr marL="0" indent="0">
              <a:buNone/>
            </a:pPr>
            <a:r>
              <a:rPr lang="zh-CN" altLang="en-US"/>
              <a:t>额外极端情景（取消游泳项目等）</a:t>
            </a:r>
            <a:endParaRPr lang="zh-CN" altLang="en-US"/>
          </a:p>
          <a:p>
            <a:pPr marL="0" indent="0">
              <a:buNone/>
            </a:pPr>
            <a:r>
              <a:rPr lang="zh-CN" altLang="en-US"/>
              <a:t>完整</a:t>
            </a:r>
            <a:r>
              <a:rPr lang="en-US" altLang="zh-CN"/>
              <a:t>Python</a:t>
            </a:r>
            <a:r>
              <a:rPr lang="zh-CN" altLang="en-US"/>
              <a:t>代码片段或伪代码</a:t>
            </a:r>
            <a:endParaRPr lang="zh-CN" altLang="en-US"/>
          </a:p>
          <a:p>
            <a:pPr marL="0" indent="0">
              <a:buNone/>
            </a:pPr>
            <a:r>
              <a:rPr lang="zh-CN" altLang="en-US"/>
              <a:t>敏感性分析完整统计表（均值、方差、</a:t>
            </a:r>
            <a:r>
              <a:rPr lang="en-US" altLang="zh-CN"/>
              <a:t>95%CI</a:t>
            </a:r>
            <a:r>
              <a:rPr lang="zh-CN" altLang="en-US"/>
              <a:t>宽度）</a:t>
            </a:r>
            <a:endParaRPr lang="zh-CN" altLang="en-US"/>
          </a:p>
        </p:txBody>
      </p:sp>
    </p:spTree>
    <p:custDataLst>
      <p:tags r:id="rId2"/>
    </p:custData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图表、可视化与</a:t>
            </a:r>
            <a:r>
              <a:rPr lang="en-US" altLang="zh-CN"/>
              <a:t>“</a:t>
            </a:r>
            <a:r>
              <a:rPr lang="zh-CN" altLang="en-US"/>
              <a:t>评委记忆点</a:t>
            </a:r>
            <a:r>
              <a:rPr lang="en-US" altLang="zh-CN"/>
              <a:t>”</a:t>
            </a:r>
            <a:endParaRPr lang="en-US" altLang="zh-CN"/>
          </a:p>
        </p:txBody>
      </p:sp>
      <p:sp>
        <p:nvSpPr>
          <p:cNvPr id="3" name="内容占位符 2"/>
          <p:cNvSpPr>
            <a:spLocks noGrp="1"/>
          </p:cNvSpPr>
          <p:nvPr>
            <p:ph idx="1"/>
            <p:custDataLst>
              <p:tags r:id="rId2"/>
            </p:custDataLst>
          </p:nvPr>
        </p:nvSpPr>
        <p:spPr/>
        <p:txBody>
          <a:bodyPr>
            <a:normAutofit fontScale="70000"/>
          </a:bodyPr>
          <a:p>
            <a:pPr marL="0" indent="0">
              <a:buNone/>
            </a:pPr>
            <a:r>
              <a:rPr lang="zh-CN" altLang="en-US"/>
              <a:t>你是一名熟悉</a:t>
            </a:r>
            <a:r>
              <a:rPr lang="en-US" altLang="zh-CN"/>
              <a:t> MCM </a:t>
            </a:r>
            <a:r>
              <a:rPr lang="zh-CN" altLang="en-US"/>
              <a:t>高奖论文表达风格的科学可视化顾问。</a:t>
            </a:r>
            <a:endParaRPr lang="zh-CN" altLang="en-US"/>
          </a:p>
          <a:p>
            <a:pPr marL="0" indent="0">
              <a:buNone/>
            </a:pPr>
            <a:r>
              <a:rPr lang="zh-CN" altLang="en-US"/>
              <a:t>基于我们的题目、模型、数据与结论：</a:t>
            </a:r>
            <a:endParaRPr lang="en-US" altLang="zh-CN"/>
          </a:p>
          <a:p>
            <a:pPr marL="0" indent="0">
              <a:buNone/>
            </a:pPr>
            <a:r>
              <a:rPr lang="en-US" altLang="zh-CN"/>
              <a:t>1. </a:t>
            </a:r>
            <a:r>
              <a:rPr lang="zh-CN" altLang="en-US"/>
              <a:t>请建议适合的图表类型：</a:t>
            </a:r>
            <a:endParaRPr lang="zh-CN" altLang="en-US"/>
          </a:p>
          <a:p>
            <a:pPr marL="0" indent="0">
              <a:buNone/>
            </a:pPr>
            <a:r>
              <a:rPr lang="en-US" altLang="zh-CN"/>
              <a:t>   - </a:t>
            </a:r>
            <a:r>
              <a:rPr lang="zh-CN" altLang="en-US"/>
              <a:t>解释模型结构</a:t>
            </a:r>
            <a:endParaRPr lang="zh-CN" altLang="en-US"/>
          </a:p>
          <a:p>
            <a:pPr marL="0" indent="0">
              <a:buNone/>
            </a:pPr>
            <a:r>
              <a:rPr lang="en-US" altLang="zh-CN"/>
              <a:t>   - </a:t>
            </a:r>
            <a:r>
              <a:rPr lang="zh-CN" altLang="en-US"/>
              <a:t>展示结果趋势</a:t>
            </a:r>
            <a:endParaRPr lang="zh-CN" altLang="en-US"/>
          </a:p>
          <a:p>
            <a:pPr marL="0" indent="0">
              <a:buNone/>
            </a:pPr>
            <a:r>
              <a:rPr lang="en-US" altLang="zh-CN"/>
              <a:t>   - </a:t>
            </a:r>
            <a:r>
              <a:rPr lang="zh-CN" altLang="en-US"/>
              <a:t>对比不同方案</a:t>
            </a:r>
            <a:endParaRPr lang="en-US" altLang="zh-CN"/>
          </a:p>
          <a:p>
            <a:pPr marL="0" indent="0">
              <a:buNone/>
            </a:pPr>
            <a:r>
              <a:rPr lang="en-US" altLang="zh-CN"/>
              <a:t>2. </a:t>
            </a:r>
            <a:r>
              <a:rPr lang="zh-CN" altLang="en-US"/>
              <a:t>对每类图表，请说明：</a:t>
            </a:r>
            <a:endParaRPr lang="zh-CN" altLang="en-US"/>
          </a:p>
          <a:p>
            <a:pPr marL="0" indent="0">
              <a:buNone/>
            </a:pPr>
            <a:r>
              <a:rPr lang="en-US" altLang="zh-CN"/>
              <a:t>   - </a:t>
            </a:r>
            <a:r>
              <a:rPr lang="zh-CN" altLang="en-US"/>
              <a:t>设计目的</a:t>
            </a:r>
            <a:endParaRPr lang="zh-CN" altLang="en-US"/>
          </a:p>
          <a:p>
            <a:pPr marL="0" indent="0">
              <a:buNone/>
            </a:pPr>
            <a:r>
              <a:rPr lang="en-US" altLang="zh-CN"/>
              <a:t>   - </a:t>
            </a:r>
            <a:r>
              <a:rPr lang="zh-CN" altLang="en-US"/>
              <a:t>评委能在</a:t>
            </a:r>
            <a:r>
              <a:rPr lang="en-US" altLang="zh-CN"/>
              <a:t> 10 </a:t>
            </a:r>
            <a:r>
              <a:rPr lang="zh-CN" altLang="en-US"/>
              <a:t>秒内看懂什么</a:t>
            </a:r>
            <a:endParaRPr lang="en-US" altLang="zh-CN"/>
          </a:p>
          <a:p>
            <a:pPr marL="0" indent="0">
              <a:buNone/>
            </a:pPr>
            <a:r>
              <a:rPr lang="en-US" altLang="zh-CN"/>
              <a:t>3. </a:t>
            </a:r>
            <a:r>
              <a:rPr lang="zh-CN" altLang="en-US"/>
              <a:t>如适合，请给出：</a:t>
            </a:r>
            <a:endParaRPr lang="zh-CN" altLang="en-US"/>
          </a:p>
          <a:p>
            <a:pPr marL="0" indent="0">
              <a:buNone/>
            </a:pPr>
            <a:r>
              <a:rPr lang="en-US" altLang="zh-CN"/>
              <a:t>   - Python </a:t>
            </a:r>
            <a:r>
              <a:rPr lang="zh-CN" altLang="en-US"/>
              <a:t>绘图建议</a:t>
            </a:r>
            <a:endParaRPr lang="zh-CN" altLang="en-US"/>
          </a:p>
          <a:p>
            <a:pPr marL="0" indent="0">
              <a:buNone/>
            </a:pPr>
            <a:r>
              <a:rPr lang="en-US" altLang="zh-CN"/>
              <a:t>   - </a:t>
            </a:r>
            <a:r>
              <a:rPr lang="zh-CN" altLang="en-US"/>
              <a:t>或</a:t>
            </a:r>
            <a:r>
              <a:rPr lang="en-US" altLang="zh-CN"/>
              <a:t>“</a:t>
            </a:r>
            <a:r>
              <a:rPr lang="zh-CN" altLang="en-US"/>
              <a:t>海报级</a:t>
            </a:r>
            <a:r>
              <a:rPr lang="en-US" altLang="zh-CN"/>
              <a:t>”</a:t>
            </a:r>
            <a:r>
              <a:rPr lang="zh-CN" altLang="en-US"/>
              <a:t>图形设计思路</a:t>
            </a:r>
            <a:endParaRPr lang="zh-CN" altLang="en-US"/>
          </a:p>
          <a:p>
            <a:pPr marL="0" indent="0">
              <a:buNone/>
            </a:pPr>
            <a:endParaRPr lang="zh-CN" altLang="en-US"/>
          </a:p>
        </p:txBody>
      </p:sp>
    </p:spTree>
    <p:custDataLst>
      <p:tags r:id="rId3"/>
    </p:custData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sz="quarter" idx="13"/>
            <p:custDataLst>
              <p:tags r:id="rId1"/>
            </p:custDataLst>
          </p:nvPr>
        </p:nvSpPr>
        <p:spPr/>
        <p:txBody>
          <a:bodyPr>
            <a:normAutofit fontScale="60000"/>
          </a:bodyPr>
          <a:p>
            <a:pPr marL="0" indent="0">
              <a:buNone/>
            </a:pPr>
            <a:r>
              <a:rPr lang="zh-CN" altLang="en-US"/>
              <a:t>适合的图表类型建议</a:t>
            </a:r>
            <a:endParaRPr lang="en-US" altLang="zh-CN"/>
          </a:p>
          <a:p>
            <a:pPr marL="0" indent="0">
              <a:buNone/>
            </a:pPr>
            <a:r>
              <a:rPr lang="zh-CN" altLang="en-US"/>
              <a:t>基于</a:t>
            </a:r>
            <a:r>
              <a:rPr lang="en-US" altLang="zh-CN"/>
              <a:t>MCM</a:t>
            </a:r>
            <a:r>
              <a:rPr lang="zh-CN" altLang="en-US"/>
              <a:t>高奖论文风格（简洁、专业、数据驱动，如</a:t>
            </a:r>
            <a:r>
              <a:rPr lang="en-US" altLang="zh-CN"/>
              <a:t>O/F</a:t>
            </a:r>
            <a:r>
              <a:rPr lang="zh-CN" altLang="en-US"/>
              <a:t>奖常用高清、可解释可视化突出创新），针对题目（奥运奖牌预测、首次得牌、项目</a:t>
            </a:r>
            <a:r>
              <a:rPr lang="en-US" altLang="zh-CN"/>
              <a:t>/</a:t>
            </a:r>
            <a:r>
              <a:rPr lang="zh-CN" altLang="en-US"/>
              <a:t>主机、教练效应、洞见）、模型（</a:t>
            </a:r>
            <a:r>
              <a:rPr lang="en-US" altLang="zh-CN"/>
              <a:t>ensemble ZINB + NMF + SCM + SEM</a:t>
            </a:r>
            <a:r>
              <a:rPr lang="zh-CN" altLang="en-US"/>
              <a:t>）、数据（历史面板</a:t>
            </a:r>
            <a:r>
              <a:rPr lang="en-US" altLang="zh-CN"/>
              <a:t> + </a:t>
            </a:r>
            <a:r>
              <a:rPr lang="zh-CN" altLang="en-US"/>
              <a:t>聚合特征）和结论（</a:t>
            </a:r>
            <a:r>
              <a:rPr lang="en-US" altLang="zh-CN"/>
              <a:t>2028</a:t>
            </a:r>
            <a:r>
              <a:rPr lang="zh-CN" altLang="en-US"/>
              <a:t>区间、概率、政策</a:t>
            </a:r>
            <a:r>
              <a:rPr lang="en-US" altLang="zh-CN"/>
              <a:t>ROI</a:t>
            </a:r>
            <a:r>
              <a:rPr lang="zh-CN" altLang="en-US"/>
              <a:t>），我建议以下类型。优先静态图（论文</a:t>
            </a:r>
            <a:r>
              <a:rPr lang="en-US" altLang="zh-CN"/>
              <a:t>PDF</a:t>
            </a:r>
            <a:r>
              <a:rPr lang="zh-CN" altLang="en-US"/>
              <a:t>限），颜色方案用奥运主题（蓝</a:t>
            </a:r>
            <a:r>
              <a:rPr lang="en-US" altLang="zh-CN"/>
              <a:t>/</a:t>
            </a:r>
            <a:r>
              <a:rPr lang="zh-CN" altLang="en-US"/>
              <a:t>黄</a:t>
            </a:r>
            <a:r>
              <a:rPr lang="en-US" altLang="zh-CN"/>
              <a:t>/</a:t>
            </a:r>
            <a:r>
              <a:rPr lang="zh-CN" altLang="en-US"/>
              <a:t>黑</a:t>
            </a:r>
            <a:r>
              <a:rPr lang="en-US" altLang="zh-CN"/>
              <a:t>/</a:t>
            </a:r>
            <a:r>
              <a:rPr lang="zh-CN" altLang="en-US"/>
              <a:t>绿</a:t>
            </a:r>
            <a:r>
              <a:rPr lang="en-US" altLang="zh-CN"/>
              <a:t>/</a:t>
            </a:r>
            <a:r>
              <a:rPr lang="zh-CN" altLang="en-US"/>
              <a:t>红五环色），字体</a:t>
            </a:r>
            <a:r>
              <a:rPr lang="en-US" altLang="zh-CN"/>
              <a:t>Arial/Helvetica 10-12pt</a:t>
            </a:r>
            <a:r>
              <a:rPr lang="zh-CN" altLang="en-US"/>
              <a:t>，标签简明。</a:t>
            </a:r>
            <a:endParaRPr lang="zh-CN" altLang="en-US"/>
          </a:p>
          <a:p>
            <a:pPr marL="0" indent="0">
              <a:buNone/>
            </a:pPr>
            <a:r>
              <a:rPr lang="en-US" altLang="zh-CN"/>
              <a:t>A. </a:t>
            </a:r>
            <a:r>
              <a:rPr lang="zh-CN" altLang="en-US"/>
              <a:t>解释模型结构</a:t>
            </a:r>
            <a:endParaRPr lang="en-US" altLang="zh-CN"/>
          </a:p>
          <a:p>
            <a:pPr marL="0" indent="0">
              <a:buNone/>
            </a:pPr>
            <a:r>
              <a:rPr lang="zh-CN" altLang="en-US"/>
              <a:t>流程图</a:t>
            </a:r>
            <a:r>
              <a:rPr lang="en-US" altLang="zh-CN"/>
              <a:t> (Flowchart)</a:t>
            </a:r>
            <a:r>
              <a:rPr lang="zh-CN" altLang="en-US"/>
              <a:t>：用矩形</a:t>
            </a:r>
            <a:r>
              <a:rPr lang="en-US" altLang="zh-CN"/>
              <a:t>/</a:t>
            </a:r>
            <a:r>
              <a:rPr lang="zh-CN" altLang="en-US"/>
              <a:t>菱形表示步骤（如数据输入</a:t>
            </a:r>
            <a:r>
              <a:rPr lang="en-US" altLang="zh-CN"/>
              <a:t> </a:t>
            </a:r>
            <a:r>
              <a:rPr lang="en-US" altLang="en-US"/>
              <a:t>→</a:t>
            </a:r>
            <a:r>
              <a:rPr lang="en-US" altLang="zh-CN"/>
              <a:t> </a:t>
            </a:r>
            <a:r>
              <a:rPr lang="zh-CN" altLang="en-US"/>
              <a:t>特征工程</a:t>
            </a:r>
            <a:r>
              <a:rPr lang="en-US" altLang="zh-CN"/>
              <a:t> </a:t>
            </a:r>
            <a:r>
              <a:rPr lang="en-US" altLang="en-US"/>
              <a:t>→</a:t>
            </a:r>
            <a:r>
              <a:rPr lang="en-US" altLang="zh-CN"/>
              <a:t> ensemble</a:t>
            </a:r>
            <a:r>
              <a:rPr lang="zh-CN" altLang="en-US"/>
              <a:t>预测</a:t>
            </a:r>
            <a:r>
              <a:rPr lang="en-US" altLang="zh-CN"/>
              <a:t> </a:t>
            </a:r>
            <a:r>
              <a:rPr lang="en-US" altLang="en-US"/>
              <a:t>→</a:t>
            </a:r>
            <a:r>
              <a:rPr lang="en-US" altLang="zh-CN"/>
              <a:t> </a:t>
            </a:r>
            <a:r>
              <a:rPr lang="zh-CN" altLang="en-US"/>
              <a:t>因果分析）。</a:t>
            </a:r>
            <a:endParaRPr lang="zh-CN" altLang="en-US"/>
          </a:p>
          <a:p>
            <a:pPr marL="0" indent="0">
              <a:buNone/>
            </a:pPr>
            <a:r>
              <a:rPr lang="zh-CN" altLang="en-US"/>
              <a:t>有向无环图</a:t>
            </a:r>
            <a:r>
              <a:rPr lang="en-US" altLang="zh-CN"/>
              <a:t> (DAG)</a:t>
            </a:r>
            <a:r>
              <a:rPr lang="zh-CN" altLang="en-US"/>
              <a:t>：展示</a:t>
            </a:r>
            <a:r>
              <a:rPr lang="en-US" altLang="zh-CN"/>
              <a:t>SEM</a:t>
            </a:r>
            <a:r>
              <a:rPr lang="zh-CN" altLang="en-US"/>
              <a:t>中介路径或教练网络（节点</a:t>
            </a:r>
            <a:r>
              <a:rPr lang="en-US" altLang="zh-CN"/>
              <a:t>=</a:t>
            </a:r>
            <a:r>
              <a:rPr lang="zh-CN" altLang="en-US"/>
              <a:t>国家</a:t>
            </a:r>
            <a:r>
              <a:rPr lang="en-US" altLang="zh-CN"/>
              <a:t>/</a:t>
            </a:r>
            <a:r>
              <a:rPr lang="zh-CN" altLang="en-US"/>
              <a:t>项目，边</a:t>
            </a:r>
            <a:r>
              <a:rPr lang="en-US" altLang="zh-CN"/>
              <a:t>=</a:t>
            </a:r>
            <a:r>
              <a:rPr lang="zh-CN" altLang="en-US"/>
              <a:t>流动</a:t>
            </a:r>
            <a:r>
              <a:rPr lang="en-US" altLang="zh-CN"/>
              <a:t>/</a:t>
            </a:r>
            <a:r>
              <a:rPr lang="zh-CN" altLang="en-US"/>
              <a:t>因果）。</a:t>
            </a:r>
            <a:endParaRPr lang="zh-CN" altLang="en-US"/>
          </a:p>
          <a:p>
            <a:pPr marL="0" indent="0">
              <a:buNone/>
            </a:pPr>
            <a:r>
              <a:rPr lang="zh-CN" altLang="en-US"/>
              <a:t>网络图</a:t>
            </a:r>
            <a:r>
              <a:rPr lang="en-US" altLang="zh-CN"/>
              <a:t> (Network Graph)</a:t>
            </a:r>
            <a:r>
              <a:rPr lang="zh-CN" altLang="en-US"/>
              <a:t>：可视化教练流动网络（节点</a:t>
            </a:r>
            <a:r>
              <a:rPr lang="en-US" altLang="zh-CN"/>
              <a:t>=</a:t>
            </a:r>
            <a:r>
              <a:rPr lang="zh-CN" altLang="en-US"/>
              <a:t>国家，边</a:t>
            </a:r>
            <a:r>
              <a:rPr lang="en-US" altLang="zh-CN"/>
              <a:t>=</a:t>
            </a:r>
            <a:r>
              <a:rPr lang="zh-CN" altLang="en-US"/>
              <a:t>运动员跨国）。</a:t>
            </a:r>
            <a:endParaRPr lang="en-US" altLang="zh-CN"/>
          </a:p>
          <a:p>
            <a:pPr marL="0" indent="0">
              <a:buNone/>
            </a:pPr>
            <a:r>
              <a:rPr lang="en-US" altLang="zh-CN"/>
              <a:t>B. </a:t>
            </a:r>
            <a:r>
              <a:rPr lang="zh-CN" altLang="en-US"/>
              <a:t>展示结果趋势</a:t>
            </a:r>
            <a:endParaRPr lang="en-US" altLang="zh-CN"/>
          </a:p>
          <a:p>
            <a:pPr marL="0" indent="0">
              <a:buNone/>
            </a:pPr>
            <a:r>
              <a:rPr lang="zh-CN" altLang="en-US"/>
              <a:t>折线图</a:t>
            </a:r>
            <a:r>
              <a:rPr lang="en-US" altLang="zh-CN"/>
              <a:t> (Line Plot)</a:t>
            </a:r>
            <a:r>
              <a:rPr lang="zh-CN" altLang="en-US"/>
              <a:t>：历史奖牌趋势</a:t>
            </a:r>
            <a:r>
              <a:rPr lang="en-US" altLang="zh-CN"/>
              <a:t> + 2028</a:t>
            </a:r>
            <a:r>
              <a:rPr lang="zh-CN" altLang="en-US"/>
              <a:t>预测线（带阴影区间）。</a:t>
            </a:r>
            <a:endParaRPr lang="zh-CN" altLang="en-US"/>
          </a:p>
          <a:p>
            <a:pPr marL="0" indent="0">
              <a:buNone/>
            </a:pPr>
            <a:r>
              <a:rPr lang="zh-CN" altLang="en-US"/>
              <a:t>热图</a:t>
            </a:r>
            <a:r>
              <a:rPr lang="en-US" altLang="zh-CN"/>
              <a:t> (Heatmap)</a:t>
            </a:r>
            <a:r>
              <a:rPr lang="zh-CN" altLang="en-US"/>
              <a:t>：</a:t>
            </a:r>
            <a:r>
              <a:rPr lang="en-US" altLang="zh-CN"/>
              <a:t>NMF</a:t>
            </a:r>
            <a:r>
              <a:rPr lang="zh-CN" altLang="en-US"/>
              <a:t>亲和矩阵（国家</a:t>
            </a:r>
            <a:r>
              <a:rPr lang="en-US" altLang="zh-CN"/>
              <a:t> vs </a:t>
            </a:r>
            <a:r>
              <a:rPr lang="zh-CN" altLang="en-US"/>
              <a:t>项目专长）。</a:t>
            </a:r>
            <a:endParaRPr lang="zh-CN" altLang="en-US"/>
          </a:p>
          <a:p>
            <a:pPr marL="0" indent="0">
              <a:buNone/>
            </a:pPr>
            <a:r>
              <a:rPr lang="zh-CN" altLang="en-US"/>
              <a:t>小提琴图</a:t>
            </a:r>
            <a:r>
              <a:rPr lang="en-US" altLang="zh-CN"/>
              <a:t> (Violin Plot)</a:t>
            </a:r>
            <a:r>
              <a:rPr lang="zh-CN" altLang="en-US"/>
              <a:t>：</a:t>
            </a:r>
            <a:r>
              <a:rPr lang="en-US" altLang="zh-CN"/>
              <a:t>MC</a:t>
            </a:r>
            <a:r>
              <a:rPr lang="zh-CN" altLang="en-US"/>
              <a:t>模拟分布（不确定性，如首次得牌概率）。</a:t>
            </a:r>
            <a:endParaRPr lang="en-US" altLang="zh-CN"/>
          </a:p>
          <a:p>
            <a:pPr marL="0" indent="0">
              <a:buNone/>
            </a:pPr>
            <a:r>
              <a:rPr lang="en-US" altLang="zh-CN"/>
              <a:t>C. </a:t>
            </a:r>
            <a:r>
              <a:rPr lang="zh-CN" altLang="en-US"/>
              <a:t>对比不同方案</a:t>
            </a:r>
            <a:endParaRPr lang="en-US" altLang="zh-CN"/>
          </a:p>
          <a:p>
            <a:pPr marL="0" indent="0">
              <a:buNone/>
            </a:pPr>
            <a:r>
              <a:rPr lang="zh-CN" altLang="en-US"/>
              <a:t>分组柱状图</a:t>
            </a:r>
            <a:r>
              <a:rPr lang="en-US" altLang="zh-CN"/>
              <a:t> (Grouped Bar Chart)</a:t>
            </a:r>
            <a:r>
              <a:rPr lang="zh-CN" altLang="en-US"/>
              <a:t>：情景分析对比（乐观</a:t>
            </a:r>
            <a:r>
              <a:rPr lang="en-US" altLang="zh-CN"/>
              <a:t>/</a:t>
            </a:r>
            <a:r>
              <a:rPr lang="zh-CN" altLang="en-US"/>
              <a:t>保守下国家奖牌）。</a:t>
            </a:r>
            <a:endParaRPr lang="zh-CN" altLang="en-US"/>
          </a:p>
          <a:p>
            <a:pPr marL="0" indent="0">
              <a:buNone/>
            </a:pPr>
            <a:r>
              <a:rPr lang="zh-CN" altLang="en-US"/>
              <a:t>箱线图</a:t>
            </a:r>
            <a:r>
              <a:rPr lang="en-US" altLang="zh-CN"/>
              <a:t> (Box Plot)</a:t>
            </a:r>
            <a:r>
              <a:rPr lang="zh-CN" altLang="en-US"/>
              <a:t>：鲁棒性噪声测试（不同噪声水平下预测偏差）。</a:t>
            </a:r>
            <a:endParaRPr lang="zh-CN" altLang="en-US"/>
          </a:p>
          <a:p>
            <a:pPr marL="0" indent="0">
              <a:buNone/>
            </a:pPr>
            <a:r>
              <a:rPr lang="zh-CN" altLang="en-US"/>
              <a:t>雷达图</a:t>
            </a:r>
            <a:r>
              <a:rPr lang="en-US" altLang="zh-CN"/>
              <a:t> (Radar Chart)</a:t>
            </a:r>
            <a:r>
              <a:rPr lang="zh-CN" altLang="en-US"/>
              <a:t>：多国多维比较（奖牌</a:t>
            </a:r>
            <a:r>
              <a:rPr lang="en-US" altLang="zh-CN"/>
              <a:t>/</a:t>
            </a:r>
            <a:r>
              <a:rPr lang="zh-CN" altLang="en-US"/>
              <a:t>项目</a:t>
            </a:r>
            <a:r>
              <a:rPr lang="en-US" altLang="zh-CN"/>
              <a:t>/</a:t>
            </a:r>
            <a:r>
              <a:rPr lang="zh-CN" altLang="en-US"/>
              <a:t>教练分数）。</a:t>
            </a:r>
            <a:endParaRPr lang="zh-CN" altLang="en-US"/>
          </a:p>
        </p:txBody>
      </p:sp>
    </p:spTree>
    <p:custDataLst>
      <p:tags r:id="rId2"/>
    </p:custData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sz="quarter" idx="13"/>
            <p:custDataLst>
              <p:tags r:id="rId1"/>
            </p:custDataLst>
          </p:nvPr>
        </p:nvSpPr>
        <p:spPr/>
        <p:txBody>
          <a:bodyPr>
            <a:normAutofit fontScale="80000"/>
          </a:bodyPr>
          <a:p>
            <a:pPr marL="0" indent="0">
              <a:buNone/>
            </a:pPr>
            <a:r>
              <a:rPr lang="zh-CN" altLang="en-US"/>
              <a:t>对每类图表的说明</a:t>
            </a:r>
            <a:endParaRPr lang="en-US" altLang="zh-CN"/>
          </a:p>
          <a:p>
            <a:pPr marL="0" indent="0">
              <a:buNone/>
            </a:pPr>
            <a:r>
              <a:rPr lang="en-US" altLang="zh-CN"/>
              <a:t>A. </a:t>
            </a:r>
            <a:r>
              <a:rPr lang="zh-CN" altLang="en-US"/>
              <a:t>解释模型结构</a:t>
            </a:r>
            <a:endParaRPr lang="en-US" altLang="zh-CN"/>
          </a:p>
          <a:p>
            <a:pPr marL="0" indent="0">
              <a:buNone/>
            </a:pPr>
            <a:r>
              <a:rPr lang="zh-CN" altLang="en-US"/>
              <a:t>流程图：</a:t>
            </a:r>
            <a:endParaRPr lang="zh-CN" altLang="en-US"/>
          </a:p>
          <a:p>
            <a:pPr marL="0" indent="0">
              <a:buNone/>
            </a:pPr>
            <a:r>
              <a:rPr lang="zh-CN" altLang="en-US"/>
              <a:t>设计目的：清晰概述模型</a:t>
            </a:r>
            <a:r>
              <a:rPr lang="en-US" altLang="zh-CN"/>
              <a:t> pipeline</a:t>
            </a:r>
            <a:r>
              <a:rPr lang="zh-CN" altLang="en-US"/>
              <a:t>（数据清洗</a:t>
            </a:r>
            <a:r>
              <a:rPr lang="en-US" altLang="zh-CN"/>
              <a:t> </a:t>
            </a:r>
            <a:r>
              <a:rPr lang="en-US" altLang="en-US"/>
              <a:t>→</a:t>
            </a:r>
            <a:r>
              <a:rPr lang="en-US" altLang="zh-CN"/>
              <a:t> </a:t>
            </a:r>
            <a:r>
              <a:rPr lang="zh-CN" altLang="en-US"/>
              <a:t>特征如性别代理</a:t>
            </a:r>
            <a:r>
              <a:rPr lang="en-US" altLang="zh-CN"/>
              <a:t> </a:t>
            </a:r>
            <a:r>
              <a:rPr lang="en-US" altLang="en-US"/>
              <a:t>→</a:t>
            </a:r>
            <a:r>
              <a:rPr lang="en-US" altLang="zh-CN"/>
              <a:t> ensemble</a:t>
            </a:r>
            <a:r>
              <a:rPr lang="zh-CN" altLang="en-US"/>
              <a:t>训练</a:t>
            </a:r>
            <a:r>
              <a:rPr lang="en-US" altLang="zh-CN"/>
              <a:t> </a:t>
            </a:r>
            <a:r>
              <a:rPr lang="en-US" altLang="en-US"/>
              <a:t>→</a:t>
            </a:r>
            <a:r>
              <a:rPr lang="en-US" altLang="zh-CN"/>
              <a:t> </a:t>
            </a:r>
            <a:r>
              <a:rPr lang="zh-CN" altLang="en-US"/>
              <a:t>输出如</a:t>
            </a:r>
            <a:r>
              <a:rPr lang="en-US" altLang="zh-CN"/>
              <a:t>2028</a:t>
            </a:r>
            <a:r>
              <a:rPr lang="zh-CN" altLang="en-US"/>
              <a:t>表），突出创新（如</a:t>
            </a:r>
            <a:r>
              <a:rPr lang="en-US" altLang="zh-CN"/>
              <a:t>NMF + </a:t>
            </a:r>
            <a:r>
              <a:rPr lang="zh-CN" altLang="en-US"/>
              <a:t>网络），便于评委快速把握整体逻辑（</a:t>
            </a:r>
            <a:r>
              <a:rPr lang="en-US" altLang="zh-CN"/>
              <a:t>MCM O</a:t>
            </a:r>
            <a:r>
              <a:rPr lang="zh-CN" altLang="en-US"/>
              <a:t>奖常用，避免文字墙）。</a:t>
            </a:r>
            <a:endParaRPr lang="zh-CN" altLang="en-US"/>
          </a:p>
          <a:p>
            <a:pPr marL="0" indent="0">
              <a:buNone/>
            </a:pPr>
            <a:r>
              <a:rPr lang="zh-CN" altLang="en-US"/>
              <a:t>评委</a:t>
            </a:r>
            <a:r>
              <a:rPr lang="en-US" altLang="zh-CN"/>
              <a:t>10</a:t>
            </a:r>
            <a:r>
              <a:rPr lang="zh-CN" altLang="en-US"/>
              <a:t>秒看懂：模型从数据到预测的</a:t>
            </a:r>
            <a:r>
              <a:rPr lang="en-US" altLang="zh-CN"/>
              <a:t>“</a:t>
            </a:r>
            <a:r>
              <a:rPr lang="zh-CN" altLang="en-US"/>
              <a:t>一步步</a:t>
            </a:r>
            <a:r>
              <a:rPr lang="en-US" altLang="zh-CN"/>
              <a:t>”</a:t>
            </a:r>
            <a:r>
              <a:rPr lang="zh-CN" altLang="en-US"/>
              <a:t>路径，立即看出创新点（如</a:t>
            </a:r>
            <a:r>
              <a:rPr lang="en-US" altLang="zh-CN"/>
              <a:t>“</a:t>
            </a:r>
            <a:r>
              <a:rPr lang="zh-CN" altLang="en-US"/>
              <a:t>教练网络</a:t>
            </a:r>
            <a:r>
              <a:rPr lang="en-US" altLang="zh-CN"/>
              <a:t>”</a:t>
            </a:r>
            <a:r>
              <a:rPr lang="zh-CN" altLang="en-US"/>
              <a:t>框）。</a:t>
            </a:r>
            <a:endParaRPr lang="en-US" altLang="zh-CN"/>
          </a:p>
          <a:p>
            <a:pPr marL="0" indent="0">
              <a:buNone/>
            </a:pPr>
            <a:r>
              <a:rPr lang="en-US" altLang="zh-CN"/>
              <a:t>DAG</a:t>
            </a:r>
            <a:r>
              <a:rPr lang="zh-CN" altLang="en-US"/>
              <a:t>：</a:t>
            </a:r>
            <a:endParaRPr lang="zh-CN" altLang="en-US"/>
          </a:p>
          <a:p>
            <a:pPr marL="0" indent="0">
              <a:buNone/>
            </a:pPr>
            <a:r>
              <a:rPr lang="zh-CN" altLang="en-US"/>
              <a:t>设计目的：展示因果</a:t>
            </a:r>
            <a:r>
              <a:rPr lang="en-US" altLang="zh-CN"/>
              <a:t>/</a:t>
            </a:r>
            <a:r>
              <a:rPr lang="zh-CN" altLang="en-US"/>
              <a:t>中介关系（如项目亲和</a:t>
            </a:r>
            <a:r>
              <a:rPr lang="en-US" altLang="zh-CN"/>
              <a:t> </a:t>
            </a:r>
            <a:r>
              <a:rPr lang="en-US" altLang="en-US"/>
              <a:t>→</a:t>
            </a:r>
            <a:r>
              <a:rPr lang="en-US" altLang="zh-CN"/>
              <a:t> </a:t>
            </a:r>
            <a:r>
              <a:rPr lang="zh-CN" altLang="en-US"/>
              <a:t>运动员</a:t>
            </a:r>
            <a:r>
              <a:rPr lang="en-US" altLang="zh-CN"/>
              <a:t> </a:t>
            </a:r>
            <a:r>
              <a:rPr lang="en-US" altLang="en-US"/>
              <a:t>→</a:t>
            </a:r>
            <a:r>
              <a:rPr lang="en-US" altLang="zh-CN"/>
              <a:t> </a:t>
            </a:r>
            <a:r>
              <a:rPr lang="zh-CN" altLang="en-US"/>
              <a:t>奖牌），强调</a:t>
            </a:r>
            <a:r>
              <a:rPr lang="en-US" altLang="zh-CN"/>
              <a:t>SEM</a:t>
            </a:r>
            <a:r>
              <a:rPr lang="zh-CN" altLang="en-US"/>
              <a:t>洞见与假设（如性别路径），可视化复杂依赖（</a:t>
            </a:r>
            <a:r>
              <a:rPr lang="en-US" altLang="zh-CN"/>
              <a:t>F</a:t>
            </a:r>
            <a:r>
              <a:rPr lang="zh-CN" altLang="en-US"/>
              <a:t>奖高分点）。</a:t>
            </a:r>
            <a:endParaRPr lang="zh-CN" altLang="en-US"/>
          </a:p>
          <a:p>
            <a:pPr marL="0" indent="0">
              <a:buNone/>
            </a:pPr>
            <a:r>
              <a:rPr lang="zh-CN" altLang="en-US"/>
              <a:t>评委</a:t>
            </a:r>
            <a:r>
              <a:rPr lang="en-US" altLang="zh-CN"/>
              <a:t>10</a:t>
            </a:r>
            <a:r>
              <a:rPr lang="zh-CN" altLang="en-US"/>
              <a:t>秒看懂：箭头方向表示</a:t>
            </a:r>
            <a:r>
              <a:rPr lang="en-US" altLang="zh-CN"/>
              <a:t>“</a:t>
            </a:r>
            <a:r>
              <a:rPr lang="zh-CN" altLang="en-US"/>
              <a:t>因果流</a:t>
            </a:r>
            <a:r>
              <a:rPr lang="en-US" altLang="zh-CN"/>
              <a:t>”</a:t>
            </a:r>
            <a:r>
              <a:rPr lang="zh-CN" altLang="en-US"/>
              <a:t>，节点颜色区分变量类型（输入蓝、输出红）。</a:t>
            </a:r>
            <a:endParaRPr lang="en-US" altLang="zh-CN"/>
          </a:p>
          <a:p>
            <a:pPr marL="0" indent="0">
              <a:buNone/>
            </a:pPr>
            <a:r>
              <a:rPr lang="zh-CN" altLang="en-US"/>
              <a:t>网络图：</a:t>
            </a:r>
            <a:endParaRPr lang="zh-CN" altLang="en-US"/>
          </a:p>
          <a:p>
            <a:pPr marL="0" indent="0">
              <a:buNone/>
            </a:pPr>
            <a:r>
              <a:rPr lang="zh-CN" altLang="en-US"/>
              <a:t>设计目的：突出教练效应创新（数据驱动流动网络），展示节点中心度（如</a:t>
            </a:r>
            <a:r>
              <a:rPr lang="en-US" altLang="zh-CN"/>
              <a:t>USA</a:t>
            </a:r>
            <a:r>
              <a:rPr lang="zh-CN" altLang="en-US"/>
              <a:t>高影响），支持推荐（如投资边高国家）。</a:t>
            </a:r>
            <a:endParaRPr lang="zh-CN" altLang="en-US"/>
          </a:p>
          <a:p>
            <a:pPr marL="0" indent="0">
              <a:buNone/>
            </a:pPr>
            <a:r>
              <a:rPr lang="zh-CN" altLang="en-US"/>
              <a:t>评委</a:t>
            </a:r>
            <a:r>
              <a:rPr lang="en-US" altLang="zh-CN"/>
              <a:t>10</a:t>
            </a:r>
            <a:r>
              <a:rPr lang="zh-CN" altLang="en-US"/>
              <a:t>秒看懂：大节点</a:t>
            </a:r>
            <a:r>
              <a:rPr lang="en-US" altLang="zh-CN"/>
              <a:t>=</a:t>
            </a:r>
            <a:r>
              <a:rPr lang="zh-CN" altLang="en-US"/>
              <a:t>高影响国家，粗边</a:t>
            </a:r>
            <a:r>
              <a:rPr lang="en-US" altLang="zh-CN"/>
              <a:t>=</a:t>
            </a:r>
            <a:r>
              <a:rPr lang="zh-CN" altLang="en-US"/>
              <a:t>强流动，立即看出</a:t>
            </a:r>
            <a:r>
              <a:rPr lang="en-US" altLang="zh-CN"/>
              <a:t>“great coach”</a:t>
            </a:r>
            <a:r>
              <a:rPr lang="zh-CN" altLang="en-US"/>
              <a:t>扩散模式。</a:t>
            </a:r>
            <a:endParaRPr lang="zh-CN" altLang="en-US"/>
          </a:p>
        </p:txBody>
      </p:sp>
    </p:spTree>
    <p:custDataLst>
      <p:tags r:id="rId2"/>
    </p:custData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sz="quarter" idx="13"/>
            <p:custDataLst>
              <p:tags r:id="rId1"/>
            </p:custDataLst>
          </p:nvPr>
        </p:nvSpPr>
        <p:spPr/>
        <p:txBody>
          <a:bodyPr>
            <a:normAutofit fontScale="90000"/>
          </a:bodyPr>
          <a:p>
            <a:pPr marL="0" indent="0">
              <a:buNone/>
            </a:pPr>
            <a:r>
              <a:rPr lang="en-US" altLang="zh-CN"/>
              <a:t>B. </a:t>
            </a:r>
            <a:r>
              <a:rPr lang="zh-CN" altLang="en-US"/>
              <a:t>展示结果趋势</a:t>
            </a:r>
            <a:endParaRPr lang="en-US" altLang="zh-CN"/>
          </a:p>
          <a:p>
            <a:pPr marL="0" indent="0">
              <a:buNone/>
            </a:pPr>
            <a:r>
              <a:rPr lang="zh-CN" altLang="en-US"/>
              <a:t>折线图：</a:t>
            </a:r>
            <a:endParaRPr lang="zh-CN" altLang="en-US"/>
          </a:p>
          <a:p>
            <a:pPr marL="0" indent="0">
              <a:buNone/>
            </a:pPr>
            <a:r>
              <a:rPr lang="zh-CN" altLang="en-US"/>
              <a:t>设计目的：呈现历史趋势（如</a:t>
            </a:r>
            <a:r>
              <a:rPr lang="en-US" altLang="zh-CN"/>
              <a:t>USA</a:t>
            </a:r>
            <a:r>
              <a:rPr lang="zh-CN" altLang="en-US"/>
              <a:t>金牌曲线）与</a:t>
            </a:r>
            <a:r>
              <a:rPr lang="en-US" altLang="zh-CN"/>
              <a:t>2028</a:t>
            </a:r>
            <a:r>
              <a:rPr lang="zh-CN" altLang="en-US"/>
              <a:t>预测（带</a:t>
            </a:r>
            <a:r>
              <a:rPr lang="en-US" altLang="zh-CN"/>
              <a:t>CI</a:t>
            </a:r>
            <a:r>
              <a:rPr lang="zh-CN" altLang="en-US"/>
              <a:t>阴影），强调模型精度（如拟合</a:t>
            </a:r>
            <a:r>
              <a:rPr lang="en-US" altLang="zh-CN"/>
              <a:t>R</a:t>
            </a:r>
            <a:r>
              <a:rPr lang="en-US" altLang="en-US"/>
              <a:t>²</a:t>
            </a:r>
            <a:r>
              <a:rPr lang="en-US" altLang="zh-CN"/>
              <a:t>&gt;0.85</a:t>
            </a:r>
            <a:r>
              <a:rPr lang="zh-CN" altLang="en-US"/>
              <a:t>），支持子</a:t>
            </a:r>
            <a:r>
              <a:rPr lang="en-US" altLang="zh-CN"/>
              <a:t>2</a:t>
            </a:r>
            <a:r>
              <a:rPr lang="zh-CN" altLang="en-US"/>
              <a:t>改进</a:t>
            </a:r>
            <a:r>
              <a:rPr lang="en-US" altLang="zh-CN"/>
              <a:t>/</a:t>
            </a:r>
            <a:r>
              <a:rPr lang="zh-CN" altLang="en-US"/>
              <a:t>下降判断。</a:t>
            </a:r>
            <a:endParaRPr lang="zh-CN" altLang="en-US"/>
          </a:p>
          <a:p>
            <a:pPr marL="0" indent="0">
              <a:buNone/>
            </a:pPr>
            <a:r>
              <a:rPr lang="zh-CN" altLang="en-US"/>
              <a:t>评委</a:t>
            </a:r>
            <a:r>
              <a:rPr lang="en-US" altLang="zh-CN"/>
              <a:t>10</a:t>
            </a:r>
            <a:r>
              <a:rPr lang="zh-CN" altLang="en-US"/>
              <a:t>秒看懂：曲线上升</a:t>
            </a:r>
            <a:r>
              <a:rPr lang="en-US" altLang="zh-CN"/>
              <a:t>=</a:t>
            </a:r>
            <a:r>
              <a:rPr lang="zh-CN" altLang="en-US"/>
              <a:t>改进国家，阴影宽</a:t>
            </a:r>
            <a:r>
              <a:rPr lang="en-US" altLang="zh-CN"/>
              <a:t>=</a:t>
            </a:r>
            <a:r>
              <a:rPr lang="zh-CN" altLang="en-US"/>
              <a:t>不确定高，</a:t>
            </a:r>
            <a:r>
              <a:rPr lang="en-US" altLang="zh-CN"/>
              <a:t>Top3</a:t>
            </a:r>
            <a:r>
              <a:rPr lang="zh-CN" altLang="en-US"/>
              <a:t>国家颜色突出。</a:t>
            </a:r>
            <a:endParaRPr lang="en-US" altLang="zh-CN"/>
          </a:p>
          <a:p>
            <a:pPr marL="0" indent="0">
              <a:buNone/>
            </a:pPr>
            <a:r>
              <a:rPr lang="zh-CN" altLang="en-US"/>
              <a:t>热图：</a:t>
            </a:r>
            <a:endParaRPr lang="zh-CN" altLang="en-US"/>
          </a:p>
          <a:p>
            <a:pPr marL="0" indent="0">
              <a:buNone/>
            </a:pPr>
            <a:r>
              <a:rPr lang="zh-CN" altLang="en-US"/>
              <a:t>设计目的：可视化</a:t>
            </a:r>
            <a:r>
              <a:rPr lang="en-US" altLang="zh-CN"/>
              <a:t>NMF</a:t>
            </a:r>
            <a:r>
              <a:rPr lang="zh-CN" altLang="en-US"/>
              <a:t>分解结果（如国家项目亲和强度），揭示洞见（如小国专注田径），支持子</a:t>
            </a:r>
            <a:r>
              <a:rPr lang="en-US" altLang="zh-CN"/>
              <a:t>4</a:t>
            </a:r>
            <a:r>
              <a:rPr lang="zh-CN" altLang="en-US"/>
              <a:t>重要</a:t>
            </a:r>
            <a:r>
              <a:rPr lang="en-US" altLang="zh-CN"/>
              <a:t>sport</a:t>
            </a:r>
            <a:r>
              <a:rPr lang="zh-CN" altLang="en-US"/>
              <a:t>。</a:t>
            </a:r>
            <a:endParaRPr lang="zh-CN" altLang="en-US"/>
          </a:p>
          <a:p>
            <a:pPr marL="0" indent="0">
              <a:buNone/>
            </a:pPr>
            <a:r>
              <a:rPr lang="zh-CN" altLang="en-US"/>
              <a:t>评委</a:t>
            </a:r>
            <a:r>
              <a:rPr lang="en-US" altLang="zh-CN"/>
              <a:t>10</a:t>
            </a:r>
            <a:r>
              <a:rPr lang="zh-CN" altLang="en-US"/>
              <a:t>秒看懂：暖色块</a:t>
            </a:r>
            <a:r>
              <a:rPr lang="en-US" altLang="zh-CN"/>
              <a:t>=</a:t>
            </a:r>
            <a:r>
              <a:rPr lang="zh-CN" altLang="en-US"/>
              <a:t>高亲和，行</a:t>
            </a:r>
            <a:r>
              <a:rPr lang="en-US" altLang="zh-CN"/>
              <a:t>/</a:t>
            </a:r>
            <a:r>
              <a:rPr lang="zh-CN" altLang="en-US"/>
              <a:t>列标签清晰，立即识别模式（如</a:t>
            </a:r>
            <a:r>
              <a:rPr lang="en-US" altLang="zh-CN"/>
              <a:t>CHN</a:t>
            </a:r>
            <a:r>
              <a:rPr lang="zh-CN" altLang="en-US"/>
              <a:t>体操红块）。</a:t>
            </a:r>
            <a:endParaRPr lang="en-US" altLang="zh-CN"/>
          </a:p>
          <a:p>
            <a:pPr marL="0" indent="0">
              <a:buNone/>
            </a:pPr>
            <a:r>
              <a:rPr lang="zh-CN" altLang="en-US"/>
              <a:t>小提琴图：</a:t>
            </a:r>
            <a:endParaRPr lang="zh-CN" altLang="en-US"/>
          </a:p>
          <a:p>
            <a:pPr marL="0" indent="0">
              <a:buNone/>
            </a:pPr>
            <a:r>
              <a:rPr lang="zh-CN" altLang="en-US"/>
              <a:t>设计目的：展示</a:t>
            </a:r>
            <a:r>
              <a:rPr lang="en-US" altLang="zh-CN"/>
              <a:t>MC</a:t>
            </a:r>
            <a:r>
              <a:rPr lang="zh-CN" altLang="en-US"/>
              <a:t>分布密度（如</a:t>
            </a:r>
            <a:r>
              <a:rPr lang="en-US" altLang="zh-CN"/>
              <a:t>2028</a:t>
            </a:r>
            <a:r>
              <a:rPr lang="zh-CN" altLang="en-US"/>
              <a:t>奖牌区间），量化不确定（如</a:t>
            </a:r>
            <a:r>
              <a:rPr lang="en-US" altLang="zh-CN"/>
              <a:t>95%CI</a:t>
            </a:r>
            <a:r>
              <a:rPr lang="zh-CN" altLang="en-US"/>
              <a:t>宽</a:t>
            </a:r>
            <a:r>
              <a:rPr lang="en-US" altLang="zh-CN"/>
              <a:t>&lt;10</a:t>
            </a:r>
            <a:r>
              <a:rPr lang="zh-CN" altLang="en-US"/>
              <a:t>枚），支持子</a:t>
            </a:r>
            <a:r>
              <a:rPr lang="en-US" altLang="zh-CN"/>
              <a:t>3</a:t>
            </a:r>
            <a:r>
              <a:rPr lang="zh-CN" altLang="en-US"/>
              <a:t>赔率</a:t>
            </a:r>
            <a:r>
              <a:rPr lang="en-US" altLang="zh-CN"/>
              <a:t>/</a:t>
            </a:r>
            <a:r>
              <a:rPr lang="zh-CN" altLang="en-US"/>
              <a:t>概率。</a:t>
            </a:r>
            <a:endParaRPr lang="zh-CN" altLang="en-US"/>
          </a:p>
          <a:p>
            <a:pPr marL="0" indent="0">
              <a:buNone/>
            </a:pPr>
            <a:r>
              <a:rPr lang="zh-CN" altLang="en-US"/>
              <a:t>评委</a:t>
            </a:r>
            <a:r>
              <a:rPr lang="en-US" altLang="zh-CN"/>
              <a:t>10</a:t>
            </a:r>
            <a:r>
              <a:rPr lang="zh-CN" altLang="en-US"/>
              <a:t>秒看懂：</a:t>
            </a:r>
            <a:r>
              <a:rPr lang="en-US" altLang="zh-CN"/>
              <a:t> violin</a:t>
            </a:r>
            <a:r>
              <a:rPr lang="zh-CN" altLang="en-US"/>
              <a:t>胖</a:t>
            </a:r>
            <a:r>
              <a:rPr lang="en-US" altLang="zh-CN"/>
              <a:t>=</a:t>
            </a:r>
            <a:r>
              <a:rPr lang="zh-CN" altLang="en-US"/>
              <a:t>高概率区，小提琴尾巴</a:t>
            </a:r>
            <a:r>
              <a:rPr lang="en-US" altLang="zh-CN"/>
              <a:t>=</a:t>
            </a:r>
            <a:r>
              <a:rPr lang="zh-CN" altLang="en-US"/>
              <a:t>极端值，组间比较不确定差异。</a:t>
            </a:r>
            <a:endParaRPr lang="zh-CN" altLang="en-US"/>
          </a:p>
        </p:txBody>
      </p:sp>
    </p:spTree>
    <p:custDataLst>
      <p:tags r:id="rId2"/>
    </p:custData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sz="quarter" idx="13"/>
            <p:custDataLst>
              <p:tags r:id="rId1"/>
            </p:custDataLst>
          </p:nvPr>
        </p:nvSpPr>
        <p:spPr/>
        <p:txBody>
          <a:bodyPr>
            <a:normAutofit fontScale="90000"/>
          </a:bodyPr>
          <a:p>
            <a:pPr marL="0" indent="0">
              <a:buNone/>
            </a:pPr>
            <a:r>
              <a:rPr lang="en-US" altLang="zh-CN"/>
              <a:t>C. </a:t>
            </a:r>
            <a:r>
              <a:rPr lang="zh-CN" altLang="en-US"/>
              <a:t>对比不同方案</a:t>
            </a:r>
            <a:endParaRPr lang="en-US" altLang="zh-CN"/>
          </a:p>
          <a:p>
            <a:pPr marL="0" indent="0">
              <a:buNone/>
            </a:pPr>
            <a:r>
              <a:rPr lang="zh-CN" altLang="en-US"/>
              <a:t>分组柱状图：</a:t>
            </a:r>
            <a:endParaRPr lang="zh-CN" altLang="en-US"/>
          </a:p>
          <a:p>
            <a:pPr marL="0" indent="0">
              <a:buNone/>
            </a:pPr>
            <a:r>
              <a:rPr lang="zh-CN" altLang="en-US"/>
              <a:t>设计目的：对比情景（如乐观下</a:t>
            </a:r>
            <a:r>
              <a:rPr lang="en-US" altLang="zh-CN"/>
              <a:t>CHN</a:t>
            </a:r>
            <a:r>
              <a:rPr lang="zh-CN" altLang="en-US"/>
              <a:t>超</a:t>
            </a:r>
            <a:r>
              <a:rPr lang="en-US" altLang="zh-CN"/>
              <a:t>USA</a:t>
            </a:r>
            <a:r>
              <a:rPr lang="zh-CN" altLang="en-US"/>
              <a:t>），展示鲁棒性（不同假设下排名稳定），支持子</a:t>
            </a:r>
            <a:r>
              <a:rPr lang="en-US" altLang="zh-CN"/>
              <a:t>2/6</a:t>
            </a:r>
            <a:r>
              <a:rPr lang="zh-CN" altLang="en-US"/>
              <a:t>政策敏感性。</a:t>
            </a:r>
            <a:endParaRPr lang="zh-CN" altLang="en-US"/>
          </a:p>
          <a:p>
            <a:pPr marL="0" indent="0">
              <a:buNone/>
            </a:pPr>
            <a:r>
              <a:rPr lang="zh-CN" altLang="en-US"/>
              <a:t>评委</a:t>
            </a:r>
            <a:r>
              <a:rPr lang="en-US" altLang="zh-CN"/>
              <a:t>10</a:t>
            </a:r>
            <a:r>
              <a:rPr lang="zh-CN" altLang="en-US"/>
              <a:t>秒看懂：组柱颜色</a:t>
            </a:r>
            <a:r>
              <a:rPr lang="en-US" altLang="zh-CN"/>
              <a:t>=</a:t>
            </a:r>
            <a:r>
              <a:rPr lang="zh-CN" altLang="en-US"/>
              <a:t>情景，高度</a:t>
            </a:r>
            <a:r>
              <a:rPr lang="en-US" altLang="zh-CN"/>
              <a:t>=</a:t>
            </a:r>
            <a:r>
              <a:rPr lang="zh-CN" altLang="en-US"/>
              <a:t>奖牌数，立即看出</a:t>
            </a:r>
            <a:r>
              <a:rPr lang="en-US" altLang="zh-CN"/>
              <a:t>“</a:t>
            </a:r>
            <a:r>
              <a:rPr lang="zh-CN" altLang="en-US"/>
              <a:t>极端</a:t>
            </a:r>
            <a:r>
              <a:rPr lang="en-US" altLang="zh-CN"/>
              <a:t>”</a:t>
            </a:r>
            <a:r>
              <a:rPr lang="zh-CN" altLang="en-US"/>
              <a:t>下变化最大。</a:t>
            </a:r>
            <a:endParaRPr lang="en-US" altLang="zh-CN"/>
          </a:p>
          <a:p>
            <a:pPr marL="0" indent="0">
              <a:buNone/>
            </a:pPr>
            <a:r>
              <a:rPr lang="zh-CN" altLang="en-US"/>
              <a:t>箱线图：</a:t>
            </a:r>
            <a:endParaRPr lang="zh-CN" altLang="en-US"/>
          </a:p>
          <a:p>
            <a:pPr marL="0" indent="0">
              <a:buNone/>
            </a:pPr>
            <a:r>
              <a:rPr lang="zh-CN" altLang="en-US"/>
              <a:t>设计目的：呈现噪声</a:t>
            </a:r>
            <a:r>
              <a:rPr lang="en-US" altLang="zh-CN"/>
              <a:t>/</a:t>
            </a:r>
            <a:r>
              <a:rPr lang="zh-CN" altLang="en-US"/>
              <a:t>扰动下预测分布（如</a:t>
            </a:r>
            <a:r>
              <a:rPr lang="en-US" altLang="zh-CN"/>
              <a:t>10%</a:t>
            </a:r>
            <a:r>
              <a:rPr lang="zh-CN" altLang="en-US"/>
              <a:t>噪声</a:t>
            </a:r>
            <a:r>
              <a:rPr lang="en-US" altLang="zh-CN"/>
              <a:t>MAE&lt;5</a:t>
            </a:r>
            <a:r>
              <a:rPr lang="zh-CN" altLang="en-US"/>
              <a:t>枚），证明模型稳健，支持子</a:t>
            </a:r>
            <a:r>
              <a:rPr lang="en-US" altLang="zh-CN"/>
              <a:t>1</a:t>
            </a:r>
            <a:r>
              <a:rPr lang="zh-CN" altLang="en-US"/>
              <a:t>性能。</a:t>
            </a:r>
            <a:endParaRPr lang="zh-CN" altLang="en-US"/>
          </a:p>
          <a:p>
            <a:pPr marL="0" indent="0">
              <a:buNone/>
            </a:pPr>
            <a:r>
              <a:rPr lang="zh-CN" altLang="en-US"/>
              <a:t>评委</a:t>
            </a:r>
            <a:r>
              <a:rPr lang="en-US" altLang="zh-CN"/>
              <a:t>10</a:t>
            </a:r>
            <a:r>
              <a:rPr lang="zh-CN" altLang="en-US"/>
              <a:t>秒看懂：中位线</a:t>
            </a:r>
            <a:r>
              <a:rPr lang="en-US" altLang="zh-CN"/>
              <a:t>=</a:t>
            </a:r>
            <a:r>
              <a:rPr lang="zh-CN" altLang="en-US"/>
              <a:t>平均预测，箱宽</a:t>
            </a:r>
            <a:r>
              <a:rPr lang="en-US" altLang="zh-CN"/>
              <a:t>=</a:t>
            </a:r>
            <a:r>
              <a:rPr lang="zh-CN" altLang="en-US"/>
              <a:t>变异小，离群点少</a:t>
            </a:r>
            <a:r>
              <a:rPr lang="en-US" altLang="zh-CN"/>
              <a:t>=</a:t>
            </a:r>
            <a:r>
              <a:rPr lang="zh-CN" altLang="en-US"/>
              <a:t>鲁棒强。</a:t>
            </a:r>
            <a:endParaRPr lang="en-US" altLang="zh-CN"/>
          </a:p>
          <a:p>
            <a:pPr marL="0" indent="0">
              <a:buNone/>
            </a:pPr>
            <a:r>
              <a:rPr lang="zh-CN" altLang="en-US"/>
              <a:t>雷达图：</a:t>
            </a:r>
            <a:endParaRPr lang="zh-CN" altLang="en-US"/>
          </a:p>
          <a:p>
            <a:pPr marL="0" indent="0">
              <a:buNone/>
            </a:pPr>
            <a:r>
              <a:rPr lang="zh-CN" altLang="en-US"/>
              <a:t>设计目的：多维对比国家（如奖牌</a:t>
            </a:r>
            <a:r>
              <a:rPr lang="en-US" altLang="zh-CN"/>
              <a:t>/</a:t>
            </a:r>
            <a:r>
              <a:rPr lang="zh-CN" altLang="en-US"/>
              <a:t>项目</a:t>
            </a:r>
            <a:r>
              <a:rPr lang="en-US" altLang="zh-CN"/>
              <a:t>/</a:t>
            </a:r>
            <a:r>
              <a:rPr lang="zh-CN" altLang="en-US"/>
              <a:t>教练</a:t>
            </a:r>
            <a:r>
              <a:rPr lang="en-US" altLang="zh-CN"/>
              <a:t>/</a:t>
            </a:r>
            <a:r>
              <a:rPr lang="zh-CN" altLang="en-US"/>
              <a:t>性别分数），突出洞见（如小国专注</a:t>
            </a:r>
            <a:r>
              <a:rPr lang="en-US" altLang="zh-CN"/>
              <a:t>ROI</a:t>
            </a:r>
            <a:r>
              <a:rPr lang="zh-CN" altLang="en-US"/>
              <a:t>高），支持子</a:t>
            </a:r>
            <a:r>
              <a:rPr lang="en-US" altLang="zh-CN"/>
              <a:t>5/6</a:t>
            </a:r>
            <a:r>
              <a:rPr lang="zh-CN" altLang="en-US"/>
              <a:t>推荐。</a:t>
            </a:r>
            <a:endParaRPr lang="zh-CN" altLang="en-US"/>
          </a:p>
          <a:p>
            <a:pPr marL="0" indent="0">
              <a:buNone/>
            </a:pPr>
            <a:r>
              <a:rPr lang="zh-CN" altLang="en-US"/>
              <a:t>评委</a:t>
            </a:r>
            <a:r>
              <a:rPr lang="en-US" altLang="zh-CN"/>
              <a:t>10</a:t>
            </a:r>
            <a:r>
              <a:rPr lang="zh-CN" altLang="en-US"/>
              <a:t>秒看懂：多边形面积</a:t>
            </a:r>
            <a:r>
              <a:rPr lang="en-US" altLang="zh-CN"/>
              <a:t>=</a:t>
            </a:r>
            <a:r>
              <a:rPr lang="zh-CN" altLang="en-US"/>
              <a:t>综合实力，轴标签</a:t>
            </a:r>
            <a:r>
              <a:rPr lang="en-US" altLang="zh-CN"/>
              <a:t>=</a:t>
            </a:r>
            <a:r>
              <a:rPr lang="zh-CN" altLang="en-US"/>
              <a:t>维度，</a:t>
            </a:r>
            <a:r>
              <a:rPr lang="en-US" altLang="zh-CN"/>
              <a:t>Top3</a:t>
            </a:r>
            <a:r>
              <a:rPr lang="zh-CN" altLang="en-US"/>
              <a:t>国家叠加对比优势。</a:t>
            </a:r>
            <a:endParaRPr lang="zh-CN" altLang="en-US"/>
          </a:p>
        </p:txBody>
      </p:sp>
    </p:spTree>
    <p:custDataLst>
      <p:tags r:id="rId2"/>
    </p:custData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sz="quarter" idx="13"/>
            <p:custDataLst>
              <p:tags r:id="rId1"/>
            </p:custDataLst>
          </p:nvPr>
        </p:nvSpPr>
        <p:spPr/>
        <p:txBody>
          <a:bodyPr/>
          <a:p>
            <a:pPr marL="0" indent="0">
              <a:buNone/>
            </a:pPr>
            <a:r>
              <a:rPr lang="en-US" altLang="zh-CN"/>
              <a:t>Python</a:t>
            </a:r>
            <a:r>
              <a:rPr lang="zh-CN" altLang="en-US"/>
              <a:t>绘图建议</a:t>
            </a:r>
            <a:r>
              <a:rPr lang="en-US" altLang="zh-CN"/>
              <a:t> </a:t>
            </a:r>
            <a:r>
              <a:rPr lang="zh-CN" altLang="en-US"/>
              <a:t>或</a:t>
            </a:r>
            <a:r>
              <a:rPr lang="en-US" altLang="zh-CN"/>
              <a:t> “</a:t>
            </a:r>
            <a:r>
              <a:rPr lang="zh-CN" altLang="en-US"/>
              <a:t>海报级</a:t>
            </a:r>
            <a:r>
              <a:rPr lang="en-US" altLang="zh-CN"/>
              <a:t>”</a:t>
            </a:r>
            <a:r>
              <a:rPr lang="zh-CN" altLang="en-US"/>
              <a:t>图形设计思路</a:t>
            </a:r>
            <a:endParaRPr lang="en-US" altLang="zh-CN"/>
          </a:p>
          <a:p>
            <a:pPr marL="0" indent="0">
              <a:buNone/>
            </a:pPr>
            <a:r>
              <a:rPr lang="zh-CN" altLang="en-US"/>
              <a:t>所有建议用</a:t>
            </a:r>
            <a:r>
              <a:rPr lang="en-US" altLang="zh-CN"/>
              <a:t>matplotlib/seaborn</a:t>
            </a:r>
            <a:r>
              <a:rPr lang="zh-CN" altLang="en-US"/>
              <a:t>（静态</a:t>
            </a:r>
            <a:r>
              <a:rPr lang="en-US" altLang="zh-CN"/>
              <a:t>PDF</a:t>
            </a:r>
            <a:r>
              <a:rPr lang="zh-CN" altLang="en-US"/>
              <a:t>友好），分辨率</a:t>
            </a:r>
            <a:r>
              <a:rPr lang="en-US" altLang="zh-CN"/>
              <a:t>dpi=300</a:t>
            </a:r>
            <a:r>
              <a:rPr lang="zh-CN" altLang="en-US"/>
              <a:t>，保存</a:t>
            </a:r>
            <a:r>
              <a:rPr lang="en-US" altLang="zh-CN"/>
              <a:t>plt.savefig('fig.png', bbox_inches='tight')</a:t>
            </a:r>
            <a:r>
              <a:rPr lang="zh-CN" altLang="en-US"/>
              <a:t>。代码模块化，便于竞赛复用。设计思路：海报级（简洁、大字体、奥运主题色、无网格线、标题居中、图例右上）、每图</a:t>
            </a:r>
            <a:r>
              <a:rPr lang="en-US" altLang="zh-CN"/>
              <a:t>1-2</a:t>
            </a:r>
            <a:r>
              <a:rPr lang="zh-CN" altLang="en-US"/>
              <a:t>句</a:t>
            </a:r>
            <a:r>
              <a:rPr lang="en-US" altLang="zh-CN"/>
              <a:t>caption</a:t>
            </a:r>
            <a:r>
              <a:rPr lang="zh-CN" altLang="en-US"/>
              <a:t>（</a:t>
            </a:r>
            <a:r>
              <a:rPr lang="en-US" altLang="zh-CN"/>
              <a:t>e.g., “Figure 1: Model Pipeline Highlighting Innovations”</a:t>
            </a:r>
            <a:r>
              <a:rPr lang="zh-CN" altLang="en-US"/>
              <a:t>）。</a:t>
            </a:r>
            <a:endParaRPr lang="zh-CN" altLang="en-US"/>
          </a:p>
        </p:txBody>
      </p:sp>
    </p:spTree>
    <p:custDataLst>
      <p:tags r:id="rId2"/>
    </p:custData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sz="quarter" idx="13"/>
            <p:custDataLst>
              <p:tags r:id="rId1"/>
            </p:custDataLst>
          </p:nvPr>
        </p:nvSpPr>
        <p:spPr/>
        <p:txBody>
          <a:bodyPr>
            <a:normAutofit fontScale="60000"/>
          </a:bodyPr>
          <a:p>
            <a:pPr marL="0" indent="0">
              <a:buNone/>
            </a:pPr>
            <a:r>
              <a:rPr lang="en-US" altLang="zh-CN"/>
              <a:t># ==================== </a:t>
            </a:r>
            <a:r>
              <a:rPr lang="zh-CN" altLang="en-US"/>
              <a:t>可视化模块</a:t>
            </a:r>
            <a:r>
              <a:rPr lang="en-US" altLang="zh-CN"/>
              <a:t> ==================== def visualize_results(pred_2028, robustness_results, medals_full):     """     </a:t>
            </a:r>
            <a:r>
              <a:rPr lang="zh-CN" altLang="en-US"/>
              <a:t>生成所有建议图表</a:t>
            </a:r>
            <a:r>
              <a:rPr lang="en-US" altLang="zh-CN"/>
              <a:t>     </a:t>
            </a:r>
            <a:r>
              <a:rPr lang="zh-CN" altLang="en-US"/>
              <a:t>保存为高清</a:t>
            </a:r>
            <a:r>
              <a:rPr lang="en-US" altLang="zh-CN"/>
              <a:t>PNG</a:t>
            </a:r>
            <a:r>
              <a:rPr lang="zh-CN" altLang="en-US"/>
              <a:t>，竞赛论文直接插入</a:t>
            </a:r>
            <a:r>
              <a:rPr lang="en-US" altLang="zh-CN"/>
              <a:t>     """     plt.rcParams.update({'font.size': 12, 'font.family': 'Arial', 'axes.titlesize': 14})     olympic_colors = ['#0085C7', '#F4C300', '#000000', '#009F3D', '#DF0024']  # </a:t>
            </a:r>
            <a:r>
              <a:rPr lang="zh-CN" altLang="en-US"/>
              <a:t>五环色</a:t>
            </a:r>
            <a:r>
              <a:rPr lang="en-US" altLang="zh-CN"/>
              <a:t>          # A1. </a:t>
            </a:r>
            <a:r>
              <a:rPr lang="zh-CN" altLang="en-US"/>
              <a:t>流程图</a:t>
            </a:r>
            <a:r>
              <a:rPr lang="en-US" altLang="zh-CN"/>
              <a:t> (</a:t>
            </a:r>
            <a:r>
              <a:rPr lang="zh-CN" altLang="en-US"/>
              <a:t>用</a:t>
            </a:r>
            <a:r>
              <a:rPr lang="en-US" altLang="zh-CN"/>
              <a:t>networkx</a:t>
            </a:r>
            <a:r>
              <a:rPr lang="zh-CN" altLang="en-US"/>
              <a:t>简单模拟</a:t>
            </a:r>
            <a:r>
              <a:rPr lang="en-US" altLang="zh-CN"/>
              <a:t>DAG)     import networkx as nx     from networkx.drawing.nx_pydot import graphviz_layout     G = nx.DiGraph()     G.add_edges_from([('Data (CSV)', 'Cleaning'), ('Cleaning', 'Features (</a:t>
            </a:r>
            <a:r>
              <a:rPr lang="zh-CN" altLang="en-US"/>
              <a:t>性别</a:t>
            </a:r>
            <a:r>
              <a:rPr lang="en-US" altLang="zh-CN"/>
              <a:t>/</a:t>
            </a:r>
            <a:r>
              <a:rPr lang="zh-CN" altLang="en-US"/>
              <a:t>年龄代理</a:t>
            </a:r>
            <a:r>
              <a:rPr lang="en-US" altLang="zh-CN"/>
              <a:t>)'),                       ('Features', 'Ensemble (ZINB+RF+Tobit)'), ('Ensemble', 'NMF</a:t>
            </a:r>
            <a:r>
              <a:rPr lang="zh-CN" altLang="en-US"/>
              <a:t>亲和矩阵</a:t>
            </a:r>
            <a:r>
              <a:rPr lang="en-US" altLang="zh-CN"/>
              <a:t>'),                       ('NMF', 'SCM</a:t>
            </a:r>
            <a:r>
              <a:rPr lang="zh-CN" altLang="en-US"/>
              <a:t>教练网络</a:t>
            </a:r>
            <a:r>
              <a:rPr lang="en-US" altLang="zh-CN"/>
              <a:t>'), ('SCM', '2028</a:t>
            </a:r>
            <a:r>
              <a:rPr lang="zh-CN" altLang="en-US"/>
              <a:t>预测</a:t>
            </a:r>
            <a:r>
              <a:rPr lang="en-US" altLang="zh-CN"/>
              <a:t> + CI')])     pos = graphviz_layout(G, prog='dot')     plt.figure(figsize=(10, 6))     nx.draw(G, pos, with_labels=True, node_color=olympic_colors[0], node_size=2000, font_size=10, arrowsize=20)     plt.title('Figure 1: Model Structure Pipeline')     plt.savefig('model_structure_flowchart.png', dpi=300, bbox_inches='tight')          # B1. </a:t>
            </a:r>
            <a:r>
              <a:rPr lang="zh-CN" altLang="en-US"/>
              <a:t>折线图</a:t>
            </a:r>
            <a:r>
              <a:rPr lang="en-US" altLang="zh-CN"/>
              <a:t> (</a:t>
            </a:r>
            <a:r>
              <a:rPr lang="zh-CN" altLang="en-US"/>
              <a:t>趋势</a:t>
            </a:r>
            <a:r>
              <a:rPr lang="en-US" altLang="zh-CN"/>
              <a:t>)     plt.figure(figsize=(12, 6))     top_nocs = pred_2028['NOC'].head(5).tolist()     trend_df = medals_full[medals_full['NOC'].isin(top_nocs)].pivot('Year', 'NOC', 'Medal_Share')     trend_df.plot(kind='line', color=olympic_colors[:5], linewidth=2)     for noc in top_nocs:         plt.plot([2024, 2028], [trend_df.loc[2024, noc], pred_2028[pred_2028['NOC']==noc]['Pred_Medal_Share'].values[0]],                  color='dashed', linewidth=1.5)         plt.fill_between([2024, 2028], pred_2028[pred_2028['NOC']==noc]['CI_Lower'].values[0],                          pred_2028[pred_2028['NOC']==noc]['CI_Upper'].values[0], alpha=0.2)     plt.title('Figure 2: Historical Medal Share Trends with 2028 Predictions')     plt.ylabel('Medal Share (%)')     plt.savefig('trends_line_plot.png', dpi=300, bbox_inches='tight')          # C1. </a:t>
            </a:r>
            <a:r>
              <a:rPr lang="zh-CN" altLang="en-US"/>
              <a:t>分组柱状图</a:t>
            </a:r>
            <a:r>
              <a:rPr lang="en-US" altLang="zh-CN"/>
              <a:t> (</a:t>
            </a:r>
            <a:r>
              <a:rPr lang="zh-CN" altLang="en-US"/>
              <a:t>情景对比</a:t>
            </a:r>
            <a:r>
              <a:rPr lang="en-US" altLang="zh-CN"/>
              <a:t>)     scenario_df = pd.DataFrame(robustness_results['scenario_preds']).T     scenario_df.plot(kind='bar', figsize=(10, 6), color=olympic_colors[:3])     plt.title('Figure 3: 2028 Medal Shares under Different Scenarios')     plt.ylabel('Average Predicted Share')     plt.savefig('scenarios_bar_chart.png', dpi=300, bbox_inches='tight')          # </a:t>
            </a:r>
            <a:r>
              <a:rPr lang="zh-CN" altLang="en-US"/>
              <a:t>其他图类似实现（热图</a:t>
            </a:r>
            <a:r>
              <a:rPr lang="en-US" altLang="zh-CN"/>
              <a:t>: sns.heatmap</a:t>
            </a:r>
            <a:r>
              <a:rPr lang="zh-CN" altLang="en-US"/>
              <a:t>；箱线</a:t>
            </a:r>
            <a:r>
              <a:rPr lang="en-US" altLang="zh-CN"/>
              <a:t>: sns.boxplot</a:t>
            </a:r>
            <a:r>
              <a:rPr lang="zh-CN" altLang="en-US"/>
              <a:t>；雷达</a:t>
            </a:r>
            <a:r>
              <a:rPr lang="en-US" altLang="zh-CN"/>
              <a:t>: plt.polar + fill</a:t>
            </a:r>
            <a:r>
              <a:rPr lang="zh-CN" altLang="en-US"/>
              <a:t>）</a:t>
            </a:r>
            <a:r>
              <a:rPr lang="en-US" altLang="zh-CN"/>
              <a:t>     print("All figures saved as PNG for paper insertion.")  # </a:t>
            </a:r>
            <a:r>
              <a:rPr lang="zh-CN" altLang="en-US"/>
              <a:t>在</a:t>
            </a:r>
            <a:r>
              <a:rPr lang="en-US" altLang="zh-CN"/>
              <a:t> main() </a:t>
            </a:r>
            <a:r>
              <a:rPr lang="zh-CN" altLang="en-US"/>
              <a:t>末尾调用</a:t>
            </a:r>
            <a:r>
              <a:rPr lang="en-US" altLang="zh-CN"/>
              <a:t> # visualize_results(results_2028, robustness_results, df)</a:t>
            </a:r>
            <a:endParaRPr lang="en-US" altLang="zh-CN"/>
          </a:p>
        </p:txBody>
      </p:sp>
    </p:spTree>
    <p:custDataLst>
      <p:tags r:id="rId2"/>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081_1*a*1"/>
  <p:tag name="KSO_WM_TEMPLATE_CATEGORY" val="custom"/>
  <p:tag name="KSO_WM_TEMPLATE_INDEX" val="20205081"/>
  <p:tag name="KSO_WM_UNIT_LAYERLEVEL" val="1"/>
  <p:tag name="KSO_WM_TAG_VERSION" val="1.0"/>
  <p:tag name="KSO_WM_BEAUTIFY_FLAG" val="#wm#"/>
</p:tagLst>
</file>

<file path=ppt/tags/tag64.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111"/>
  <p:tag name="KSO_WM_UNIT_HIGHLIGHT" val="0"/>
  <p:tag name="KSO_WM_UNIT_COMPATIBLE" val="0"/>
  <p:tag name="KSO_WM_UNIT_DIAGRAM_ISNUMVISUAL" val="0"/>
  <p:tag name="KSO_WM_UNIT_DIAGRAM_ISREFERUNIT" val="0"/>
  <p:tag name="KSO_WM_UNIT_TYPE" val="b"/>
  <p:tag name="KSO_WM_UNIT_INDEX" val="1"/>
  <p:tag name="KSO_WM_UNIT_ID" val="custom20205081_1*b*1"/>
  <p:tag name="KSO_WM_TEMPLATE_CATEGORY" val="custom"/>
  <p:tag name="KSO_WM_TEMPLATE_INDEX" val="20205081"/>
  <p:tag name="KSO_WM_UNIT_LAYERLEVEL" val="1"/>
  <p:tag name="KSO_WM_TAG_VERSION" val="1.0"/>
  <p:tag name="KSO_WM_BEAUTIFY_FLAG" val="#wm#"/>
</p:tagLst>
</file>

<file path=ppt/tags/tag65.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8.xml><?xml version="1.0" encoding="utf-8"?>
<p:tagLst xmlns:p="http://schemas.openxmlformats.org/presentationml/2006/main">
  <p:tag name="KSO_WM_BEAUTIFY_FLAG" val="#wm#"/>
  <p:tag name="KSO_WM_TEMPLATE_CATEGORY" val="custom"/>
  <p:tag name="KSO_WM_TEMPLATE_INDEX" val="20205081"/>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1.xml><?xml version="1.0" encoding="utf-8"?>
<p:tagLst xmlns:p="http://schemas.openxmlformats.org/presentationml/2006/main">
  <p:tag name="KSO_WM_BEAUTIFY_FLAG" val="#wm#"/>
  <p:tag name="KSO_WM_TEMPLATE_CATEGORY" val="custom"/>
  <p:tag name="KSO_WM_TEMPLATE_INDEX" val="20205081"/>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3.xml><?xml version="1.0" encoding="utf-8"?>
<p:tagLst xmlns:p="http://schemas.openxmlformats.org/presentationml/2006/main">
  <p:tag name="TABLE_ENDDRAG_ORIGIN_RECT" val="825*210"/>
  <p:tag name="TABLE_ENDDRAG_RECT" val="67*104*825*210"/>
</p:tagLst>
</file>

<file path=ppt/tags/tag74.xml><?xml version="1.0" encoding="utf-8"?>
<p:tagLst xmlns:p="http://schemas.openxmlformats.org/presentationml/2006/main">
  <p:tag name="KSO_WM_BEAUTIFY_FLAG" val="#wm#"/>
  <p:tag name="KSO_WM_TEMPLATE_CATEGORY" val="custom"/>
  <p:tag name="KSO_WM_TEMPLATE_INDEX" val="20205081"/>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6.xml><?xml version="1.0" encoding="utf-8"?>
<p:tagLst xmlns:p="http://schemas.openxmlformats.org/presentationml/2006/main">
  <p:tag name="KSO_WM_BEAUTIFY_FLAG" val="#wm#"/>
  <p:tag name="KSO_WM_TEMPLATE_CATEGORY" val="custom"/>
  <p:tag name="KSO_WM_TEMPLATE_INDEX" val="20205081"/>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8.xml><?xml version="1.0" encoding="utf-8"?>
<p:tagLst xmlns:p="http://schemas.openxmlformats.org/presentationml/2006/main">
  <p:tag name="TABLE_ENDDRAG_ORIGIN_RECT" val="852*416"/>
  <p:tag name="TABLE_ENDDRAG_RECT" val="47*103*852*416"/>
</p:tagLst>
</file>

<file path=ppt/tags/tag79.xml><?xml version="1.0" encoding="utf-8"?>
<p:tagLst xmlns:p="http://schemas.openxmlformats.org/presentationml/2006/main">
  <p:tag name="KSO_WM_BEAUTIFY_FLAG" val="#wm#"/>
  <p:tag name="KSO_WM_TEMPLATE_CATEGORY" val="custom"/>
  <p:tag name="KSO_WM_TEMPLATE_INDEX" val="20205081"/>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2.xml><?xml version="1.0" encoding="utf-8"?>
<p:tagLst xmlns:p="http://schemas.openxmlformats.org/presentationml/2006/main">
  <p:tag name="KSO_WM_BEAUTIFY_FLAG" val="#wm#"/>
  <p:tag name="KSO_WM_TEMPLATE_CATEGORY" val="custom"/>
  <p:tag name="KSO_WM_TEMPLATE_INDEX" val="20205081"/>
</p:tagLst>
</file>

<file path=ppt/tags/tag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4.xml><?xml version="1.0" encoding="utf-8"?>
<p:tagLst xmlns:p="http://schemas.openxmlformats.org/presentationml/2006/main">
  <p:tag name="KSO_WM_BEAUTIFY_FLAG" val="#wm#"/>
  <p:tag name="KSO_WM_TEMPLATE_CATEGORY" val="custom"/>
  <p:tag name="KSO_WM_TEMPLATE_INDEX" val="20205081"/>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7.xml><?xml version="1.0" encoding="utf-8"?>
<p:tagLst xmlns:p="http://schemas.openxmlformats.org/presentationml/2006/main">
  <p:tag name="KSO_WM_BEAUTIFY_FLAG" val="#wm#"/>
  <p:tag name="KSO_WM_TEMPLATE_CATEGORY" val="custom"/>
  <p:tag name="KSO_WM_TEMPLATE_INDEX" val="20205081"/>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89.xml><?xml version="1.0" encoding="utf-8"?>
<p:tagLst xmlns:p="http://schemas.openxmlformats.org/presentationml/2006/main">
  <p:tag name="KSO_WM_BEAUTIFY_FLAG" val="#wm#"/>
  <p:tag name="KSO_WM_TEMPLATE_CATEGORY" val="custom"/>
  <p:tag name="KSO_WM_TEMPLATE_INDEX" val="20205081"/>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91.xml><?xml version="1.0" encoding="utf-8"?>
<p:tagLst xmlns:p="http://schemas.openxmlformats.org/presentationml/2006/main">
  <p:tag name="KSO_WM_BEAUTIFY_FLAG" val="#wm#"/>
  <p:tag name="KSO_WM_TEMPLATE_CATEGORY" val="custom"/>
  <p:tag name="KSO_WM_TEMPLATE_INDEX" val="20205081"/>
</p:tagLst>
</file>

<file path=ppt/tags/tag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93.xml><?xml version="1.0" encoding="utf-8"?>
<p:tagLst xmlns:p="http://schemas.openxmlformats.org/presentationml/2006/main">
  <p:tag name="KSO_WM_BEAUTIFY_FLAG" val="#wm#"/>
  <p:tag name="KSO_WM_TEMPLATE_CATEGORY" val="custom"/>
  <p:tag name="KSO_WM_TEMPLATE_INDEX" val="20205081"/>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95.xml><?xml version="1.0" encoding="utf-8"?>
<p:tagLst xmlns:p="http://schemas.openxmlformats.org/presentationml/2006/main">
  <p:tag name="KSO_WM_BEAUTIFY_FLAG" val="#wm#"/>
  <p:tag name="KSO_WM_TEMPLATE_CATEGORY" val="custom"/>
  <p:tag name="KSO_WM_TEMPLATE_INDEX" val="20205081"/>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97.xml><?xml version="1.0" encoding="utf-8"?>
<p:tagLst xmlns:p="http://schemas.openxmlformats.org/presentationml/2006/main">
  <p:tag name="KSO_WM_BEAUTIFY_FLAG" val="#wm#"/>
  <p:tag name="KSO_WM_TEMPLATE_CATEGORY" val="custom"/>
  <p:tag name="KSO_WM_TEMPLATE_INDEX" val="20205081"/>
</p:tagLst>
</file>

<file path=ppt/tags/tag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99.xml><?xml version="1.0" encoding="utf-8"?>
<p:tagLst xmlns:p="http://schemas.openxmlformats.org/presentationml/2006/main">
  <p:tag name="KSO_WM_BEAUTIFY_FLAG" val="#wm#"/>
  <p:tag name="KSO_WM_TEMPLATE_CATEGORY" val="custom"/>
  <p:tag name="KSO_WM_TEMPLATE_INDEX" val="20205081"/>
</p:tagLst>
</file>

<file path=ppt/tags/tag1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01.xml><?xml version="1.0" encoding="utf-8"?>
<p:tagLst xmlns:p="http://schemas.openxmlformats.org/presentationml/2006/main">
  <p:tag name="KSO_WM_BEAUTIFY_FLAG" val="#wm#"/>
  <p:tag name="KSO_WM_TEMPLATE_CATEGORY" val="custom"/>
  <p:tag name="KSO_WM_TEMPLATE_INDEX" val="20205081"/>
</p:tagLst>
</file>

<file path=ppt/tags/tag1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03.xml><?xml version="1.0" encoding="utf-8"?>
<p:tagLst xmlns:p="http://schemas.openxmlformats.org/presentationml/2006/main">
  <p:tag name="KSO_WM_BEAUTIFY_FLAG" val="#wm#"/>
  <p:tag name="KSO_WM_TEMPLATE_CATEGORY" val="custom"/>
  <p:tag name="KSO_WM_TEMPLATE_INDEX" val="20205081"/>
</p:tagLst>
</file>

<file path=ppt/tags/tag1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05.xml><?xml version="1.0" encoding="utf-8"?>
<p:tagLst xmlns:p="http://schemas.openxmlformats.org/presentationml/2006/main">
  <p:tag name="KSO_WM_BEAUTIFY_FLAG" val="#wm#"/>
  <p:tag name="KSO_WM_TEMPLATE_CATEGORY" val="custom"/>
  <p:tag name="KSO_WM_TEMPLATE_INDEX" val="20205081"/>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07.xml><?xml version="1.0" encoding="utf-8"?>
<p:tagLst xmlns:p="http://schemas.openxmlformats.org/presentationml/2006/main">
  <p:tag name="KSO_WM_BEAUTIFY_FLAG" val="#wm#"/>
  <p:tag name="KSO_WM_TEMPLATE_CATEGORY" val="custom"/>
  <p:tag name="KSO_WM_TEMPLATE_INDEX" val="20205081"/>
</p:tagLst>
</file>

<file path=ppt/tags/tag1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09.xml><?xml version="1.0" encoding="utf-8"?>
<p:tagLst xmlns:p="http://schemas.openxmlformats.org/presentationml/2006/main">
  <p:tag name="KSO_WM_BEAUTIFY_FLAG" val="#wm#"/>
  <p:tag name="KSO_WM_TEMPLATE_CATEGORY" val="custom"/>
  <p:tag name="KSO_WM_TEMPLATE_INDEX" val="20205081"/>
</p:tagLst>
</file>

<file path=ppt/tags/tag1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11.xml><?xml version="1.0" encoding="utf-8"?>
<p:tagLst xmlns:p="http://schemas.openxmlformats.org/presentationml/2006/main">
  <p:tag name="KSO_WM_BEAUTIFY_FLAG" val="#wm#"/>
  <p:tag name="KSO_WM_TEMPLATE_CATEGORY" val="custom"/>
  <p:tag name="KSO_WM_TEMPLATE_INDEX" val="20205081"/>
</p:tagLst>
</file>

<file path=ppt/tags/tag1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4.xml><?xml version="1.0" encoding="utf-8"?>
<p:tagLst xmlns:p="http://schemas.openxmlformats.org/presentationml/2006/main">
  <p:tag name="KSO_WM_BEAUTIFY_FLAG" val="#wm#"/>
  <p:tag name="KSO_WM_TEMPLATE_CATEGORY" val="custom"/>
  <p:tag name="KSO_WM_TEMPLATE_INDEX" val="20205081"/>
</p:tagLst>
</file>

<file path=ppt/tags/tag1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7.xml><?xml version="1.0" encoding="utf-8"?>
<p:tagLst xmlns:p="http://schemas.openxmlformats.org/presentationml/2006/main">
  <p:tag name="KSO_WM_BEAUTIFY_FLAG" val="#wm#"/>
  <p:tag name="KSO_WM_TEMPLATE_CATEGORY" val="custom"/>
  <p:tag name="KSO_WM_TEMPLATE_INDEX" val="20205081"/>
</p:tagLst>
</file>

<file path=ppt/tags/tag1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0.xml><?xml version="1.0" encoding="utf-8"?>
<p:tagLst xmlns:p="http://schemas.openxmlformats.org/presentationml/2006/main">
  <p:tag name="KSO_WM_BEAUTIFY_FLAG" val="#wm#"/>
  <p:tag name="KSO_WM_TEMPLATE_CATEGORY" val="custom"/>
  <p:tag name="KSO_WM_TEMPLATE_INDEX" val="20205081"/>
</p:tagLst>
</file>

<file path=ppt/tags/tag1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3.xml><?xml version="1.0" encoding="utf-8"?>
<p:tagLst xmlns:p="http://schemas.openxmlformats.org/presentationml/2006/main">
  <p:tag name="KSO_WM_BEAUTIFY_FLAG" val="#wm#"/>
  <p:tag name="KSO_WM_TEMPLATE_CATEGORY" val="custom"/>
  <p:tag name="KSO_WM_TEMPLATE_INDEX" val="20205081"/>
</p:tagLst>
</file>

<file path=ppt/tags/tag1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6.xml><?xml version="1.0" encoding="utf-8"?>
<p:tagLst xmlns:p="http://schemas.openxmlformats.org/presentationml/2006/main">
  <p:tag name="KSO_WM_BEAUTIFY_FLAG" val="#wm#"/>
  <p:tag name="KSO_WM_TEMPLATE_CATEGORY" val="custom"/>
  <p:tag name="KSO_WM_TEMPLATE_INDEX" val="20205081"/>
</p:tagLst>
</file>

<file path=ppt/tags/tag1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9.xml><?xml version="1.0" encoding="utf-8"?>
<p:tagLst xmlns:p="http://schemas.openxmlformats.org/presentationml/2006/main">
  <p:tag name="KSO_WM_BEAUTIFY_FLAG" val="#wm#"/>
  <p:tag name="KSO_WM_TEMPLATE_CATEGORY" val="custom"/>
  <p:tag name="KSO_WM_TEMPLATE_INDEX" val="20205081"/>
</p:tagLst>
</file>

<file path=ppt/tags/tag1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2.xml><?xml version="1.0" encoding="utf-8"?>
<p:tagLst xmlns:p="http://schemas.openxmlformats.org/presentationml/2006/main">
  <p:tag name="KSO_WM_BEAUTIFY_FLAG" val="#wm#"/>
  <p:tag name="KSO_WM_TEMPLATE_CATEGORY" val="custom"/>
  <p:tag name="KSO_WM_TEMPLATE_INDEX" val="20205081"/>
</p:tagLst>
</file>

<file path=ppt/tags/tag1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5.xml><?xml version="1.0" encoding="utf-8"?>
<p:tagLst xmlns:p="http://schemas.openxmlformats.org/presentationml/2006/main">
  <p:tag name="KSO_WM_BEAUTIFY_FLAG" val="#wm#"/>
  <p:tag name="KSO_WM_TEMPLATE_CATEGORY" val="custom"/>
  <p:tag name="KSO_WM_TEMPLATE_INDEX" val="20205081"/>
</p:tagLst>
</file>

<file path=ppt/tags/tag1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37.xml><?xml version="1.0" encoding="utf-8"?>
<p:tagLst xmlns:p="http://schemas.openxmlformats.org/presentationml/2006/main">
  <p:tag name="KSO_WM_BEAUTIFY_FLAG" val="#wm#"/>
  <p:tag name="KSO_WM_TEMPLATE_CATEGORY" val="custom"/>
  <p:tag name="KSO_WM_TEMPLATE_INDEX" val="20205081"/>
</p:tagLst>
</file>

<file path=ppt/tags/tag1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39.xml><?xml version="1.0" encoding="utf-8"?>
<p:tagLst xmlns:p="http://schemas.openxmlformats.org/presentationml/2006/main">
  <p:tag name="KSO_WM_BEAUTIFY_FLAG" val="#wm#"/>
  <p:tag name="KSO_WM_TEMPLATE_CATEGORY" val="custom"/>
  <p:tag name="KSO_WM_TEMPLATE_INDEX" val="20205081"/>
</p:tagLst>
</file>

<file path=ppt/tags/tag1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41.xml><?xml version="1.0" encoding="utf-8"?>
<p:tagLst xmlns:p="http://schemas.openxmlformats.org/presentationml/2006/main">
  <p:tag name="KSO_WM_BEAUTIFY_FLAG" val="#wm#"/>
  <p:tag name="KSO_WM_TEMPLATE_CATEGORY" val="custom"/>
  <p:tag name="KSO_WM_TEMPLATE_INDEX" val="20205081"/>
</p:tagLst>
</file>

<file path=ppt/tags/tag1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43.xml><?xml version="1.0" encoding="utf-8"?>
<p:tagLst xmlns:p="http://schemas.openxmlformats.org/presentationml/2006/main">
  <p:tag name="KSO_WM_BEAUTIFY_FLAG" val="#wm#"/>
  <p:tag name="KSO_WM_TEMPLATE_CATEGORY" val="custom"/>
  <p:tag name="KSO_WM_TEMPLATE_INDEX" val="20205081"/>
</p:tagLst>
</file>

<file path=ppt/tags/tag1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45.xml><?xml version="1.0" encoding="utf-8"?>
<p:tagLst xmlns:p="http://schemas.openxmlformats.org/presentationml/2006/main">
  <p:tag name="KSO_WM_BEAUTIFY_FLAG" val="#wm#"/>
  <p:tag name="KSO_WM_TEMPLATE_CATEGORY" val="custom"/>
  <p:tag name="KSO_WM_TEMPLATE_INDEX" val="20205081"/>
</p:tagLst>
</file>

<file path=ppt/tags/tag1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8.xml><?xml version="1.0" encoding="utf-8"?>
<p:tagLst xmlns:p="http://schemas.openxmlformats.org/presentationml/2006/main">
  <p:tag name="KSO_WM_BEAUTIFY_FLAG" val="#wm#"/>
  <p:tag name="KSO_WM_TEMPLATE_CATEGORY" val="custom"/>
  <p:tag name="KSO_WM_TEMPLATE_INDEX" val="20205081"/>
</p:tagLst>
</file>

<file path=ppt/tags/tag1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50.xml><?xml version="1.0" encoding="utf-8"?>
<p:tagLst xmlns:p="http://schemas.openxmlformats.org/presentationml/2006/main">
  <p:tag name="KSO_WM_BEAUTIFY_FLAG" val="#wm#"/>
  <p:tag name="KSO_WM_TEMPLATE_CATEGORY" val="custom"/>
  <p:tag name="KSO_WM_TEMPLATE_INDEX" val="20205081"/>
</p:tagLst>
</file>

<file path=ppt/tags/tag1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52.xml><?xml version="1.0" encoding="utf-8"?>
<p:tagLst xmlns:p="http://schemas.openxmlformats.org/presentationml/2006/main">
  <p:tag name="KSO_WM_BEAUTIFY_FLAG" val="#wm#"/>
  <p:tag name="KSO_WM_TEMPLATE_CATEGORY" val="custom"/>
  <p:tag name="KSO_WM_TEMPLATE_INDEX" val="20205081"/>
</p:tagLst>
</file>

<file path=ppt/tags/tag1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54.xml><?xml version="1.0" encoding="utf-8"?>
<p:tagLst xmlns:p="http://schemas.openxmlformats.org/presentationml/2006/main">
  <p:tag name="KSO_WM_BEAUTIFY_FLAG" val="#wm#"/>
  <p:tag name="KSO_WM_TEMPLATE_CATEGORY" val="custom"/>
  <p:tag name="KSO_WM_TEMPLATE_INDEX" val="20205081"/>
</p:tagLst>
</file>

<file path=ppt/tags/tag1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56.xml><?xml version="1.0" encoding="utf-8"?>
<p:tagLst xmlns:p="http://schemas.openxmlformats.org/presentationml/2006/main">
  <p:tag name="KSO_WM_BEAUTIFY_FLAG" val="#wm#"/>
  <p:tag name="KSO_WM_TEMPLATE_CATEGORY" val="custom"/>
  <p:tag name="KSO_WM_TEMPLATE_INDEX" val="20205081"/>
</p:tagLst>
</file>

<file path=ppt/tags/tag1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58.xml><?xml version="1.0" encoding="utf-8"?>
<p:tagLst xmlns:p="http://schemas.openxmlformats.org/presentationml/2006/main">
  <p:tag name="KSO_WM_BEAUTIFY_FLAG" val="#wm#"/>
  <p:tag name="KSO_WM_TEMPLATE_CATEGORY" val="custom"/>
  <p:tag name="KSO_WM_TEMPLATE_INDEX" val="20205081"/>
</p:tagLst>
</file>

<file path=ppt/tags/tag1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1.xml><?xml version="1.0" encoding="utf-8"?>
<p:tagLst xmlns:p="http://schemas.openxmlformats.org/presentationml/2006/main">
  <p:tag name="KSO_WM_BEAUTIFY_FLAG" val="#wm#"/>
  <p:tag name="KSO_WM_TEMPLATE_CATEGORY" val="custom"/>
  <p:tag name="KSO_WM_TEMPLATE_INDEX" val="20205081"/>
</p:tagLst>
</file>

<file path=ppt/tags/tag1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63.xml><?xml version="1.0" encoding="utf-8"?>
<p:tagLst xmlns:p="http://schemas.openxmlformats.org/presentationml/2006/main">
  <p:tag name="KSO_WM_BEAUTIFY_FLAG" val="#wm#"/>
  <p:tag name="KSO_WM_TEMPLATE_CATEGORY" val="custom"/>
  <p:tag name="KSO_WM_TEMPLATE_INDEX" val="20205081"/>
</p:tagLst>
</file>

<file path=ppt/tags/tag1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65.xml><?xml version="1.0" encoding="utf-8"?>
<p:tagLst xmlns:p="http://schemas.openxmlformats.org/presentationml/2006/main">
  <p:tag name="KSO_WM_BEAUTIFY_FLAG" val="#wm#"/>
  <p:tag name="KSO_WM_TEMPLATE_CATEGORY" val="custom"/>
  <p:tag name="KSO_WM_TEMPLATE_INDEX" val="20205081"/>
</p:tagLst>
</file>

<file path=ppt/tags/tag1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67.xml><?xml version="1.0" encoding="utf-8"?>
<p:tagLst xmlns:p="http://schemas.openxmlformats.org/presentationml/2006/main">
  <p:tag name="KSO_WM_BEAUTIFY_FLAG" val="#wm#"/>
  <p:tag name="KSO_WM_TEMPLATE_CATEGORY" val="custom"/>
  <p:tag name="KSO_WM_TEMPLATE_INDEX" val="20205081"/>
</p:tagLst>
</file>

<file path=ppt/tags/tag1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69.xml><?xml version="1.0" encoding="utf-8"?>
<p:tagLst xmlns:p="http://schemas.openxmlformats.org/presentationml/2006/main">
  <p:tag name="KSO_WM_BEAUTIFY_FLAG" val="#wm#"/>
  <p:tag name="KSO_WM_TEMPLATE_CATEGORY" val="custom"/>
  <p:tag name="KSO_WM_TEMPLATE_INDEX" val="20205081"/>
</p:tagLst>
</file>

<file path=ppt/tags/tag1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71.xml><?xml version="1.0" encoding="utf-8"?>
<p:tagLst xmlns:p="http://schemas.openxmlformats.org/presentationml/2006/main">
  <p:tag name="KSO_WM_BEAUTIFY_FLAG" val="#wm#"/>
  <p:tag name="KSO_WM_TEMPLATE_CATEGORY" val="custom"/>
  <p:tag name="KSO_WM_TEMPLATE_INDEX" val="20205081"/>
</p:tagLst>
</file>

<file path=ppt/tags/tag1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4.xml><?xml version="1.0" encoding="utf-8"?>
<p:tagLst xmlns:p="http://schemas.openxmlformats.org/presentationml/2006/main">
  <p:tag name="KSO_WM_BEAUTIFY_FLAG" val="#wm#"/>
  <p:tag name="KSO_WM_TEMPLATE_CATEGORY" val="custom"/>
  <p:tag name="KSO_WM_TEMPLATE_INDEX" val="20205081"/>
</p:tagLst>
</file>

<file path=ppt/tags/tag1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76.xml><?xml version="1.0" encoding="utf-8"?>
<p:tagLst xmlns:p="http://schemas.openxmlformats.org/presentationml/2006/main">
  <p:tag name="KSO_WM_BEAUTIFY_FLAG" val="#wm#"/>
  <p:tag name="KSO_WM_TEMPLATE_CATEGORY" val="custom"/>
  <p:tag name="KSO_WM_TEMPLATE_INDEX" val="20205081"/>
</p:tagLst>
</file>

<file path=ppt/tags/tag1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9.xml><?xml version="1.0" encoding="utf-8"?>
<p:tagLst xmlns:p="http://schemas.openxmlformats.org/presentationml/2006/main">
  <p:tag name="KSO_WM_BEAUTIFY_FLAG" val="#wm#"/>
  <p:tag name="KSO_WM_TEMPLATE_CATEGORY" val="custom"/>
  <p:tag name="KSO_WM_TEMPLATE_INDEX" val="20205081"/>
</p:tagLst>
</file>

<file path=ppt/tags/tag1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82.xml><?xml version="1.0" encoding="utf-8"?>
<p:tagLst xmlns:p="http://schemas.openxmlformats.org/presentationml/2006/main">
  <p:tag name="KSO_WM_BEAUTIFY_FLAG" val="#wm#"/>
  <p:tag name="KSO_WM_TEMPLATE_CATEGORY" val="custom"/>
  <p:tag name="KSO_WM_TEMPLATE_INDEX" val="20205081"/>
</p:tagLst>
</file>

<file path=ppt/tags/tag1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85.xml><?xml version="1.0" encoding="utf-8"?>
<p:tagLst xmlns:p="http://schemas.openxmlformats.org/presentationml/2006/main">
  <p:tag name="KSO_WM_BEAUTIFY_FLAG" val="#wm#"/>
  <p:tag name="KSO_WM_TEMPLATE_CATEGORY" val="custom"/>
  <p:tag name="KSO_WM_TEMPLATE_INDEX" val="20205081"/>
</p:tagLst>
</file>

<file path=ppt/tags/tag1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88.xml><?xml version="1.0" encoding="utf-8"?>
<p:tagLst xmlns:p="http://schemas.openxmlformats.org/presentationml/2006/main">
  <p:tag name="KSO_WM_BEAUTIFY_FLAG" val="#wm#"/>
  <p:tag name="KSO_WM_TEMPLATE_CATEGORY" val="custom"/>
  <p:tag name="KSO_WM_TEMPLATE_INDEX" val="20205081"/>
</p:tagLst>
</file>

<file path=ppt/tags/tag1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91.xml><?xml version="1.0" encoding="utf-8"?>
<p:tagLst xmlns:p="http://schemas.openxmlformats.org/presentationml/2006/main">
  <p:tag name="KSO_WM_BEAUTIFY_FLAG" val="#wm#"/>
  <p:tag name="KSO_WM_TEMPLATE_CATEGORY" val="custom"/>
  <p:tag name="KSO_WM_TEMPLATE_INDEX" val="20205081"/>
</p:tagLst>
</file>

<file path=ppt/tags/tag1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94.xml><?xml version="1.0" encoding="utf-8"?>
<p:tagLst xmlns:p="http://schemas.openxmlformats.org/presentationml/2006/main">
  <p:tag name="KSO_WM_BEAUTIFY_FLAG" val="#wm#"/>
  <p:tag name="KSO_WM_TEMPLATE_CATEGORY" val="custom"/>
  <p:tag name="KSO_WM_TEMPLATE_INDEX" val="20205081"/>
</p:tagLst>
</file>

<file path=ppt/tags/tag1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97.xml><?xml version="1.0" encoding="utf-8"?>
<p:tagLst xmlns:p="http://schemas.openxmlformats.org/presentationml/2006/main">
  <p:tag name="KSO_WM_BEAUTIFY_FLAG" val="#wm#"/>
  <p:tag name="KSO_WM_TEMPLATE_CATEGORY" val="custom"/>
  <p:tag name="KSO_WM_TEMPLATE_INDEX" val="20205081"/>
</p:tagLst>
</file>

<file path=ppt/tags/tag1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99.xml><?xml version="1.0" encoding="utf-8"?>
<p:tagLst xmlns:p="http://schemas.openxmlformats.org/presentationml/2006/main">
  <p:tag name="KSO_WM_BEAUTIFY_FLAG" val="#wm#"/>
  <p:tag name="KSO_WM_TEMPLATE_CATEGORY" val="custom"/>
  <p:tag name="KSO_WM_TEMPLATE_INDEX" val="20205081"/>
</p:tagLst>
</file>

<file path=ppt/tags/tag2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02.xml><?xml version="1.0" encoding="utf-8"?>
<p:tagLst xmlns:p="http://schemas.openxmlformats.org/presentationml/2006/main">
  <p:tag name="KSO_WM_BEAUTIFY_FLAG" val="#wm#"/>
  <p:tag name="KSO_WM_TEMPLATE_CATEGORY" val="custom"/>
  <p:tag name="KSO_WM_TEMPLATE_INDEX" val="20205081"/>
</p:tagLst>
</file>

<file path=ppt/tags/tag2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05.xml><?xml version="1.0" encoding="utf-8"?>
<p:tagLst xmlns:p="http://schemas.openxmlformats.org/presentationml/2006/main">
  <p:tag name="KSO_WM_BEAUTIFY_FLAG" val="#wm#"/>
  <p:tag name="KSO_WM_TEMPLATE_CATEGORY" val="custom"/>
  <p:tag name="KSO_WM_TEMPLATE_INDEX" val="20205081"/>
</p:tagLst>
</file>

<file path=ppt/tags/tag2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207.xml><?xml version="1.0" encoding="utf-8"?>
<p:tagLst xmlns:p="http://schemas.openxmlformats.org/presentationml/2006/main">
  <p:tag name="KSO_WM_BEAUTIFY_FLAG" val="#wm#"/>
  <p:tag name="KSO_WM_TEMPLATE_CATEGORY" val="custom"/>
  <p:tag name="KSO_WM_TEMPLATE_INDEX" val="20205081"/>
</p:tagLst>
</file>

<file path=ppt/tags/tag2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209.xml><?xml version="1.0" encoding="utf-8"?>
<p:tagLst xmlns:p="http://schemas.openxmlformats.org/presentationml/2006/main">
  <p:tag name="KSO_WM_BEAUTIFY_FLAG" val="#wm#"/>
  <p:tag name="KSO_WM_TEMPLATE_CATEGORY" val="custom"/>
  <p:tag name="KSO_WM_TEMPLATE_INDEX" val="20205081"/>
</p:tagLst>
</file>

<file path=ppt/tags/tag2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211.xml><?xml version="1.0" encoding="utf-8"?>
<p:tagLst xmlns:p="http://schemas.openxmlformats.org/presentationml/2006/main">
  <p:tag name="KSO_WM_BEAUTIFY_FLAG" val="#wm#"/>
  <p:tag name="KSO_WM_TEMPLATE_CATEGORY" val="custom"/>
  <p:tag name="KSO_WM_TEMPLATE_INDEX" val="20205081"/>
</p:tagLst>
</file>

<file path=ppt/tags/tag2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213.xml><?xml version="1.0" encoding="utf-8"?>
<p:tagLst xmlns:p="http://schemas.openxmlformats.org/presentationml/2006/main">
  <p:tag name="KSO_WM_BEAUTIFY_FLAG" val="#wm#"/>
  <p:tag name="KSO_WM_TEMPLATE_CATEGORY" val="custom"/>
  <p:tag name="KSO_WM_TEMPLATE_INDEX" val="20205081"/>
</p:tagLst>
</file>

<file path=ppt/tags/tag2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215.xml><?xml version="1.0" encoding="utf-8"?>
<p:tagLst xmlns:p="http://schemas.openxmlformats.org/presentationml/2006/main">
  <p:tag name="KSO_WM_BEAUTIFY_FLAG" val="#wm#"/>
  <p:tag name="KSO_WM_TEMPLATE_CATEGORY" val="custom"/>
  <p:tag name="KSO_WM_TEMPLATE_INDEX" val="20205081"/>
</p:tagLst>
</file>

<file path=ppt/tags/tag2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217.xml><?xml version="1.0" encoding="utf-8"?>
<p:tagLst xmlns:p="http://schemas.openxmlformats.org/presentationml/2006/main">
  <p:tag name="KSO_WM_BEAUTIFY_FLAG" val="#wm#"/>
  <p:tag name="KSO_WM_TEMPLATE_CATEGORY" val="custom"/>
  <p:tag name="KSO_WM_TEMPLATE_INDEX" val="20205081"/>
</p:tagLst>
</file>

<file path=ppt/tags/tag2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20.xml><?xml version="1.0" encoding="utf-8"?>
<p:tagLst xmlns:p="http://schemas.openxmlformats.org/presentationml/2006/main">
  <p:tag name="KSO_WM_BEAUTIFY_FLAG" val="#wm#"/>
  <p:tag name="KSO_WM_TEMPLATE_CATEGORY" val="custom"/>
  <p:tag name="KSO_WM_TEMPLATE_INDEX" val="20205081"/>
</p:tagLst>
</file>

<file path=ppt/tags/tag2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22.xml><?xml version="1.0" encoding="utf-8"?>
<p:tagLst xmlns:p="http://schemas.openxmlformats.org/presentationml/2006/main">
  <p:tag name="KSO_WM_BEAUTIFY_FLAG" val="#wm#"/>
  <p:tag name="KSO_WM_TEMPLATE_CATEGORY" val="custom"/>
  <p:tag name="KSO_WM_TEMPLATE_INDEX" val="20205081"/>
</p:tagLst>
</file>

<file path=ppt/tags/tag2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24.xml><?xml version="1.0" encoding="utf-8"?>
<p:tagLst xmlns:p="http://schemas.openxmlformats.org/presentationml/2006/main">
  <p:tag name="KSO_WM_BEAUTIFY_FLAG" val="#wm#"/>
  <p:tag name="KSO_WM_TEMPLATE_CATEGORY" val="custom"/>
  <p:tag name="KSO_WM_TEMPLATE_INDEX" val="20205081"/>
</p:tagLst>
</file>

<file path=ppt/tags/tag2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26.xml><?xml version="1.0" encoding="utf-8"?>
<p:tagLst xmlns:p="http://schemas.openxmlformats.org/presentationml/2006/main">
  <p:tag name="KSO_WM_BEAUTIFY_FLAG" val="#wm#"/>
  <p:tag name="KSO_WM_TEMPLATE_CATEGORY" val="custom"/>
  <p:tag name="KSO_WM_TEMPLATE_INDEX" val="20205081"/>
</p:tagLst>
</file>

<file path=ppt/tags/tag2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29.xml><?xml version="1.0" encoding="utf-8"?>
<p:tagLst xmlns:p="http://schemas.openxmlformats.org/presentationml/2006/main">
  <p:tag name="KSO_WM_BEAUTIFY_FLAG" val="#wm#"/>
  <p:tag name="KSO_WM_TEMPLATE_CATEGORY" val="custom"/>
  <p:tag name="KSO_WM_TEMPLATE_INDEX" val="20205081"/>
</p:tagLst>
</file>

<file path=ppt/tags/tag2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231.xml><?xml version="1.0" encoding="utf-8"?>
<p:tagLst xmlns:p="http://schemas.openxmlformats.org/presentationml/2006/main">
  <p:tag name="KSO_WM_BEAUTIFY_FLAG" val="#wm#"/>
  <p:tag name="KSO_WM_TEMPLATE_CATEGORY" val="custom"/>
  <p:tag name="KSO_WM_TEMPLATE_INDEX" val="20205081"/>
</p:tagLst>
</file>

<file path=ppt/tags/tag2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233.xml><?xml version="1.0" encoding="utf-8"?>
<p:tagLst xmlns:p="http://schemas.openxmlformats.org/presentationml/2006/main">
  <p:tag name="KSO_WM_BEAUTIFY_FLAG" val="#wm#"/>
  <p:tag name="KSO_WM_TEMPLATE_CATEGORY" val="custom"/>
  <p:tag name="KSO_WM_TEMPLATE_INDEX" val="20205081"/>
</p:tagLst>
</file>

<file path=ppt/tags/tag2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235.xml><?xml version="1.0" encoding="utf-8"?>
<p:tagLst xmlns:p="http://schemas.openxmlformats.org/presentationml/2006/main">
  <p:tag name="KSO_WM_BEAUTIFY_FLAG" val="#wm#"/>
  <p:tag name="KSO_WM_TEMPLATE_CATEGORY" val="custom"/>
  <p:tag name="KSO_WM_TEMPLATE_INDEX" val="20205081"/>
</p:tagLst>
</file>

<file path=ppt/tags/tag2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237.xml><?xml version="1.0" encoding="utf-8"?>
<p:tagLst xmlns:p="http://schemas.openxmlformats.org/presentationml/2006/main">
  <p:tag name="KSO_WM_BEAUTIFY_FLAG" val="#wm#"/>
  <p:tag name="KSO_WM_TEMPLATE_CATEGORY" val="custom"/>
  <p:tag name="KSO_WM_TEMPLATE_INDEX" val="20205081"/>
</p:tagLst>
</file>

<file path=ppt/tags/tag2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40.xml><?xml version="1.0" encoding="utf-8"?>
<p:tagLst xmlns:p="http://schemas.openxmlformats.org/presentationml/2006/main">
  <p:tag name="KSO_WM_BEAUTIFY_FLAG" val="#wm#"/>
  <p:tag name="KSO_WM_TEMPLATE_CATEGORY" val="custom"/>
  <p:tag name="KSO_WM_TEMPLATE_INDEX" val="20205081"/>
</p:tagLst>
</file>

<file path=ppt/tags/tag2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242.xml><?xml version="1.0" encoding="utf-8"?>
<p:tagLst xmlns:p="http://schemas.openxmlformats.org/presentationml/2006/main">
  <p:tag name="KSO_WM_BEAUTIFY_FLAG" val="#wm#"/>
  <p:tag name="KSO_WM_TEMPLATE_CATEGORY" val="custom"/>
  <p:tag name="KSO_WM_TEMPLATE_INDEX" val="20205081"/>
</p:tagLst>
</file>

<file path=ppt/tags/tag2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244.xml><?xml version="1.0" encoding="utf-8"?>
<p:tagLst xmlns:p="http://schemas.openxmlformats.org/presentationml/2006/main">
  <p:tag name="KSO_WM_BEAUTIFY_FLAG" val="#wm#"/>
  <p:tag name="KSO_WM_TEMPLATE_CATEGORY" val="custom"/>
  <p:tag name="KSO_WM_TEMPLATE_INDEX" val="20205081"/>
</p:tagLst>
</file>

<file path=ppt/tags/tag2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246.xml><?xml version="1.0" encoding="utf-8"?>
<p:tagLst xmlns:p="http://schemas.openxmlformats.org/presentationml/2006/main">
  <p:tag name="KSO_WM_BEAUTIFY_FLAG" val="#wm#"/>
  <p:tag name="KSO_WM_TEMPLATE_CATEGORY" val="custom"/>
  <p:tag name="KSO_WM_TEMPLATE_INDEX" val="20205081"/>
</p:tagLst>
</file>

<file path=ppt/tags/tag2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248.xml><?xml version="1.0" encoding="utf-8"?>
<p:tagLst xmlns:p="http://schemas.openxmlformats.org/presentationml/2006/main">
  <p:tag name="KSO_WM_BEAUTIFY_FLAG" val="#wm#"/>
  <p:tag name="KSO_WM_TEMPLATE_CATEGORY" val="custom"/>
  <p:tag name="KSO_WM_TEMPLATE_INDEX" val="20205081"/>
</p:tagLst>
</file>

<file path=ppt/tags/tag2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250.xml><?xml version="1.0" encoding="utf-8"?>
<p:tagLst xmlns:p="http://schemas.openxmlformats.org/presentationml/2006/main">
  <p:tag name="KSO_WM_BEAUTIFY_FLAG" val="#wm#"/>
  <p:tag name="KSO_WM_TEMPLATE_CATEGORY" val="custom"/>
  <p:tag name="KSO_WM_TEMPLATE_INDEX" val="20205081"/>
</p:tagLst>
</file>

<file path=ppt/tags/tag2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252.xml><?xml version="1.0" encoding="utf-8"?>
<p:tagLst xmlns:p="http://schemas.openxmlformats.org/presentationml/2006/main">
  <p:tag name="KSO_WM_BEAUTIFY_FLAG" val="#wm#"/>
  <p:tag name="KSO_WM_TEMPLATE_CATEGORY" val="custom"/>
  <p:tag name="KSO_WM_TEMPLATE_INDEX" val="20205081"/>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56610</Words>
  <Application>WPS 演示</Application>
  <PresentationFormat>宽屏</PresentationFormat>
  <Paragraphs>851</Paragraphs>
  <Slides>80</Slides>
  <Notes>4</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80</vt:i4>
      </vt:variant>
    </vt:vector>
  </HeadingPairs>
  <TitlesOfParts>
    <vt:vector size="88" baseType="lpstr">
      <vt:lpstr>Arial</vt:lpstr>
      <vt:lpstr>宋体</vt:lpstr>
      <vt:lpstr>Wingdings</vt:lpstr>
      <vt:lpstr>Wingdings</vt:lpstr>
      <vt:lpstr>微软雅黑</vt:lpstr>
      <vt:lpstr>Arial Unicode MS</vt:lpstr>
      <vt:lpstr>Calibri</vt:lpstr>
      <vt:lpstr>WPS</vt:lpstr>
      <vt:lpstr>PowerPoint 演示文稿</vt:lpstr>
      <vt:lpstr>1.题目、背景、问题 → 关键信息 / 可用信息 / 创新点</vt:lpstr>
      <vt:lpstr>PowerPoint 演示文稿</vt:lpstr>
      <vt:lpstr>PowerPoint 演示文稿</vt:lpstr>
      <vt:lpstr>PowerPoint 演示文稿</vt:lpstr>
      <vt:lpstr>PowerPoint 演示文稿</vt:lpstr>
      <vt:lpstr>PowerPoint 演示文稿</vt:lpstr>
      <vt:lpstr>PowerPoint 演示文稿</vt:lpstr>
      <vt:lpstr>2.将问题转为“论文检索语言”，并初步帮你们想文献方向</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每个问题：初步思路 → 文献后升级建模方案</vt:lpstr>
      <vt:lpstr>每个问题：初步思路 → 文献后升级建模方案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WPS_1607247793</cp:lastModifiedBy>
  <cp:revision>157</cp:revision>
  <dcterms:created xsi:type="dcterms:W3CDTF">2019-06-19T02:08:00Z</dcterms:created>
  <dcterms:modified xsi:type="dcterms:W3CDTF">2026-01-25T10:50:17Z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2052-12.1.0.24034</vt:lpwstr>
  </property>
  <property fmtid="{D5CDD505-2E9C-101B-9397-08002B2CF9AE}" pid="3" name="ICV">
    <vt:lpwstr>97676A8DBE7F489488D55E98EBCF2422_11</vt:lpwstr>
  </property>
</Properties>
</file>